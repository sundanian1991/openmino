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962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371600"/>
            <a:ext cx="73152" cy="3200400"/>
          </a:xfrm>
          <a:prstGeom prst="rect">
            <a:avLst/>
          </a:prstGeom>
          <a:solidFill>
            <a:srgbClr val="C9A96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如何应对职场"带节奏"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A0A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刘乾坤开门红激励预警事件深度分析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3474720"/>
            <a:ext cx="914400" cy="320040"/>
          </a:xfrm>
          <a:prstGeom prst="rect">
            <a:avLst/>
          </a:prstGeom>
          <a:solidFill>
            <a:srgbClr val="C9A962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4747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v3.0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9" name="Text 7"/>
          <p:cNvSpPr/>
          <p:nvPr/>
        </p:nvSpPr>
        <p:spPr>
          <a:xfrm>
            <a:off x="8778240" y="49834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96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73152" cy="457200"/>
          </a:xfrm>
          <a:prstGeom prst="rect">
            <a:avLst/>
          </a:prstGeom>
          <a:solidFill>
            <a:srgbClr val="C9A962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463040"/>
            <a:ext cx="8138160" cy="822960"/>
          </a:xfrm>
          <a:prstGeom prst="rect">
            <a:avLst/>
          </a:prstGeom>
          <a:solidFill>
            <a:srgbClr val="16213E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463040"/>
            <a:ext cx="640080" cy="822960"/>
          </a:xfrm>
          <a:prstGeom prst="rect">
            <a:avLst/>
          </a:prstGeom>
          <a:solidFill>
            <a:srgbClr val="C9A96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46304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160020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事件回顾与核心矛盾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192024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刘乾坤的攻击 vs 实际情况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8138160" cy="822960"/>
          </a:xfrm>
          <a:prstGeom prst="rect">
            <a:avLst/>
          </a:prstGeom>
          <a:solidFill>
            <a:srgbClr val="16213E">
              <a:alpha val="5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2468880"/>
            <a:ext cx="640080" cy="822960"/>
          </a:xfrm>
          <a:prstGeom prst="rect">
            <a:avLst/>
          </a:prstGeom>
          <a:solidFill>
            <a:srgbClr val="C9A962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46888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260604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行为模式拆解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292608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五拳组合拳路分析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474720"/>
            <a:ext cx="8138160" cy="822960"/>
          </a:xfrm>
          <a:prstGeom prst="rect">
            <a:avLst/>
          </a:prstGeom>
          <a:solidFill>
            <a:srgbClr val="16213E">
              <a:alpha val="5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3474720"/>
            <a:ext cx="640080" cy="822960"/>
          </a:xfrm>
          <a:prstGeom prst="rect">
            <a:avLst/>
          </a:prstGeom>
          <a:solidFill>
            <a:srgbClr val="C9A962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47472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361188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动机分析与判断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80160" y="393192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表演型预警 + 转移视线 + 保护关系网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480560"/>
            <a:ext cx="8138160" cy="822960"/>
          </a:xfrm>
          <a:prstGeom prst="rect">
            <a:avLst/>
          </a:prstGeom>
          <a:solidFill>
            <a:srgbClr val="16213E">
              <a:alpha val="5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4480560"/>
            <a:ext cx="640080" cy="822960"/>
          </a:xfrm>
          <a:prstGeom prst="rect">
            <a:avLst/>
          </a:prstGeom>
          <a:solidFill>
            <a:srgbClr val="C9A962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48056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80160" y="461772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应对策略与话术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80160" y="493776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五大原则 + REACT 框架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778240" y="49834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96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事件回顾与核心矛盾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73152" cy="457200"/>
          </a:xfrm>
          <a:prstGeom prst="rect">
            <a:avLst/>
          </a:prstGeom>
          <a:solidFill>
            <a:srgbClr val="C9A962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4023360" cy="182880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97280"/>
            <a:ext cx="54864" cy="1828800"/>
          </a:xfrm>
          <a:prstGeom prst="rect">
            <a:avLst/>
          </a:prstGeom>
          <a:solidFill>
            <a:srgbClr val="C2503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344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刘乾坤的攻击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160020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"激励拿不到，供应商会大量流失"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89280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"影响 1400 个工人、5000 个家庭"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18541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"激励方案定得非常有问题"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47802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在群里@所有人，疯狂预警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097280"/>
            <a:ext cx="4023360" cy="182880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/>
        </p:spPr>
      </p:sp>
      <p:sp>
        <p:nvSpPr>
          <p:cNvPr id="13" name="Shape 11"/>
          <p:cNvSpPr/>
          <p:nvPr/>
        </p:nvSpPr>
        <p:spPr>
          <a:xfrm>
            <a:off x="4663440" y="1097280"/>
            <a:ext cx="54864" cy="1828800"/>
          </a:xfrm>
          <a:prstGeom prst="rect">
            <a:avLst/>
          </a:prstGeom>
          <a:solidFill>
            <a:srgbClr val="2E8B6E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2344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实际情况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46320" y="160020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只有头部供应商个别问题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189280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激励可以放到 4 月继续发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218541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激励是策略组定的（多方共识）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247802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交接期信息真空、数据中断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200400"/>
            <a:ext cx="8138160" cy="1554480"/>
          </a:xfrm>
          <a:prstGeom prst="roundRect">
            <a:avLst>
              <a:gd name="adj" fmla="val 4706"/>
            </a:avLst>
          </a:prstGeom>
          <a:solidFill>
            <a:srgbClr val="16213E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3200400"/>
            <a:ext cx="54864" cy="1554480"/>
          </a:xfrm>
          <a:prstGeom prst="rect">
            <a:avLst/>
          </a:prstGeom>
          <a:solidFill>
            <a:srgbClr val="C9A962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3375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核心矛盾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0080" y="374904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9A9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选择性攻击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393192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只攻击服务组，不攻击策略组（激励是策略组定的）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09160" y="374904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9A9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转移视线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09160" y="393192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把"交接期问题"转移到"激励方案问题"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" y="420624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9A9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保护关系网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" y="438912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他和刘伟佳关系好，不提策略组配合问题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09160" y="420624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9A9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破坏安全感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709160" y="438912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群里制造对立，让大家都紧绷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778240" y="49834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96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行为模式拆解：五拳组合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73152" cy="457200"/>
          </a:xfrm>
          <a:prstGeom prst="rect">
            <a:avLst/>
          </a:prstGeom>
          <a:solidFill>
            <a:srgbClr val="C9A962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1600200" cy="3291840"/>
          </a:xfrm>
          <a:prstGeom prst="roundRect">
            <a:avLst>
              <a:gd name="adj" fmla="val 4571"/>
            </a:avLst>
          </a:prstGeom>
          <a:solidFill>
            <a:srgbClr val="16213E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97280"/>
            <a:ext cx="1600200" cy="411480"/>
          </a:xfrm>
          <a:prstGeom prst="rect">
            <a:avLst/>
          </a:prstGeom>
          <a:solidFill>
            <a:srgbClr val="C9A96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9728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160020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选择性攻击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96596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只攻击服务组，不攻击策略组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468880"/>
            <a:ext cx="1417320" cy="1691640"/>
          </a:xfrm>
          <a:prstGeom prst="roundRect">
            <a:avLst>
              <a:gd name="adj" fmla="val 3871"/>
            </a:avLst>
          </a:prstGeom>
          <a:solidFill>
            <a:srgbClr val="1A1A2E"/>
          </a:solidFill>
          <a:ln w="12700">
            <a:solidFill>
              <a:srgbClr val="C9A962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594360" y="2606040"/>
            <a:ext cx="1325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激励是策略组定的，但他只说"激励有问题"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121408" y="1097280"/>
            <a:ext cx="1600200" cy="3291840"/>
          </a:xfrm>
          <a:prstGeom prst="roundRect">
            <a:avLst>
              <a:gd name="adj" fmla="val 4571"/>
            </a:avLst>
          </a:prstGeom>
          <a:solidFill>
            <a:srgbClr val="16213E"/>
          </a:solidFill>
          <a:ln/>
        </p:spPr>
      </p:sp>
      <p:sp>
        <p:nvSpPr>
          <p:cNvPr id="13" name="Shape 11"/>
          <p:cNvSpPr/>
          <p:nvPr/>
        </p:nvSpPr>
        <p:spPr>
          <a:xfrm>
            <a:off x="2121408" y="1097280"/>
            <a:ext cx="1600200" cy="411480"/>
          </a:xfrm>
          <a:prstGeom prst="rect">
            <a:avLst/>
          </a:prstGeom>
          <a:solidFill>
            <a:srgbClr val="C9A962"/>
          </a:solidFill>
          <a:ln/>
        </p:spPr>
      </p:sp>
      <p:sp>
        <p:nvSpPr>
          <p:cNvPr id="14" name="Text 12"/>
          <p:cNvSpPr/>
          <p:nvPr/>
        </p:nvSpPr>
        <p:spPr>
          <a:xfrm>
            <a:off x="2121408" y="109728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212848" y="160020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群内表演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212848" y="196596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在群里@所有人，密集同步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12848" y="2468880"/>
            <a:ext cx="1417320" cy="1691640"/>
          </a:xfrm>
          <a:prstGeom prst="roundRect">
            <a:avLst>
              <a:gd name="adj" fmla="val 3871"/>
            </a:avLst>
          </a:prstGeom>
          <a:solidFill>
            <a:srgbClr val="1A1A2E"/>
          </a:solidFill>
          <a:ln w="12700">
            <a:solidFill>
              <a:srgbClr val="C9A962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2258568" y="2606040"/>
            <a:ext cx="1325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"疯狂地说自己在预警"= 强调"我在努力"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785616" y="1097280"/>
            <a:ext cx="1600200" cy="3291840"/>
          </a:xfrm>
          <a:prstGeom prst="roundRect">
            <a:avLst>
              <a:gd name="adj" fmla="val 4571"/>
            </a:avLst>
          </a:prstGeom>
          <a:solidFill>
            <a:srgbClr val="16213E"/>
          </a:solidFill>
          <a:ln/>
        </p:spPr>
      </p:sp>
      <p:sp>
        <p:nvSpPr>
          <p:cNvPr id="20" name="Shape 18"/>
          <p:cNvSpPr/>
          <p:nvPr/>
        </p:nvSpPr>
        <p:spPr>
          <a:xfrm>
            <a:off x="3785616" y="1097280"/>
            <a:ext cx="1600200" cy="411480"/>
          </a:xfrm>
          <a:prstGeom prst="rect">
            <a:avLst/>
          </a:prstGeom>
          <a:solidFill>
            <a:srgbClr val="C9A962"/>
          </a:solidFill>
          <a:ln/>
        </p:spPr>
      </p:sp>
      <p:sp>
        <p:nvSpPr>
          <p:cNvPr id="21" name="Text 19"/>
          <p:cNvSpPr/>
          <p:nvPr/>
        </p:nvSpPr>
        <p:spPr>
          <a:xfrm>
            <a:off x="3785616" y="109728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877056" y="160020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道德绑架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877056" y="196596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用情绪化数字制造恐慌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877056" y="2468880"/>
            <a:ext cx="1417320" cy="1691640"/>
          </a:xfrm>
          <a:prstGeom prst="roundRect">
            <a:avLst>
              <a:gd name="adj" fmla="val 3871"/>
            </a:avLst>
          </a:prstGeom>
          <a:solidFill>
            <a:srgbClr val="1A1A2E"/>
          </a:solidFill>
          <a:ln w="12700">
            <a:solidFill>
              <a:srgbClr val="C9A962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3922776" y="2606040"/>
            <a:ext cx="1325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"影响 1400 个工人、5000 个家庭"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449824" y="1097280"/>
            <a:ext cx="1600200" cy="3291840"/>
          </a:xfrm>
          <a:prstGeom prst="roundRect">
            <a:avLst>
              <a:gd name="adj" fmla="val 4571"/>
            </a:avLst>
          </a:prstGeom>
          <a:solidFill>
            <a:srgbClr val="16213E"/>
          </a:solidFill>
          <a:ln/>
        </p:spPr>
      </p:sp>
      <p:sp>
        <p:nvSpPr>
          <p:cNvPr id="27" name="Shape 25"/>
          <p:cNvSpPr/>
          <p:nvPr/>
        </p:nvSpPr>
        <p:spPr>
          <a:xfrm>
            <a:off x="5449824" y="1097280"/>
            <a:ext cx="1600200" cy="411480"/>
          </a:xfrm>
          <a:prstGeom prst="rect">
            <a:avLst/>
          </a:prstGeom>
          <a:solidFill>
            <a:srgbClr val="C9A962"/>
          </a:solidFill>
          <a:ln/>
        </p:spPr>
      </p:sp>
      <p:sp>
        <p:nvSpPr>
          <p:cNvPr id="28" name="Text 26"/>
          <p:cNvSpPr/>
          <p:nvPr/>
        </p:nvSpPr>
        <p:spPr>
          <a:xfrm>
            <a:off x="5449824" y="109728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541264" y="160020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转移视线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541264" y="196596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把交接期问题转移到激励方案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541264" y="2468880"/>
            <a:ext cx="1417320" cy="1691640"/>
          </a:xfrm>
          <a:prstGeom prst="roundRect">
            <a:avLst>
              <a:gd name="adj" fmla="val 3871"/>
            </a:avLst>
          </a:prstGeom>
          <a:solidFill>
            <a:srgbClr val="1A1A2E"/>
          </a:solidFill>
          <a:ln w="12700">
            <a:solidFill>
              <a:srgbClr val="C9A962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5586984" y="2606040"/>
            <a:ext cx="1325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不说"交接期信息真空"，只说"方案定得高"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114032" y="1097280"/>
            <a:ext cx="1600200" cy="3291840"/>
          </a:xfrm>
          <a:prstGeom prst="roundRect">
            <a:avLst>
              <a:gd name="adj" fmla="val 4571"/>
            </a:avLst>
          </a:prstGeom>
          <a:solidFill>
            <a:srgbClr val="16213E"/>
          </a:solidFill>
          <a:ln/>
        </p:spPr>
      </p:sp>
      <p:sp>
        <p:nvSpPr>
          <p:cNvPr id="34" name="Shape 32"/>
          <p:cNvSpPr/>
          <p:nvPr/>
        </p:nvSpPr>
        <p:spPr>
          <a:xfrm>
            <a:off x="7114032" y="1097280"/>
            <a:ext cx="1600200" cy="411480"/>
          </a:xfrm>
          <a:prstGeom prst="rect">
            <a:avLst/>
          </a:prstGeom>
          <a:solidFill>
            <a:srgbClr val="C9A962"/>
          </a:solidFill>
          <a:ln/>
        </p:spPr>
      </p:sp>
      <p:sp>
        <p:nvSpPr>
          <p:cNvPr id="35" name="Text 33"/>
          <p:cNvSpPr/>
          <p:nvPr/>
        </p:nvSpPr>
        <p:spPr>
          <a:xfrm>
            <a:off x="7114032" y="109728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7205472" y="160020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保护关系网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205472" y="196596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不攻击刘伟佳，维护前下属关系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205472" y="2468880"/>
            <a:ext cx="1417320" cy="1691640"/>
          </a:xfrm>
          <a:prstGeom prst="roundRect">
            <a:avLst>
              <a:gd name="adj" fmla="val 3871"/>
            </a:avLst>
          </a:prstGeom>
          <a:solidFill>
            <a:srgbClr val="1A1A2E"/>
          </a:solidFill>
          <a:ln w="12700">
            <a:solidFill>
              <a:srgbClr val="C9A962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7251192" y="2606040"/>
            <a:ext cx="1325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他和刘伟佳关系好，不提策略组配合问题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57200" y="4709160"/>
            <a:ext cx="8138160" cy="22860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41" name="Text 39"/>
          <p:cNvSpPr/>
          <p:nvPr/>
        </p:nvSpPr>
        <p:spPr>
          <a:xfrm>
            <a:off x="640080" y="4736592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9A9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核心判断：这不是正常的工作方式，让人觉得动机或工作方式有问题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778240" y="49834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96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动机分析与判断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73152" cy="457200"/>
          </a:xfrm>
          <a:prstGeom prst="rect">
            <a:avLst/>
          </a:prstGeom>
          <a:solidFill>
            <a:srgbClr val="C9A962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51560"/>
            <a:ext cx="8138160" cy="594360"/>
          </a:xfrm>
          <a:prstGeom prst="roundRect">
            <a:avLst>
              <a:gd name="adj" fmla="val 12308"/>
            </a:avLst>
          </a:prstGeom>
          <a:solidFill>
            <a:srgbClr val="C9A96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887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核心判断：表演型预警 + 转移视线 + 保护关系网 的三重组合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8138160" cy="914400"/>
          </a:xfrm>
          <a:prstGeom prst="roundRect">
            <a:avLst>
              <a:gd name="adj" fmla="val 8000"/>
            </a:avLst>
          </a:prstGeom>
          <a:solidFill>
            <a:srgbClr val="16213E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783080"/>
            <a:ext cx="54864" cy="914400"/>
          </a:xfrm>
          <a:prstGeom prst="rect">
            <a:avLst/>
          </a:prstGeom>
          <a:solidFill>
            <a:srgbClr val="C9A962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89280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表演型预警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43200" y="189280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A9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⭐⭐⭐⭐⭐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148840"/>
            <a:ext cx="7498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逻辑：通过"发现问题"来建立自己"关心业务"的人设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313432"/>
            <a:ext cx="749808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档案中模式 2"群内表演"：全程有观众意识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2450592"/>
            <a:ext cx="749808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"疯狂地说自己在预警"= 强调"我在努力"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0080" y="2560320"/>
            <a:ext cx="749808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9A9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收益：如果激励出问题=他预警有功；如果不出问题=他推动有功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788920"/>
            <a:ext cx="8138160" cy="914400"/>
          </a:xfrm>
          <a:prstGeom prst="roundRect">
            <a:avLst>
              <a:gd name="adj" fmla="val 8000"/>
            </a:avLst>
          </a:prstGeom>
          <a:solidFill>
            <a:srgbClr val="16213E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2788920"/>
            <a:ext cx="54864" cy="914400"/>
          </a:xfrm>
          <a:prstGeom prst="rect">
            <a:avLst/>
          </a:prstGeom>
          <a:solidFill>
            <a:srgbClr val="A0A0A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89864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转移视线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743200" y="289864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⭐⭐⭐⭐⭐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3154680"/>
            <a:ext cx="7498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逻辑：把"交接期管理失效"转移到"激励方案有问题"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3319272"/>
            <a:ext cx="749808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只说"激励有问题"，不说"交接期信息真空"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0080" y="3456432"/>
            <a:ext cx="749808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只说"激励定得高"，不说"数据中断、质量变差"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" y="3566160"/>
            <a:ext cx="749808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9A9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收益：规避自己的交接责任，把问题归咎于"方案定得高"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3794760"/>
            <a:ext cx="8138160" cy="914400"/>
          </a:xfrm>
          <a:prstGeom prst="roundRect">
            <a:avLst>
              <a:gd name="adj" fmla="val 8000"/>
            </a:avLst>
          </a:prstGeom>
          <a:solidFill>
            <a:srgbClr val="16213E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" y="3794760"/>
            <a:ext cx="54864" cy="914400"/>
          </a:xfrm>
          <a:prstGeom prst="rect">
            <a:avLst/>
          </a:prstGeom>
          <a:solidFill>
            <a:srgbClr val="6A6A6A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90448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保护关系网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743200" y="390448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A6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⭐⭐⭐⭐⭐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" y="4160520"/>
            <a:ext cx="7498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逻辑：只攻击服务组，不攻击策略组，保护刘伟佳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" y="4325112"/>
            <a:ext cx="749808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激励是策略组定的，但他只说"激励有问题"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0080" y="4462272"/>
            <a:ext cx="749808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他和刘伟佳关系好（前下属），不提"策略组配合问题"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40080" y="4572000"/>
            <a:ext cx="749808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9A9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收益：维护和刘伟佳的关系，在策略组那边留"好人"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" y="4709160"/>
            <a:ext cx="8138160" cy="22860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4736592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工作方式问题：不先沟通直接群里"放炮" → 选择性攻击 → 用情绪化数字 → 破坏团队安全感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778240" y="49834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96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应对策略与话术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73152" cy="457200"/>
          </a:xfrm>
          <a:prstGeom prst="rect">
            <a:avLst/>
          </a:prstGeom>
          <a:solidFill>
            <a:srgbClr val="C9A962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1600200" cy="1828800"/>
          </a:xfrm>
          <a:prstGeom prst="roundRect">
            <a:avLst>
              <a:gd name="adj" fmla="val 4571"/>
            </a:avLst>
          </a:prstGeom>
          <a:solidFill>
            <a:srgbClr val="16213E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97280"/>
            <a:ext cx="54864" cy="1828800"/>
          </a:xfrm>
          <a:prstGeom prst="rect">
            <a:avLst/>
          </a:prstGeom>
          <a:solidFill>
            <a:srgbClr val="C9A962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234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1261872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不接靶子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1600200"/>
            <a:ext cx="1371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不说"激励确实有问题"、"策略确实有问题"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121408" y="1097280"/>
            <a:ext cx="1600200" cy="1828800"/>
          </a:xfrm>
          <a:prstGeom prst="roundRect">
            <a:avLst>
              <a:gd name="adj" fmla="val 4571"/>
            </a:avLst>
          </a:prstGeom>
          <a:solidFill>
            <a:srgbClr val="16213E"/>
          </a:solidFill>
          <a:ln/>
        </p:spPr>
      </p:sp>
      <p:sp>
        <p:nvSpPr>
          <p:cNvPr id="11" name="Shape 9"/>
          <p:cNvSpPr/>
          <p:nvPr/>
        </p:nvSpPr>
        <p:spPr>
          <a:xfrm>
            <a:off x="2121408" y="1097280"/>
            <a:ext cx="54864" cy="1828800"/>
          </a:xfrm>
          <a:prstGeom prst="rect">
            <a:avLst/>
          </a:prstGeom>
          <a:solidFill>
            <a:srgbClr val="C9A962"/>
          </a:solidFill>
          <a:ln/>
        </p:spPr>
      </p:sp>
      <p:sp>
        <p:nvSpPr>
          <p:cNvPr id="12" name="Text 10"/>
          <p:cNvSpPr/>
          <p:nvPr/>
        </p:nvSpPr>
        <p:spPr>
          <a:xfrm>
            <a:off x="2258568" y="1234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578608" y="1261872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回归根本原因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258568" y="1600200"/>
            <a:ext cx="1371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指出"交接期信息真空、数据中断"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785616" y="1097280"/>
            <a:ext cx="1600200" cy="1828800"/>
          </a:xfrm>
          <a:prstGeom prst="roundRect">
            <a:avLst>
              <a:gd name="adj" fmla="val 4571"/>
            </a:avLst>
          </a:prstGeom>
          <a:solidFill>
            <a:srgbClr val="16213E"/>
          </a:solidFill>
          <a:ln/>
        </p:spPr>
      </p:sp>
      <p:sp>
        <p:nvSpPr>
          <p:cNvPr id="16" name="Shape 14"/>
          <p:cNvSpPr/>
          <p:nvPr/>
        </p:nvSpPr>
        <p:spPr>
          <a:xfrm>
            <a:off x="3785616" y="1097280"/>
            <a:ext cx="54864" cy="1828800"/>
          </a:xfrm>
          <a:prstGeom prst="rect">
            <a:avLst/>
          </a:prstGeom>
          <a:solidFill>
            <a:srgbClr val="C9A962"/>
          </a:solidFill>
          <a:ln/>
        </p:spPr>
      </p:sp>
      <p:sp>
        <p:nvSpPr>
          <p:cNvPr id="17" name="Text 15"/>
          <p:cNvSpPr/>
          <p:nvPr/>
        </p:nvSpPr>
        <p:spPr>
          <a:xfrm>
            <a:off x="3922776" y="1234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242816" y="1261872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拒绝逼迫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922776" y="1600200"/>
            <a:ext cx="1371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不被道德绑架逼迫表态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49824" y="1097280"/>
            <a:ext cx="1600200" cy="1828800"/>
          </a:xfrm>
          <a:prstGeom prst="roundRect">
            <a:avLst>
              <a:gd name="adj" fmla="val 4571"/>
            </a:avLst>
          </a:prstGeom>
          <a:solidFill>
            <a:srgbClr val="16213E"/>
          </a:solidFill>
          <a:ln/>
        </p:spPr>
      </p:sp>
      <p:sp>
        <p:nvSpPr>
          <p:cNvPr id="21" name="Shape 19"/>
          <p:cNvSpPr/>
          <p:nvPr/>
        </p:nvSpPr>
        <p:spPr>
          <a:xfrm>
            <a:off x="5449824" y="1097280"/>
            <a:ext cx="54864" cy="1828800"/>
          </a:xfrm>
          <a:prstGeom prst="rect">
            <a:avLst/>
          </a:prstGeom>
          <a:solidFill>
            <a:srgbClr val="C9A962"/>
          </a:solidFill>
          <a:ln/>
        </p:spPr>
      </p:sp>
      <p:sp>
        <p:nvSpPr>
          <p:cNvPr id="22" name="Text 20"/>
          <p:cNvSpPr/>
          <p:nvPr/>
        </p:nvSpPr>
        <p:spPr>
          <a:xfrm>
            <a:off x="5586984" y="1234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💙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907024" y="1261872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保护安全感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586984" y="1600200"/>
            <a:ext cx="1371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不在群里制造对立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114032" y="1097280"/>
            <a:ext cx="1600200" cy="1828800"/>
          </a:xfrm>
          <a:prstGeom prst="roundRect">
            <a:avLst>
              <a:gd name="adj" fmla="val 4571"/>
            </a:avLst>
          </a:prstGeom>
          <a:solidFill>
            <a:srgbClr val="16213E"/>
          </a:solidFill>
          <a:ln/>
        </p:spPr>
      </p:sp>
      <p:sp>
        <p:nvSpPr>
          <p:cNvPr id="26" name="Shape 24"/>
          <p:cNvSpPr/>
          <p:nvPr/>
        </p:nvSpPr>
        <p:spPr>
          <a:xfrm>
            <a:off x="7114032" y="1097280"/>
            <a:ext cx="54864" cy="1828800"/>
          </a:xfrm>
          <a:prstGeom prst="rect">
            <a:avLst/>
          </a:prstGeom>
          <a:solidFill>
            <a:srgbClr val="C9A962"/>
          </a:solidFill>
          <a:ln/>
        </p:spPr>
      </p:sp>
      <p:sp>
        <p:nvSpPr>
          <p:cNvPr id="27" name="Text 25"/>
          <p:cNvSpPr/>
          <p:nvPr/>
        </p:nvSpPr>
        <p:spPr>
          <a:xfrm>
            <a:off x="7251192" y="1234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7571232" y="1261872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用数据说话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251192" y="1600200"/>
            <a:ext cx="1371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真实数据对抗情绪化数字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3108960"/>
            <a:ext cx="8138160" cy="146304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/>
        </p:spPr>
      </p:sp>
      <p:sp>
        <p:nvSpPr>
          <p:cNvPr id="31" name="Shape 29"/>
          <p:cNvSpPr/>
          <p:nvPr/>
        </p:nvSpPr>
        <p:spPr>
          <a:xfrm>
            <a:off x="457200" y="3108960"/>
            <a:ext cx="54864" cy="1463040"/>
          </a:xfrm>
          <a:prstGeom prst="rect">
            <a:avLst/>
          </a:prstGeom>
          <a:solidFill>
            <a:srgbClr val="C9A962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321868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 回应框架（群内@时使用）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40080" y="352044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9A9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 - Respond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0080" y="36850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"我理解你对激励问题的担忧"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337560" y="352044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9A9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 - Explain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337560" y="36850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"真正的问题是交接期信息真空、数据中断，不是拿不到钱"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035040" y="352044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9A9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- Action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035040" y="36850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"我这边已经和头部供应商沟通过，建议恢复数据同步机制"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0080" y="402336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9A9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- Constraint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40080" y="418795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"激励方案制定在策略组，我这边负责供应商沟通"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337560" y="402336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9A9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 - Target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337560" y="418795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"建议你们私下对齐交接期责任划分，恢复数据同步"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778240" y="49834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96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总结：关键洞察与行动指南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73152" cy="457200"/>
          </a:xfrm>
          <a:prstGeom prst="rect">
            <a:avLst/>
          </a:prstGeom>
          <a:solidFill>
            <a:srgbClr val="C9A962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4023360" cy="2926080"/>
          </a:xfrm>
          <a:prstGeom prst="roundRect">
            <a:avLst>
              <a:gd name="adj" fmla="val 2500"/>
            </a:avLst>
          </a:prstGeom>
          <a:solidFill>
            <a:srgbClr val="16213E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97280"/>
            <a:ext cx="54864" cy="2926080"/>
          </a:xfrm>
          <a:prstGeom prst="rect">
            <a:avLst/>
          </a:prstGeom>
          <a:solidFill>
            <a:srgbClr val="C9A96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344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关键洞察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6002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9A9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预警确实存在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80136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激励确实定得高、难达成，这是事实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25856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9A9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但方式有问题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459736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选择性攻击、群里放炮、道德绑架、破坏安全感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916936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9A9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核心动机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11810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表演型预警 + 转移视线 + 保护关系网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3575304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9A9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工作方式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377647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不是正常的工作方式，让人觉得动机有问题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1097280"/>
            <a:ext cx="4023360" cy="2926080"/>
          </a:xfrm>
          <a:prstGeom prst="roundRect">
            <a:avLst>
              <a:gd name="adj" fmla="val 2500"/>
            </a:avLst>
          </a:prstGeom>
          <a:solidFill>
            <a:srgbClr val="16213E"/>
          </a:solidFill>
          <a:ln/>
        </p:spPr>
      </p:sp>
      <p:sp>
        <p:nvSpPr>
          <p:cNvPr id="17" name="Shape 15"/>
          <p:cNvSpPr/>
          <p:nvPr/>
        </p:nvSpPr>
        <p:spPr>
          <a:xfrm>
            <a:off x="4663440" y="1097280"/>
            <a:ext cx="54864" cy="2926080"/>
          </a:xfrm>
          <a:prstGeom prst="rect">
            <a:avLst/>
          </a:prstGeom>
          <a:solidFill>
            <a:srgbClr val="C9A962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12344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行动指南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46320" y="16002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9A9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识别模式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180136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认清这是"表演型预警"，不是真的危机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46320" y="225856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9A9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不接靶子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46320" y="2459736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不说"激励/策略确实有问题"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46320" y="2916936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9A9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回归事实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46320" y="311810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指出"交接期信息真空、数据中断"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46320" y="3575304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9A9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保护安全感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46320" y="377647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不在群里制造对立，建议私下沟通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4160520"/>
            <a:ext cx="8138160" cy="594360"/>
          </a:xfrm>
          <a:prstGeom prst="roundRect">
            <a:avLst>
              <a:gd name="adj" fmla="val 12308"/>
            </a:avLst>
          </a:prstGeom>
          <a:solidFill>
            <a:srgbClr val="C9A962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425196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"情绪化的数字不能帮助我们解决问题，反而会制造恐慌，破坏团队安全感。"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0080" y="4507992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 核心话术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778240" y="49834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2026-03-29T13:37:45Z</dcterms:created>
  <dcterms:modified xsi:type="dcterms:W3CDTF">2026-03-29T13:37:45Z</dcterms:modified>
</cp:coreProperties>
</file>
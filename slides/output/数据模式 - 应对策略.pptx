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C4B5A3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274320"/>
            <a:ext cx="731520" cy="731520"/>
          </a:xfrm>
          <a:prstGeom prst="ellipse">
            <a:avLst/>
          </a:prstGeom>
          <a:solidFill>
            <a:srgbClr val="C4B5A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应对策略：如何处理职场'带节奏'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基于刘乾坤事件的分析与应对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1828800" cy="0"/>
          </a:xfrm>
          <a:prstGeom prst="line">
            <a:avLst/>
          </a:prstGeom>
          <a:noFill/>
          <a:ln w="25400">
            <a:solidFill>
              <a:srgbClr val="C4B5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4572000"/>
            <a:ext cx="18288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438912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内容导航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1371600" cy="0"/>
          </a:xfrm>
          <a:prstGeom prst="line">
            <a:avLst/>
          </a:prstGeom>
          <a:noFill/>
          <a:ln w="38100">
            <a:solidFill>
              <a:srgbClr val="C4B5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45920"/>
            <a:ext cx="640080" cy="64008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1783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问题背景与行为模式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60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2606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五大核心应对原则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291840"/>
            <a:ext cx="640080" cy="64008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832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0" y="3429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四种场景的应对话术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114800"/>
            <a:ext cx="640080" cy="64008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06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8800" y="42519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观察与判断标准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412480" y="1371600"/>
            <a:ext cx="0" cy="320040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286000"/>
            <a:ext cx="274320" cy="274320"/>
          </a:xfrm>
          <a:prstGeom prst="ellipse">
            <a:avLst/>
          </a:prstGeom>
          <a:solidFill>
            <a:srgbClr val="C4B5A3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464515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C4B5A3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914400" y="731520"/>
            <a:ext cx="1097280" cy="45720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0467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问题背景与行为模式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识别表演型预警的本质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2743200" cy="0"/>
          </a:xfrm>
          <a:prstGeom prst="line">
            <a:avLst/>
          </a:prstGeom>
          <a:noFill/>
          <a:ln w="25400">
            <a:solidFill>
              <a:srgbClr val="C4B5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474720"/>
            <a:ext cx="1371600" cy="1371600"/>
          </a:xfrm>
          <a:prstGeom prst="ellipse">
            <a:avLst/>
          </a:prstGeom>
          <a:solidFill>
            <a:srgbClr val="E5E5E5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589520" y="3749040"/>
            <a:ext cx="731520" cy="731520"/>
          </a:xfrm>
          <a:prstGeom prst="ellipse">
            <a:avLst/>
          </a:prstGeom>
          <a:solidFill>
            <a:srgbClr val="C4B5A3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464515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五大核心应对原则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1133856"/>
            <a:ext cx="8229600" cy="6400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" name="Shape 2"/>
          <p:cNvSpPr/>
          <p:nvPr/>
        </p:nvSpPr>
        <p:spPr>
          <a:xfrm>
            <a:off x="466344" y="1115568"/>
            <a:ext cx="8229600" cy="6400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45720" cy="64008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不接靶子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12344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不说'激励确实有问题'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" y="1865376"/>
            <a:ext cx="8229600" cy="6400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" y="1847088"/>
            <a:ext cx="8229600" cy="6400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28800"/>
            <a:ext cx="45720" cy="64008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965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回归根本原因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19659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指出'交接期信息真空、数据中断'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" y="2596896"/>
            <a:ext cx="8229600" cy="6400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" y="2578608"/>
            <a:ext cx="8229600" cy="6400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560320"/>
            <a:ext cx="45720" cy="64008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拒绝逼迫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43200" y="26974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不被道德绑架逼迫表态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" y="3328416"/>
            <a:ext cx="8229600" cy="6400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" y="3310128"/>
            <a:ext cx="8229600" cy="6400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291840"/>
            <a:ext cx="45720" cy="64008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保护安全感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743200" y="34290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不在群里制造对立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" y="4059936"/>
            <a:ext cx="8229600" cy="6400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" y="4041648"/>
            <a:ext cx="8229600" cy="6400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4023360"/>
            <a:ext cx="45720" cy="64008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用数据说话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743200" y="41605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真实数据对抗情绪化数字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709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场景一：群里被@时的应对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应对框架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316736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" name="Shape 3"/>
          <p:cNvSpPr/>
          <p:nvPr/>
        </p:nvSpPr>
        <p:spPr>
          <a:xfrm>
            <a:off x="466344" y="1298448"/>
            <a:ext cx="8229600" cy="5943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45720" cy="59436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89888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356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4447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1444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"我理解你对激励问题的担忧"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4447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承认情绪，但不说问题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2002536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" y="1984248"/>
            <a:ext cx="8229600" cy="5943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9659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965960"/>
            <a:ext cx="45720" cy="59436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1214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1305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2130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"真正的问题是交接期信息真空、数据中断"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2130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回归根本原因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" y="2688336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" y="2670048"/>
            <a:ext cx="8229600" cy="5943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6517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651760"/>
            <a:ext cx="45720" cy="59436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2761488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28072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28163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286000" y="2816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"已经和头部供应商沟通，建议恢复数据同步"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35040" y="28163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展示行动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" y="3374136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2" name="Shape 30"/>
          <p:cNvSpPr/>
          <p:nvPr/>
        </p:nvSpPr>
        <p:spPr>
          <a:xfrm>
            <a:off x="466344" y="3355848"/>
            <a:ext cx="8229600" cy="5943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337560"/>
            <a:ext cx="45720" cy="59436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3447288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34930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43000" y="35021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286000" y="3502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"激励方案制定在策略组，我负责供应商沟通"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35040" y="3502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明确边界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" y="4059936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1" name="Shape 39"/>
          <p:cNvSpPr/>
          <p:nvPr/>
        </p:nvSpPr>
        <p:spPr>
          <a:xfrm>
            <a:off x="466344" y="4041648"/>
            <a:ext cx="8229600" cy="5943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4023360"/>
            <a:ext cx="45720" cy="59436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44" name="Shape 42"/>
          <p:cNvSpPr/>
          <p:nvPr/>
        </p:nvSpPr>
        <p:spPr>
          <a:xfrm>
            <a:off x="685800" y="4133088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41788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143000" y="4187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286000" y="4187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"建议你们私下对齐交接期责任划分"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035040" y="4187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指出真正问题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50" name="Text 48"/>
          <p:cNvSpPr/>
          <p:nvPr/>
        </p:nvSpPr>
        <p:spPr>
          <a:xfrm>
            <a:off x="8503920" y="4709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场景二：道德绑架的应对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对方典型话术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307592"/>
            <a:ext cx="3840480" cy="50292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3840480" cy="502920"/>
          </a:xfrm>
          <a:prstGeom prst="rect">
            <a:avLst/>
          </a:prstGeom>
          <a:solidFill>
            <a:srgbClr val="F5F3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1389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这笔钱拿不到，影响1400个工人、5000个家庭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947672"/>
            <a:ext cx="3840480" cy="50292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F5F3F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2029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我们能不能对供应商负责一点？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回应策略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" y="3191256"/>
            <a:ext cx="8229600" cy="548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" y="3172968"/>
            <a:ext cx="8229600" cy="54864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15468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154680"/>
            <a:ext cx="45720" cy="54864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24612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承认情绪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51760" y="32918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我理解供应商的担忧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" y="3831336"/>
            <a:ext cx="8229600" cy="548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" y="3813048"/>
            <a:ext cx="8229600" cy="54864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794760"/>
            <a:ext cx="45720" cy="54864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388620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931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回归事实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651760" y="39319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供应商的真实问题是不知道进展，不是拿不到钱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" y="4471416"/>
            <a:ext cx="8229600" cy="548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0" name="Shape 28"/>
          <p:cNvSpPr/>
          <p:nvPr/>
        </p:nvSpPr>
        <p:spPr>
          <a:xfrm>
            <a:off x="466344" y="4453128"/>
            <a:ext cx="8229600" cy="54864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4434840"/>
            <a:ext cx="45720" cy="54864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452628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572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8872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拒绝绑架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651760" y="45720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情绪化数字不能解决问题，会破坏团队安全感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709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场景三&amp;四：攻击方案与私下沟通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场景三：应对对方攻击方案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策略一：不接靶子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"这是策略组定的多方共识方案"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策略二：回归根本原因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"即使方案调整，数据同步不恢复问题仍在"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场景四：私下沟通目标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46320" y="14630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了解真实动机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46320" y="205740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不被绑定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46320" y="265176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4924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建立边界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46320" y="324612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保护团队安全感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4B5A3">
              <a:alpha val="85000"/>
            </a:srgbClr>
          </a:solidFill>
          <a:ln w="19050">
            <a:solidFill>
              <a:srgbClr val="C4B5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关键话术："建议私下先沟通，不要群里放炮"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5029200"/>
            <a:ext cx="1828800" cy="0"/>
          </a:xfrm>
          <a:prstGeom prst="line">
            <a:avLst/>
          </a:prstGeom>
          <a:noFill/>
          <a:ln w="25400">
            <a:solidFill>
              <a:srgbClr val="E5E5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 vs 表演：观察期判断标准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行为对比表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411480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0" y="1417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417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沟通方式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1874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先私下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874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直接群里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114800" cy="502920"/>
          </a:xfrm>
          <a:prstGeom prst="rect">
            <a:avLst/>
          </a:prstGeom>
          <a:solidFill>
            <a:srgbClr val="FAF9F6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77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攻击对象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2377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一视同仁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377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选择性攻击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80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数据使用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2880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2880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情绪化数字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4114800" cy="502920"/>
          </a:xfrm>
          <a:prstGeom prst="rect">
            <a:avLst/>
          </a:prstGeom>
          <a:solidFill>
            <a:srgbClr val="FAF9F6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383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问题解决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3383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给方案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3383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只提问题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后续观察指标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0" y="1463040"/>
            <a:ext cx="292608" cy="292608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463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14630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是否愿意私下沟通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0" y="2103120"/>
            <a:ext cx="292608" cy="292608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2103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40680" y="21031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是否接受数据核实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0" y="2743200"/>
            <a:ext cx="292608" cy="292608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2743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40680" y="27432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是否提出建设性方案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029200" y="3383280"/>
            <a:ext cx="292608" cy="292608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3383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40680" y="33832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是否攻击具体而非个人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29200" y="4023360"/>
            <a:ext cx="292608" cy="292608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40680" y="40233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情绪是否逐渐平稳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046720" y="4389120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C4B5A3">
              <a:alpha val="7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" y="4572000"/>
            <a:ext cx="1371600" cy="0"/>
          </a:xfrm>
          <a:prstGeom prst="line">
            <a:avLst/>
          </a:prstGeom>
          <a:noFill/>
          <a:ln w="25400">
            <a:solidFill>
              <a:srgbClr val="C4B5A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0" y="1051560"/>
            <a:ext cx="1828800" cy="0"/>
          </a:xfrm>
          <a:prstGeom prst="line">
            <a:avLst/>
          </a:prstGeom>
          <a:noFill/>
          <a:ln w="25400">
            <a:solidFill>
              <a:srgbClr val="C4B5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B5A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63040" y="1463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"我理解你的担忧，但真正的问题是交接期信息真空、数据中断"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B5A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463040" y="2468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"情绪化数字不能帮助解决问题，反而会制造恐慌"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B5A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463040" y="3474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"这是策略组定的方案，攻击方案不能解决根本原因"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371600" y="4206240"/>
            <a:ext cx="6400800" cy="640080"/>
          </a:xfrm>
          <a:prstGeom prst="roundRect">
            <a:avLst>
              <a:gd name="adj" fmla="val 50000"/>
            </a:avLst>
          </a:prstGeom>
          <a:solidFill>
            <a:srgbClr val="C4B5A3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保持清醒，不接靶子，回归事实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0" y="274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4B5A3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4754880"/>
            <a:ext cx="1097280" cy="0"/>
          </a:xfrm>
          <a:prstGeom prst="line">
            <a:avLst/>
          </a:prstGeom>
          <a:noFill/>
          <a:ln w="2540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4754880"/>
            <a:ext cx="1097280" cy="0"/>
          </a:xfrm>
          <a:prstGeom prst="line">
            <a:avLst/>
          </a:prstGeom>
          <a:noFill/>
          <a:ln w="2540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4B5A3">
              <a:alpha val="70000"/>
            </a:srgbClr>
          </a:solidFill>
          <a:ln w="19050">
            <a:solidFill>
              <a:srgbClr val="C4B5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5B7FA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2286000" cy="2286000"/>
          </a:xfrm>
          <a:prstGeom prst="ellipse">
            <a:avLst/>
          </a:prstGeom>
          <a:solidFill>
            <a:srgbClr val="5B7FA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57200"/>
            <a:ext cx="137160" cy="1371600"/>
          </a:xfrm>
          <a:prstGeom prst="line">
            <a:avLst/>
          </a:prstGeom>
          <a:noFill/>
          <a:ln w="38100">
            <a:solidFill>
              <a:srgbClr val="5B7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D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应对策略：如何处理职场"带节奏"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基于刘乾坤事件的分析与应对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5B7FA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931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5B7FA8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D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内容导航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365760"/>
            <a:ext cx="109728" cy="640080"/>
          </a:xfrm>
          <a:prstGeom prst="rect">
            <a:avLst/>
          </a:prstGeom>
          <a:solidFill>
            <a:srgbClr val="5B7FA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82880" cy="3291840"/>
          </a:xfrm>
          <a:prstGeom prst="rect">
            <a:avLst/>
          </a:prstGeom>
          <a:solidFill>
            <a:srgbClr val="5B7FA8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5B7FA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问题背景与行为模式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88720" y="2057400"/>
            <a:ext cx="7315200" cy="45720"/>
          </a:xfrm>
          <a:prstGeom prst="line">
            <a:avLst/>
          </a:prstGeom>
          <a:noFill/>
          <a:ln w="12700">
            <a:solidFill>
              <a:srgbClr val="C9AD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5B7FA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423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五大核心应对原则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80360"/>
            <a:ext cx="7315200" cy="45720"/>
          </a:xfrm>
          <a:prstGeom prst="line">
            <a:avLst/>
          </a:prstGeom>
          <a:noFill/>
          <a:ln w="12700">
            <a:solidFill>
              <a:srgbClr val="C9AD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5B7FA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246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四种场景的应对话术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88720" y="3703320"/>
            <a:ext cx="7315200" cy="45720"/>
          </a:xfrm>
          <a:prstGeom prst="line">
            <a:avLst/>
          </a:prstGeom>
          <a:noFill/>
          <a:ln w="12700">
            <a:solidFill>
              <a:srgbClr val="C9AD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5B7FA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4069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观察与判断标准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858000" y="4114800"/>
            <a:ext cx="1828800" cy="1828800"/>
          </a:xfrm>
          <a:prstGeom prst="ellipse">
            <a:avLst/>
          </a:prstGeom>
          <a:solidFill>
            <a:srgbClr val="5B7FA8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B7FA8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5B7FA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3200400" y="1097280"/>
            <a:ext cx="1371600" cy="73152"/>
          </a:xfrm>
          <a:prstGeom prst="line">
            <a:avLst/>
          </a:prstGeom>
          <a:noFill/>
          <a:ln w="38100">
            <a:solidFill>
              <a:srgbClr val="5B7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13716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D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2D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与行为模式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657600" y="3840480"/>
            <a:ext cx="274320" cy="274320"/>
          </a:xfrm>
          <a:prstGeom prst="ellipse">
            <a:avLst/>
          </a:prstGeom>
          <a:solidFill>
            <a:srgbClr val="5B7FA8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0" y="3840480"/>
            <a:ext cx="274320" cy="274320"/>
          </a:xfrm>
          <a:prstGeom prst="ellipse">
            <a:avLst/>
          </a:prstGeom>
          <a:solidFill>
            <a:srgbClr val="5B7FA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3840480"/>
            <a:ext cx="274320" cy="274320"/>
          </a:xfrm>
          <a:prstGeom prst="ellipse">
            <a:avLst/>
          </a:prstGeom>
          <a:solidFill>
            <a:srgbClr val="5B7FA8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5B7FA8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4114800"/>
            <a:ext cx="1371600" cy="1371600"/>
          </a:xfrm>
          <a:prstGeom prst="ellipse">
            <a:avLst/>
          </a:prstGeom>
          <a:solidFill>
            <a:srgbClr val="C9ADA7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B7FA8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场景三&amp;四：攻击方案与私下沟通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场景三：公开攻击式提问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40480" cy="1737360"/>
          </a:xfrm>
          <a:prstGeom prst="rect">
            <a:avLst/>
          </a:prstGeom>
          <a:solidFill>
            <a:srgbClr val="C9ADA7">
              <a:alpha val="40000"/>
            </a:srgbClr>
          </a:solidFill>
          <a:ln w="12700">
            <a:solidFill>
              <a:srgbClr val="5B7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典型话术: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"你这个方案做过市场调研吗？"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"数据支撑在哪里？"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"我觉得这个不太可行…"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场景四：私下沟通试探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840480" cy="1737360"/>
          </a:xfrm>
          <a:prstGeom prst="rect">
            <a:avLst/>
          </a:prstGeom>
          <a:solidFill>
            <a:srgbClr val="C9ADA7">
              <a:alpha val="40000"/>
            </a:srgbClr>
          </a:solidFill>
          <a:ln w="12700">
            <a:solidFill>
              <a:srgbClr val="5B7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6002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典型话术: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"哥，我直说了你别介意…"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"其实大家都是为你好…"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"领导好像对这个有看法…"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5B7FA8">
              <a:alpha val="80000"/>
            </a:srgbClr>
          </a:solidFill>
          <a:ln w="25400">
            <a:solidFill>
              <a:srgbClr val="5B7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86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公开场景:</a:t>
            </a:r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冷静拆解、就事论事、不陷入情绪对抗
</a:t>
            </a:r>
            <a:pPr indent="0" marL="0">
              <a:buNone/>
            </a:pPr>
            <a:r>
              <a:rPr lang="en-US" sz="1300" b="1" dirty="0">
                <a:solidFill>
                  <a:srgbClr val="2D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私下一对一:</a:t>
            </a:r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识别情绪绑架、温和但坚定地要事实依据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B7FA8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 vs 表演：观察期判断标准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 2-3 周，判断是真实预警还是表演型行为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411480"/>
          </a:xfrm>
          <a:prstGeom prst="rect">
            <a:avLst/>
          </a:prstGeom>
          <a:solidFill>
            <a:srgbClr val="2D2A26"/>
          </a:solidFill>
          <a:ln w="12700">
            <a:solidFill>
              <a:srgbClr val="2D2A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观察维度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预警信号 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表演型行为 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solidFill>
            <a:srgbClr val="C9ADA7">
              <a:alpha val="30000"/>
            </a:srgbClr>
          </a:solidFill>
          <a:ln w="6350">
            <a:solidFill>
              <a:srgbClr val="C9AD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频率与持续性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持续、一致的模式，跨场景重复出现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间歇性、选择性，只在关键人物面前发作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8046720" cy="502920"/>
          </a:xfrm>
          <a:prstGeom prst="rect">
            <a:avLst/>
          </a:prstGeom>
          <a:solidFill>
            <a:srgbClr val="F5F3EF"/>
          </a:solidFill>
          <a:ln w="6350">
            <a:solidFill>
              <a:srgbClr val="C9AD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对象范围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对多人表达类似不满，不针对特定人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只针对你，且在领导/同事面前刻意示弱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8046720" cy="502920"/>
          </a:xfrm>
          <a:prstGeom prst="rect">
            <a:avLst/>
          </a:prstGeom>
          <a:solidFill>
            <a:srgbClr val="C9ADA7">
              <a:alpha val="30000"/>
            </a:srgbClr>
          </a:solidFill>
          <a:ln w="6350">
            <a:solidFill>
              <a:srgbClr val="C9AD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情绪投入度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情绪稳定但态度坚决，理性表达不满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2788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情绪波动大，有明显表演痕迹（叹气、苦笑）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8046720" cy="502920"/>
          </a:xfrm>
          <a:prstGeom prst="rect">
            <a:avLst/>
          </a:prstGeom>
          <a:solidFill>
            <a:srgbClr val="F5F3EF"/>
          </a:solidFill>
          <a:ln w="6350">
            <a:solidFill>
              <a:srgbClr val="C9AD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诉求清晰度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说不清具体诉求，主要是情绪发泄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3291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诉求模糊，重点是塑造'受害者'形象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8046720" cy="502920"/>
          </a:xfrm>
          <a:prstGeom prst="rect">
            <a:avLst/>
          </a:prstGeom>
          <a:solidFill>
            <a:srgbClr val="C9ADA7">
              <a:alpha val="30000"/>
            </a:srgbClr>
          </a:solidFill>
          <a:ln w="6350">
            <a:solidFill>
              <a:srgbClr val="C9AD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私下 vs 公开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私下和公开表现一致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3794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私下正常，公开场合突然变脸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关键洞察：表演型行为的目的是让你自我怀疑 + 在领导心中埋下种子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B7FA8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548640"/>
          </a:xfrm>
          <a:prstGeom prst="rect">
            <a:avLst/>
          </a:prstGeom>
          <a:solidFill>
            <a:srgbClr val="5B7FA8"/>
          </a:solidFill>
          <a:ln w="12700">
            <a:solidFill>
              <a:srgbClr val="5B7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1005840"/>
          </a:xfrm>
          <a:prstGeom prst="roundRect">
            <a:avLst>
              <a:gd name="adj" fmla="val 10909"/>
            </a:avLst>
          </a:prstGeom>
          <a:solidFill>
            <a:srgbClr val="C9ADA7">
              <a:alpha val="35000"/>
            </a:srgbClr>
          </a:solidFill>
          <a:ln w="19050">
            <a:solidFill>
              <a:srgbClr val="5B7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640080" cy="640080"/>
          </a:xfrm>
          <a:prstGeom prst="ellipse">
            <a:avLst/>
          </a:prstGeom>
          <a:solidFill>
            <a:srgbClr val="5B7FA8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D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关键话术 1：边界澄清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737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"我想先确认一下，你刚才说的 [复述原话]，具体是指什么？我希望我们能在同一语境下讨论。"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08483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用途：拆解模糊指控，让对方说清楚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1005840"/>
          </a:xfrm>
          <a:prstGeom prst="roundRect">
            <a:avLst>
              <a:gd name="adj" fmla="val 10909"/>
            </a:avLst>
          </a:prstGeom>
          <a:solidFill>
            <a:srgbClr val="C9ADA7">
              <a:alpha val="35000"/>
            </a:srgbClr>
          </a:solidFill>
          <a:ln w="19050">
            <a:solidFill>
              <a:srgbClr val="5B7F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560320"/>
            <a:ext cx="640080" cy="640080"/>
          </a:xfrm>
          <a:prstGeom prst="ellipse">
            <a:avLst/>
          </a:prstGeom>
          <a:solidFill>
            <a:srgbClr val="5B7FA8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D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54480" y="2560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关键话术 2：温和反击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2880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"我理解你有顾虑，但这个说法不太准确。能否告诉我，你的判断依据是什么？"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322783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用途：不陷入情绪，温和但要事实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8046720" cy="1005840"/>
          </a:xfrm>
          <a:prstGeom prst="roundRect">
            <a:avLst>
              <a:gd name="adj" fmla="val 10909"/>
            </a:avLst>
          </a:prstGeom>
          <a:solidFill>
            <a:srgbClr val="C9ADA7">
              <a:alpha val="35000"/>
            </a:srgbClr>
          </a:solidFill>
          <a:ln w="19050">
            <a:solidFill>
              <a:srgbClr val="5B7F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703320"/>
            <a:ext cx="640080" cy="640080"/>
          </a:xfrm>
          <a:prstGeom prst="ellipse">
            <a:avLst/>
          </a:prstGeom>
          <a:solidFill>
            <a:srgbClr val="5B7FA8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D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54480" y="3703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关键话术 3：升维共识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4023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"我们目标是一致的——把事做好。与其纠结谁的问题，不如一起想想怎么解决？"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54480" y="437083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用途：跳出对抗框架，回归问题本身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8046720" cy="73152"/>
          </a:xfrm>
          <a:prstGeom prst="rect">
            <a:avLst/>
          </a:prstGeom>
          <a:solidFill>
            <a:srgbClr val="5B7FA8"/>
          </a:solidFill>
          <a:ln w="12700">
            <a:solidFill>
              <a:srgbClr val="5B7F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B7FA8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2026-03-29T13:14:45Z</dcterms:created>
  <dcterms:modified xsi:type="dcterms:W3CDTF">2026-03-29T13:14:45Z</dcterms:modified>
</cp:coreProperties>
</file>
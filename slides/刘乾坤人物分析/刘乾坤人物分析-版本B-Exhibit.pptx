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刘乾坤人物深度分析报告，v10.2版本，年老师于2026年3月19日建档。本报告从权力框架、行为模式、应对策略三个维度进行系统分析，帮助理解他的行为逻辑并找到有效的应对方式。</a:t>
            </a:r>
          </a:p>
          <a:p>
            <a:endParaRPr lang="zh-CN" dirty="0"/>
          </a:p>
          <a:p>
            <a:r>
              <a:rPr lang="zh-CN" dirty="0"/>
              <a:t>这份档案不是简单的观察记录，而是经过一个多月持续追踪、24条案例验证的系统性分析。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刘乾坤的核心定位：高压管理型业管，擅长立规矩加三要素法，对上表演、对下施压、信息管控。</a:t>
            </a:r>
          </a:p>
          <a:p>
            <a:endParaRPr lang="zh-CN" dirty="0"/>
          </a:p>
          <a:p>
            <a:r>
              <a:rPr lang="zh-CN" dirty="0"/>
              <a:t>他的所有行为都围绕三个核心诉求展开：</a:t>
            </a:r>
          </a:p>
          <a:p>
            <a:r>
              <a:rPr lang="zh-CN" dirty="0"/>
              <a:t>• 控制权：刚接手新业务时，通过立规矩、阻断信息、责任下放来建立"我在管"的信号。这是他首要的需求，秩序是他安全感的基础。</a:t>
            </a:r>
          </a:p>
          <a:p>
            <a:r>
              <a:rPr lang="zh-CN" dirty="0"/>
              <a:t>• 展示权：最在意的是"老板知不知道我在解决"。群内表演、打鸡血、CC上级，观众从来不是平级而是上级。</a:t>
            </a:r>
          </a:p>
          <a:p>
            <a:r>
              <a:rPr lang="zh-CN" dirty="0"/>
              <a:t>• 安全感：怕被替代，所以要让别人依赖自己。信息管控就是掌控不可替代性。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三个核心诉求缺一不可：</a:t>
            </a:r>
          </a:p>
          <a:p>
            <a:endParaRPr lang="zh-CN" dirty="0"/>
          </a:p>
          <a:p>
            <a:r>
              <a:rPr lang="zh-CN" dirty="0"/>
              <a:t>控制权是他的第一需求。刚接管业务时频繁宣布新规则，强调"按规则办事"。典型动作包括立规矩、阻断信息、责任下放。动机是刚接手需要建立"我在管"的信号。应对方式是确认规则的合理性，不盲目接受所有规则。</a:t>
            </a:r>
          </a:p>
          <a:p>
            <a:endParaRPr lang="zh-CN" dirty="0"/>
          </a:p>
          <a:p>
            <a:r>
              <a:rPr lang="zh-CN" dirty="0"/>
              <a:t>展示权是他最在意的部分。群聊中高频@上级，汇报"进展"，语气偏向"我在推动解决"。表演给上级看，不是给平级看。应对方式是不抢戏，专注自身边界。</a:t>
            </a:r>
          </a:p>
          <a:p>
            <a:endParaRPr lang="zh-CN" dirty="0"/>
          </a:p>
          <a:p>
            <a:r>
              <a:rPr lang="zh-CN" dirty="0"/>
              <a:t>安全感是他最底层的恐惧。阻断他与上级的直接沟通时会触发，"别找供应商，我来对接"。应对方式是建立独立渠道，不依赖他拿数据。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五种权力来源，从底层规则到表层施压，层层递进：</a:t>
            </a:r>
          </a:p>
          <a:p>
            <a:endParaRPr lang="zh-CN" dirty="0"/>
          </a:p>
          <a:p>
            <a:r>
              <a:rPr lang="zh-CN" dirty="0"/>
              <a:t>规则权是最顶层的权力。立规矩、机制先行，让后续管理变成"按规则办事"而非"个人施压"。应对方式是确认规则合理性，不盲目接受。</a:t>
            </a:r>
          </a:p>
          <a:p>
            <a:endParaRPr lang="zh-CN" dirty="0"/>
          </a:p>
          <a:p>
            <a:r>
              <a:rPr lang="zh-CN" dirty="0"/>
              <a:t>信息权控制信息流动。两头堵、阻断信息，让对手只能依赖自己获取数据。应对方式是建立独立渠道，"我需要一线真实反馈"。</a:t>
            </a:r>
          </a:p>
          <a:p>
            <a:endParaRPr lang="zh-CN" dirty="0"/>
          </a:p>
          <a:p>
            <a:r>
              <a:rPr lang="zh-CN" dirty="0"/>
              <a:t>关系权用关系绑定利益。拉拢圈人、人情债管理，主动帮助建立人情。应对方式是接受但不欠人情，区分工作与私交。</a:t>
            </a:r>
          </a:p>
          <a:p>
            <a:endParaRPr lang="zh-CN" dirty="0"/>
          </a:p>
          <a:p>
            <a:r>
              <a:rPr lang="zh-CN" dirty="0"/>
              <a:t>注意权刷存在感给上级看。群内表演、打鸡血，消息多发在有上级的群。应对方式是不抢戏，专注自身边界。</a:t>
            </a:r>
          </a:p>
          <a:p>
            <a:endParaRPr lang="zh-CN" dirty="0"/>
          </a:p>
          <a:p>
            <a:r>
              <a:rPr lang="zh-CN" dirty="0"/>
              <a:t>施压权是最底层的权力。公开锁定、高压管理，制造回复压力。应对方式是反问回去，不接任务。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18种模式按权力来源分组，风险等级用颜色区分：</a:t>
            </a:r>
          </a:p>
          <a:p>
            <a:endParaRPr lang="zh-CN" dirty="0"/>
          </a:p>
          <a:p>
            <a:r>
              <a:rPr lang="zh-CN" dirty="0"/>
              <a:t>规则权：立规矩——这是最值得学习的手法，先定规则后办事。</a:t>
            </a:r>
          </a:p>
          <a:p>
            <a:endParaRPr lang="zh-CN" dirty="0"/>
          </a:p>
          <a:p>
            <a:r>
              <a:rPr lang="zh-CN" dirty="0"/>
              <a:t>信息权和关系权：两头堵是高危险手法，阻断信息渠道；拉拢圈人和人情债管理是施压手法，主动让利换取配合。</a:t>
            </a:r>
          </a:p>
          <a:p>
            <a:endParaRPr lang="zh-CN" dirty="0"/>
          </a:p>
          <a:p>
            <a:r>
              <a:rPr lang="zh-CN" dirty="0"/>
              <a:t>注意权和施压权：这是最密集的区域。群内表演、任务下放加CC展示是施压手法；公开锁定、高压管理、追责转嫁、加压链都是高危险手法。</a:t>
            </a:r>
          </a:p>
          <a:p>
            <a:endParaRPr lang="zh-CN" dirty="0"/>
          </a:p>
          <a:p>
            <a:r>
              <a:rPr lang="zh-CN" dirty="0"/>
              <a:t>组合拳：抛问题、正面对冲、借力打力是中性手法；群聊闹事、选择性攻击是高危险手法；质疑数据降温、挖人试探、镜像过敏是中性手法。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刘乾坤的关系网络清晰反映他的权力策略：</a:t>
            </a:r>
          </a:p>
          <a:p>
            <a:endParaRPr lang="zh-CN" dirty="0"/>
          </a:p>
          <a:p>
            <a:r>
              <a:rPr lang="zh-CN" dirty="0"/>
              <a:t>同盟：郭鑫（前同事）——"用你的嘴，出我的力"；马贵贤（前同事）——"你的工作，我的成果"。通过前同事建立同盟网络。</a:t>
            </a:r>
          </a:p>
          <a:p>
            <a:endParaRPr lang="zh-CN" dirty="0"/>
          </a:p>
          <a:p>
            <a:r>
              <a:rPr lang="zh-CN" dirty="0"/>
              <a:t>上级：王易人（服务组负责人）是主要的CC对象，所有表演最终观众是他。刘伟佳（策略组负责人）是师承关系，刘乾坤学的是"形"，刘伟佳掌握的是"神"。</a:t>
            </a:r>
          </a:p>
          <a:p>
            <a:endParaRPr lang="zh-CN" dirty="0"/>
          </a:p>
          <a:p>
            <a:r>
              <a:rPr lang="zh-CN" dirty="0"/>
              <a:t>配合：年老师——"兄弟"称呼加拉拢，试图建立人情债。年老师的策略是接受但不欠人情，合作但不依赖。</a:t>
            </a:r>
          </a:p>
          <a:p>
            <a:endParaRPr lang="zh-CN" dirty="0"/>
          </a:p>
          <a:p>
            <a:r>
              <a:rPr lang="zh-CN" dirty="0"/>
              <a:t>下属：张世跃（实习生）——任务下放加功劳上报；供应商——利益驱动加责任下放。</a:t>
            </a:r>
          </a:p>
          <a:p>
            <a:endParaRPr lang="zh-CN" dirty="0"/>
          </a:p>
          <a:p>
            <a:r>
              <a:rPr lang="zh-CN" dirty="0"/>
              <a:t>对手：李吉斌（前任）——公开质疑加双重标准，刚接手就甩锅。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四种驱动方式，让供应商自己动起来：</a:t>
            </a:r>
          </a:p>
          <a:p>
            <a:endParaRPr lang="zh-CN" dirty="0"/>
          </a:p>
          <a:p>
            <a:r>
              <a:rPr lang="zh-CN" dirty="0"/>
              <a:t>质问式：核心话术"汰换机制是什么？"直接提问，让供应商解释问题，制造"必须回答"的压力。可学之处在于精准提问，不给模糊空间。</a:t>
            </a:r>
          </a:p>
          <a:p>
            <a:endParaRPr lang="zh-CN" dirty="0"/>
          </a:p>
          <a:p>
            <a:r>
              <a:rPr lang="zh-CN" dirty="0"/>
              <a:t>驱动式：核心话术"3.4亿才有奖金"。用利益让供应商自己急，"为自己干"不是"为我干"。利益绑定比命令更有效。</a:t>
            </a:r>
          </a:p>
          <a:p>
            <a:endParaRPr lang="zh-CN" dirty="0"/>
          </a:p>
          <a:p>
            <a:r>
              <a:rPr lang="zh-CN" dirty="0"/>
              <a:t>要求式：核心话术"本月人力计划、周度计划"。要求具体计划，不模糊，明确时间节点和交付物。要求要具体可考核。</a:t>
            </a:r>
          </a:p>
          <a:p>
            <a:endParaRPr lang="zh-CN" dirty="0"/>
          </a:p>
          <a:p>
            <a:r>
              <a:rPr lang="zh-CN" dirty="0"/>
              <a:t>改进式（最值得学习）：三要素法——原因加提升目标加举措。让供应商自己承诺，完不成有把柄。这是刘乾坤最成熟的管理手法。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四步建立管理基础：</a:t>
            </a:r>
          </a:p>
          <a:p>
            <a:endParaRPr lang="zh-CN" dirty="0"/>
          </a:p>
          <a:p>
            <a:r>
              <a:rPr lang="zh-CN" dirty="0"/>
              <a:t>第一步 立规矩：刚接手宣布7条规则——30分钟回复、10点报出勤、昵称格式规范、数据日报格式、群内沟通规范。目的：后续是"按规则办事"。</a:t>
            </a:r>
          </a:p>
          <a:p>
            <a:endParaRPr lang="zh-CN" dirty="0"/>
          </a:p>
          <a:p>
            <a:r>
              <a:rPr lang="zh-CN" dirty="0"/>
              <a:t>第二步 数据切入：摆数据不出结论，让别人背锅。5分钟连发两条数据，精确到小数点，责任完美分散，自己居功。</a:t>
            </a:r>
          </a:p>
          <a:p>
            <a:endParaRPr lang="zh-CN" dirty="0"/>
          </a:p>
          <a:p>
            <a:r>
              <a:rPr lang="zh-CN" dirty="0"/>
              <a:t>第三步 公开锁定：群里@具体人，所有人看着不得不接。不私聊，公开@，制造回复压力，连环追加施压。</a:t>
            </a:r>
          </a:p>
          <a:p>
            <a:endParaRPr lang="zh-CN" dirty="0"/>
          </a:p>
          <a:p>
            <a:r>
              <a:rPr lang="zh-CN" dirty="0"/>
              <a:t>第四步 建立预期：按规则办事的形象确立，后续引用初始规则，持续执行。</a:t>
            </a:r>
          </a:p>
          <a:p>
            <a:endParaRPr lang="zh-CN" dirty="0"/>
          </a:p>
          <a:p>
            <a:r>
              <a:rPr lang="zh-CN" dirty="0"/>
              <a:t>高明之处：后续所有管理行为都是"执行既定规则"，不是"个人施压"。规则一旦建立，管理就变成"按章办事"而非"个人意志"。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核心原则四条：</a:t>
            </a:r>
          </a:p>
          <a:p>
            <a:endParaRPr lang="zh-CN" dirty="0"/>
          </a:p>
          <a:p>
            <a:r>
              <a:rPr lang="zh-CN" dirty="0"/>
              <a:t>1. 不主动背锅：刘乾坤的问题直接传递，不接"帮我看下"</a:t>
            </a:r>
          </a:p>
          <a:p>
            <a:r>
              <a:rPr lang="zh-CN" dirty="0"/>
              <a:t>2. 边界清晰：周末不接@，工作日按流程</a:t>
            </a:r>
          </a:p>
          <a:p>
            <a:r>
              <a:rPr lang="zh-CN" dirty="0"/>
              <a:t>3. 信息独立：建立独立渠道，不依赖他拿数据</a:t>
            </a:r>
          </a:p>
          <a:p>
            <a:r>
              <a:rPr lang="zh-CN" dirty="0"/>
              <a:t>4. 学习技巧：立规矩、三要素法、数据说话</a:t>
            </a:r>
          </a:p>
          <a:p>
            <a:endParaRPr lang="zh-CN" dirty="0"/>
          </a:p>
          <a:p>
            <a:r>
              <a:rPr lang="zh-CN" dirty="0"/>
              <a:t>话术对照：</a:t>
            </a:r>
          </a:p>
          <a:p>
            <a:r>
              <a:rPr lang="zh-CN" dirty="0"/>
              <a:t>• "帮我看下，我该如何解答" → "你的想法是什么？我先听你的"——不接任务，反问回去</a:t>
            </a:r>
          </a:p>
          <a:p>
            <a:r>
              <a:rPr lang="zh-CN" dirty="0"/>
              <a:t>• 周末@处理供应商问题 → "收到，周一处理"——边界清晰，不解释</a:t>
            </a:r>
          </a:p>
          <a:p>
            <a:r>
              <a:rPr lang="zh-CN" dirty="0"/>
              <a:t>• "别找供应商，他们不如我们清楚" → "理解，但我需要一线真实反馈"——建立独立渠道</a:t>
            </a:r>
          </a:p>
          <a:p>
            <a:r>
              <a:rPr lang="zh-CN" dirty="0"/>
              <a:t>• "辛苦兄弟多费心" → "8个供应商，担心盯不细"——示弱加边界，刘乾坤会退让</a:t>
            </a:r>
          </a:p>
          <a:p>
            <a:r>
              <a:rPr lang="zh-CN" dirty="0"/>
              <a:t>• 危机渲染加责任锁定 → 事实压危机、锁定卡点、踢球给方案——用专业语言说话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四种核心技巧值得学习：</a:t>
            </a:r>
          </a:p>
          <a:p>
            <a:endParaRPr lang="zh-CN" dirty="0"/>
          </a:p>
          <a:p>
            <a:r>
              <a:rPr lang="zh-CN" dirty="0"/>
              <a:t>立规矩：先定规则后办事，后续是"执行既定规则"。适用场景是接手新业务、管理新团队。规则越具体越好，可考核可追溯。</a:t>
            </a:r>
          </a:p>
          <a:p>
            <a:endParaRPr lang="zh-CN" dirty="0"/>
          </a:p>
          <a:p>
            <a:r>
              <a:rPr lang="zh-CN" dirty="0"/>
              <a:t>三要素法：问题→原因+目标+举措，让别人承诺。适用场景是供应商管理、推动执行。让对方承诺比直接给方案更有约束力。</a:t>
            </a:r>
          </a:p>
          <a:p>
            <a:endParaRPr lang="zh-CN" dirty="0"/>
          </a:p>
          <a:p>
            <a:r>
              <a:rPr lang="zh-CN" dirty="0"/>
              <a:t>数据说话：精确数据展示加公开施压。适用场景是汇报、驱动、施压。数据是最好的武器，比任何道理都有力。</a:t>
            </a:r>
          </a:p>
          <a:p>
            <a:endParaRPr lang="zh-CN" dirty="0"/>
          </a:p>
          <a:p>
            <a:r>
              <a:rPr lang="zh-CN" dirty="0"/>
              <a:t>机制先行：先建机制再谈业务。适用场景是建立长期管理体系。让供应商自己建系统，干不好有把柄。</a:t>
            </a:r>
          </a:p>
          <a:p>
            <a:endParaRPr lang="zh-CN" dirty="0"/>
          </a:p>
          <a:p>
            <a:r>
              <a:rPr lang="zh-CN" dirty="0"/>
              <a:t>核心差异：</a:t>
            </a:r>
          </a:p>
          <a:p>
            <a:r>
              <a:rPr lang="zh-CN" dirty="0"/>
              <a:t>• 刘乾坤：摆问题→施压→让供应商自己想办法</a:t>
            </a:r>
          </a:p>
          <a:p>
            <a:r>
              <a:rPr lang="zh-CN" dirty="0"/>
              <a:t>• 年老师：摆问题→提要求→给支持→让供应商自己想办法→长期合作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三个争议事件暴露他的真实性格：</a:t>
            </a:r>
          </a:p>
          <a:p>
            <a:endParaRPr lang="zh-CN" dirty="0"/>
          </a:p>
          <a:p>
            <a:r>
              <a:rPr lang="zh-CN" dirty="0"/>
              <a:t>双重标准（03-25）：自己违规推动供应商拿钱被内审查过，反过来质疑李吉斌的激励方案。年老师感受："挺可怕的，真的不可交"。</a:t>
            </a:r>
          </a:p>
          <a:p>
            <a:endParaRPr lang="zh-CN" dirty="0"/>
          </a:p>
          <a:p>
            <a:r>
              <a:rPr lang="zh-CN" dirty="0"/>
              <a:t>公开攻击前任（03-25 深夜）：@李吉斌加CC上级，让前任在所有人面前难堪。刚接手就甩锅。李吉斌反击后刘乾坤软化退让——教训是面对强硬反击他会退让。</a:t>
            </a:r>
          </a:p>
          <a:p>
            <a:endParaRPr lang="zh-CN" dirty="0"/>
          </a:p>
          <a:p>
            <a:r>
              <a:rPr lang="zh-CN" dirty="0"/>
              <a:t>开门红带节奏（03-29）：群内密集同步激励问题，道德绑架"影响1400个制鞋工人"。选择性攻击：只攻击服务组，不攻击策略组。夸大其词：实际"不会出现批量离职"。教训是核实数据，不被情绪带节奏。</a:t>
            </a:r>
          </a:p>
          <a:p>
            <a:endParaRPr lang="zh-CN" dirty="0"/>
          </a:p>
          <a:p>
            <a:r>
              <a:rPr lang="zh-CN" dirty="0"/>
              <a:t>核心洞察：他对别人做的事，自己可能也在做。双重标准是最大破绽。面对事实反击和强硬态度，他会退让。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总结三句话：</a:t>
            </a:r>
          </a:p>
          <a:p>
            <a:endParaRPr lang="zh-CN" dirty="0"/>
          </a:p>
          <a:p>
            <a:r>
              <a:rPr lang="zh-CN" dirty="0"/>
              <a:t>他不是在管理，是在表演管理——最在意的是"老板知不知道我在解决"。</a:t>
            </a:r>
          </a:p>
          <a:p>
            <a:endParaRPr lang="zh-CN" dirty="0"/>
          </a:p>
          <a:p>
            <a:r>
              <a:rPr lang="zh-CN" dirty="0"/>
              <a:t>边界清晰是最好的防御——周末不接@，工作日按流程，信息独立。</a:t>
            </a:r>
          </a:p>
          <a:p>
            <a:endParaRPr lang="zh-CN" dirty="0"/>
          </a:p>
          <a:p>
            <a:r>
              <a:rPr lang="zh-CN" dirty="0"/>
              <a:t>取其精华，做温和但坚定的管理者——学立规矩、三要素法、数据说话；加上给支持、温和但坚决、长期合作的伙伴关系。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1905000"/>
            <a:ext cx="9525" cy="2667000"/>
          </a:xfrm>
          <a:custGeom>
            <a:avLst/>
            <a:gdLst/>
            <a:ahLst/>
            <a:cxnLst/>
            <a:rect l="l" t="t" r="r" b="b"/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38100">
            <a:solidFill>
              <a:srgbClr val="E2725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30886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刘乾坤人物深度分析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139440"/>
            <a:ext cx="54218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权力框架 · 行为模式 · 应对策略 · 可学习内容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377571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v10.2 · 年老师建档 · 2026-03-19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C41E3A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2026-04-09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75608" y="6268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1605" y="3114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40119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他的所有行为，都围绕三个诉求展开：控制权、展示权、安全感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175926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POSITIONING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900" y="22479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高压管理型业管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0140" y="2948940"/>
            <a:ext cx="2714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擅长</a:t>
            </a:r>
            <a:r>
              <a:rPr lang="zh-CN" sz="18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立规矩 + 三要素法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2045" y="3441382"/>
            <a:ext cx="34879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对上表演 · 对下施压 · 信息管控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4191000"/>
            <a:ext cx="285750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1143000" y="4191000"/>
            <a:ext cx="38100" cy="1143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58265" y="43776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5885" y="4728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7790" y="498252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动机：刚接手需要"我在管"的信号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4191000"/>
            <a:ext cx="285750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286250" y="4191000"/>
            <a:ext cx="38100" cy="1143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01515" y="43776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9135" y="4728210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040" y="4982528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动机：最在意"老板知不知道"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29500" y="4191000"/>
            <a:ext cx="285750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429500" y="4191000"/>
            <a:ext cx="3810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44765" y="43776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52385" y="47282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信息管控、建立依赖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54290" y="49825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动机：怕被替代，让别人依赖自己</a:t>
            </a:r>
          </a:p>
        </p:txBody>
      </p:sp>
      <p:sp>
        <p:nvSpPr>
          <p:cNvPr id="29" name="Line 2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71475" y="6538912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1605" y="31146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权力内核 — 他想要什么？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一切行为围绕三个核心诉求展开，缺一不可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047750"/>
            <a:ext cx="3619500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047750"/>
            <a:ext cx="3619500" cy="666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809625" y="1209675"/>
            <a:ext cx="476250" cy="352425"/>
            <a:chOff x="809625" y="1209675"/>
            <a:chExt cx="476250" cy="352425"/>
          </a:xfrm>
        </p:grpSpPr>
        <p:sp>
          <p:nvSpPr>
            <p:cNvPr id="12" name="Freeform 12"/>
            <p:cNvSpPr/>
            <p:nvPr/>
          </p:nvSpPr>
          <p:spPr>
            <a:xfrm>
              <a:off x="809625" y="1209675"/>
              <a:ext cx="476250" cy="285750"/>
            </a:xfrm>
            <a:custGeom>
              <a:avLst/>
              <a:gdLst/>
              <a:ahLst/>
              <a:cxnLst/>
              <a:rect l="l" t="t" r="r" b="b"/>
              <a:pathLst>
                <a:path w="476250" h="285750">
                  <a:moveTo>
                    <a:pt x="0" y="285750"/>
                  </a:moveTo>
                  <a:lnTo>
                    <a:pt x="47625" y="47625"/>
                  </a:lnTo>
                  <a:lnTo>
                    <a:pt x="142875" y="190500"/>
                  </a:lnTo>
                  <a:lnTo>
                    <a:pt x="238125" y="0"/>
                  </a:lnTo>
                  <a:lnTo>
                    <a:pt x="333375" y="190500"/>
                  </a:lnTo>
                  <a:lnTo>
                    <a:pt x="428625" y="47625"/>
                  </a:lnTo>
                  <a:lnTo>
                    <a:pt x="476250" y="28575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9625" y="1514475"/>
              <a:ext cx="476250" cy="47625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449705" y="12496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1870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21564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26803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4385" y="2966085"/>
            <a:ext cx="23263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刚接手需要"我在管"的信号，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32042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建立秩序是首要任务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385" y="3728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338" y="40219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刚接管业务时频繁宣布新规则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338" y="4260056"/>
            <a:ext cx="1359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强调"按规则办事"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" y="4762500"/>
            <a:ext cx="3143250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9165" y="4839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81500" y="1047750"/>
            <a:ext cx="3619500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381500" y="1047750"/>
            <a:ext cx="3619500" cy="6667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4591050" y="1200150"/>
            <a:ext cx="533400" cy="342900"/>
            <a:chOff x="4591050" y="1200150"/>
            <a:chExt cx="533400" cy="342900"/>
          </a:xfrm>
        </p:grpSpPr>
        <p:sp>
          <p:nvSpPr>
            <p:cNvPr id="28" name="Ellipse 28"/>
            <p:cNvSpPr/>
            <p:nvPr/>
          </p:nvSpPr>
          <p:spPr>
            <a:xfrm>
              <a:off x="4591050" y="1200150"/>
              <a:ext cx="533400" cy="3429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81550" y="1295400"/>
              <a:ext cx="152400" cy="1524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259705" y="12496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04385" y="1870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04385" y="2156460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04385" y="26803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4385" y="2966085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最在意"老板知不知道我在解决"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4385" y="3204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04385" y="3728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05338" y="4021931"/>
            <a:ext cx="22713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群聊中高频@上级，汇报"进展"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05338" y="4260056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语气偏向"我在推动解决"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619625" y="4762500"/>
            <a:ext cx="3143250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749165" y="4839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191500" y="1047750"/>
            <a:ext cx="3429000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8191500" y="1047750"/>
            <a:ext cx="3429000" cy="6667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8429625" y="1181100"/>
            <a:ext cx="476250" cy="533400"/>
          </a:xfrm>
          <a:custGeom>
            <a:avLst/>
            <a:gdLst/>
            <a:ahLst/>
            <a:cxnLst/>
            <a:rect l="l" t="t" r="r" b="b"/>
            <a:pathLst>
              <a:path w="476250" h="533400">
                <a:moveTo>
                  <a:pt x="238125" y="0"/>
                </a:moveTo>
                <a:lnTo>
                  <a:pt x="476250" y="95250"/>
                </a:lnTo>
                <a:lnTo>
                  <a:pt x="476250" y="266700"/>
                </a:lnTo>
                <a:cubicBezTo>
                  <a:pt x="476250" y="381000"/>
                  <a:pt x="352425" y="476250"/>
                  <a:pt x="238125" y="533400"/>
                </a:cubicBezTo>
                <a:cubicBezTo>
                  <a:pt x="123825" y="476250"/>
                  <a:pt x="0" y="381000"/>
                  <a:pt x="0" y="26670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22080" y="1249680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14385" y="1870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14385" y="2156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信息管控、建立依赖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14385" y="26803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4385" y="29660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怕被替代，让别人依赖自己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14385" y="3204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掌控信息就是掌控不可替代性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14385" y="3728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15338" y="402193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阻断他与上级的直接沟通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15338" y="4260056"/>
            <a:ext cx="185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"别找供应商，我来对接"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429625" y="4762500"/>
            <a:ext cx="2952750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559165" y="4839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应对：建立独立渠道，不依赖他</a:t>
            </a:r>
          </a:p>
        </p:txBody>
      </p:sp>
      <p:sp>
        <p:nvSpPr>
          <p:cNvPr id="56" name="Line 56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71475" y="6538912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权力内核章节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1605" y="31146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权力来源 — 权力从哪来？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31361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 种权力来源，从底层规则到表层施压，层层递进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57250" y="2000250"/>
            <a:ext cx="4381500" cy="3714750"/>
            <a:chOff x="857250" y="2000250"/>
            <a:chExt cx="4381500" cy="3714750"/>
          </a:xfrm>
        </p:grpSpPr>
        <p:sp>
          <p:nvSpPr>
            <p:cNvPr id="10" name="Rectangle 10"/>
            <p:cNvSpPr/>
            <p:nvPr/>
          </p:nvSpPr>
          <p:spPr>
            <a:xfrm>
              <a:off x="857250" y="5048250"/>
              <a:ext cx="4381500" cy="66675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83907" y="531495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施压权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4286250"/>
              <a:ext cx="3905250" cy="666750"/>
            </a:xfrm>
            <a:prstGeom prst="rect">
              <a:avLst/>
            </a:prstGeom>
            <a:solidFill>
              <a:srgbClr val="C41E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22032" y="455295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注意权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809750" y="3524250"/>
              <a:ext cx="3429000" cy="666750"/>
            </a:xfrm>
            <a:prstGeom prst="rect">
              <a:avLst/>
            </a:prstGeom>
            <a:solidFill>
              <a:srgbClr val="C41E3A">
                <a:alpha val="7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60157" y="379095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关系权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86000" y="2762250"/>
              <a:ext cx="2952750" cy="666750"/>
            </a:xfrm>
            <a:prstGeom prst="rect">
              <a:avLst/>
            </a:prstGeom>
            <a:solidFill>
              <a:srgbClr val="E272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98282" y="302895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信息权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2250" y="2000250"/>
              <a:ext cx="2476500" cy="666750"/>
            </a:xfrm>
            <a:prstGeom prst="rect">
              <a:avLst/>
            </a:prstGeom>
            <a:solidFill>
              <a:srgbClr val="E2725B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36407" y="226695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规则权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5715000" y="952500"/>
            <a:ext cx="5905500" cy="495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715000" y="952500"/>
            <a:ext cx="17145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212919" y="10787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权力类型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29500" y="952500"/>
            <a:ext cx="2095500" cy="381000"/>
          </a:xfrm>
          <a:prstGeom prst="rect">
            <a:avLst/>
          </a:prstGeom>
          <a:solidFill>
            <a:srgbClr val="C41E3A">
              <a:alpha val="8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17919" y="10787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典型手法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525000" y="952500"/>
            <a:ext cx="2095500" cy="381000"/>
          </a:xfrm>
          <a:prstGeom prst="rect">
            <a:avLst/>
          </a:prstGeom>
          <a:solidFill>
            <a:srgbClr val="C41E3A">
              <a:alpha val="6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213419" y="10787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0" y="1333500"/>
            <a:ext cx="5905500" cy="6858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0" y="1333500"/>
            <a:ext cx="38100" cy="6858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280976" y="14420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75070" y="1704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（顶层）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05738" y="14501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立规矩、机制先行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16953" y="17044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"按规则办事"的底气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47697" y="145018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确认合理性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19573" y="1704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不盲目接受所有规则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0" y="2019300"/>
            <a:ext cx="59055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280976" y="21278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05738" y="21359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两头堵、阻断信息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37671" y="23902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控制信息流动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65544" y="213598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61972" y="23902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不依赖他拿数据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0" y="2705100"/>
            <a:ext cx="59055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280976" y="28136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05738" y="28217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拉拢圈人、人情债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66472" y="30760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用关系绑定利益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83391" y="28217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接受但不欠人情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61972" y="30760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区分工作与私交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0" y="3390900"/>
            <a:ext cx="590550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280976" y="34994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05738" y="35075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群内表演、打鸡血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95273" y="37618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刷存在感给上级看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312003" y="350758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不抢戏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33171" y="37618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专注自身边界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0" y="4076700"/>
            <a:ext cx="5905500" cy="6858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5715000" y="4076700"/>
            <a:ext cx="38100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280976" y="41852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275070" y="4447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（底层）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23584" y="41933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公开锁定、高压管理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037671" y="44476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29850" y="41933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反问回去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275570" y="44476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不接任务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71475" y="6538912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权力框架章节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全景概览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1605" y="311468"/>
            <a:ext cx="2787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核心行为模式 — 18 种战术动作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30364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18 种模式按权力来源分组，风险等级用颜色区分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0" y="952500"/>
            <a:ext cx="114300" cy="1143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28401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715500" y="952500"/>
            <a:ext cx="114300" cy="1143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551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382250" y="952500"/>
            <a:ext cx="114300" cy="1143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52226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1049000" y="952500"/>
            <a:ext cx="114300" cy="1143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18901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238250"/>
            <a:ext cx="2714625" cy="4667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71500" y="1238250"/>
            <a:ext cx="2714625" cy="42862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596366" y="1378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4375" y="185737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14375" y="1857375"/>
            <a:ext cx="28575" cy="381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2010" y="1965960"/>
            <a:ext cx="8016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7. 立规矩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476625" y="1238250"/>
            <a:ext cx="2714625" cy="4667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476625" y="1238250"/>
            <a:ext cx="2714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71912" y="1378268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信息权 · 关系权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619500" y="185737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3619500" y="1857375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47135" y="1965960"/>
            <a:ext cx="8542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13. 两头堵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619500" y="2381250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619500" y="2381250"/>
            <a:ext cx="28575" cy="381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747135" y="2489835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8. 拉拢圈人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619500" y="290512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3619500" y="2905125"/>
            <a:ext cx="28575" cy="381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747135" y="3013710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12. 人情债管理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81750" y="1238250"/>
            <a:ext cx="2714625" cy="4667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381750" y="1238250"/>
            <a:ext cx="2714625" cy="42862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977037" y="1378268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注意权 · 施压权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524625" y="185737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524625" y="1857375"/>
            <a:ext cx="28575" cy="381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2260" y="196596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2. 群内表演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524625" y="2381250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524625" y="2381250"/>
            <a:ext cx="28575" cy="381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2260" y="2489835"/>
            <a:ext cx="16165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6. 任务下放+CC展示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524625" y="290512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6524625" y="2905125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652260" y="301371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3. 公开锁定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524625" y="3429000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524625" y="3429000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652260" y="3537585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4. 高压管理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524625" y="3952875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524625" y="3952875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652260" y="406146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9. 追责转嫁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524625" y="4476750"/>
            <a:ext cx="2428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524625" y="4476750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2260" y="4585335"/>
            <a:ext cx="8542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10. 加压链</a:t>
            </a:r>
          </a:p>
        </p:txBody>
      </p:sp>
      <p:sp>
        <p:nvSpPr>
          <p:cNvPr id="57" name="Rectangle 57"/>
          <p:cNvSpPr/>
          <p:nvPr/>
        </p:nvSpPr>
        <p:spPr>
          <a:xfrm>
            <a:off x="9286875" y="1238250"/>
            <a:ext cx="2333625" cy="4667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9286875" y="1238250"/>
            <a:ext cx="2333625" cy="42862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121241" y="1378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组合拳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429750" y="1857375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9429750" y="1857375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557385" y="1965960"/>
            <a:ext cx="757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1. 抛问题</a:t>
            </a:r>
          </a:p>
        </p:txBody>
      </p:sp>
      <p:sp>
        <p:nvSpPr>
          <p:cNvPr id="63" name="Rectangle 63"/>
          <p:cNvSpPr/>
          <p:nvPr/>
        </p:nvSpPr>
        <p:spPr>
          <a:xfrm>
            <a:off x="9429750" y="2381250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9429750" y="2381250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557385" y="2489835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5. 正面对冲</a:t>
            </a:r>
          </a:p>
        </p:txBody>
      </p:sp>
      <p:sp>
        <p:nvSpPr>
          <p:cNvPr id="66" name="Rectangle 66"/>
          <p:cNvSpPr/>
          <p:nvPr/>
        </p:nvSpPr>
        <p:spPr>
          <a:xfrm>
            <a:off x="9429750" y="2905125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429750" y="2905125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557385" y="3013710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11. 借力打力</a:t>
            </a:r>
          </a:p>
        </p:txBody>
      </p:sp>
      <p:sp>
        <p:nvSpPr>
          <p:cNvPr id="69" name="Rectangle 69"/>
          <p:cNvSpPr/>
          <p:nvPr/>
        </p:nvSpPr>
        <p:spPr>
          <a:xfrm>
            <a:off x="9429750" y="3429000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29750" y="3429000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9557385" y="353758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14. 群聊闹事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429750" y="3952875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9429750" y="3952875"/>
            <a:ext cx="2857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557385" y="4061460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15. 选择性攻击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429750" y="4476750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76" name="Rectangle 76"/>
          <p:cNvSpPr/>
          <p:nvPr/>
        </p:nvSpPr>
        <p:spPr>
          <a:xfrm>
            <a:off x="9429750" y="4476750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557385" y="4585335"/>
            <a:ext cx="13799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16. 质疑数据降温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429750" y="5000625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79" name="Rectangle 79"/>
          <p:cNvSpPr/>
          <p:nvPr/>
        </p:nvSpPr>
        <p:spPr>
          <a:xfrm>
            <a:off x="9429750" y="5000625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9557385" y="510921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17. 挖人试探</a:t>
            </a:r>
          </a:p>
        </p:txBody>
      </p:sp>
      <p:sp>
        <p:nvSpPr>
          <p:cNvPr id="81" name="Rectangle 81"/>
          <p:cNvSpPr/>
          <p:nvPr/>
        </p:nvSpPr>
        <p:spPr>
          <a:xfrm>
            <a:off x="9429750" y="5524500"/>
            <a:ext cx="2047875" cy="3810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82" name="Rectangle 82"/>
          <p:cNvSpPr/>
          <p:nvPr/>
        </p:nvSpPr>
        <p:spPr>
          <a:xfrm>
            <a:off x="9429750" y="5524500"/>
            <a:ext cx="2857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9557385" y="563308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18. 镜像过敏</a:t>
            </a:r>
          </a:p>
        </p:txBody>
      </p:sp>
      <p:sp>
        <p:nvSpPr>
          <p:cNvPr id="84" name="Line 8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371475" y="6538912"/>
            <a:ext cx="21276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18 种行为模式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关系网络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他身边的关键人与关系网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2894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刘乾坤的关系网络 — 同盟、下属、对手、外部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  <p:sp>
        <p:nvSpPr>
          <p:cNvPr id="10" name="Freeform 10"/>
          <p:cNvSpPr/>
          <p:nvPr/>
        </p:nvSpPr>
        <p:spPr>
          <a:xfrm>
            <a:off x="5143500" y="25717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495300"/>
                </a:lnTo>
                <a:cubicBezTo>
                  <a:pt x="1905000" y="537384"/>
                  <a:pt x="1870884" y="571500"/>
                  <a:pt x="1828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41E3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31907" y="276225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2" name="Line 12"/>
          <p:cNvSpPr/>
          <p:nvPr/>
        </p:nvSpPr>
        <p:spPr>
          <a:xfrm>
            <a:off x="2857500" y="1524000"/>
            <a:ext cx="2286000" cy="1190625"/>
          </a:xfrm>
          <a:custGeom>
            <a:avLst/>
            <a:gdLst/>
            <a:ahLst/>
            <a:cxnLst/>
            <a:rect l="l" t="t" r="r" b="b"/>
            <a:pathLst>
              <a:path w="2286000" h="1190625">
                <a:moveTo>
                  <a:pt x="2286000" y="11906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41E3A">
                <a:alpha val="5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952500" y="2667000"/>
            <a:ext cx="4191000" cy="47625"/>
          </a:xfrm>
          <a:custGeom>
            <a:avLst/>
            <a:gdLst/>
            <a:ahLst/>
            <a:cxnLst/>
            <a:rect l="l" t="t" r="r" b="b"/>
            <a:pathLst>
              <a:path w="4191000" h="47625">
                <a:moveTo>
                  <a:pt x="4191000" y="476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41E3A">
                <a:alpha val="5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857500" y="2714625"/>
            <a:ext cx="2286000" cy="1285875"/>
          </a:xfrm>
          <a:custGeom>
            <a:avLst/>
            <a:gdLst/>
            <a:ahLst/>
            <a:cxnLst/>
            <a:rect l="l" t="t" r="r" b="b"/>
            <a:pathLst>
              <a:path w="2286000" h="1285875">
                <a:moveTo>
                  <a:pt x="2286000" y="0"/>
                </a:moveTo>
                <a:lnTo>
                  <a:pt x="0" y="1285875"/>
                </a:lnTo>
              </a:path>
            </a:pathLst>
          </a:custGeom>
          <a:noFill/>
          <a:ln w="19050">
            <a:solidFill>
              <a:srgbClr val="E2725B">
                <a:alpha val="5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5143500" y="1524000"/>
            <a:ext cx="4191000" cy="1190625"/>
          </a:xfrm>
          <a:custGeom>
            <a:avLst/>
            <a:gdLst/>
            <a:ahLst/>
            <a:cxnLst/>
            <a:rect l="l" t="t" r="r" b="b"/>
            <a:pathLst>
              <a:path w="4191000" h="1190625">
                <a:moveTo>
                  <a:pt x="0" y="1190625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6B7280">
                <a:alpha val="5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7048500" y="2667000"/>
            <a:ext cx="2952750" cy="47625"/>
          </a:xfrm>
          <a:custGeom>
            <a:avLst/>
            <a:gdLst/>
            <a:ahLst/>
            <a:cxnLst/>
            <a:rect l="l" t="t" r="r" b="b"/>
            <a:pathLst>
              <a:path w="2952750" h="47625">
                <a:moveTo>
                  <a:pt x="0" y="47625"/>
                </a:moveTo>
                <a:lnTo>
                  <a:pt x="2952750" y="0"/>
                </a:lnTo>
              </a:path>
            </a:pathLst>
          </a:custGeom>
          <a:noFill/>
          <a:ln w="19050">
            <a:solidFill>
              <a:srgbClr val="16A34A">
                <a:alpha val="5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7048500" y="2952750"/>
            <a:ext cx="2286000" cy="1047750"/>
          </a:xfrm>
          <a:custGeom>
            <a:avLst/>
            <a:gdLst/>
            <a:ahLst/>
            <a:cxnLst/>
            <a:rect l="l" t="t" r="r" b="b"/>
            <a:pathLst>
              <a:path w="2286000" h="1047750">
                <a:moveTo>
                  <a:pt x="0" y="0"/>
                </a:moveTo>
                <a:lnTo>
                  <a:pt x="2286000" y="1047750"/>
                </a:lnTo>
              </a:path>
            </a:pathLst>
          </a:custGeom>
          <a:noFill/>
          <a:ln w="19050">
            <a:solidFill>
              <a:srgbClr val="6B7280">
                <a:alpha val="50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7048500" y="1524000"/>
            <a:ext cx="2952750" cy="1047750"/>
          </a:xfrm>
          <a:custGeom>
            <a:avLst/>
            <a:gdLst/>
            <a:ahLst/>
            <a:cxnLst/>
            <a:rect l="l" t="t" r="r" b="b"/>
            <a:pathLst>
              <a:path w="2952750" h="1047750">
                <a:moveTo>
                  <a:pt x="0" y="1047750"/>
                </a:moveTo>
                <a:lnTo>
                  <a:pt x="2952750" y="0"/>
                </a:lnTo>
              </a:path>
            </a:pathLst>
          </a:custGeom>
          <a:noFill/>
          <a:ln w="19050">
            <a:solidFill>
              <a:srgbClr val="16A34A">
                <a:alpha val="50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952500" y="3143250"/>
            <a:ext cx="4191000" cy="857250"/>
          </a:xfrm>
          <a:custGeom>
            <a:avLst/>
            <a:gdLst/>
            <a:ahLst/>
            <a:cxnLst/>
            <a:rect l="l" t="t" r="r" b="b"/>
            <a:pathLst>
              <a:path w="4191000" h="857250">
                <a:moveTo>
                  <a:pt x="4191000" y="0"/>
                </a:moveTo>
                <a:lnTo>
                  <a:pt x="0" y="857250"/>
                </a:lnTo>
              </a:path>
            </a:pathLst>
          </a:custGeom>
          <a:noFill/>
          <a:ln w="19050">
            <a:solidFill>
              <a:srgbClr val="B91C1C">
                <a:alpha val="50000"/>
              </a:srgbClr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2095500" y="1333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C41E3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239387" y="14501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郭鑫（前同事）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38542" y="164449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"用你的嘴，出我的力"</a:t>
            </a:r>
          </a:p>
        </p:txBody>
      </p:sp>
      <p:sp>
        <p:nvSpPr>
          <p:cNvPr id="23" name="Freeform 23"/>
          <p:cNvSpPr/>
          <p:nvPr/>
        </p:nvSpPr>
        <p:spPr>
          <a:xfrm>
            <a:off x="190500" y="2476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C41E3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48126" y="259318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马贵贤（前同事）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3542" y="278749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"你的工作，我的成果"</a:t>
            </a:r>
          </a:p>
        </p:txBody>
      </p:sp>
      <p:sp>
        <p:nvSpPr>
          <p:cNvPr id="26" name="Freeform 26"/>
          <p:cNvSpPr/>
          <p:nvPr/>
        </p:nvSpPr>
        <p:spPr>
          <a:xfrm>
            <a:off x="9239250" y="1333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16A34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296876" y="145018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刘伟佳（策略组）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08808" y="16444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师承关系，高级版</a:t>
            </a:r>
          </a:p>
        </p:txBody>
      </p:sp>
      <p:sp>
        <p:nvSpPr>
          <p:cNvPr id="29" name="Freeform 29"/>
          <p:cNvSpPr/>
          <p:nvPr/>
        </p:nvSpPr>
        <p:spPr>
          <a:xfrm>
            <a:off x="9239250" y="2476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16A34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383137" y="25931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王易人（上级）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2292" y="278749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服务组负责人，CC对象</a:t>
            </a:r>
          </a:p>
        </p:txBody>
      </p:sp>
      <p:sp>
        <p:nvSpPr>
          <p:cNvPr id="32" name="Freeform 32"/>
          <p:cNvSpPr/>
          <p:nvPr/>
        </p:nvSpPr>
        <p:spPr>
          <a:xfrm>
            <a:off x="2095500" y="38100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E2725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239387" y="39266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年老师（配合）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86143" y="4120991"/>
            <a:ext cx="9427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"兄弟"称呼+拉拢</a:t>
            </a:r>
          </a:p>
        </p:txBody>
      </p:sp>
      <p:sp>
        <p:nvSpPr>
          <p:cNvPr id="35" name="Freeform 35"/>
          <p:cNvSpPr/>
          <p:nvPr/>
        </p:nvSpPr>
        <p:spPr>
          <a:xfrm>
            <a:off x="8572500" y="38100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6B728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716387" y="39266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供应商（外部）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8922" y="4120991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利益驱动+责任下放</a:t>
            </a:r>
          </a:p>
        </p:txBody>
      </p:sp>
      <p:sp>
        <p:nvSpPr>
          <p:cNvPr id="38" name="Freeform 38"/>
          <p:cNvSpPr/>
          <p:nvPr/>
        </p:nvSpPr>
        <p:spPr>
          <a:xfrm>
            <a:off x="8572500" y="13335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6B728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630126" y="145018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张世跃（实习生）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08922" y="1644491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任务下放+功劳上报</a:t>
            </a:r>
          </a:p>
        </p:txBody>
      </p:sp>
      <p:sp>
        <p:nvSpPr>
          <p:cNvPr id="41" name="Freeform 41"/>
          <p:cNvSpPr/>
          <p:nvPr/>
        </p:nvSpPr>
        <p:spPr>
          <a:xfrm>
            <a:off x="190500" y="3810000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419100"/>
                </a:lnTo>
                <a:cubicBezTo>
                  <a:pt x="1524000" y="450663"/>
                  <a:pt x="1498413" y="476250"/>
                  <a:pt x="1466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1B22"/>
          </a:solidFill>
          <a:ln w="19050">
            <a:solidFill>
              <a:srgbClr val="B91C1C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34387" y="39266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李吉斌（前任）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6922" y="4120991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公开质疑+双重标准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5143500"/>
            <a:ext cx="114300" cy="114300"/>
          </a:xfrm>
          <a:prstGeom prst="rect">
            <a:avLst/>
          </a:prstGeom>
          <a:solidFill>
            <a:srgbClr val="161B22"/>
          </a:solidFill>
          <a:ln w="19050">
            <a:solidFill>
              <a:srgbClr val="C41E3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31520" y="51606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同盟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238250" y="5143500"/>
            <a:ext cx="114300" cy="114300"/>
          </a:xfrm>
          <a:prstGeom prst="rect">
            <a:avLst/>
          </a:prstGeom>
          <a:solidFill>
            <a:srgbClr val="161B22"/>
          </a:solidFill>
          <a:ln w="19050">
            <a:solidFill>
              <a:srgbClr val="E2725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398270" y="51606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配合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0" y="5143500"/>
            <a:ext cx="114300" cy="114300"/>
          </a:xfrm>
          <a:prstGeom prst="rect">
            <a:avLst/>
          </a:prstGeom>
          <a:solidFill>
            <a:srgbClr val="161B22"/>
          </a:solidFill>
          <a:ln w="19050">
            <a:solidFill>
              <a:srgbClr val="16A34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065020" y="51606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上级/师承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857500" y="5143500"/>
            <a:ext cx="114300" cy="114300"/>
          </a:xfrm>
          <a:prstGeom prst="rect">
            <a:avLst/>
          </a:prstGeom>
          <a:solidFill>
            <a:srgbClr val="161B22"/>
          </a:solidFill>
          <a:ln w="19050">
            <a:solidFill>
              <a:srgbClr val="6B728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017520" y="51606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下属/外部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905250" y="5143500"/>
            <a:ext cx="114300" cy="114300"/>
          </a:xfrm>
          <a:prstGeom prst="rect">
            <a:avLst/>
          </a:prstGeom>
          <a:solidFill>
            <a:srgbClr val="161B22"/>
          </a:solidFill>
          <a:ln w="19050">
            <a:solidFill>
              <a:srgbClr val="B91C1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065270" y="51606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对手/前任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71475" y="6538912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关系网络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管理手法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25186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供应商管理 — 4 种驱动方式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30364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质问、驱动、要求、改进 — 让供应商自己动起来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047750"/>
            <a:ext cx="2714625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047750"/>
            <a:ext cx="2714625" cy="476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96366" y="12068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1696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1926431"/>
            <a:ext cx="1523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i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410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做法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26489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直接提问，让供应商解释问题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2887028"/>
            <a:ext cx="1575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制造"必须回答"的压力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3363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618" y="3609499"/>
            <a:ext cx="1313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03-24 要求袁浩淇发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799999"/>
            <a:ext cx="13561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MOB1目标、汰换机制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4286250"/>
            <a:ext cx="2333625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92492" y="4371499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可学：精准提问，不给模糊空间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476625" y="1047750"/>
            <a:ext cx="2714625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476625" y="1047750"/>
            <a:ext cx="2714625" cy="476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01491" y="12068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53790" y="1696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52838" y="1926431"/>
            <a:ext cx="1351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i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"3.4 亿才有奖金"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53790" y="2410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做法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53790" y="26489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用利益让供应商自己急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3790" y="2887028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"为自己干"不是"为我干"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53790" y="3363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54742" y="3609499"/>
            <a:ext cx="16765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03-20 月末冲刺，4个问题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54742" y="37999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让供应商自己安排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667125" y="4286250"/>
            <a:ext cx="2333625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797618" y="43714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可学：利益绑定比命令更有效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81750" y="1047750"/>
            <a:ext cx="2714625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381750" y="1047750"/>
            <a:ext cx="2714625" cy="4762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406616" y="12068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8915" y="1696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57962" y="192643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i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"本月人力计划、周度计划"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58915" y="2410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做法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8915" y="26489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要求具体计划，不模糊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8915" y="2887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明确时间节点和交付物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58915" y="3363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59868" y="36094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03-20 @5家供应商反馈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59868" y="37999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面试/培训/入职数据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572250" y="4286250"/>
            <a:ext cx="2333625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02742" y="43714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可学：要求要具体可考核</a:t>
            </a:r>
          </a:p>
        </p:txBody>
      </p:sp>
      <p:sp>
        <p:nvSpPr>
          <p:cNvPr id="49" name="Rectangle 49"/>
          <p:cNvSpPr/>
          <p:nvPr/>
        </p:nvSpPr>
        <p:spPr>
          <a:xfrm>
            <a:off x="9286875" y="1047750"/>
            <a:ext cx="2333625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9286875" y="1047750"/>
            <a:ext cx="2333625" cy="476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033255" y="120681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改进式 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64040" y="1696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核心话术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63088" y="1926431"/>
            <a:ext cx="1375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i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"原因+目标+举措"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64040" y="2410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做法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64040" y="26489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三要素法：让供应商自己承诺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464040" y="28870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完不成有把柄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64040" y="33632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案例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64992" y="36094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03-20 @2家通时不达标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64992" y="3799999"/>
            <a:ext cx="12636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03-24 5家×2问复盘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477375" y="4286250"/>
            <a:ext cx="1952625" cy="28575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607868" y="43714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★ 最值得学的手法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71475" y="6538912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供应商管理手法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关键步骤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27566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接手新业务 — 先定规则后办事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34352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 步建立管理基础，后续所有行为都是"执行既定规则"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238250"/>
            <a:ext cx="2714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82314" y="13782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第一步：立规矩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857375"/>
            <a:ext cx="2714625" cy="2095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48665" y="202977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刚接手宣布 7 条规则：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323624"/>
            <a:ext cx="9147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30 分钟回复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561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10 点报出勤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2799874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昵称格式规范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3037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数据日报格式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3276124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群内沟通规范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619500"/>
            <a:ext cx="2333625" cy="238125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93445" y="3693795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目的：后续是"按规则办事"</a:t>
            </a:r>
          </a:p>
        </p:txBody>
      </p:sp>
      <p:sp>
        <p:nvSpPr>
          <p:cNvPr id="21" name="Polygon 21"/>
          <p:cNvSpPr/>
          <p:nvPr/>
        </p:nvSpPr>
        <p:spPr>
          <a:xfrm>
            <a:off x="3381375" y="2381250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0" y="95250"/>
                </a:moveTo>
                <a:lnTo>
                  <a:pt x="333375" y="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857625" y="1238250"/>
            <a:ext cx="2714625" cy="42862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364926" y="13782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第二步：数据切入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57625" y="1857375"/>
            <a:ext cx="2714625" cy="2095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034790" y="2029778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摆数据不出结论，让别人背锅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35742" y="2323624"/>
            <a:ext cx="1406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5 分钟连发两条数据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35742" y="256174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精确到小数点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35742" y="2799874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责任完美分散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35742" y="303799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自己居功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35742" y="3276124"/>
            <a:ext cx="13917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"一元批次下降50%"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048125" y="3619500"/>
            <a:ext cx="2333625" cy="238125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179570" y="36937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目的：数据驱动，不主观判断</a:t>
            </a:r>
          </a:p>
        </p:txBody>
      </p:sp>
      <p:sp>
        <p:nvSpPr>
          <p:cNvPr id="33" name="Polygon 33"/>
          <p:cNvSpPr/>
          <p:nvPr/>
        </p:nvSpPr>
        <p:spPr>
          <a:xfrm>
            <a:off x="6667500" y="2381250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0" y="95250"/>
                </a:moveTo>
                <a:lnTo>
                  <a:pt x="333375" y="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143750" y="1238250"/>
            <a:ext cx="2714625" cy="42862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651052" y="13782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第三步：公开锁定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143750" y="1857375"/>
            <a:ext cx="2714625" cy="2095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320915" y="2029778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群里@具体人，所有人看着不得不接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21868" y="2323624"/>
            <a:ext cx="10785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不私聊，公开@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21868" y="256174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制造回复压力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21868" y="2799874"/>
            <a:ext cx="10927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@郭鑫+@马贵贤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21868" y="3037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连环追加施压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21868" y="3276124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• 测试处理速度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334250" y="3619500"/>
            <a:ext cx="2333625" cy="238125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65695" y="36937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目的：公开场合不得不接</a:t>
            </a:r>
          </a:p>
        </p:txBody>
      </p:sp>
      <p:sp>
        <p:nvSpPr>
          <p:cNvPr id="45" name="Polygon 45"/>
          <p:cNvSpPr/>
          <p:nvPr/>
        </p:nvSpPr>
        <p:spPr>
          <a:xfrm>
            <a:off x="9953625" y="2381250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0" y="95250"/>
                </a:moveTo>
                <a:lnTo>
                  <a:pt x="333375" y="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10429875" y="1238250"/>
            <a:ext cx="1333500" cy="42862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768941" y="1378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第四步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0429875" y="1857375"/>
            <a:ext cx="1333500" cy="2095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0511790" y="2029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512742" y="232362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"按规则办事"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12742" y="25617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形象确立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512742" y="27998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后续引用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12742" y="3037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初始规则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512742" y="32761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持续执行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0525125" y="3619500"/>
            <a:ext cx="1143000" cy="238125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561320" y="36937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管理有据可依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572000"/>
            <a:ext cx="11049000" cy="952500"/>
          </a:xfrm>
          <a:prstGeom prst="rect">
            <a:avLst/>
          </a:prstGeom>
          <a:solidFill>
            <a:srgbClr val="161B22"/>
          </a:solidFill>
          <a:ln w="9525">
            <a:solidFill>
              <a:srgbClr val="E2725B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4572000"/>
            <a:ext cx="57150" cy="952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42010" y="4775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高明之处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2010" y="5061585"/>
            <a:ext cx="90388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后续所有管理行为都是"执行既定规则"，不是"个人施压"。规则一旦建立，管理就变成"按章办事"而非"个人意志"。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3915" y="5315902"/>
            <a:ext cx="3852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03-18 金条人工接手 — 7 条规则 = 后续管理的合法性基础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71475" y="6538912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工作手法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25496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年老师应对策略 — 见招拆招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核心原则：不接任务、边界清晰、信息独立、学习技巧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1090" y="5219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047750"/>
            <a:ext cx="3429000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047750"/>
            <a:ext cx="3429000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54803" y="1187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核心原则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1666875"/>
            <a:ext cx="3048000" cy="5715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762000" y="1666875"/>
            <a:ext cx="3810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7260" y="1775460"/>
            <a:ext cx="11622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1. 不主动背锅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20297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刘乾坤的问题直接传递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381250"/>
            <a:ext cx="3048000" cy="5715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2381250"/>
            <a:ext cx="3810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7260" y="2489835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2. 边界清晰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165" y="27441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周末不接@，工作日按流程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095625"/>
            <a:ext cx="3048000" cy="5715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3095625"/>
            <a:ext cx="3810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37260" y="3204210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3. 信息独立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165" y="34585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建立独立渠道，不依赖他拿数据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3810000"/>
            <a:ext cx="3048000" cy="571500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3810000"/>
            <a:ext cx="38100" cy="5715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7260" y="3918585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4. 学习技巧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41729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立规矩、三要素法、数据说话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1047750"/>
            <a:ext cx="7429500" cy="485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191000" y="1047750"/>
            <a:ext cx="7429500" cy="42862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51438" y="1187768"/>
            <a:ext cx="3108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话术对照 — 他怎么说 vs 我怎么回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1619250"/>
            <a:ext cx="3619500" cy="333375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855875" y="17249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他的手法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0" y="1619250"/>
            <a:ext cx="3429000" cy="333375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299615" y="172497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年老师回应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381500" y="2047875"/>
            <a:ext cx="7048500" cy="619125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58665" y="21726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"帮我看下，我该如何解答"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60570" y="242697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抛问题，试探性转嫁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78165" y="2172652"/>
            <a:ext cx="22970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"你的想法是什么？我先听你的"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80070" y="242697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不接任务，反问回去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81500" y="2762250"/>
            <a:ext cx="7048500" cy="619125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558665" y="288702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周末@处理供应商问题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60570" y="3141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试探边界感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78165" y="2887028"/>
            <a:ext cx="13309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"收到，周一处理"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80070" y="31413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边界清晰，不解释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381500" y="3476625"/>
            <a:ext cx="7048500" cy="619125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58665" y="360140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"别找供应商，他们不如我们清楚"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0570" y="38557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两头堵，阻断信息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78165" y="3601402"/>
            <a:ext cx="22970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"理解，但我需要一线真实反馈"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80070" y="3855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381500" y="4191000"/>
            <a:ext cx="7048500" cy="619125"/>
          </a:xfrm>
          <a:prstGeom prst="rect">
            <a:avLst/>
          </a:prstGeom>
          <a:solidFill>
            <a:srgbClr val="1C212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558665" y="4315778"/>
            <a:ext cx="2188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"辛苦兄弟多费心"（责任转嫁）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60570" y="457009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人情债+责任分散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178165" y="4315778"/>
            <a:ext cx="19025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"8个供应商，担心盯不细"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180070" y="4570095"/>
            <a:ext cx="11664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示弱+边界 ✅ 刘退让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381500" y="4905375"/>
            <a:ext cx="7048500" cy="762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558665" y="5030152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危机渲染+责任锁定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60570" y="528447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升级为系统性问题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178165" y="5030152"/>
            <a:ext cx="26512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事实压危机 + 锁定卡点 + 踢球给方案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180070" y="5284470"/>
            <a:ext cx="26780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用专业语言说话，变"失控"为"具体流程问题"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180070" y="54559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不接他的框架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71475" y="6538912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应对策略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644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可学内容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3170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可学习内容 — 取其精华，去其糟粕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4154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从刘乾坤身上可以学到什么？4 种核心技巧 + 与年老师风格的差异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952" y="5219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047750"/>
            <a:ext cx="2714625" cy="3333750"/>
          </a:xfrm>
          <a:prstGeom prst="rect">
            <a:avLst/>
          </a:prstGeom>
          <a:solidFill>
            <a:srgbClr val="161B22"/>
          </a:solidFill>
          <a:ln w="9525">
            <a:solidFill>
              <a:srgbClr val="16A34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047750"/>
            <a:ext cx="2714625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08380" y="1187768"/>
            <a:ext cx="831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立规矩 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12" y="16406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先定规则后办事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19821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后续管理是"执行既定规则"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220278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不是"个人施压"，管理有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2458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合法性基础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31727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接手新业务、管理新团队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3410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建立长期管理机制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810000"/>
            <a:ext cx="2333625" cy="38100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2492" y="38666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规则越具体越好，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2492" y="40381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可考核可追溯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476625" y="1047750"/>
            <a:ext cx="2714625" cy="3333750"/>
          </a:xfrm>
          <a:prstGeom prst="rect">
            <a:avLst/>
          </a:prstGeom>
          <a:solidFill>
            <a:srgbClr val="161B22"/>
          </a:solidFill>
          <a:ln w="9525">
            <a:solidFill>
              <a:srgbClr val="16A34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476625" y="1047750"/>
            <a:ext cx="2714625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309992" y="118776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三要素法 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52838" y="1640681"/>
            <a:ext cx="17969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问题 → 原因+目标+举措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53790" y="1982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让供应商自己承诺，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53790" y="22202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完不成有把柄。不替别人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53790" y="24584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给方案，让对方自己想办法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3790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53790" y="31727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供应商管理、推动执行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53790" y="3410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绩效不达标的整改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667125" y="3810000"/>
            <a:ext cx="2333625" cy="38100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797618" y="38666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让对方承诺比直接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97618" y="40381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给方案更有约束力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81750" y="1047750"/>
            <a:ext cx="2714625" cy="3333750"/>
          </a:xfrm>
          <a:prstGeom prst="rect">
            <a:avLst/>
          </a:prstGeom>
          <a:solidFill>
            <a:srgbClr val="161B22"/>
          </a:solidFill>
          <a:ln w="9525">
            <a:solidFill>
              <a:srgbClr val="16A34A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381750" y="1047750"/>
            <a:ext cx="2714625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215117" y="118776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数据说话 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7962" y="1640681"/>
            <a:ext cx="18486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精确数据展示+公开施压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58915" y="19821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用数据代替主观判断，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58915" y="22202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精确到小数点。数据面前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8915" y="24584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没人能反驳事实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8915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58915" y="3172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汇报、驱动、施压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58915" y="34109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任何需要说服的场景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572250" y="3810000"/>
            <a:ext cx="2333625" cy="38100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702742" y="38666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数据是最好的武器，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02742" y="40381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比任何道理都有力</a:t>
            </a:r>
          </a:p>
        </p:txBody>
      </p:sp>
      <p:sp>
        <p:nvSpPr>
          <p:cNvPr id="49" name="Rectangle 49"/>
          <p:cNvSpPr/>
          <p:nvPr/>
        </p:nvSpPr>
        <p:spPr>
          <a:xfrm>
            <a:off x="9286875" y="1047750"/>
            <a:ext cx="2333625" cy="3333750"/>
          </a:xfrm>
          <a:prstGeom prst="rect">
            <a:avLst/>
          </a:prstGeom>
          <a:solidFill>
            <a:srgbClr val="161B22"/>
          </a:solidFill>
          <a:ln w="9525">
            <a:solidFill>
              <a:srgbClr val="16A34A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9286875" y="1047750"/>
            <a:ext cx="2333625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929742" y="1187768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机制先行 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63088" y="164068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先建机制再谈业务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64040" y="1982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不急于谈业务增长，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64040" y="2220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先要人员培养、汰换、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64040" y="24584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数据追踪、策略、荣誉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464040" y="2934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64040" y="3172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建立长期管理体系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64040" y="34109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让供应商自己建系统</a:t>
            </a:r>
          </a:p>
        </p:txBody>
      </p:sp>
      <p:sp>
        <p:nvSpPr>
          <p:cNvPr id="59" name="Rectangle 59"/>
          <p:cNvSpPr/>
          <p:nvPr/>
        </p:nvSpPr>
        <p:spPr>
          <a:xfrm>
            <a:off x="9477375" y="3810000"/>
            <a:ext cx="1952625" cy="381000"/>
          </a:xfrm>
          <a:prstGeom prst="rect">
            <a:avLst/>
          </a:prstGeom>
          <a:solidFill>
            <a:srgbClr val="16A34A">
              <a:alpha val="15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607868" y="38666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干不好有把柄，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607868" y="40381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体系自运转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4762500"/>
            <a:ext cx="1104900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898412" y="4918710"/>
            <a:ext cx="2395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刘乾坤 vs 年老师 — 核心差异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8665" y="52682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刘乾坤：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10665" y="5268278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摆问题 → 施压 → 让供应商自己想办法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48665" y="5601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年老师：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10665" y="5601652"/>
            <a:ext cx="4105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摆问题 → 提要求 → 给支持 → 让供应商自己想办法 → 长期合作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71475" y="6538912"/>
            <a:ext cx="20016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可学习内容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973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8165" y="343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关键案例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31146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争议事件 — 暴露真实性格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580549"/>
            <a:ext cx="4154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从争议事件看透他的底线：双重标准、公开攻击前任、选择性攻击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76813" y="521970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047750"/>
            <a:ext cx="11049000" cy="1238250"/>
          </a:xfrm>
          <a:prstGeom prst="rect">
            <a:avLst/>
          </a:prstGeom>
          <a:solidFill>
            <a:srgbClr val="161B22"/>
          </a:solidFill>
          <a:ln w="9525">
            <a:solidFill>
              <a:srgbClr val="B91C1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047750"/>
            <a:ext cx="57150" cy="1238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010" y="1156335"/>
            <a:ext cx="2376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事件一：双重标准（03-25）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3915" y="1458278"/>
            <a:ext cx="111063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刘乾坤自己当业管时，曾违规推动供应商拿钱，被内审查过。现在反过来 @李吉斌 质疑激励方案"基本是没用的方案"。自己干过更严重的事，用同样的事攻击前任。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4868" y="1799749"/>
            <a:ext cx="43892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手法：公开质疑 + 道德绑架 + CC上级 + 暗示"我接手后才发现的问题"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7618" y="1799749"/>
            <a:ext cx="1128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风险等级：★★★★★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4868" y="2037874"/>
            <a:ext cx="24597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年老师感受："挺可怕的，真的不可交"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476500"/>
            <a:ext cx="11049000" cy="1238250"/>
          </a:xfrm>
          <a:prstGeom prst="rect">
            <a:avLst/>
          </a:prstGeom>
          <a:solidFill>
            <a:srgbClr val="161B22"/>
          </a:solidFill>
          <a:ln w="9525">
            <a:solidFill>
              <a:srgbClr val="C41E3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2476500"/>
            <a:ext cx="57150" cy="1238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2010" y="2585085"/>
            <a:ext cx="31680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事件二：公开攻击前任（03-25 深夜）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915" y="2887028"/>
            <a:ext cx="113824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22:10 @李吉斌 + CC 上级，让前任在所有人面前难堪。刚接手就甩锅，暗示"遗留问题不是我的"。"当初怎么考虑的呢？"= 决策拷问，长期效果是"不如让我参与制定"。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4868" y="3228499"/>
            <a:ext cx="56495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李吉斌反击："这个方案当时是大家一起定的" + "你有什么资格说方案没用" → 刘乾坤软化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07618" y="3228499"/>
            <a:ext cx="10500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风险等级：★★★★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4868" y="346662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教训：面对强硬反击，他会退让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905250"/>
            <a:ext cx="11049000" cy="1238250"/>
          </a:xfrm>
          <a:prstGeom prst="rect">
            <a:avLst/>
          </a:prstGeom>
          <a:solidFill>
            <a:srgbClr val="161B22"/>
          </a:solidFill>
          <a:ln w="9525">
            <a:solidFill>
              <a:srgbClr val="E2725B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905250"/>
            <a:ext cx="57150" cy="12382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2010" y="4013835"/>
            <a:ext cx="2744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事件三：开门红带节奏（03-29）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915" y="4315778"/>
            <a:ext cx="12655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群内密集同步激励问题，"激励拿不到钱，供应商就会大量流失"。道德绑架："影响1400个制鞋工人、5000多个家庭"。选择性攻击：只攻击服务组，不攻击策略组（激励是策略组定的）。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4868" y="4657249"/>
            <a:ext cx="6304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保护关系网：和刘伟佳关系好，策略组才是制定方，完全不提。夸大其词：实际"不会出现批量离职"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7618" y="4657249"/>
            <a:ext cx="971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风险等级：★★★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868" y="4895374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教训：核实数据，不被情绪带节奏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429250"/>
            <a:ext cx="11049000" cy="571500"/>
          </a:xfrm>
          <a:prstGeom prst="rect">
            <a:avLst/>
          </a:prstGeom>
          <a:solidFill>
            <a:srgbClr val="161B22"/>
          </a:solidFill>
          <a:ln w="9525">
            <a:solidFill>
              <a:srgbClr val="E2725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429250"/>
            <a:ext cx="571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2962" y="55935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核心洞察：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43088" y="5593556"/>
            <a:ext cx="7093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他对别人做的事，自己可能也在做。双重标准是最大破绽。面对事实反击和强硬态度，他会退让。</a:t>
            </a:r>
          </a:p>
        </p:txBody>
      </p:sp>
      <p:sp>
        <p:nvSpPr>
          <p:cNvPr id="35" name="Line 35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21262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71475" y="6538912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争议事件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302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762500"/>
            <a:chOff x="952500" y="952500"/>
            <a:chExt cx="10287000" cy="47625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382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870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3337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762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C41E3A">
                  <a:alpha val="15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629904" y="2061210"/>
            <a:ext cx="932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24564" y="2564130"/>
            <a:ext cx="514287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深度观察 · 理性应对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85711" y="334613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看懂他的行为逻辑，不被带着走，学该学的</a:t>
            </a:r>
          </a:p>
        </p:txBody>
      </p:sp>
      <p:sp>
        <p:nvSpPr>
          <p:cNvPr id="16" name="Line 16"/>
          <p:cNvSpPr/>
          <p:nvPr/>
        </p:nvSpPr>
        <p:spPr>
          <a:xfrm>
            <a:off x="5143500" y="3905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E2725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797266" y="42357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他不是在管理，是在表演管理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93018" y="461676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边界清晰是最好的防御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0099" y="499776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取其精华，做温和但坚定的管理者</a:t>
            </a:r>
          </a:p>
        </p:txBody>
      </p:sp>
      <p:sp>
        <p:nvSpPr>
          <p:cNvPr id="20" name="Line 20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29665" y="6268402"/>
            <a:ext cx="18592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69544" y="62684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年老师 · Mino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
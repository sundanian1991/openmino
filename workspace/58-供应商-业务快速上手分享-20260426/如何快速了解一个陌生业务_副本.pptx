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5198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SHARING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084362"/>
            <a:ext cx="77724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如何快速了解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028825"/>
            <a:ext cx="77724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一个陌生业务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91000" y="2870150"/>
            <a:ext cx="762000" cy="25301"/>
          </a:xfrm>
          <a:prstGeom prst="rect">
            <a:avLst/>
          </a:prstGeom>
          <a:solidFill>
            <a:srgbClr val="A85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3098602"/>
            <a:ext cx="777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4000"/>
              </a:spcAft>
              <a:buNone/>
            </a:pPr>
            <a:r>
              <a:rPr lang="en-US" sz="16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四步法框架 — 从骨架到诊断，72小时建立业务认知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17510" y="3892302"/>
            <a:ext cx="56972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17510" y="4295477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骨架模型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84013" y="3892302"/>
            <a:ext cx="56972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84013" y="4295477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穿透问题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0515" y="3892302"/>
            <a:ext cx="56972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0515" y="4295477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交叉验证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15620" y="3892302"/>
            <a:ext cx="71226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15620" y="4295477"/>
            <a:ext cx="7122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一页纸诊断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634901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1015901"/>
            <a:ext cx="803137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76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四步法概览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698427"/>
            <a:ext cx="80313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从宏观骨架到微观诊断，逐步深入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2327077"/>
            <a:ext cx="1816001" cy="2355354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1904" y="2946053"/>
            <a:ext cx="15219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81904" y="3511153"/>
            <a:ext cx="1521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搭建骨架模型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1904" y="3879354"/>
            <a:ext cx="152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9个问题填满业务全貌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4052" y="2327077"/>
            <a:ext cx="1816150" cy="2355354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1054" y="2946053"/>
            <a:ext cx="15221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01054" y="3511153"/>
            <a:ext cx="1522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穿透式问题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01054" y="3879354"/>
            <a:ext cx="15221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4维度12个灵魂拷问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73352" y="2327077"/>
            <a:ext cx="1816150" cy="2355354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0354" y="2946053"/>
            <a:ext cx="15221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20354" y="3511153"/>
            <a:ext cx="1522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三套调研动作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0354" y="3879354"/>
            <a:ext cx="15221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访谈+数据+实操交叉验证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92652" y="2327077"/>
            <a:ext cx="1816150" cy="2355354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39654" y="2946053"/>
            <a:ext cx="15221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39654" y="3511153"/>
            <a:ext cx="1522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一页纸诊断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39654" y="3879354"/>
            <a:ext cx="15221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给出判断和证据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5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614511"/>
            <a:ext cx="82905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4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搭建业务的骨架模型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093887"/>
            <a:ext cx="82905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商业模式画布简化版 — 9个问题装进全貌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7950" y="1401812"/>
            <a:ext cx="8127950" cy="3003054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475" y="1411337"/>
            <a:ext cx="2915096" cy="596801"/>
          </a:xfrm>
          <a:prstGeom prst="rect">
            <a:avLst/>
          </a:prstGeom>
          <a:solidFill>
            <a:srgbClr val="E5D8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427809" y="1411337"/>
            <a:ext cx="0" cy="596801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475" y="2003375"/>
            <a:ext cx="2915096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976" y="1500188"/>
            <a:ext cx="27566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8976" y="1604963"/>
            <a:ext cx="2756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976" y="1766888"/>
            <a:ext cx="275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目标客户细分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32572" y="1411337"/>
            <a:ext cx="2915096" cy="596801"/>
          </a:xfrm>
          <a:prstGeom prst="rect">
            <a:avLst/>
          </a:prstGeom>
          <a:solidFill>
            <a:srgbClr val="E5D8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42906" y="1411337"/>
            <a:ext cx="0" cy="596801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32572" y="2003375"/>
            <a:ext cx="2915096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4073" y="1500188"/>
            <a:ext cx="27566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34073" y="1604963"/>
            <a:ext cx="2756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解决什么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34073" y="1766888"/>
            <a:ext cx="275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价值主张 — 痛点/爽点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7475" y="2008138"/>
            <a:ext cx="2905571" cy="596801"/>
          </a:xfrm>
          <a:prstGeom prst="rect">
            <a:avLst/>
          </a:prstGeom>
          <a:solidFill>
            <a:srgbClr val="E5D8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17475" y="2600176"/>
            <a:ext cx="290557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976" y="2096988"/>
            <a:ext cx="27566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8976" y="2201763"/>
            <a:ext cx="2756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怎么触达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8976" y="2363688"/>
            <a:ext cx="275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渠道通路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3047" y="2008138"/>
            <a:ext cx="2915096" cy="596801"/>
          </a:xfrm>
          <a:prstGeom prst="rect">
            <a:avLst/>
          </a:prstGeom>
          <a:solidFill>
            <a:srgbClr val="E5D8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333381" y="2008138"/>
            <a:ext cx="0" cy="596801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3047" y="2600176"/>
            <a:ext cx="2915096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4548" y="2096988"/>
            <a:ext cx="27566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24548" y="2201763"/>
            <a:ext cx="2756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怎么维护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4548" y="2363688"/>
            <a:ext cx="275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客户关系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7475" y="2604939"/>
            <a:ext cx="2915096" cy="596801"/>
          </a:xfrm>
          <a:prstGeom prst="rect">
            <a:avLst/>
          </a:prstGeom>
          <a:solidFill>
            <a:srgbClr val="E5D8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427809" y="2604939"/>
            <a:ext cx="0" cy="596801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7475" y="3196977"/>
            <a:ext cx="2915096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976" y="2693789"/>
            <a:ext cx="27566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18976" y="2798564"/>
            <a:ext cx="2756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靠什么赚钱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8976" y="2960489"/>
            <a:ext cx="275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32572" y="2604939"/>
            <a:ext cx="2905571" cy="596801"/>
          </a:xfrm>
          <a:prstGeom prst="rect">
            <a:avLst/>
          </a:prstGeom>
          <a:solidFill>
            <a:srgbClr val="E5D8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432572" y="3196977"/>
            <a:ext cx="290557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34073" y="2693789"/>
            <a:ext cx="27566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534073" y="2798564"/>
            <a:ext cx="2756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要做什么事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34073" y="2960489"/>
            <a:ext cx="275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关键业务活动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7475" y="3201739"/>
            <a:ext cx="2915096" cy="596801"/>
          </a:xfrm>
          <a:prstGeom prst="rect">
            <a:avLst/>
          </a:prstGeom>
          <a:solidFill>
            <a:srgbClr val="E5D8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427809" y="3201739"/>
            <a:ext cx="0" cy="596801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7475" y="3793778"/>
            <a:ext cx="2915096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976" y="3290590"/>
            <a:ext cx="27566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8976" y="3395365"/>
            <a:ext cx="2756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有什么资源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8976" y="3557290"/>
            <a:ext cx="275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核心资源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432572" y="3201739"/>
            <a:ext cx="2915096" cy="596801"/>
          </a:xfrm>
          <a:prstGeom prst="rect">
            <a:avLst/>
          </a:prstGeom>
          <a:solidFill>
            <a:srgbClr val="E5D8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342906" y="3201739"/>
            <a:ext cx="0" cy="596801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32572" y="3793778"/>
            <a:ext cx="2915096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34073" y="3290590"/>
            <a:ext cx="27566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534073" y="3395365"/>
            <a:ext cx="2756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和谁合作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534073" y="3557290"/>
            <a:ext cx="275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重要伙伴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7475" y="3798540"/>
            <a:ext cx="2905571" cy="596801"/>
          </a:xfrm>
          <a:prstGeom prst="rect">
            <a:avLst/>
          </a:prstGeom>
          <a:solidFill>
            <a:srgbClr val="E5D8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7475" y="4390579"/>
            <a:ext cx="290557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8976" y="3887391"/>
            <a:ext cx="27566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8976" y="3992166"/>
            <a:ext cx="2756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成本花在哪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8976" y="4154091"/>
            <a:ext cx="275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 vs 变动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71500"/>
            <a:ext cx="80313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 — HOW 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34901" y="909042"/>
            <a:ext cx="80313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8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怎么填这张画布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540818"/>
            <a:ext cx="7873901" cy="1259979"/>
          </a:xfrm>
          <a:prstGeom prst="rect">
            <a:avLst/>
          </a:prstGeom>
          <a:solidFill>
            <a:srgbClr val="A85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545580"/>
            <a:ext cx="7873901" cy="0"/>
          </a:xfrm>
          <a:prstGeom prst="line">
            <a:avLst/>
          </a:prstGeom>
          <a:noFill/>
          <a:ln w="9525">
            <a:solidFill>
              <a:srgbClr val="A85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4039" y="1540818"/>
            <a:ext cx="0" cy="1259979"/>
          </a:xfrm>
          <a:prstGeom prst="line">
            <a:avLst/>
          </a:prstGeom>
          <a:noFill/>
          <a:ln w="9525">
            <a:solidFill>
              <a:srgbClr val="A85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4901" y="2796034"/>
            <a:ext cx="7873901" cy="0"/>
          </a:xfrm>
          <a:prstGeom prst="line">
            <a:avLst/>
          </a:prstGeom>
          <a:noFill/>
          <a:ln w="9525">
            <a:solidFill>
              <a:srgbClr val="A85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713" y="1540818"/>
            <a:ext cx="0" cy="1259979"/>
          </a:xfrm>
          <a:prstGeom prst="line">
            <a:avLst/>
          </a:prstGeom>
          <a:noFill/>
          <a:ln w="47625">
            <a:solidFill>
              <a:srgbClr val="A85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1126" y="1893094"/>
            <a:ext cx="750674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找一张大白纸或在线白板，花1小时从已有资料和访谈中把9个格子填满。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1126" y="2305645"/>
            <a:ext cx="75067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填不上的格子 = 关键信息缺口，优先去补齐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901" y="3003947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6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第一版画布的目标是</a:t>
            </a:r>
            <a:pPr algn="l" indent="0" marL="0">
              <a:lnSpc>
                <a:spcPts val="1800"/>
              </a:lnSpc>
              <a:spcBef>
                <a:spcPts val="16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暴露你不知道什么</a:t>
            </a:r>
            <a:pPr algn="l" indent="0" marL="0">
              <a:lnSpc>
                <a:spcPts val="1800"/>
              </a:lnSpc>
              <a:spcBef>
                <a:spcPts val="16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，而不是展示你知道什么。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3410248"/>
            <a:ext cx="507950" cy="12650"/>
          </a:xfrm>
          <a:prstGeom prst="rect">
            <a:avLst/>
          </a:prstGeom>
          <a:solidFill>
            <a:srgbClr val="A85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901" y="3600599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前30分钟用已有材料填，后30分钟标注空白并安排访谈。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33251"/>
            <a:ext cx="82905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 — PART 1/2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897285"/>
            <a:ext cx="829050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穿透式问题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529060"/>
            <a:ext cx="8290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针对每个维度，准备一组灵魂拷问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960811"/>
            <a:ext cx="8127950" cy="2641402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0626" y="2376636"/>
            <a:ext cx="37161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价值与需求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0626" y="2751237"/>
            <a:ext cx="37161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验证需求是否真实存在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0626" y="3071813"/>
            <a:ext cx="3643313" cy="92213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客户不买这个产品，现在用什么替代方案？替代方案哪里不好？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如果明天涨价50%，客户会骂着接受还是直接换对手？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这个业务解决了"必须满足"的需求还是"锦上添花"？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1851" y="1970336"/>
            <a:ext cx="0" cy="2622352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9764" y="2376636"/>
            <a:ext cx="3716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流程与运转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79764" y="2751237"/>
            <a:ext cx="3716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画出关键链路的每个环节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9764" y="3071813"/>
            <a:ext cx="3643461" cy="115267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从客户第一次知道我们到持续使用，必须经过哪5-7个步骤？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当前哪一步最慢/成本最高/最容易出异常？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内部必须靠哪个岗位决策？外部必须靠哪个供应商活着？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33251"/>
            <a:ext cx="82905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 — PART 2/2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897285"/>
            <a:ext cx="829050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穿透式问题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529060"/>
            <a:ext cx="8290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财务和风险维度 — 最容易被忽略但最致命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960811"/>
            <a:ext cx="8127950" cy="2180332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0626" y="2376636"/>
            <a:ext cx="37161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财务与数字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0626" y="2751237"/>
            <a:ext cx="37161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找到增长的核心杠杆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0626" y="3071813"/>
            <a:ext cx="3643313" cy="6916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增长靠"更多客户"还是"更贵客单价"还是"更高复购"？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单客户经济：收到的钱减去直接成本，是正还是负？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人均产出、库存周转天数、回款周期 — 和行业比？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1851" y="1970336"/>
            <a:ext cx="0" cy="2161282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9764" y="2376636"/>
            <a:ext cx="3716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风险与不确定性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79764" y="2751237"/>
            <a:ext cx="3716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找到那颗最大的雷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9764" y="3071813"/>
            <a:ext cx="3643461" cy="6916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如果发生什么事件，业务会在3个月内崩溃？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竞对最可能从哪里抄袭并击败我们？价格、体验还是捆绑？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8415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 —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948184"/>
            <a:ext cx="80313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三套调研动作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579959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800"/>
              </a:spcAft>
              <a:buNone/>
            </a:pPr>
            <a:r>
              <a:rPr lang="en-US" sz="13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访谈 — 分层问不同角色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901" y="2037159"/>
          <a:ext cx="7873901" cy="2539901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角色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问什么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注意陷阱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业务负责人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战略目标、最大的假设、最担心的事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容易讲愿景，忽略细节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一线销售/客服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客户最常抱怨什么？丢单真实原因？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能听到真问题，但可能情绪化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财务/运营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实际数据表现、异常指标、预算分配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数据可能滞后，要问为什么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外部客户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如果没有你们，会怎么办？最看重什么？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需要匿名，或假装普通用户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 — B &amp; 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846534"/>
            <a:ext cx="80313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看数据 + 代入角色实操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01" y="3420814"/>
            <a:ext cx="787390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901" y="1808411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看数据 — 重点找「反常」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2176611"/>
            <a:ext cx="7873901" cy="92213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看近6个月核心指标趋势：收入、毛利、活跃客户数、流失率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看分布：20%客户是否贡献80%收入？高度依赖大客户是风险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看运营快照：今天的订单/工单/库存/现金流，有没有积压或异常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没有内部数据时：行业报告（艾瑞/易观/券商研报）、竞品发布会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3768328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代入角色实操 — 走一遍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4136529"/>
            <a:ext cx="7873901" cy="6916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电商：作为新用户注册、浏览、加购、付款、申请售后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B2B软件：模拟销售从找线索到签约回款全过程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制造业：从采购单到成品出库，追踪一份工单的一天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8415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948184"/>
            <a:ext cx="80313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一页纸业务健康度诊断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579959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800"/>
              </a:spcAft>
              <a:buNone/>
            </a:pPr>
            <a:r>
              <a:rPr lang="en-US" sz="13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不要写长篇报告，只填这张表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901" y="2037159"/>
          <a:ext cx="7873901" cy="279395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91440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维度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当前状态（客观描述）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健康？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关键证据或疑问点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客户需求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7A4A"/>
                          </a:solidFill>
                        </a:rPr>
                        <a:t>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业务逻辑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922A"/>
                          </a:solidFill>
                        </a:rPr>
                        <a:t>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财务状况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7A4A"/>
                          </a:solidFill>
                        </a:rPr>
                        <a:t>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运营效率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04030"/>
                          </a:solidFill>
                        </a:rPr>
                        <a:t>红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风险敞口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922A"/>
                          </a:solidFill>
                        </a:rPr>
                        <a:t>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95300"/>
            <a:ext cx="80313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04 — OUTPUT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34901" y="832842"/>
            <a:ext cx="80313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8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强迫自己给出三个结论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4901" y="2301032"/>
            <a:ext cx="787390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901" y="1566267"/>
            <a:ext cx="388620" cy="57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68301" y="1731318"/>
            <a:ext cx="3049756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这个业务最关键的 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3个成功要素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是什么？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4901" y="3192959"/>
            <a:ext cx="787390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2458194"/>
            <a:ext cx="388620" cy="57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68301" y="2623245"/>
            <a:ext cx="375109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如果我去负责，第一个月我会解决 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哪个具体问题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4901" y="4084886"/>
            <a:ext cx="787390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901" y="3350121"/>
            <a:ext cx="388620" cy="57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68301" y="3515171"/>
            <a:ext cx="295609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向陌生人解释清楚这个业务。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426" y="4242048"/>
            <a:ext cx="0" cy="209550"/>
          </a:xfrm>
          <a:prstGeom prst="line">
            <a:avLst/>
          </a:prstGeom>
          <a:noFill/>
          <a:ln w="19050">
            <a:solidFill>
              <a:srgbClr val="8C5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652" y="4242048"/>
            <a:ext cx="78306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结论的价值在于</a:t>
            </a:r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强迫你从观察者变成判断者</a:t>
            </a:r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8415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948184"/>
            <a:ext cx="80313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不同业务类型的快速透视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579959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800"/>
              </a:spcAft>
              <a:buNone/>
            </a:pPr>
            <a:r>
              <a:rPr lang="en-US" sz="13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不同业态，抓住本质的问题不同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901" y="2037159"/>
          <a:ext cx="7873901" cy="279395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业务类型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快速抓住本质的问题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SaaS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客户流失率（NDR）？实施成本多高？切换成本高还是低？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电商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流量从哪里来？复购率？退货率？库存占用多少现金？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内容/社区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用户为什么留下来？创作者为什么持续生产？社区靠什么正规收入？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制造业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产能利用率？订单账期？原材料价格波动影响多大？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线下连锁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单店模型（盈亏平衡点、回本周期）？标准化程度？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743968"/>
            <a:ext cx="762000" cy="25301"/>
          </a:xfrm>
          <a:prstGeom prst="rect">
            <a:avLst/>
          </a:prstGeom>
          <a:solidFill>
            <a:srgbClr val="A85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33551" y="2124819"/>
            <a:ext cx="6476899" cy="89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了解一个业务，不是看它</a:t>
            </a:r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做了什么</a:t>
            </a:r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endParaRPr lang="en-US" sz="2200" dirty="0"/>
          </a:p>
          <a:p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而是看它</a:t>
            </a:r>
            <a:endParaRPr lang="en-US" sz="2200" dirty="0"/>
          </a:p>
          <a:p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靠什么活着</a:t>
            </a:r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91000" y="3374231"/>
            <a:ext cx="762000" cy="25301"/>
          </a:xfrm>
          <a:prstGeom prst="rect">
            <a:avLst/>
          </a:prstGeom>
          <a:solidFill>
            <a:srgbClr val="A85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如何快速了解一个陌生业务</dc:title>
  <dc:subject>PptxGenJS Presentation</dc:subject>
  <dc:creator>Mino</dc:creator>
  <cp:lastModifiedBy>Mino</cp:lastModifiedBy>
  <cp:revision>1</cp:revision>
  <dcterms:created xsi:type="dcterms:W3CDTF">2026-04-30T02:18:31Z</dcterms:created>
  <dcterms:modified xsi:type="dcterms:W3CDTF">2026-04-30T02:18:31Z</dcterms:modified>
</cp:coreProperties>
</file>
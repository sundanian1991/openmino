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C6B1E"/>
                </a:solidFill>
                <a:latin typeface="Georgia"/>
              </a:defRPr>
            </a:pPr>
            <a:r>
              <a:rPr>
                <a:ea typeface="KaiTi"/>
              </a:rPr>
              <a:t>供应商分级清退管理制度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三维评分·九宫格映射·清退机制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服务组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2026年6月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评估体系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三维评分+公式+扣分标准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九宫格评级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贡献×趋势=ABC档位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管控动作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差异化分级管理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清退机制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三触发条件+四步流程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盘点与操作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半年度盘点+季度时间表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三维评分体系构成评估基础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满分/扣分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数据来源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赛马成绩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季度各月均值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100分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业务系统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合规扣分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926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违规事件累计扣分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926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扣5-10分/次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巡检记录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稳定性得分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69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人员/产能/SLA/突发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+5/-10分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069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供管检查表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供管自评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212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五项主观评估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212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0-5分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212080"/>
            <a:ext cx="1645920" cy="11430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Arial"/>
                <a:ea typeface="KaiTi"/>
              </a:rPr>
              <a:t>供管评估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4A4A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核心公式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1874520"/>
            <a:ext cx="228600" cy="44805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874520"/>
            <a:ext cx="3184855" cy="44805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最终得分=赛马基础分-合规扣分+稳定性得分+供管自评，最低0分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制度第四条、第五条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评分公式实现加减分制平衡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89699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赛马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158179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季度均值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706819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满分100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939" y="1554480"/>
            <a:ext cx="2286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259" y="1371600"/>
            <a:ext cx="1889699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32699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合规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619" y="1417320"/>
            <a:ext cx="1158179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黄牌-10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699" y="2468880"/>
            <a:ext cx="1706819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投诉-5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8" y="1554480"/>
            <a:ext cx="2286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0998" y="1371600"/>
            <a:ext cx="1889699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42438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稳定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5358" y="1417320"/>
            <a:ext cx="1158179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A:+5分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468880"/>
            <a:ext cx="1706819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C:-10分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417" y="1554480"/>
            <a:ext cx="2286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737" y="1371600"/>
            <a:ext cx="1889699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52177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自评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097" y="1417320"/>
            <a:ext cx="1158179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五项各0/1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177" y="2468880"/>
            <a:ext cx="1706819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满分5分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156" y="1554480"/>
            <a:ext cx="2286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0476" y="1371600"/>
            <a:ext cx="1889699" cy="91440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61916" y="14173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Arial"/>
              </a:rPr>
              <a:t>终分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4836" y="1417320"/>
            <a:ext cx="1158179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最低0分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1916" y="2468880"/>
            <a:ext cx="1706819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不出现负分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制度第五条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稳定性得分采用加减分三档制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+5分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8346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稳定A档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5647" y="1280160"/>
            <a:ext cx="3200400" cy="16459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8527" y="137160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C6B1E"/>
                </a:solidFill>
                <a:latin typeface="Georgia"/>
              </a:defRPr>
            </a:pPr>
            <a:r>
              <a:rPr>
                <a:ea typeface="KaiTi"/>
              </a:rPr>
              <a:t>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2057400"/>
            <a:ext cx="28346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波动B档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9775" y="1280160"/>
            <a:ext cx="3200400" cy="16459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42655" y="137160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C6B1E"/>
                </a:solidFill>
                <a:latin typeface="Georgia"/>
              </a:defRPr>
            </a:pPr>
            <a:r>
              <a:rPr>
                <a:ea typeface="KaiTi"/>
              </a:rPr>
              <a:t>-10分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655" y="2057400"/>
            <a:ext cx="28346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失控C档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728655" cy="2286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四项检查表逐项勾选：人员变动、产能波动、SLA达成、突发情况</a:t>
            </a:r>
            <a:br/>
            <a:r>
              <a:rPr>
                <a:ea typeface="KaiTi"/>
              </a:rPr>
              <a:t>四项均A=+5分，均B=0分，均C=-10分，供管只需勾选系统自动计算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制度第七条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合规扣分标准明确三类红线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事件类型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扣分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触发条件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黄牌整改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-10分/次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巡检发现并下发整改函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投诉/一般违规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-5分/次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质检通报或客户投诉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红线违规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直接评级C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安全事件/数据泄露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红线类型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安全+数据+合规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严重违规一次性降级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制度第六条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九宫格映射将贡献与趋势交叉评级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4630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↑趋势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5148072"/>
            <a:ext cx="3291840" cy="256032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贡献度→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4114800" cy="18288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3749040" cy="29260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A保留/优秀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46504"/>
            <a:ext cx="3749040" cy="131673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高贡献供应商：趋势持平或上升则资源倾斜，下降则启动保留动作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4114800" cy="182880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3749040" cy="29260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B需关注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3749040" cy="131673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中贡献供应商：趋势下降则月度跟踪，持平或上升则培养维持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291840"/>
            <a:ext cx="4114800" cy="1828800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3383280"/>
            <a:ext cx="3749040" cy="29260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C不合格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12464"/>
            <a:ext cx="3749040" cy="131673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低贡献+持平/上升：启动30天整改流程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291840"/>
            <a:ext cx="4114800" cy="1828800"/>
          </a:xfrm>
          <a:prstGeom prst="rect">
            <a:avLst/>
          </a:prstGeom>
          <a:solidFill>
            <a:srgbClr val="FDE8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3749040" cy="29260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C淘汰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12464"/>
            <a:ext cx="3749040" cy="131673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低贡献+趋势下降：当季直接启动快车道清退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制度第九条、第十条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ABC评级对应差异化管控动作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145731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评级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251" y="1371600"/>
            <a:ext cx="2145731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982" y="1371600"/>
            <a:ext cx="2145731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沟通频次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713" y="1371600"/>
            <a:ext cx="2145731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份额策略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4444" y="1371600"/>
            <a:ext cx="2145731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关键动作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A优秀</a:t>
            </a:r>
          </a:p>
        </p:txBody>
      </p:sp>
      <p:sp>
        <p:nvSpPr>
          <p:cNvPr id="11" name="Oval 10"/>
          <p:cNvSpPr/>
          <p:nvPr/>
        </p:nvSpPr>
        <p:spPr>
          <a:xfrm>
            <a:off x="3151571" y="2057400"/>
            <a:ext cx="320040" cy="320040"/>
          </a:xfrm>
          <a:prstGeom prst="ellipse">
            <a:avLst/>
          </a:prstGeom>
          <a:solidFill>
            <a:srgbClr val="8BA04B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2982" y="201168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月度1对1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713" y="201168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优先增量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4444" y="201168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深度绑定+联合规划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B合格</a:t>
            </a:r>
          </a:p>
        </p:txBody>
      </p:sp>
      <p:sp>
        <p:nvSpPr>
          <p:cNvPr id="17" name="Oval 16"/>
          <p:cNvSpPr/>
          <p:nvPr/>
        </p:nvSpPr>
        <p:spPr>
          <a:xfrm>
            <a:off x="3151571" y="2834640"/>
            <a:ext cx="320040" cy="32004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2982" y="278892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季度例行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278892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基础份额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444" y="278892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培养观察+改善计划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C不合格</a:t>
            </a:r>
          </a:p>
        </p:txBody>
      </p:sp>
      <p:sp>
        <p:nvSpPr>
          <p:cNvPr id="23" name="Oval 22"/>
          <p:cNvSpPr/>
          <p:nvPr/>
        </p:nvSpPr>
        <p:spPr>
          <a:xfrm>
            <a:off x="3151571" y="3611880"/>
            <a:ext cx="320040" cy="320040"/>
          </a:xfrm>
          <a:prstGeom prst="ellipse">
            <a:avLst/>
          </a:prstGeom>
          <a:solidFill>
            <a:srgbClr val="C0503A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2982" y="356616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月度约谈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713" y="356616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逐步缩减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4444" y="3566160"/>
            <a:ext cx="2145731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整改或启动清退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10728655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制度附录四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清退流程四步走确保产能平稳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64592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首发C评级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19456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30天整改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54480"/>
            <a:ext cx="314858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5258" y="1371600"/>
            <a:ext cx="2377440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06698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9618" y="1417320"/>
            <a:ext cx="164592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持续跟踪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6698" y="2468880"/>
            <a:ext cx="219456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下一季评估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418" y="1554480"/>
            <a:ext cx="314858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8996" y="1371600"/>
            <a:ext cx="2377440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90436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解约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356" y="1417320"/>
            <a:ext cx="164592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连续两次C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0436" y="2468880"/>
            <a:ext cx="219456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30天交接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2156" y="1554480"/>
            <a:ext cx="314858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2735" y="1371600"/>
            <a:ext cx="2377440" cy="91440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74175" y="14173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Arial"/>
              </a:rPr>
              <a:t>分配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7095" y="1417320"/>
            <a:ext cx="164592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份额再分配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175" y="2468880"/>
            <a:ext cx="219456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按赛马排名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制度第十一条、第十二条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半年度盘点追加三个战略维度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98281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70683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战略意义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996363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70683" cy="2743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关键产线不可替代性评估，管理层联合判断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26165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011680"/>
            <a:ext cx="2270683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长期潜力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723" y="2468880"/>
            <a:ext cx="1996363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6563" y="2651760"/>
            <a:ext cx="2270683" cy="2743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规模扩张意愿+技术升级+团队稳定性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54049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011680"/>
            <a:ext cx="2270683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风险敞口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1607" y="2468880"/>
            <a:ext cx="1996363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4447" y="2651760"/>
            <a:ext cx="2270683" cy="2743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客户集中度+财务状况+舆情监控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981933" y="141732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2011680"/>
            <a:ext cx="2270683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校准决策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491" y="2468880"/>
            <a:ext cx="1996363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331" y="2651760"/>
            <a:ext cx="2270683" cy="2743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季度评级与半年度校准交叉验证最终决策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制度第十四条、第十五条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供管每季度约6小时完成评估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小时/季度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稳定性评定2h+自评1.5h+九宫格30min+清单1h+通知1h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业管负责：赛马成绩+合规事件数据拉取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供管只做判断性工作，不做数据性工作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制度附录五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季度评估严格按时间节点推进确保制度落地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前1周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业管数据</a:t>
            </a:r>
          </a:p>
        </p:txBody>
      </p:sp>
      <p:sp>
        <p:nvSpPr>
          <p:cNvPr id="8" name="Oval 7"/>
          <p:cNvSpPr/>
          <p:nvPr/>
        </p:nvSpPr>
        <p:spPr>
          <a:xfrm>
            <a:off x="2939796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前5天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稳定性评定</a:t>
            </a:r>
          </a:p>
        </p:txBody>
      </p:sp>
      <p:sp>
        <p:nvSpPr>
          <p:cNvPr id="11" name="Oval 10"/>
          <p:cNvSpPr/>
          <p:nvPr/>
        </p:nvSpPr>
        <p:spPr>
          <a:xfrm>
            <a:off x="4896612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前3天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自评加分</a:t>
            </a:r>
          </a:p>
        </p:txBody>
      </p:sp>
      <p:sp>
        <p:nvSpPr>
          <p:cNvPr id="14" name="Oval 13"/>
          <p:cNvSpPr/>
          <p:nvPr/>
        </p:nvSpPr>
        <p:spPr>
          <a:xfrm>
            <a:off x="6853428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季末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九宫格</a:t>
            </a:r>
          </a:p>
        </p:txBody>
      </p:sp>
      <p:sp>
        <p:nvSpPr>
          <p:cNvPr id="17" name="Oval 16"/>
          <p:cNvSpPr/>
          <p:nvPr/>
        </p:nvSpPr>
        <p:spPr>
          <a:xfrm>
            <a:off x="8810244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后3天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三张清单</a:t>
            </a:r>
          </a:p>
        </p:txBody>
      </p:sp>
      <p:sp>
        <p:nvSpPr>
          <p:cNvPr id="20" name="Oval 19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CC6B1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后10天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整改通知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制度附录一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三维评分与九宫格映射实现优者留劣者退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三维评分体系（赛马+合规+稳定性+自评）→九宫格映射（贡献×趋势）→ABC评级→差异化管控动作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C6B1E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优者留：A级深度绑定+资源倾斜，集中度管控A级≤60%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劣者退：连续两季C或当季C且下降即触发清退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半年度盘点追加战略维度校准评级决策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《供应商分级清退管理制度 v1.1》2026-06-01生效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B8B8"/>
                </a:solidFill>
                <a:latin typeface="Arial"/>
              </a:defRPr>
            </a:pPr>
            <a:r>
              <a:rPr>
                <a:ea typeface="KaiT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C6B1E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4A4A"/>
                </a:solidFill>
                <a:latin typeface="Arial"/>
              </a:defRPr>
            </a:pPr>
            <a:r>
              <a:rPr>
                <a:ea typeface="KaiTi"/>
              </a:rPr>
              <a:t>制度自2026年6月1日起生效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CC6B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471</Words>
  <Application>Microsoft Macintosh PowerPoint</Application>
  <PresentationFormat>宽屏</PresentationFormat>
  <Paragraphs>204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KaiTi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sundanian</cp:lastModifiedBy>
  <cp:revision>1</cp:revision>
  <dcterms:created xsi:type="dcterms:W3CDTF">2013-01-27T09:14:16Z</dcterms:created>
  <dcterms:modified xsi:type="dcterms:W3CDTF">2026-05-18T03:47:26Z</dcterms:modified>
  <cp:category/>
</cp:coreProperties>
</file>
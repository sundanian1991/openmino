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25146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 年代国企下岗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3611880"/>
            <a:ext cx="3840480" cy="0"/>
          </a:xfrm>
          <a:prstGeom prst="line">
            <a:avLst/>
          </a:prstGeom>
          <a:noFill/>
          <a:ln w="31750">
            <a:solidFill>
              <a:srgbClr val="8B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490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高增长下的就业转型——八五繁荣、1993-94 危机与『优化资本结构』的系统性分流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1991 — 1997  ·  经济史数据复盘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94015" y="6373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数据复盘 · 内部研究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 · Situation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八五期间 GDP 年均增长 11.9%，固投增长 36.1%，创前八个五年计划最高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1991—1995  ·  投资驱动的高速增长期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7249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11.9%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 年均增长率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前八个五年计划最高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83864" y="2331720"/>
            <a:ext cx="0" cy="192024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2286000"/>
            <a:ext cx="27249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36.1%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547872" y="352044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固定资产投资增长率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388620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91656" y="2331720"/>
            <a:ext cx="0" cy="192024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286000"/>
            <a:ext cx="27249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20.6%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455664" y="352044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固投增长（扣物价后）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55664" y="388620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实际仍极度扩张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911535" cy="77724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09160"/>
            <a:ext cx="54864" cy="77724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7823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历史峰值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5038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八五是前八个五年计划中增长最高的时期；固投名义增长 36.1%、扣物价后仍达 20.6%，显示投资驱动型扩张的实际强度达到历史峰值。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solidFill>
            <a:srgbClr val="F1E4E4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5779008"/>
            <a:ext cx="54864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7972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83080" y="5797296"/>
            <a:ext cx="96770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这是繁荣的顶点，也是问题的起点——增长由资本而非就业驱动。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来源：八五期间宏观数据；国发[1994]59号；1997试点城市数据；绵阳/西安/张家口样本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复杂性 · Complication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繁荣未转化为就业——就业增长仅 1.3%，国企就业几乎零增长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高增长-低就业悖论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6347460" cy="56692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 年均增长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24700" y="22860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11.9%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693420" cy="56692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就业增长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70660" y="34290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" y="2852928"/>
            <a:ext cx="0" cy="576072"/>
          </a:xfrm>
          <a:prstGeom prst="line">
            <a:avLst/>
          </a:prstGeom>
          <a:noFill/>
          <a:ln w="6350">
            <a:solidFill>
              <a:srgbClr val="D6D6D2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179064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 增速约为就业增速的 9 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52360" y="2148840"/>
            <a:ext cx="4096512" cy="141732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2286000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国企就业率 1994-95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35240" y="2606040"/>
            <a:ext cx="3730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几乎零增长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635240" y="303580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（仅方向性判断，无精确数值）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52360" y="3749040"/>
            <a:ext cx="4096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 高速增长未吸收劳动力，固投驱动型增长与就业创造脱钩——国企作为就业蓄水池的功能失效。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87768" y="2148840"/>
            <a:ext cx="0" cy="347472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solidFill>
            <a:srgbClr val="F1E4E4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779008"/>
            <a:ext cx="54864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7972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5797296"/>
            <a:ext cx="96770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繁荣的成果未流向就业，埋下社会压力——增长不等于就业。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来源：八五期间宏观数据；国发[1994]59号；1997试点城市数据；绵阳/西安/张家口样本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复杂性 · Complication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1993-94 危机爆发，且此次农村转移通道关闭——过剩劳动力无处可去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结构性约束的本质差异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0" y="2011680"/>
            <a:ext cx="0" cy="365760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1993-94 宏观危机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5120640" cy="841248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34640"/>
            <a:ext cx="164592" cy="16459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615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三大赤字引发高通胀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9626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财政、外汇、消费三大赤字叠加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502152"/>
            <a:ext cx="5120640" cy="841248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94760"/>
            <a:ext cx="164592" cy="16459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5753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地方经济进入过热阶段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9227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投资与信贷双膨胀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462272"/>
            <a:ext cx="5120640" cy="841248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754880"/>
            <a:ext cx="164592" cy="16459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535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中央开放三大资本市场大规模增发货币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48828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作为应对手段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均为定性描述，无量化通胀/赤字值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63640" y="2057400"/>
            <a:ext cx="5285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与以往危机的关键差异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560320"/>
            <a:ext cx="1920240" cy="4114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2560320"/>
            <a:ext cx="1682496" cy="4114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66376" y="2560320"/>
            <a:ext cx="1682496" cy="4114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560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83880" y="256032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以往危机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66376" y="256032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本次危机（1990s）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2971800"/>
            <a:ext cx="1920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2971800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66376" y="2971800"/>
            <a:ext cx="1682496" cy="713232"/>
          </a:xfrm>
          <a:prstGeom prst="rect">
            <a:avLst/>
          </a:prstGeom>
          <a:solidFill>
            <a:srgbClr val="F1E4E4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97180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农村劳动力转移通道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83880" y="297180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可向农村转移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（开放）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66376" y="297180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通道关闭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3685032"/>
            <a:ext cx="1920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3880" y="3685032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66376" y="3685032"/>
            <a:ext cx="1682496" cy="713232"/>
          </a:xfrm>
          <a:prstGeom prst="rect">
            <a:avLst/>
          </a:prstGeom>
          <a:solidFill>
            <a:srgbClr val="F1E4E4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68503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财政空间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83880" y="36850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相对宽裕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866376" y="36850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严重赤字压力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solidFill>
            <a:srgbClr val="F1E4E4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" y="5779008"/>
            <a:ext cx="54864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57972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783080" y="5797296"/>
            <a:ext cx="96770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农村通道关闭使国企下岗从『可选』变为唯一出清通道。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来源：八五期间宏观数据；国发[1994]59号；1997试点城市数据；绵阳/西安/张家口样本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 · Resolution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1994 试点到 1997 扩至 111 城，累计分流富余人员 1687 万人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『优化资本结构』的政策制度化路径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7406640" cy="0"/>
          </a:xfrm>
          <a:prstGeom prst="line">
            <a:avLst/>
          </a:prstGeom>
          <a:noFill/>
          <a:ln w="19050">
            <a:solidFill>
              <a:srgbClr val="D6D6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82880" cy="182880"/>
          </a:xfrm>
          <a:prstGeom prst="ellipse">
            <a:avLst/>
          </a:prstGeom>
          <a:solidFill>
            <a:srgbClr val="8B1E1E"/>
          </a:solidFill>
          <a:ln w="12700">
            <a:solidFill>
              <a:srgbClr val="F3F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1874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1988-93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-365760" y="2514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破产企业 940 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-365760" y="2807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前奏，多为中小/集体企业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34840" y="2240280"/>
            <a:ext cx="182880" cy="182880"/>
          </a:xfrm>
          <a:prstGeom prst="ellipse">
            <a:avLst/>
          </a:prstGeom>
          <a:solidFill>
            <a:srgbClr val="8B1E1E"/>
          </a:solidFill>
          <a:ln w="12700">
            <a:solidFill>
              <a:srgbClr val="F3F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874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国发[1994]59 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2807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确立『资本』地位，启动试点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138160" y="2240280"/>
            <a:ext cx="182880" cy="182880"/>
          </a:xfrm>
          <a:prstGeom prst="ellipse">
            <a:avLst/>
          </a:prstGeom>
          <a:solidFill>
            <a:srgbClr val="8B1E1E"/>
          </a:solidFill>
          <a:ln w="12700">
            <a:solidFill>
              <a:srgbClr val="F3F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874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514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试点扩至 111 个城市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0880" y="2807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兼并、破产、减员增效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三种分流路径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2651760" cy="6400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4023360"/>
            <a:ext cx="0" cy="64008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4023360"/>
            <a:ext cx="2651760" cy="6400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2336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破产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0760" y="4023360"/>
            <a:ext cx="0" cy="64008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023360"/>
            <a:ext cx="2651760" cy="6400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6656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减员增效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869680" y="3611880"/>
            <a:ext cx="2679192" cy="11430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3" name="Text 31"/>
          <p:cNvSpPr/>
          <p:nvPr/>
        </p:nvSpPr>
        <p:spPr>
          <a:xfrm>
            <a:off x="8869680" y="3703320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1687 万人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869680" y="436168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累计分流（至 1997）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69680" y="4800600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累计值，非单年；无逐年序列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008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 城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0080" y="5321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1997 年试点城市数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solidFill>
            <a:srgbClr val="F1E4E4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5779008"/>
            <a:ext cx="54864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57972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783080" y="5797296"/>
            <a:ext cx="96770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政策从零散试点升级为系统性、制度化的劳动力出清。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来源：八五期间宏观数据；国发[1994]59号；1997试点城市数据；绵阳/西安/张家口样本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 · Resolution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绵阳、西安、张家口样本显示，纺织等行业下岗比例高达 55%-62%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地级市与行业级的地面冲击验证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绵阳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1031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 家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破产国企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2926080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09651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050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涉及职工 2.1 万余人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46227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3708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占全市国企职工 7%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41064" y="2286000"/>
            <a:ext cx="0" cy="288036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2103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西安 · 纺织系统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41648" y="2560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041648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下岗占比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41648" y="3886200"/>
            <a:ext cx="2926080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41648" y="409651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40050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下岗工人 8,940 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41648" y="446227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43708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无收入比例 70%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41648" y="4800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期间未注明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42632" y="2286000"/>
            <a:ext cx="0" cy="288036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2103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张家口 · 纺织系统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43216" y="2560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61.7%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7443216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下岗占比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43216" y="3886200"/>
            <a:ext cx="2926080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409651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32" name="Text 30"/>
          <p:cNvSpPr/>
          <p:nvPr/>
        </p:nvSpPr>
        <p:spPr>
          <a:xfrm>
            <a:off x="7607808" y="40050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下岗工人 10,500 人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43216" y="446227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34" name="Text 32"/>
          <p:cNvSpPr/>
          <p:nvPr/>
        </p:nvSpPr>
        <p:spPr>
          <a:xfrm>
            <a:off x="7607808" y="43708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『代金券』充当工资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43216" y="4800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期间未注明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solidFill>
            <a:srgbClr val="F1E4E4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5779008"/>
            <a:ext cx="54864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" y="57972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83080" y="5797296"/>
            <a:ext cx="96770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宏观政策在地面转化为过半职工失去生计的行业冲击。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" y="5522976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注：西安、张家口样本缺明确年份；为行业/地级市样本，非全国代表。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来源：八五期间宏观数据；国发[1994]59号；1997试点城市数据；绵阳/西安/张家口样本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 · Conclusion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1687 万人分流——1990 年代从『铁饭碗』到市场化出清的系统性转折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历史坐标与含义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1687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3657600" y="3063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累计分流富余人员（1994-1997）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0" cy="310896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2286000"/>
            <a:ext cx="45720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286000"/>
            <a:ext cx="496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繁荣悖论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670048"/>
            <a:ext cx="49651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八五 GDP 年均 11.9% 的空前增长，是资本密集型而非就业密集型，就业增长仅 1.3%。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3273552"/>
            <a:ext cx="5239512" cy="0"/>
          </a:xfrm>
          <a:prstGeom prst="line">
            <a:avLst/>
          </a:prstGeom>
          <a:noFill/>
          <a:ln w="5080">
            <a:solidFill>
              <a:srgbClr val="D6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3337560"/>
            <a:ext cx="45720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337560"/>
            <a:ext cx="496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通道关闭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721608"/>
            <a:ext cx="49651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与以往危机不同，1990s 农村转移通道关闭，过剩劳动力无处可去，国企下岗成为唯一出清通道。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4325112"/>
            <a:ext cx="5239512" cy="0"/>
          </a:xfrm>
          <a:prstGeom prst="line">
            <a:avLst/>
          </a:prstGeom>
          <a:noFill/>
          <a:ln w="5080">
            <a:solidFill>
              <a:srgbClr val="D6D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4389120"/>
            <a:ext cx="45720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389120"/>
            <a:ext cx="496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制度性转折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4773168"/>
            <a:ext cx="49651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『优化资本结构』从 1994 试点到 1997 扩 111 城，标志着从『铁饭碗』到市场化劳动力出清的转折。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6053328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注：1687 万为累计值；再就业与收入恢复数据未提供。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2026-07-01T12:40:59Z</dcterms:created>
  <dcterms:modified xsi:type="dcterms:W3CDTF">2026-07-01T12:40:59Z</dcterms:modified>
</cp:coreProperties>
</file>
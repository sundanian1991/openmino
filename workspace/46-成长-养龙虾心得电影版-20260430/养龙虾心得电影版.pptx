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810000" cy="51435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3810000" y="0"/>
            <a:ext cx="9525" cy="5143500"/>
          </a:xfrm>
          <a:custGeom>
            <a:avLst/>
            <a:gdLst/>
            <a:ahLst/>
            <a:cxnLst/>
            <a:rect l="l" t="t" r="r" b="b"/>
            <a:pathLst>
              <a:path w="9525" h="5143500">
                <a:moveTo>
                  <a:pt x="0" y="0"/>
                </a:moveTo>
                <a:lnTo>
                  <a:pt x="0" y="5143500"/>
                </a:lnTo>
              </a:path>
            </a:pathLst>
          </a:custGeom>
          <a:noFill/>
          <a:ln w="9525">
            <a:solidFill>
              <a:srgbClr val="D4C9B8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571530" y="474345"/>
            <a:ext cx="6669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二 零 二 六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143000"/>
            <a:ext cx="1905000" cy="2476500"/>
          </a:xfrm>
          <a:prstGeom prst="rect">
            <a:avLst/>
          </a:prstGeom>
          <a:noFill/>
          <a:ln w="9525">
            <a:solidFill>
              <a:srgbClr val="D4C9B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028700" y="1219200"/>
            <a:ext cx="1752600" cy="2324100"/>
          </a:xfrm>
          <a:prstGeom prst="rect">
            <a:avLst/>
          </a:prstGeom>
          <a:noFill/>
          <a:ln w="9525">
            <a:solidFill>
              <a:srgbClr val="A0845C"/>
            </a:solidFill>
          </a:ln>
        </p:spPr>
      </p:sp>
      <p:sp>
        <p:nvSpPr>
          <p:cNvPr id="8" name="Line 8"/>
          <p:cNvSpPr/>
          <p:nvPr/>
        </p:nvSpPr>
        <p:spPr>
          <a:xfrm>
            <a:off x="1104900" y="15240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9" name="Line 9"/>
          <p:cNvSpPr/>
          <p:nvPr/>
        </p:nvSpPr>
        <p:spPr>
          <a:xfrm>
            <a:off x="1104900" y="17145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0" name="Line 10"/>
          <p:cNvSpPr/>
          <p:nvPr/>
        </p:nvSpPr>
        <p:spPr>
          <a:xfrm>
            <a:off x="1104900" y="19050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1" name="Line 11"/>
          <p:cNvSpPr/>
          <p:nvPr/>
        </p:nvSpPr>
        <p:spPr>
          <a:xfrm>
            <a:off x="1104900" y="20955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2" name="Line 12"/>
          <p:cNvSpPr/>
          <p:nvPr/>
        </p:nvSpPr>
        <p:spPr>
          <a:xfrm>
            <a:off x="1104900" y="22860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3" name="Line 13"/>
          <p:cNvSpPr/>
          <p:nvPr/>
        </p:nvSpPr>
        <p:spPr>
          <a:xfrm>
            <a:off x="1104900" y="24765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4" name="Line 14"/>
          <p:cNvSpPr/>
          <p:nvPr/>
        </p:nvSpPr>
        <p:spPr>
          <a:xfrm>
            <a:off x="1104900" y="26670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5" name="Line 15"/>
          <p:cNvSpPr/>
          <p:nvPr/>
        </p:nvSpPr>
        <p:spPr>
          <a:xfrm>
            <a:off x="1104900" y="28575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6" name="Line 16"/>
          <p:cNvSpPr/>
          <p:nvPr/>
        </p:nvSpPr>
        <p:spPr>
          <a:xfrm>
            <a:off x="1104900" y="30480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7" name="Line 17"/>
          <p:cNvSpPr/>
          <p:nvPr/>
        </p:nvSpPr>
        <p:spPr>
          <a:xfrm>
            <a:off x="1104900" y="3238500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8" name="Line 18"/>
          <p:cNvSpPr/>
          <p:nvPr/>
        </p:nvSpPr>
        <p:spPr>
          <a:xfrm>
            <a:off x="1104900" y="342900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4762">
            <a:solidFill>
              <a:srgbClr val="D4C9B8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866900" y="4057650"/>
            <a:ext cx="76200" cy="7620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731859" y="4292441"/>
            <a:ext cx="3462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8A7E6E"/>
                </a:solidFill>
                <a:latin typeface="Times New Roman"/>
                <a:ea typeface="SimSun"/>
                <a:cs typeface="Times New Roman"/>
              </a:rPr>
              <a:t>100 天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81500" y="1333500"/>
            <a:ext cx="381000" cy="381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341495" y="1660208"/>
            <a:ext cx="152919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养龙虾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41495" y="2136458"/>
            <a:ext cx="24953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心得电影版</a:t>
            </a:r>
          </a:p>
        </p:txBody>
      </p:sp>
      <p:sp>
        <p:nvSpPr>
          <p:cNvPr id="24" name="Line 24"/>
          <p:cNvSpPr/>
          <p:nvPr/>
        </p:nvSpPr>
        <p:spPr>
          <a:xfrm>
            <a:off x="4381500" y="2762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64355" y="2902268"/>
            <a:ext cx="30805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A7E6E"/>
                </a:solidFill>
                <a:latin typeface="Times New Roman"/>
                <a:ea typeface="SimSun"/>
                <a:cs typeface="Times New Roman"/>
              </a:rPr>
              <a:t>供应商管理岗的 100 天 AI 共生纪实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69118" y="3418999"/>
            <a:ext cx="40546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从调试到体系 · 从摸索到产出 · 从一个人的实验到一群人的工具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71022" y="4578191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B0A4"/>
                </a:solidFill>
                <a:latin typeface="Segoe UI"/>
                <a:ea typeface="Microsoft YaHei"/>
                <a:cs typeface="Segoe UI"/>
              </a:rPr>
              <a:t>AI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342900"/>
            <a:ext cx="28575" cy="2286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92455" y="368618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第一个月：什么都想试，什么都不对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122" y="653891"/>
            <a:ext cx="10692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摸索期 · 第 1-30 天</a:t>
            </a:r>
          </a:p>
        </p:txBody>
      </p:sp>
      <p:sp>
        <p:nvSpPr>
          <p:cNvPr id="6" name="Line 6"/>
          <p:cNvSpPr/>
          <p:nvPr/>
        </p:nvSpPr>
        <p:spPr>
          <a:xfrm>
            <a:off x="457200" y="9144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7" name="Line 7"/>
          <p:cNvSpPr/>
          <p:nvPr/>
        </p:nvSpPr>
        <p:spPr>
          <a:xfrm>
            <a:off x="1333500" y="11430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276350" y="1352550"/>
            <a:ext cx="114300" cy="11430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638300" y="1200150"/>
            <a:ext cx="6667500" cy="762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15465" y="1334452"/>
            <a:ext cx="14597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第 1 周：安装与调试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7370" y="1560195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从环境搭建到第一次对话，每一步都在摸索。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1276350" y="2343150"/>
            <a:ext cx="114300" cy="11430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638300" y="2190750"/>
            <a:ext cx="6667500" cy="762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815465" y="2325052"/>
            <a:ext cx="1838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第 2-3 周：灵魂文件调试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7370" y="2550795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反复失败。提示词不对、格式不对、上下文不对。</a:t>
            </a:r>
          </a:p>
        </p:txBody>
      </p:sp>
      <p:sp>
        <p:nvSpPr>
          <p:cNvPr id="16" name="Ellipse 16"/>
          <p:cNvSpPr/>
          <p:nvPr/>
        </p:nvSpPr>
        <p:spPr>
          <a:xfrm>
            <a:off x="1276350" y="3524250"/>
            <a:ext cx="114300" cy="11430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638300" y="3371850"/>
            <a:ext cx="6667500" cy="762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815465" y="3506152"/>
            <a:ext cx="1983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第 4 周：第一个可用的版本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7370" y="373189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终于跑通了。不完美，但能用。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342900"/>
            <a:ext cx="28575" cy="2286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92455" y="3686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第二个月：开始建体系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122" y="653891"/>
            <a:ext cx="11354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建构期 · 第 31-60 天</a:t>
            </a:r>
          </a:p>
        </p:txBody>
      </p:sp>
      <p:sp>
        <p:nvSpPr>
          <p:cNvPr id="6" name="Line 6"/>
          <p:cNvSpPr/>
          <p:nvPr/>
        </p:nvSpPr>
        <p:spPr>
          <a:xfrm>
            <a:off x="457200" y="9144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57200" y="1104900"/>
            <a:ext cx="4038600" cy="36195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0550" y="1314450"/>
            <a:ext cx="190500" cy="19050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22614" y="1360170"/>
            <a:ext cx="126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Segoe UI"/>
                <a:ea typeface="Microsoft YaHei"/>
                <a:cs typeface="Segoe UI"/>
              </a:rPr>
              <a:t>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9160" y="12420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记忆系统搭建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3922" y="1473041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MEMORY.md + WAL 协议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17145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95325" y="19145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63918" y="187594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核心记忆：用户画像、组织结构、工作规范</a:t>
            </a:r>
          </a:p>
        </p:txBody>
      </p:sp>
      <p:sp>
        <p:nvSpPr>
          <p:cNvPr id="15" name="Ellipse 15"/>
          <p:cNvSpPr/>
          <p:nvPr/>
        </p:nvSpPr>
        <p:spPr>
          <a:xfrm>
            <a:off x="695325" y="22574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3918" y="221884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WAL 协议：关键信息先写后答</a:t>
            </a:r>
          </a:p>
        </p:txBody>
      </p:sp>
      <p:sp>
        <p:nvSpPr>
          <p:cNvPr id="17" name="Ellipse 17"/>
          <p:cNvSpPr/>
          <p:nvPr/>
        </p:nvSpPr>
        <p:spPr>
          <a:xfrm>
            <a:off x="695325" y="26003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63918" y="2561749"/>
            <a:ext cx="240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记忆索引：L1 快速加载 + L2 按需检索</a:t>
            </a:r>
          </a:p>
        </p:txBody>
      </p:sp>
      <p:sp>
        <p:nvSpPr>
          <p:cNvPr id="19" name="Ellipse 19"/>
          <p:cNvSpPr/>
          <p:nvPr/>
        </p:nvSpPr>
        <p:spPr>
          <a:xfrm>
            <a:off x="695325" y="29432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63918" y="2904649"/>
            <a:ext cx="2951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目录约定：workspace → docs → archive 流转</a:t>
            </a:r>
          </a:p>
        </p:txBody>
      </p:sp>
      <p:sp>
        <p:nvSpPr>
          <p:cNvPr id="21" name="Ellipse 21"/>
          <p:cNvSpPr/>
          <p:nvPr/>
        </p:nvSpPr>
        <p:spPr>
          <a:xfrm>
            <a:off x="695325" y="32861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63918" y="3247549"/>
            <a:ext cx="21322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夜间 Cron 自动维护，不依赖人工</a:t>
            </a:r>
          </a:p>
        </p:txBody>
      </p:sp>
      <p:sp>
        <p:nvSpPr>
          <p:cNvPr id="23" name="Ellipse 23"/>
          <p:cNvSpPr/>
          <p:nvPr/>
        </p:nvSpPr>
        <p:spPr>
          <a:xfrm>
            <a:off x="695325" y="36290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3918" y="35904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跨会话连续性：压缩不丢失关键上下文</a:t>
            </a:r>
          </a:p>
        </p:txBody>
      </p:sp>
      <p:sp>
        <p:nvSpPr>
          <p:cNvPr id="25" name="Ellipse 25"/>
          <p:cNvSpPr/>
          <p:nvPr/>
        </p:nvSpPr>
        <p:spPr>
          <a:xfrm>
            <a:off x="695325" y="3971925"/>
            <a:ext cx="57150" cy="57150"/>
          </a:xfrm>
          <a:prstGeom prst="ellipse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63918" y="3933349"/>
            <a:ext cx="1441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~90 条核心记忆已入库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648200" y="1104900"/>
            <a:ext cx="4038600" cy="36195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4781550" y="1314450"/>
            <a:ext cx="190500" cy="19050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27415" y="136017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Segoe UI"/>
                <a:ea typeface="Microsoft YaHei"/>
                <a:cs typeface="Segoe UI"/>
              </a:rPr>
              <a:t>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90160" y="12420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技能生态建设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94922" y="1473041"/>
            <a:ext cx="978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60+ 个自定义技能</a:t>
            </a:r>
          </a:p>
        </p:txBody>
      </p:sp>
      <p:sp>
        <p:nvSpPr>
          <p:cNvPr id="32" name="Line 32"/>
          <p:cNvSpPr/>
          <p:nvPr/>
        </p:nvSpPr>
        <p:spPr>
          <a:xfrm>
            <a:off x="4800600" y="17145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4886325" y="19145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054918" y="1875949"/>
            <a:ext cx="26449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供应商管理：巡检、评估、KPI、分层体系</a:t>
            </a:r>
          </a:p>
        </p:txBody>
      </p:sp>
      <p:sp>
        <p:nvSpPr>
          <p:cNvPr id="35" name="Ellipse 35"/>
          <p:cNvSpPr/>
          <p:nvPr/>
        </p:nvSpPr>
        <p:spPr>
          <a:xfrm>
            <a:off x="4886325" y="22574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54918" y="2218849"/>
            <a:ext cx="25950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可视化：ECharts、Widget、SVG 流程图</a:t>
            </a:r>
          </a:p>
        </p:txBody>
      </p:sp>
      <p:sp>
        <p:nvSpPr>
          <p:cNvPr id="37" name="Ellipse 37"/>
          <p:cNvSpPr/>
          <p:nvPr/>
        </p:nvSpPr>
        <p:spPr>
          <a:xfrm>
            <a:off x="4886325" y="26003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054918" y="256174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内容生产：PPT、DOCX、XLSX、PDF</a:t>
            </a:r>
          </a:p>
        </p:txBody>
      </p:sp>
      <p:sp>
        <p:nvSpPr>
          <p:cNvPr id="39" name="Ellipse 39"/>
          <p:cNvSpPr/>
          <p:nvPr/>
        </p:nvSpPr>
        <p:spPr>
          <a:xfrm>
            <a:off x="4886325" y="29432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054918" y="2904649"/>
            <a:ext cx="27232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知识工作流：Brainstorm → Plan → Review</a:t>
            </a:r>
          </a:p>
        </p:txBody>
      </p:sp>
      <p:sp>
        <p:nvSpPr>
          <p:cNvPr id="41" name="Ellipse 41"/>
          <p:cNvSpPr/>
          <p:nvPr/>
        </p:nvSpPr>
        <p:spPr>
          <a:xfrm>
            <a:off x="4886325" y="32861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54918" y="32475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每日书信：十年记忆切片自动推送</a:t>
            </a:r>
          </a:p>
        </p:txBody>
      </p:sp>
      <p:sp>
        <p:nvSpPr>
          <p:cNvPr id="43" name="Ellipse 43"/>
          <p:cNvSpPr/>
          <p:nvPr/>
        </p:nvSpPr>
        <p:spPr>
          <a:xfrm>
            <a:off x="4886325" y="36290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54918" y="35904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浏览器自动化、数据抓取、研究代理</a:t>
            </a:r>
          </a:p>
        </p:txBody>
      </p:sp>
      <p:sp>
        <p:nvSpPr>
          <p:cNvPr id="45" name="Ellipse 45"/>
          <p:cNvSpPr/>
          <p:nvPr/>
        </p:nvSpPr>
        <p:spPr>
          <a:xfrm>
            <a:off x="4886325" y="3971925"/>
            <a:ext cx="57150" cy="57150"/>
          </a:xfrm>
          <a:prstGeom prst="ellipse">
            <a:avLst/>
          </a:prstGeom>
          <a:solidFill>
            <a:srgbClr val="7A8B6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054918" y="3933349"/>
            <a:ext cx="240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技能清理：从 24 个冗余精简到高效集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342900"/>
            <a:ext cx="28575" cy="2286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92455" y="36861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第三个月：产出开始爆发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122" y="653891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爆发期 · 第 61-100 天</a:t>
            </a:r>
          </a:p>
        </p:txBody>
      </p:sp>
      <p:sp>
        <p:nvSpPr>
          <p:cNvPr id="6" name="Line 6"/>
          <p:cNvSpPr/>
          <p:nvPr/>
        </p:nvSpPr>
        <p:spPr>
          <a:xfrm>
            <a:off x="457200" y="9144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57200" y="1143000"/>
            <a:ext cx="1905000" cy="1143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8523" y="1230630"/>
            <a:ext cx="10023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60+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1321" y="1799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自定义技能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514600" y="1143000"/>
            <a:ext cx="1905000" cy="1143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883113" y="1230630"/>
            <a:ext cx="11679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170+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98721" y="17997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去重文件数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143000"/>
            <a:ext cx="1905000" cy="1143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75142" y="1230630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30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84921" y="1799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核心单元体系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1143000"/>
            <a:ext cx="2057400" cy="1143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225932" y="1230630"/>
            <a:ext cx="86433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100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6482" y="1799749"/>
            <a:ext cx="943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天 AI 共生实验</a:t>
            </a:r>
          </a:p>
        </p:txBody>
      </p:sp>
      <p:sp>
        <p:nvSpPr>
          <p:cNvPr id="19" name="Line 19"/>
          <p:cNvSpPr/>
          <p:nvPr/>
        </p:nvSpPr>
        <p:spPr>
          <a:xfrm>
            <a:off x="457200" y="25146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41960" y="26898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可视化方法论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009900"/>
            <a:ext cx="8229600" cy="381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3124200"/>
            <a:ext cx="28575" cy="1524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1518" y="3142774"/>
            <a:ext cx="1975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供应商可视化 30 核心单元交付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3505200"/>
            <a:ext cx="8229600" cy="381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28575" cy="1524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1518" y="3638074"/>
            <a:ext cx="25879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电影版叙事体系建立 — 6 套视觉风格方案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57200" y="4000500"/>
            <a:ext cx="8229600" cy="381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4114800"/>
            <a:ext cx="28575" cy="1524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11518" y="4133374"/>
            <a:ext cx="32429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知识库大清理 — workspace 65→11，docs 去重 170+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495800"/>
            <a:ext cx="8229600" cy="3810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4610100"/>
            <a:ext cx="28575" cy="1524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11518" y="4628674"/>
            <a:ext cx="24669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每日书信上线 — 十年记忆切片自动推送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342900"/>
            <a:ext cx="28575" cy="228600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92455" y="368618"/>
            <a:ext cx="3170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方法论：从坑里爬出来的 8 条经验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122" y="653891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每一条都是踩过坑之后才懂的</a:t>
            </a:r>
          </a:p>
        </p:txBody>
      </p:sp>
      <p:sp>
        <p:nvSpPr>
          <p:cNvPr id="6" name="Line 6"/>
          <p:cNvSpPr/>
          <p:nvPr/>
        </p:nvSpPr>
        <p:spPr>
          <a:xfrm>
            <a:off x="457200" y="914400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57200" y="11049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96265" y="11820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0118" y="11901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不写下来，就是白做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648200" y="11049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87265" y="11820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1118" y="11901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先跑起来，再追求完美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" y="17145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96265" y="17916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11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体系比工具更重要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648200" y="17145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87265" y="17916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1118" y="1799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每次只解决一个问题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23241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6265" y="24012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118" y="2409349"/>
            <a:ext cx="12280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让 AI 理解你的语境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648200" y="23241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787265" y="24012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06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31118" y="24093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复利来自持续迭代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57200" y="29337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96265" y="30108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A0845C"/>
                </a:solidFill>
                <a:latin typeface="Times New Roman"/>
                <a:ea typeface="SimSun"/>
                <a:cs typeface="Times New Roman"/>
              </a:rPr>
              <a:t>07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0118" y="30189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边界清晰才能放手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648200" y="2933700"/>
            <a:ext cx="4038600" cy="457200"/>
          </a:xfrm>
          <a:prstGeom prst="rect">
            <a:avLst/>
          </a:prstGeom>
          <a:solidFill>
            <a:srgbClr val="EDE7D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787265" y="30108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A8B6F"/>
                </a:solidFill>
                <a:latin typeface="Times New Roman"/>
                <a:ea typeface="SimSun"/>
                <a:cs typeface="Times New Roman"/>
              </a:rPr>
              <a:t>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31118" y="30189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C2C2C"/>
                </a:solidFill>
                <a:latin typeface="Segoe UI"/>
                <a:ea typeface="Microsoft YaHei"/>
                <a:cs typeface="Segoe UI"/>
              </a:rPr>
              <a:t>龙虾还是那只龙虾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26906" y="3990499"/>
            <a:ext cx="18901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8A7E6E"/>
                </a:solidFill>
                <a:latin typeface="Times New Roman"/>
                <a:ea typeface="SimSun"/>
                <a:cs typeface="Times New Roman"/>
              </a:rPr>
              <a:t>"没人看到，不等于不存在。"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55016" y="4246245"/>
            <a:ext cx="2033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——《无人知晓》，是枝裕和，2004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714500" y="762000"/>
            <a:ext cx="5715000" cy="3619500"/>
          </a:xfrm>
          <a:prstGeom prst="rect">
            <a:avLst/>
          </a:prstGeom>
          <a:noFill/>
          <a:ln w="9525">
            <a:solidFill>
              <a:srgbClr val="A0845C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905000" y="952500"/>
            <a:ext cx="5334000" cy="3238500"/>
          </a:xfrm>
          <a:prstGeom prst="rect">
            <a:avLst/>
          </a:prstGeom>
          <a:noFill/>
          <a:ln w="9525">
            <a:solidFill>
              <a:srgbClr val="B8B0A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3069336" y="13601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C2C2C"/>
                </a:solidFill>
                <a:latin typeface="Times New Roman"/>
                <a:ea typeface="SimSun"/>
                <a:cs typeface="Times New Roman"/>
              </a:rPr>
              <a:t>龙虾还是那只龙虾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1809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B8B0A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417570" y="2061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但养龙虾的人，已经不一样了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78172" y="2458402"/>
            <a:ext cx="25876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100 天，从调试到体系，从摸索到产出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69541" y="2706052"/>
            <a:ext cx="2004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不是 AI 替代人，是 AI 放大人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5706" y="322849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8A7E6E"/>
                </a:solidFill>
                <a:latin typeface="Times New Roman"/>
                <a:ea typeface="SimSun"/>
                <a:cs typeface="Times New Roman"/>
              </a:rPr>
              <a:t>"日常中的每一步，都有重量。"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06035" y="3530441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A7E6E"/>
                </a:solidFill>
                <a:latin typeface="Segoe UI"/>
                <a:ea typeface="Microsoft YaHei"/>
                <a:cs typeface="Segoe UI"/>
              </a:rPr>
              <a:t>《步履不停》，是枝裕和，2008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191000" y="4572000"/>
            <a:ext cx="762000" cy="28575"/>
          </a:xfrm>
          <a:prstGeom prst="rect">
            <a:avLst/>
          </a:prstGeom>
          <a:solidFill>
            <a:srgbClr val="A0845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
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a1dfbb4a2e4c15" /><Relationship Type="http://schemas.openxmlformats.org/officeDocument/2006/relationships/extended-properties" Target="/docProps/app.xml" Id="Rfeba9d49663b4bfb" /><Relationship Type="http://schemas.openxmlformats.org/officeDocument/2006/relationships/officeDocument" Target="/ppt/presentation.xml" Id="Rfc86674286c54b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f2778341804b9d"/>
  </p:sldMasterIdLst>
  <p:notesMasterIdLst>
    <p:notesMasterId xmlns:r="http://schemas.openxmlformats.org/officeDocument/2006/relationships" r:id="R88151159369440da"/>
  </p:notesMasterIdLst>
  <p:sldIdLst>
    <p:sldId xmlns:r="http://schemas.openxmlformats.org/officeDocument/2006/relationships" id="256" r:id="Rd17eaed518b94ec0"/>
    <p:sldId xmlns:r="http://schemas.openxmlformats.org/officeDocument/2006/relationships" id="257" r:id="R9f9f89e9ca6f41bb"/>
    <p:sldId xmlns:r="http://schemas.openxmlformats.org/officeDocument/2006/relationships" id="258" r:id="R52e8c398c5a3407c"/>
    <p:sldId xmlns:r="http://schemas.openxmlformats.org/officeDocument/2006/relationships" id="259" r:id="R7b2475f392fd4be7"/>
    <p:sldId xmlns:r="http://schemas.openxmlformats.org/officeDocument/2006/relationships" id="260" r:id="Rd68f7890e016462c"/>
    <p:sldId xmlns:r="http://schemas.openxmlformats.org/officeDocument/2006/relationships" id="261" r:id="Rc4be2ec10dea4c1b"/>
    <p:sldId xmlns:r="http://schemas.openxmlformats.org/officeDocument/2006/relationships" id="262" r:id="R7bd6e25349e544b2"/>
    <p:sldId xmlns:r="http://schemas.openxmlformats.org/officeDocument/2006/relationships" id="263" r:id="R6a12a35673674eb8"/>
    <p:sldId xmlns:r="http://schemas.openxmlformats.org/officeDocument/2006/relationships" id="264" r:id="Raa4173938d684953"/>
    <p:sldId xmlns:r="http://schemas.openxmlformats.org/officeDocument/2006/relationships" id="265" r:id="Rdfc6d7e59ea741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2dd458c2234f63" /><Relationship Type="http://schemas.openxmlformats.org/officeDocument/2006/relationships/slideMaster" Target="/ppt/slideMasters/slideMaster1.xml" Id="Ra7f2778341804b9d" /><Relationship Type="http://schemas.openxmlformats.org/officeDocument/2006/relationships/notesMaster" Target="/ppt/notesMasters/notesMaster1.xml" Id="R88151159369440da" /><Relationship Type="http://schemas.openxmlformats.org/officeDocument/2006/relationships/presProps" Target="/ppt/presProps.xml" Id="Ra75b1c4ceceb4c47" /><Relationship Type="http://schemas.openxmlformats.org/officeDocument/2006/relationships/tableStyles" Target="/ppt/tableStyles.xml" Id="R456b94527be241b4" /><Relationship Type="http://schemas.openxmlformats.org/officeDocument/2006/relationships/slide" Target="/ppt/slides/slide1.xml" Id="Rd17eaed518b94ec0" /><Relationship Type="http://schemas.openxmlformats.org/officeDocument/2006/relationships/slide" Target="/ppt/slides/slide2.xml" Id="R9f9f89e9ca6f41bb" /><Relationship Type="http://schemas.openxmlformats.org/officeDocument/2006/relationships/slide" Target="/ppt/slides/slide3.xml" Id="R52e8c398c5a3407c" /><Relationship Type="http://schemas.openxmlformats.org/officeDocument/2006/relationships/slide" Target="/ppt/slides/slide4.xml" Id="R7b2475f392fd4be7" /><Relationship Type="http://schemas.openxmlformats.org/officeDocument/2006/relationships/slide" Target="/ppt/slides/slide5.xml" Id="Rd68f7890e016462c" /><Relationship Type="http://schemas.openxmlformats.org/officeDocument/2006/relationships/slide" Target="/ppt/slides/slide6.xml" Id="Rc4be2ec10dea4c1b" /><Relationship Type="http://schemas.openxmlformats.org/officeDocument/2006/relationships/slide" Target="/ppt/slides/slide7.xml" Id="R7bd6e25349e544b2" /><Relationship Type="http://schemas.openxmlformats.org/officeDocument/2006/relationships/slide" Target="/ppt/slides/slide8.xml" Id="R6a12a35673674eb8" /><Relationship Type="http://schemas.openxmlformats.org/officeDocument/2006/relationships/slide" Target="/ppt/slides/slide9.xml" Id="Raa4173938d684953" /><Relationship Type="http://schemas.openxmlformats.org/officeDocument/2006/relationships/slide" Target="/ppt/slides/slide10.xml" Id="Rdfc6d7e59ea741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7aa1fbe4b649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304e1e8e4f46de" /><Relationship Type="http://schemas.openxmlformats.org/officeDocument/2006/relationships/notesMaster" Target="/ppt/notesMasters/notesMaster1.xml" Id="R024eb50435a248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b08c85de3746eb" /><Relationship Type="http://schemas.openxmlformats.org/officeDocument/2006/relationships/notesMaster" Target="/ppt/notesMasters/notesMaster1.xml" Id="Rd88d1525a6ee43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f2507eaa9f403e" /><Relationship Type="http://schemas.openxmlformats.org/officeDocument/2006/relationships/notesMaster" Target="/ppt/notesMasters/notesMaster1.xml" Id="R3541d6c7c4cf4b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05826bdc8f4089" /><Relationship Type="http://schemas.openxmlformats.org/officeDocument/2006/relationships/notesMaster" Target="/ppt/notesMasters/notesMaster1.xml" Id="Reeae9ff8f86242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db1cddeb7441ef" /><Relationship Type="http://schemas.openxmlformats.org/officeDocument/2006/relationships/notesMaster" Target="/ppt/notesMasters/notesMaster1.xml" Id="Raa1b2f67426a42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8752d161304bee" /><Relationship Type="http://schemas.openxmlformats.org/officeDocument/2006/relationships/notesMaster" Target="/ppt/notesMasters/notesMaster1.xml" Id="R698bc1c39dc946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6ce7a83e1540f6" /><Relationship Type="http://schemas.openxmlformats.org/officeDocument/2006/relationships/notesMaster" Target="/ppt/notesMasters/notesMaster1.xml" Id="R21af4053cf8b4d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7dbc0c419f4318" /><Relationship Type="http://schemas.openxmlformats.org/officeDocument/2006/relationships/notesMaster" Target="/ppt/notesMasters/notesMaster1.xml" Id="Rd00f963a45e54e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b30e813939422a" /><Relationship Type="http://schemas.openxmlformats.org/officeDocument/2006/relationships/notesMaster" Target="/ppt/notesMasters/notesMaster1.xml" Id="R52460d9cf77a45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4a7c7b57d64020" /><Relationship Type="http://schemas.openxmlformats.org/officeDocument/2006/relationships/notesMaster" Target="/ppt/notesMasters/notesMaster1.xml" Id="R4b2165b0cec34d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95c91d1154c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21f953c0e2481b" /><Relationship Type="http://schemas.openxmlformats.org/officeDocument/2006/relationships/slideLayout" Target="/ppt/slideLayouts/slideLayout1.xml" Id="R2ea68e214e6648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a68e214e6648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460ed4bb2411b" /><Relationship Type="http://schemas.openxmlformats.org/officeDocument/2006/relationships/notesSlide" Target="/ppt/notesSlides/notesSlide1.xml" Id="Rffe0590d48d347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e40334e194747" /><Relationship Type="http://schemas.openxmlformats.org/officeDocument/2006/relationships/notesSlide" Target="/ppt/notesSlides/notesSlide2.xml" Id="R3c6862f70ff042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f078d7d704917" /><Relationship Type="http://schemas.openxmlformats.org/officeDocument/2006/relationships/notesSlide" Target="/ppt/notesSlides/notesSlide3.xml" Id="R9bf552f72d6340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14bee971b4926" /><Relationship Type="http://schemas.openxmlformats.org/officeDocument/2006/relationships/notesSlide" Target="/ppt/notesSlides/notesSlide4.xml" Id="R6afc0007d7d34f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542921f9d4493" /><Relationship Type="http://schemas.openxmlformats.org/officeDocument/2006/relationships/notesSlide" Target="/ppt/notesSlides/notesSlide5.xml" Id="Rf83761d4693541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b028f451d4129" /><Relationship Type="http://schemas.openxmlformats.org/officeDocument/2006/relationships/notesSlide" Target="/ppt/notesSlides/notesSlide6.xml" Id="R30818c4c94874e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69fdfde65493e" /><Relationship Type="http://schemas.openxmlformats.org/officeDocument/2006/relationships/notesSlide" Target="/ppt/notesSlides/notesSlide7.xml" Id="R40c2679a778e4d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7481730b24e8b" /><Relationship Type="http://schemas.openxmlformats.org/officeDocument/2006/relationships/notesSlide" Target="/ppt/notesSlides/notesSlide8.xml" Id="Ra690c42ceb0249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a4756446b48cb" /><Relationship Type="http://schemas.openxmlformats.org/officeDocument/2006/relationships/notesSlide" Target="/ppt/notesSlides/notesSlide9.xml" Id="R11871b5a8bbf41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4891f76c1471b" /><Relationship Type="http://schemas.openxmlformats.org/officeDocument/2006/relationships/notesSlide" Target="/ppt/notesSlides/notesSlide10.xml" Id="Re803c65281934890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F172A"/>
            </a:gs>
            <a:gs pos="100000">
              <a:srgbClr val="1E293B"/>
            </a:gs>
          </a:gsLst>
          <a:lin ang="96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FC529EE-8EDE-48F9-AE7F-5CAE40D8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PERSONAL KNOWLEDGE SYSTEM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2EB8E1-A9C1-4AC2-BE1D-695828DF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8FAFC"/>
                </a:solidFill>
              </a:defRPr>
            </a:pPr>
            <a:r>
              <a:rPr sz="3750" b="1">
                <a:solidFill>
                  <a:srgbClr val="F8FAFC"/>
                </a:solidFill>
              </a:rPr>
              <a:t>如无必要，勿增实体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4B3809E-ADFD-45DE-BAA1-940BAF8C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BD5E1"/>
                </a:solidFill>
              </a:defRPr>
            </a:pPr>
            <a:r>
              <a:rPr sz="1650">
                <a:solidFill>
                  <a:srgbClr val="CBD5E1"/>
                </a:solidFill>
              </a:rPr>
              <a:t>我放弃了 LLM Wiki，用 Claude 极简重构个人知识库</a:t>
            </a:r>
          </a:p>
        </p:txBody>
      </p:sp>
      <p:sp>
        <p:nvSpPr>
          <p:cNvPr id="4" name="tagline">
            <a:extLst xmlns:a="http://schemas.openxmlformats.org/drawingml/2006/main">
              <a:ext uri="{FF2B5EF4-FFF2-40B4-BE49-F238E27FC236}">
                <a16:creationId xmlns:a16="http://schemas.microsoft.com/office/drawing/2014/main" id="{CF26BA3C-D4F2-41D6-8194-1359A2D7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不是 AI 帮我自动生成，而是借助 AI 把过去几年的事串起来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011AA-9292-4F47-8159-967CC9D6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6500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3A00C86F-1DD8-4504-88BC-F95D24CF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THE PROBLEM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C72296A-ADD6-49CD-94CF-23A59F49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01/09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4B794C3-AC2A-4402-8B6D-F31DF96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散落在各处的知识，要找找不到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354D33A0-215F-485E-82AC-64087B45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33FEFAB-7D08-4050-B209-5D20A492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369A1"/>
                </a:solidFill>
              </a:defRPr>
            </a:pPr>
            <a:r>
              <a:rPr sz="1350" b="1">
                <a:solidFill>
                  <a:srgbClr val="0369A1"/>
                </a:solidFill>
              </a:rPr>
              <a:t>语雀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B565460-0D37-4D1B-B256-79F4B534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会议记录、月报、项目复盘、临时想法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8555B608-74AE-40BE-A3E0-B2BC02BB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14500"/>
            <a:ext cx="3238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5E8881C-EE2E-4E5E-A313-697D709B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66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803D"/>
                </a:solidFill>
              </a:defRPr>
            </a:pPr>
            <a:r>
              <a:rPr sz="1350" b="1">
                <a:solidFill>
                  <a:srgbClr val="15803D"/>
                </a:solidFill>
              </a:rPr>
              <a:t>桌面文件夹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887FF5D-8772-4D96-B691-019F47C5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PPT、Excel、PDF、截图、草稿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3DEE6168-5E2C-40C8-A4EA-7C40CA04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14500"/>
            <a:ext cx="3238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5B07063-80C4-4C72-8A80-67B918F0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66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收藏的经验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32F2A85-B20F-4799-87A3-E34E828D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09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别人的产品、运营、营销、设计经验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4A928CEF-267B-45E7-938F-CC4D778A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096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E6C7B35-BC10-499D-AD92-A5EF4B70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91B1B"/>
                </a:solidFill>
              </a:defRPr>
            </a:pPr>
            <a:r>
              <a:rPr sz="1950" b="1">
                <a:solidFill>
                  <a:srgbClr val="991B1B"/>
                </a:solidFill>
              </a:rPr>
              <a:t>单看都有用，放在一起就可怕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6410FA2-2D02-49FB-AA3E-1B643C4B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1C1C"/>
                </a:solidFill>
              </a:defRPr>
            </a:pPr>
            <a:r>
              <a:rPr sz="1125">
                <a:solidFill>
                  <a:srgbClr val="B91C1C"/>
                </a:solidFill>
              </a:rPr>
              <a:t>· 要找的时候找不到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CBA2013-532E-4D02-BE40-D5491328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1C1C"/>
                </a:solidFill>
              </a:defRPr>
            </a:pPr>
            <a:r>
              <a:rPr sz="1125">
                <a:solidFill>
                  <a:srgbClr val="B91C1C"/>
                </a:solidFill>
              </a:rPr>
              <a:t>· 要讲的时候讲不清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0257A4E-286F-45F4-B6E1-5B6AE166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1C1C"/>
                </a:solidFill>
              </a:defRPr>
            </a:pPr>
            <a:r>
              <a:rPr sz="1125">
                <a:solidFill>
                  <a:srgbClr val="B91C1C"/>
                </a:solidFill>
              </a:rPr>
              <a:t>· 复盘时发现同一项目散在好几个地方</a:t>
            </a:r>
          </a:p>
        </p:txBody>
      </p:sp>
    </p:spTree>
    <p:extLst>
      <p:ext uri="{BB962C8B-B14F-4D97-AF65-F5344CB8AC3E}">
        <p14:creationId xmlns:p14="http://schemas.microsoft.com/office/powerpoint/2010/main" val="18083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95D2204-7806-4A6F-AA10-DCB901D3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CORE PRINCIPLE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C9430FE-A2FE-4EB9-B9AE-FB066DEB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02/09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C22FDA1-ED6F-4C00-9D72-076D2E65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单一主源：真正的源头只有一个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0B38D344-A4C0-484C-BCC0-D839E383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571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93C5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AA50021-89DF-4E66-A145-604AB28A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本地 Markdown 框架文档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9E81368-7638-4C71-BFF0-001B652A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B82F6"/>
                </a:solidFill>
              </a:defRPr>
            </a:pPr>
            <a:r>
              <a:rPr sz="1050">
                <a:solidFill>
                  <a:srgbClr val="3B82F6"/>
                </a:solidFill>
              </a:rPr>
              <a:t>唯一的结构定义源头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DE2666EB-CBE6-4704-A442-36AE8083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762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732434-8950-4424-93B1-B2173D42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5569"/>
                </a:solidFill>
              </a:defRPr>
            </a:pPr>
            <a:r>
              <a:rPr sz="1350" b="1">
                <a:solidFill>
                  <a:srgbClr val="475569"/>
                </a:solidFill>
              </a:rPr>
              <a:t>语雀 = 发布版（镜像）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40B988F-3987-48A2-9CB0-A7713F00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4A3B8"/>
                </a:solidFill>
              </a:defRPr>
            </a:pPr>
            <a:r>
              <a:rPr sz="975">
                <a:solidFill>
                  <a:srgbClr val="94A3B8"/>
                </a:solidFill>
              </a:rPr>
              <a:t>不负责重新定义结构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9E6445F3-E9EF-4DA3-A8DA-CCFA5A9A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38500"/>
            <a:ext cx="4762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2B71A03-6A2E-400D-B846-F56EBEED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813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5569"/>
                </a:solidFill>
              </a:defRPr>
            </a:pPr>
            <a:r>
              <a:rPr sz="1350" b="1">
                <a:solidFill>
                  <a:srgbClr val="475569"/>
                </a:solidFill>
              </a:rPr>
              <a:t>HTML 工作台 = 镜子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B228830-7C1F-4B79-BD1D-460CADA1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95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4A3B8"/>
                </a:solidFill>
              </a:defRPr>
            </a:pPr>
            <a:r>
              <a:rPr sz="975">
                <a:solidFill>
                  <a:srgbClr val="94A3B8"/>
                </a:solidFill>
              </a:rPr>
              <a:t>结构清楚，工具自然好用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7735DD-8ED6-4809-A8B9-1D7B21F4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475569"/>
                </a:solidFill>
              </a:defRPr>
            </a:pPr>
            <a:r>
              <a:rPr sz="1200" i="1">
                <a:solidFill>
                  <a:srgbClr val="475569"/>
                </a:solidFill>
              </a:rPr>
              <a:t>镜子再花哨，结构乱，照出来还是乱。结构清楚，工具自然就好用。</a:t>
            </a:r>
          </a:p>
        </p:txBody>
      </p:sp>
    </p:spTree>
    <p:extLst>
      <p:ext uri="{BB962C8B-B14F-4D97-AF65-F5344CB8AC3E}">
        <p14:creationId xmlns:p14="http://schemas.microsoft.com/office/powerpoint/2010/main" val="1462004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FAFEECA-8CD3-405E-82E4-D5C303C9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WORKFLOW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9336886-0FE3-4A2A-A43A-A8F66904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03/09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F802CC7-BBFA-4E05-94A7-739539B0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从第一个项目开始的固定流程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724DF-DCFC-44F4-B86A-AB7398FC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19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8774E9F-6F04-49B4-A5F2-D2E44C8E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14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16066-1181-4688-82CE-572B4C10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573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74E7475D-5B79-4D3F-A8F6-0DED463E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288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02A9F52-84FB-49AE-8520-8463B182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判断主线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D6007F9-BA29-41D9-A176-1C2A60B9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13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这个项目是不是我做的？我负责了什么？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7DD65-CACD-4521-A600-D2E043F8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19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CC4B90F-AC84-40B5-80D6-21264FA4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14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9BBC1-B657-42A9-A694-40DFBFB5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8573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F1AF046-1609-41E5-AE10-E85038FA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76500"/>
            <a:ext cx="24288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C98A670-2045-4C70-9877-5F6398A9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28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补充证据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D008ED7-1A8E-4F05-B469-E8CE43C1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71800"/>
            <a:ext cx="213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去本地和语雀里找材料、补证据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75C9C-5ACE-46B6-80D3-7251398E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19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E79799D-8EA1-4C92-9680-54589649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14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98B0D-6EF6-4477-8F39-A0CB7A0C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573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6D2A3CDD-A1BD-4CA6-938F-4135FBA7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76500"/>
            <a:ext cx="24288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96D2758-5CD7-45F2-85BB-ACD229CC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28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搭建框架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CE65382-8EA5-438A-8148-39D93219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213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按项目框架 md 组织内容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03F68-A868-4EBF-9B94-47C56EF4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619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D5AAE00-ACD5-4279-8F5E-C8D30989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714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3D68FF97-A86A-471A-9CE2-74016B31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476500"/>
            <a:ext cx="24288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65DC854-F295-4CFB-A8FD-C142297C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28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建立索引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F215F8F-3E5D-460F-89DA-3FA493F6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13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给未来的自己做可调用的索引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7706CCCD-9146-4931-BBBE-77035EFA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09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18F05B6-7C97-4E15-A23F-0D770022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6534"/>
                </a:solidFill>
              </a:defRPr>
            </a:pPr>
            <a:r>
              <a:rPr sz="1200" b="1">
                <a:solidFill>
                  <a:srgbClr val="166534"/>
                </a:solidFill>
              </a:rPr>
              <a:t>我负责定义主线，AI 负责帮我佐证和组织。这个顺序很关键。</a:t>
            </a:r>
          </a:p>
        </p:txBody>
      </p:sp>
    </p:spTree>
    <p:extLst>
      <p:ext uri="{BB962C8B-B14F-4D97-AF65-F5344CB8AC3E}">
        <p14:creationId xmlns:p14="http://schemas.microsoft.com/office/powerpoint/2010/main" val="1191474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E2291D1B-D5BA-4B74-B804-ED6BCAC6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LESSON 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7AE3478-DD8C-42E9-A847-B6FF40BC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04/09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20DA19F-B778-47CC-BA87-CDFAE878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别一上来就全量丢给 AI 整理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51687DD2-2952-44DD-81BB-19E83B3F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7E98C4B-EA78-47AD-8D26-CAA0058A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91B1B"/>
                </a:solidFill>
              </a:defRPr>
            </a:pPr>
            <a:r>
              <a:rPr sz="1500" b="1">
                <a:solidFill>
                  <a:srgbClr val="991B1B"/>
                </a:solidFill>
              </a:rPr>
              <a:t>错误做法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AAD5AC-17BE-4522-BFED-DC43920A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1C1C"/>
                </a:solidFill>
              </a:defRPr>
            </a:pPr>
            <a:r>
              <a:rPr sz="1125">
                <a:solidFill>
                  <a:srgbClr val="B91C1C"/>
                </a:solidFill>
              </a:rPr>
              <a:t>✗  把所有语雀和桌面文件全量摄取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14264AE-9BFD-461E-9FBD-EBFE6901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1C1C"/>
                </a:solidFill>
              </a:defRPr>
            </a:pPr>
            <a:r>
              <a:rPr sz="1125">
                <a:solidFill>
                  <a:srgbClr val="B91C1C"/>
                </a:solidFill>
              </a:rPr>
              <a:t>✗  让 AI 帮我总结一遍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33D2577-9DC2-4E88-8993-24841A11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1C1C"/>
                </a:solidFill>
              </a:defRPr>
            </a:pPr>
            <a:r>
              <a:rPr sz="1125">
                <a:solidFill>
                  <a:srgbClr val="B91C1C"/>
                </a:solidFill>
              </a:rPr>
              <a:t>✗  AI 不知道哪些真正重要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B620B7-4A0E-4A62-A17C-92102F2A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1C1C"/>
                </a:solidFill>
              </a:defRPr>
            </a:pPr>
            <a:r>
              <a:rPr sz="1125">
                <a:solidFill>
                  <a:srgbClr val="B91C1C"/>
                </a:solidFill>
              </a:rPr>
              <a:t>✗  结果：第二个 AI 生产的垃圾堆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9012D5CF-4F7C-4C2E-94D4-8E37251B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14500"/>
            <a:ext cx="5048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E4EE3ED-2512-4F5F-B612-F2B7D40E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66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6534"/>
                </a:solidFill>
              </a:defRPr>
            </a:pPr>
            <a:r>
              <a:rPr sz="1500" b="1">
                <a:solidFill>
                  <a:srgbClr val="166534"/>
                </a:solidFill>
              </a:rPr>
              <a:t>正确做法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17AB8D9-171B-4B69-9A99-38133858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86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66534"/>
                </a:solidFill>
              </a:defRPr>
            </a:pPr>
            <a:r>
              <a:rPr sz="1125">
                <a:solidFill>
                  <a:srgbClr val="166534"/>
                </a:solidFill>
              </a:rPr>
              <a:t>✓  先从一个具体项目开始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55BE98A-0DA3-4704-9185-8B08EFD6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66534"/>
                </a:solidFill>
              </a:defRPr>
            </a:pPr>
            <a:r>
              <a:rPr sz="1125">
                <a:solidFill>
                  <a:srgbClr val="166534"/>
                </a:solidFill>
              </a:rPr>
              <a:t>✓  判断：这个项目是不是我做的？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3BF2B63-9314-4BCD-B0A9-0CCFEDA2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66534"/>
                </a:solidFill>
              </a:defRPr>
            </a:pPr>
            <a:r>
              <a:rPr sz="1125">
                <a:solidFill>
                  <a:srgbClr val="166534"/>
                </a:solidFill>
              </a:rPr>
              <a:t>✓  哪些资料能作为证据？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A0EE49B-EF3A-492F-843D-1342AC34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66534"/>
                </a:solidFill>
              </a:defRPr>
            </a:pPr>
            <a:r>
              <a:rPr sz="1125">
                <a:solidFill>
                  <a:srgbClr val="166534"/>
                </a:solidFill>
              </a:rPr>
              <a:t>✓  再让 Claude 去找材料、搭框架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892340C-1F0C-4C6F-BF63-7799C8D6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1">
                <a:solidFill>
                  <a:srgbClr val="64748B"/>
                </a:solidFill>
              </a:defRPr>
            </a:pPr>
            <a:r>
              <a:rPr sz="1125" i="1">
                <a:solidFill>
                  <a:srgbClr val="64748B"/>
                </a:solidFill>
              </a:rPr>
              <a:t>资料一旦太散，AI 会帮你归纳，但不知道哪些是真正重要的</a:t>
            </a:r>
          </a:p>
        </p:txBody>
      </p:sp>
    </p:spTree>
    <p:extLst>
      <p:ext uri="{BB962C8B-B14F-4D97-AF65-F5344CB8AC3E}">
        <p14:creationId xmlns:p14="http://schemas.microsoft.com/office/powerpoint/2010/main" val="862730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2F72689-3054-4AEA-BE39-B7034B91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LESSON 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595788D-4155-460A-9A24-96134E82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05/09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F71742E-9A3D-4A33-8E32-FE54BFFC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分清「我做的」和「我参考的」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BF370D84-2692-4D5E-ABB8-E5EC0550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762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184BD59-6EAC-4F0C-A8B7-D969CDCB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我做过的项目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F6AEC0C-4D4C-4C54-A12A-9527FD7C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4155"/>
                </a:solidFill>
              </a:defRPr>
            </a:pPr>
            <a:r>
              <a:rPr sz="1125">
                <a:solidFill>
                  <a:srgbClr val="334155"/>
                </a:solidFill>
              </a:rPr>
              <a:t>→ 进入主线项目沉淀</a:t>
            </a:r>
          </a:p>
          <a:p xmlns:a="http://schemas.openxmlformats.org/drawingml/2006/main">
            <a:pPr>
              <a:defRPr sz="1125">
                <a:solidFill>
                  <a:srgbClr val="334155"/>
                </a:solidFill>
              </a:defRPr>
            </a:pPr>
            <a:r>
              <a:rPr sz="1125">
                <a:solidFill>
                  <a:srgbClr val="334155"/>
                </a:solidFill>
              </a:rPr>
              <a:t>→ 作为能力包装的证据</a:t>
            </a:r>
          </a:p>
          <a:p xmlns:a="http://schemas.openxmlformats.org/drawingml/2006/main">
            <a:pPr>
              <a:defRPr sz="1125">
                <a:solidFill>
                  <a:srgbClr val="334155"/>
                </a:solidFill>
              </a:defRPr>
            </a:pPr>
            <a:r>
              <a:rPr sz="1125">
                <a:solidFill>
                  <a:srgbClr val="334155"/>
                </a:solidFill>
              </a:rPr>
              <a:t>→ 未来服务述职、简历、复盘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9E66648C-47D0-4076-B96E-95639AF5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14500"/>
            <a:ext cx="5048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4100C2A-FF5E-495B-BD6D-C7B13905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669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别人的经验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C1064D-39E1-4F75-8F70-EDC2F528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8600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→ 只能作为外部旁证</a:t>
            </a:r>
          </a:p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→ 参考方法、视觉素材</a:t>
            </a:r>
          </a:p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→ 不进入主线，不替自己认领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E8B6B037-F618-46D4-A8DF-E3500E34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096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BB49A51-A30C-444B-B2FF-B6375D63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2400E"/>
                </a:solidFill>
              </a:defRPr>
            </a:pPr>
            <a:r>
              <a:rPr sz="1050">
                <a:solidFill>
                  <a:srgbClr val="92400E"/>
                </a:solidFill>
              </a:rPr>
              <a:t>AI 容易把两者混在一起——看到写得完整的案例就以为是你的项目。拿不准的先标「待确认」。</a:t>
            </a:r>
          </a:p>
        </p:txBody>
      </p:sp>
    </p:spTree>
    <p:extLst>
      <p:ext uri="{BB962C8B-B14F-4D97-AF65-F5344CB8AC3E}">
        <p14:creationId xmlns:p14="http://schemas.microsoft.com/office/powerpoint/2010/main" val="6293382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F4C14C3-D9BA-4162-9DB3-0782F953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LESSON 3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62CF2AF-262A-4AEB-ABE5-AED27F74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06/09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779CD19-74A3-4DE6-BE9D-B14FD527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少建新概念，能并入就并入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AD8A9E1F-D3D4-4E0E-80BC-F02F741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09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098555-3E43-44F9-B1B9-49305614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21B6"/>
                </a:solidFill>
              </a:defRPr>
            </a:pPr>
            <a:r>
              <a:rPr sz="1275" b="1">
                <a:solidFill>
                  <a:srgbClr val="5B21B6"/>
                </a:solidFill>
              </a:rPr>
              <a:t>如无必要，勿增实体。知识库最容易膨胀，每看到有用点就想单独建一篇。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F4FFC747-979C-46AA-B29E-47D48EB9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5DE9EC-D77F-4DB7-B26D-7D9F4D2D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4155"/>
                </a:solidFill>
              </a:defRPr>
            </a:pPr>
            <a:r>
              <a:rPr sz="1125">
                <a:solidFill>
                  <a:srgbClr val="334155"/>
                </a:solidFill>
              </a:rPr>
              <a:t>某个项目里的补充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49D580E-008F-4A88-98CD-11D2D15B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→ 进那个项目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7CA80C48-24E5-43A1-99D1-6553FD1C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90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D6A3862-7E5E-4E15-BA2A-CEBA1864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4155"/>
                </a:solidFill>
              </a:defRPr>
            </a:pPr>
            <a:r>
              <a:rPr sz="1125">
                <a:solidFill>
                  <a:srgbClr val="334155"/>
                </a:solidFill>
              </a:rPr>
              <a:t>某篇材料的索引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4B2E289-7B96-4B7A-AC2C-02886EE9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→ 放在参考台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88308A9D-378F-4E7C-A500-4CB65D99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90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FD86B2A-4865-4D96-A260-57BFA79A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4155"/>
                </a:solidFill>
              </a:defRPr>
            </a:pPr>
            <a:r>
              <a:rPr sz="1125">
                <a:solidFill>
                  <a:srgbClr val="334155"/>
                </a:solidFill>
              </a:rPr>
              <a:t>能跨多个项目复用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842A75F-D1B7-45D7-B579-19A73597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→ 才值得单独抽成概念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E53E76E2-4822-4479-A9BA-989DFDC6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39243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82EF78C-8441-4254-B517-B5753724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6534"/>
                </a:solidFill>
              </a:defRPr>
            </a:pPr>
            <a:r>
              <a:rPr sz="1200" b="1">
                <a:solidFill>
                  <a:srgbClr val="166534"/>
                </a:solidFill>
              </a:rPr>
              <a:t>例子：AI 评测能力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F7F7AA2-5E06-4D07-BF5A-BA71D09E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52800"/>
            <a:ext cx="3543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本可以单独开一篇「能力矩阵」</a:t>
            </a:r>
          </a:p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但更应该并进已有的</a:t>
            </a:r>
          </a:p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AI 内容评测体系</a:t>
            </a:r>
          </a:p>
          <a:p xmlns:a="http://schemas.openxmlformats.org/drawingml/2006/main"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否则概念越长越多，变成维护负担</a:t>
            </a:r>
          </a:p>
        </p:txBody>
      </p:sp>
    </p:spTree>
    <p:extLst>
      <p:ext uri="{BB962C8B-B14F-4D97-AF65-F5344CB8AC3E}">
        <p14:creationId xmlns:p14="http://schemas.microsoft.com/office/powerpoint/2010/main" val="1873573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48F8CC1-4B6F-4077-A410-8C2C7B76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LLM WIKI RELATIONSHIP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B89D937-6F89-4EF0-9A7B-71AD239D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07/09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8751D20-C692-45BA-BC54-EB7579C6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吸收 LLM Wiki 的三个思想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4D817124-4932-4DEB-B9E0-596C7455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758E6AB-8292-4DC3-9138-5124530C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5569"/>
                </a:solidFill>
              </a:defRPr>
            </a:pPr>
            <a:r>
              <a:rPr sz="1350" b="1">
                <a:solidFill>
                  <a:srgbClr val="475569"/>
                </a:solidFill>
              </a:rPr>
              <a:t>LLM Wiki 是什么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0978691-B5D5-45E3-A643-702D9FDF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让 LLM 把原始资料持续整理成结构化、互相关联的 markdown wiki。适合研究型资料库。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FCA5F8FE-2CFA-4045-B7F2-DE07DEB3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19250"/>
            <a:ext cx="5048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FC527EA-1042-4F83-B856-79B51ACF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71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400E"/>
                </a:solidFill>
              </a:defRPr>
            </a:pPr>
            <a:r>
              <a:rPr sz="1350" b="1">
                <a:solidFill>
                  <a:srgbClr val="92400E"/>
                </a:solidFill>
              </a:rPr>
              <a:t>为什么不照搬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CBDF3CC-361E-4E4D-A1E6-85890D45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8716C"/>
                </a:solidFill>
              </a:defRPr>
            </a:pPr>
            <a:r>
              <a:rPr sz="975">
                <a:solidFill>
                  <a:srgbClr val="78716C"/>
                </a:solidFill>
              </a:rPr>
              <a:t>我的问题不是「怎么编译成知识图谱」，而是「我过去几年到底做了哪些项目」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5012E478-4B87-4F85-B472-3537A0A2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238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70CEBE2-3779-4B0F-A5CD-8977A37F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① 知识要持久化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8AA2A48-6F86-455E-A5E6-145B2AB0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不要只停留在聊天记录里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4B39F30-DA4D-47FB-A329-F0A4D707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43250"/>
            <a:ext cx="3238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02CD368-DC6E-4A0C-AA4E-A809102E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956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② 原始资料要提炼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7D2B84A-B889-4CEA-85C2-71D697F1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7665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结构化提炼，不是简单堆进去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BA58CD3C-E04F-4CBF-B752-0A8BA016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3238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46227A3-CBF2-46E2-9183-B3F706FF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956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③ 知识库要可调用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F3972C4-9D53-46BF-8AA7-4461CBAA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7665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能被后续 AI 继续读取和使用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C8227CB-9532-4E76-B5EF-0EE9FA39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475569"/>
                </a:solidFill>
              </a:defRPr>
            </a:pPr>
            <a:r>
              <a:rPr sz="1200" i="1">
                <a:solidFill>
                  <a:srgbClr val="475569"/>
                </a:solidFill>
              </a:rPr>
              <a:t>用 LLM Wiki 的思想，做一个职业经历和能力沉淀版本的个人知识库</a:t>
            </a:r>
          </a:p>
        </p:txBody>
      </p:sp>
    </p:spTree>
    <p:extLst>
      <p:ext uri="{BB962C8B-B14F-4D97-AF65-F5344CB8AC3E}">
        <p14:creationId xmlns:p14="http://schemas.microsoft.com/office/powerpoint/2010/main" val="13018590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F2C78D2-9B73-4BF6-8435-1872E804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MAINTENANCE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E1D377A-ECDE-47AC-A034-CBB8B975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08/09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9B9A2BF-5D78-443B-B63B-E62CAD4D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入口少一点，节奏固定一点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ACCB6F5D-10EF-4715-85E4-F1E75FA9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977BCE7-F7FA-4299-87F3-9516B6EC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纵轴：我自己的项目和能力成长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F16C271-B2F7-4982-9104-8697B573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B82F6"/>
                </a:solidFill>
              </a:defRPr>
            </a:pPr>
            <a:r>
              <a:rPr sz="975">
                <a:solidFill>
                  <a:srgbClr val="3B82F6"/>
                </a:solidFill>
              </a:rPr>
              <a:t>每个项目沉淀成框架文档，汇总到能力主轴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17D19315-FC2B-4323-B67B-A952848A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19250"/>
            <a:ext cx="5048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EF891B6-F867-4CC7-BE78-F906A80F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33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横轴：外部知识怎么被我吸收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122DA73-A4FA-4916-80BE-0BA0B600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78BFA"/>
                </a:solidFill>
              </a:defRPr>
            </a:pPr>
            <a:r>
              <a:rPr sz="975">
                <a:solidFill>
                  <a:srgbClr val="A78BFA"/>
                </a:solidFill>
              </a:rPr>
              <a:t>判断它能补到纵轴的什么位置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CB234-BA20-43DE-AB4B-FBDF4266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C733039-2438-4E3C-BF4E-35925F5C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398C643-3D48-4E2D-8D63-50660D6E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0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新资料先进参考区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3A41C74-C360-49E9-A544-42711852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不急着进主线。判断它属于哪一类：能补项目证据？能补方法表达？只是素材参考？暂时无关？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A626E-EE3E-4F2E-B7BF-B33DA256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2AE2C57-0D16-4EEE-A8AE-9EA7B547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A05BAA4-0747-41E9-B94E-56ADAAC1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9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定期做一次清洁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AABB2DF-7C50-4F1E-8820-292A96FB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957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哪些已内化可标状态？哪些待核对数字该补来源？哪些新概念可并回已有文档？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058FF-F512-4C9C-B1B9-F5BF6568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DE830E5-95EA-424D-8D7E-10FC45DC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94E3975-BFCC-45B2-94CE-BCEF8C6C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AI 的角色要固定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F2DE475-2C28-4B5A-B70B-4B72B79F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找证据、判断归类、检查数字口径、发现重复。最后拍板还是我来。</a:t>
            </a:r>
          </a:p>
        </p:txBody>
      </p:sp>
    </p:spTree>
    <p:extLst>
      <p:ext uri="{BB962C8B-B14F-4D97-AF65-F5344CB8AC3E}">
        <p14:creationId xmlns:p14="http://schemas.microsoft.com/office/powerpoint/2010/main" val="1845982871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F172A"/>
            </a:gs>
            <a:gs pos="100000">
              <a:srgbClr val="1E293B"/>
            </a:gs>
          </a:gsLst>
          <a:lin ang="96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AF06322E-949E-417A-A5CC-5E7620EC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CONCLUSION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0584AE1-8E1E-40A8-BD5E-BFB7D582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09/09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5B83B79-FF06-476C-97B9-371DA8E2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知识库最重要的不是「存了多少」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8EC43D6-2926-4B5C-85FA-EF8C6921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BD5E1"/>
                </a:solidFill>
              </a:defRPr>
            </a:pPr>
            <a:r>
              <a:rPr sz="1650">
                <a:solidFill>
                  <a:srgbClr val="CBD5E1"/>
                </a:solidFill>
              </a:rPr>
              <a:t>而是当我需要讲清楚一个项目、一个能力、一个判断时，</a:t>
            </a:r>
          </a:p>
          <a:p xmlns:a="http://schemas.openxmlformats.org/drawingml/2006/main">
            <a:pPr>
              <a:defRPr sz="1650">
                <a:solidFill>
                  <a:srgbClr val="CBD5E1"/>
                </a:solidFill>
              </a:defRPr>
            </a:pPr>
            <a:r>
              <a:rPr sz="1650">
                <a:solidFill>
                  <a:srgbClr val="CBD5E1"/>
                </a:solidFill>
              </a:rPr>
              <a:t>它能不能立刻帮我把证据、逻辑和素材串起来。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34535-40C4-435B-BC73-46FF2B74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C3D61B1-CF4E-4361-87C1-8172C813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2E8F0"/>
                </a:solidFill>
              </a:defRPr>
            </a:pPr>
            <a:r>
              <a:rPr sz="2100" b="1">
                <a:solidFill>
                  <a:srgbClr val="E2E8F0"/>
                </a:solidFill>
              </a:rPr>
              <a:t>如果能，那它就不只是仓库。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17836D-3265-473C-9578-38C1EEC2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B82F6"/>
                </a:solidFill>
              </a:defRPr>
            </a:pPr>
            <a:r>
              <a:rPr sz="2700" b="1">
                <a:solidFill>
                  <a:srgbClr val="3B82F6"/>
                </a:solidFill>
              </a:rPr>
              <a:t>它就是我的工作记忆。</a:t>
            </a:r>
          </a:p>
        </p:txBody>
      </p:sp>
    </p:spTree>
    <p:extLst>
      <p:ext uri="{BB962C8B-B14F-4D97-AF65-F5344CB8AC3E}">
        <p14:creationId xmlns:p14="http://schemas.microsoft.com/office/powerpoint/2010/main" val="523804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2026-07-02T13:14:15.7920000Z</dcterms:created>
  <dcterms:modified xsi:type="dcterms:W3CDTF">2026-07-02T13:14:15.7920000Z</dcterms:modified>
</coreProperties>
</file>
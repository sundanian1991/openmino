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9038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14251" y="482501"/>
            <a:ext cx="1924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·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137202" y="472976"/>
            <a:ext cx="13993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· 技术深度解析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34901" y="1147614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协作 · 长周期任务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1576239"/>
            <a:ext cx="8031682" cy="1206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2"/>
              </a:lnSpc>
              <a:buNone/>
            </a:pPr>
            <a:r>
              <a:rPr lang="en-US" sz="44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Codex 长周期</a:t>
            </a:r>
            <a:endParaRPr lang="en-US" sz="4400" dirty="0"/>
          </a:p>
          <a:p>
            <a:pPr algn="l" indent="0" marL="0">
              <a:lnSpc>
                <a:spcPts val="4752"/>
              </a:lnSpc>
              <a:buNone/>
            </a:pPr>
            <a:r>
              <a:rPr lang="en-US" sz="44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大项目</a:t>
            </a:r>
            <a:endParaRPr lang="en-US" sz="4400" dirty="0"/>
          </a:p>
          <a:p>
            <a:pPr algn="l" indent="0" marL="0">
              <a:lnSpc>
                <a:spcPts val="4752"/>
              </a:lnSpc>
              <a:buNone/>
            </a:pPr>
            <a:r>
              <a:rPr lang="en-US" sz="4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不跑偏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34901" y="3062585"/>
            <a:ext cx="80316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Bef>
                <a:spcPts val="2200"/>
              </a:spcBef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工程师分享的 5 个 AI 协作习惯</a:t>
            </a:r>
            <a:endParaRPr lang="en-US" sz="1500" dirty="0"/>
          </a:p>
          <a:p>
            <a:pPr algn="l" indent="0" marL="0">
              <a:lnSpc>
                <a:spcPts val="2250"/>
              </a:lnSpc>
              <a:spcBef>
                <a:spcPts val="2200"/>
              </a:spcBef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—— 从"放养式使用"到"带领 AI 团队作战"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4901" y="3964186"/>
            <a:ext cx="762000" cy="38100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4511725"/>
            <a:ext cx="5369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Gabriel Chua《Collaborating with Codex on Long-Running Tasks》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81652" y="4540300"/>
            <a:ext cx="537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11269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核心背景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81652" y="506313"/>
            <a:ext cx="537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1171426"/>
            <a:ext cx="28551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34901" y="1492002"/>
            <a:ext cx="285514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从启动任务，</a:t>
            </a:r>
            <a:endParaRPr lang="en-US" sz="30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0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到守住目标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34901" y="2573982"/>
            <a:ext cx="507950" cy="38100"/>
          </a:xfrm>
          <a:prstGeom prst="rect">
            <a:avLst/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42011" y="1171426"/>
            <a:ext cx="4658430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编码工具已支持连续数小时甚至数天的长周期运行。核心痛点不再是</a:t>
            </a:r>
            <a:pPr algn="l" indent="0" marL="0">
              <a:lnSpc>
                <a:spcPts val="224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能否启动</a:t>
            </a:r>
            <a:pPr algn="l" indent="0" marL="0">
              <a:lnSpc>
                <a:spcPts val="224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任务，而是在多轮迭代、持续验证中，</a:t>
            </a:r>
            <a:pPr algn="l" indent="0" marL="0">
              <a:lnSpc>
                <a:spcPts val="2240"/>
              </a:lnSpc>
              <a:spcAft>
                <a:spcPts val="1600"/>
              </a:spcAft>
              <a:buNone/>
            </a:pPr>
            <a:r>
              <a:rPr lang="en-US" sz="14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避免 AI 偏离项目目标</a:t>
            </a:r>
            <a:pPr algn="l" indent="0" marL="0">
              <a:lnSpc>
                <a:spcPts val="2240"/>
              </a:lnSpc>
              <a:spcAft>
                <a:spcPts val="1600"/>
              </a:spcAft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42011" y="2253555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48311" y="2228255"/>
            <a:ext cx="31089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1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早期假设变更</a:t>
            </a:r>
            <a:pPr algn="l" indent="0" marL="0">
              <a:lnSpc>
                <a:spcPts val="1860"/>
              </a:lnSpc>
              <a:buNone/>
            </a:pP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项目推进中，最初的判断随新信息出现而失效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42011" y="2903637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8311" y="2878336"/>
            <a:ext cx="3264408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1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新信息涌现</a:t>
            </a:r>
            <a:pPr algn="l" indent="0" marL="0">
              <a:lnSpc>
                <a:spcPts val="1860"/>
              </a:lnSpc>
              <a:buNone/>
            </a:pP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每轮迭代都可能引入需要重新调整方向的新证据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42011" y="3553718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8311" y="3528417"/>
            <a:ext cx="31089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1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方向漂移累积</a:t>
            </a:r>
            <a:pPr algn="l" indent="0" marL="0">
              <a:lnSpc>
                <a:spcPts val="1860"/>
              </a:lnSpc>
              <a:buNone/>
            </a:pPr>
            <a:endParaRPr lang="en-US" sz="1200" dirty="0"/>
          </a:p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小偏差在长周期中被放大，最终远离原始目标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14637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作者与影响力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81652" y="506313"/>
            <a:ext cx="537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1196727"/>
            <a:ext cx="80316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来自一线工程师的实战笔记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34901" y="1555403"/>
            <a:ext cx="803168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i="1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Gabriel Chua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34901" y="2177653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· CODEX DX ENGINEER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2660154"/>
            <a:ext cx="1126239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89万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34901" y="3320504"/>
            <a:ext cx="11262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9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3504605"/>
            <a:ext cx="11262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i="1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全网浏览量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97757" y="2660154"/>
            <a:ext cx="777088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297757" y="3320504"/>
            <a:ext cx="777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9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97757" y="3504605"/>
            <a:ext cx="7770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i="1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核心协作习惯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8309" y="2660154"/>
            <a:ext cx="1424687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618309" y="3320504"/>
            <a:ext cx="1424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9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8309" y="3504605"/>
            <a:ext cx="14246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i="1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可迁移至所有长任务工具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951" y="4337298"/>
            <a:ext cx="0" cy="349002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6151" y="4388048"/>
            <a:ext cx="7785607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i="1" dirty="0">
                <a:solidFill>
                  <a:srgbClr val="E8E6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"将传统放养式使用 AI，升级为带领 AI 团队协同作战。"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11269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核心难题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81652" y="506313"/>
            <a:ext cx="537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1298377"/>
            <a:ext cx="80316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0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TENSION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34901" y="1695152"/>
            <a:ext cx="8031682" cy="138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通过 </a:t>
            </a:r>
            <a:pPr algn="l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/goal</a:t>
            </a:r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指令设定持久目标后，Codex 容易在推进中</a:t>
            </a:r>
            <a:pPr algn="l" indent="0" marL="0">
              <a:lnSpc>
                <a:spcPts val="3640"/>
              </a:lnSpc>
              <a:buNone/>
            </a:pPr>
            <a:r>
              <a:rPr lang="en-US" sz="2600" b="1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偏离方向</a:t>
            </a:r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——理想的协作模式，需要同时满足两个看似矛盾的要求。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34901" y="3539133"/>
            <a:ext cx="3784699" cy="161701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3562945"/>
            <a:ext cx="3784699" cy="0"/>
          </a:xfrm>
          <a:prstGeom prst="line">
            <a:avLst/>
          </a:prstGeom>
          <a:noFill/>
          <a:ln w="47625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251" y="3840659"/>
            <a:ext cx="3290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251" y="4100959"/>
            <a:ext cx="32905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守住核心目标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251" y="4469160"/>
            <a:ext cx="3290518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牢牢锚定项目最初定义的方向与"完成定义"，不允许随对话漂移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24400" y="3539133"/>
            <a:ext cx="3784699" cy="161701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24400" y="3562945"/>
            <a:ext cx="3784699" cy="0"/>
          </a:xfrm>
          <a:prstGeom prst="line">
            <a:avLst/>
          </a:prstGeom>
          <a:noFill/>
          <a:ln w="47625">
            <a:solidFill>
              <a:srgbClr val="6A9B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3750" y="3840659"/>
            <a:ext cx="3290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03750" y="4100959"/>
            <a:ext cx="32905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保留调整弹性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03750" y="4469160"/>
            <a:ext cx="3290518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为用户和 AI 预留根据新证据动态调整计划的空间，而非僵硬执行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31750"/>
            <a:ext cx="14637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全景协作架构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08603" y="455563"/>
            <a:ext cx="537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942826"/>
            <a:ext cx="4827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"带 AI 团队"全景架构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1180951"/>
            <a:ext cx="482754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主线程协调 · 子单元执行 · 多层验收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90342" y="1787277"/>
            <a:ext cx="1763167" cy="891629"/>
          </a:xfrm>
          <a:prstGeom prst="roundRect">
            <a:avLst>
              <a:gd name="adj" fmla="val 5697"/>
            </a:avLst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05883" y="1964978"/>
            <a:ext cx="13320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THREAD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05883" y="2158603"/>
            <a:ext cx="1332086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全局协调</a:t>
            </a:r>
            <a:endParaRPr lang="en-US" sz="10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 · 约束 · 决策 · 状态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6669" y="2805857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委派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05384" y="3180457"/>
            <a:ext cx="1485900" cy="656927"/>
          </a:xfrm>
          <a:prstGeom prst="roundRect">
            <a:avLst>
              <a:gd name="adj" fmla="val 7733"/>
            </a:avLst>
          </a:prstGeom>
          <a:solidFill>
            <a:srgbClr val="FFFFFF"/>
          </a:solidFill>
          <a:ln w="19050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65404" y="3326457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65404" y="3520083"/>
            <a:ext cx="116586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远程执行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8234" y="3180457"/>
            <a:ext cx="1485900" cy="656927"/>
          </a:xfrm>
          <a:prstGeom prst="roundRect">
            <a:avLst>
              <a:gd name="adj" fmla="val 7733"/>
            </a:avLst>
          </a:prstGeom>
          <a:solidFill>
            <a:srgbClr val="FFFFFF"/>
          </a:solidFill>
          <a:ln w="19050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78254" y="3326457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78254" y="3520083"/>
            <a:ext cx="116586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远程执行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31085" y="3180457"/>
            <a:ext cx="1494681" cy="656927"/>
          </a:xfrm>
          <a:prstGeom prst="roundRect">
            <a:avLst>
              <a:gd name="adj" fmla="val 7733"/>
            </a:avLst>
          </a:prstGeom>
          <a:solidFill>
            <a:srgbClr val="FFFFFF"/>
          </a:solidFill>
          <a:ln w="19050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91017" y="3326457"/>
            <a:ext cx="11748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THREAD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91017" y="3520083"/>
            <a:ext cx="1174816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本机环境校验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52716" y="3180457"/>
            <a:ext cx="1485900" cy="656927"/>
          </a:xfrm>
          <a:prstGeom prst="roundRect">
            <a:avLst>
              <a:gd name="adj" fmla="val 7733"/>
            </a:avLst>
          </a:prstGeom>
          <a:solidFill>
            <a:srgbClr val="FFFFFF"/>
          </a:solidFill>
          <a:ln w="19050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12736" y="3326457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12736" y="3520083"/>
            <a:ext cx="1165860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临时任务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6669" y="3964335"/>
            <a:ext cx="8290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锚点与关卡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950" y="4389686"/>
            <a:ext cx="1955899" cy="615107"/>
          </a:xfrm>
          <a:prstGeom prst="roundRect">
            <a:avLst>
              <a:gd name="adj" fmla="val 8259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3839" y="4516636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GOALS.MD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3839" y="4700736"/>
            <a:ext cx="168412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里程碑 + 验证证据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5350" y="4389686"/>
            <a:ext cx="1955899" cy="615107"/>
          </a:xfrm>
          <a:prstGeom prst="roundRect">
            <a:avLst>
              <a:gd name="adj" fmla="val 8259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01239" y="4516636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01239" y="4700736"/>
            <a:ext cx="168412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代码审查关卡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22750" y="4389686"/>
            <a:ext cx="1955899" cy="615107"/>
          </a:xfrm>
          <a:prstGeom prst="roundRect">
            <a:avLst>
              <a:gd name="adj" fmla="val 8259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58639" y="4516636"/>
            <a:ext cx="16841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路线图审计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8639" y="4729311"/>
            <a:ext cx="168412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项里程碑复核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80150" y="4389686"/>
            <a:ext cx="1955899" cy="615107"/>
          </a:xfrm>
          <a:prstGeom prst="roundRect">
            <a:avLst>
              <a:gd name="adj" fmla="val 8259"/>
            </a:avLst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16039" y="4516636"/>
            <a:ext cx="16841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16039" y="4700736"/>
            <a:ext cx="168412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全局状态外置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22969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01 · 自主规划路线图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81652" y="506313"/>
            <a:ext cx="537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1044327"/>
            <a:ext cx="3177424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8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34901" y="2131368"/>
            <a:ext cx="3177424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Codex 自主规划</a:t>
            </a:r>
            <a:endParaRPr lang="en-US" sz="2400" dirty="0"/>
          </a:p>
          <a:p>
            <a:pPr algn="l" indent="0" marL="0">
              <a:lnSpc>
                <a:spcPts val="276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并动态维护路线图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34901" y="3010049"/>
            <a:ext cx="3177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400"/>
              </a:spcBef>
              <a:buNone/>
            </a:pPr>
            <a:r>
              <a:rPr lang="en-US" sz="1200" i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用结构化文件作为锚点，避免项目随对话漂移。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7222" y="1044327"/>
            <a:ext cx="43879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具体操作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7222" y="1358503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62773" y="1333202"/>
            <a:ext cx="4025253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跳过 /plan 模式直接开启对话，口述项目想法与约束，引导 Codex 持续提问补全上下文，生成初版落地计划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7222" y="1943993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62773" y="1918692"/>
            <a:ext cx="4025253" cy="433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由 Codex 综合对话上下文设定持久 Goal，自动定义"完成所需的验证证据"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7222" y="2529483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62773" y="2504182"/>
            <a:ext cx="4025253" cy="649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大项目将路线图写入 </a:t>
            </a:r>
            <a:pPr algn="l" indent="0" marL="0">
              <a:lnSpc>
                <a:spcPts val="1705"/>
              </a:lnSpc>
              <a:buNone/>
            </a:pPr>
            <a:r>
              <a:rPr lang="en-US" sz="11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GOALS.md</a:t>
            </a:r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，按里程碑结构化记录产出、工作范围、重要决策、已知阻塞、下一步所需证据，随项目推进持续迭代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7222" y="3382417"/>
            <a:ext cx="4301877" cy="1012627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10373" y="3560118"/>
            <a:ext cx="39734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VALUE · 核心价值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10373" y="3798243"/>
            <a:ext cx="397348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早期保持需求灵活性，无需提前撰写正式规格文档——用文件锚点对抗对话漂移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19602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02 · 主线程协调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81652" y="506313"/>
            <a:ext cx="537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968127"/>
            <a:ext cx="3177424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8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34901" y="2029718"/>
            <a:ext cx="3177424" cy="6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spcBef>
                <a:spcPts val="800"/>
              </a:spcBef>
              <a:buNone/>
            </a:pPr>
            <a:r>
              <a:rPr lang="en-US" sz="2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主线程仅负责</a:t>
            </a:r>
            <a:endParaRPr lang="en-US" sz="2200" dirty="0"/>
          </a:p>
          <a:p>
            <a:pPr algn="l" indent="0" marL="0">
              <a:lnSpc>
                <a:spcPts val="2530"/>
              </a:lnSpc>
              <a:spcBef>
                <a:spcPts val="800"/>
              </a:spcBef>
              <a:buNone/>
            </a:pPr>
            <a:r>
              <a:rPr lang="en-US" sz="2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全局协调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01" y="2849761"/>
            <a:ext cx="3177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400"/>
              </a:spcBef>
              <a:buNone/>
            </a:pPr>
            <a:r>
              <a:rPr lang="en-US" sz="1200" i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不陷入实现细节，统筹全局同时保证每块工作可独立追溯。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7222" y="968127"/>
            <a:ext cx="43879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主线程只聚焦 4 件事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7222" y="1257002"/>
            <a:ext cx="2087463" cy="790426"/>
          </a:xfrm>
          <a:prstGeom prst="rect">
            <a:avLst/>
          </a:prstGeom>
          <a:solidFill>
            <a:srgbClr val="FFFFFF"/>
          </a:solidFill>
          <a:ln w="19050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53223" y="1403003"/>
            <a:ext cx="183137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53223" y="1720453"/>
            <a:ext cx="183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Goal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21636" y="1257002"/>
            <a:ext cx="2087463" cy="790426"/>
          </a:xfrm>
          <a:prstGeom prst="rect">
            <a:avLst/>
          </a:prstGeom>
          <a:solidFill>
            <a:srgbClr val="FFFFFF"/>
          </a:solidFill>
          <a:ln w="19050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67636" y="1403003"/>
            <a:ext cx="183137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67636" y="1720453"/>
            <a:ext cx="183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 Constraint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7222" y="2174379"/>
            <a:ext cx="2087463" cy="790426"/>
          </a:xfrm>
          <a:prstGeom prst="rect">
            <a:avLst/>
          </a:prstGeom>
          <a:solidFill>
            <a:srgbClr val="FFFFFF"/>
          </a:solidFill>
          <a:ln w="19050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53223" y="2320379"/>
            <a:ext cx="183137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53223" y="2637830"/>
            <a:ext cx="183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 Decision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21636" y="2174379"/>
            <a:ext cx="2087463" cy="790426"/>
          </a:xfrm>
          <a:prstGeom prst="rect">
            <a:avLst/>
          </a:prstGeom>
          <a:solidFill>
            <a:srgbClr val="FFFFFF"/>
          </a:solidFill>
          <a:ln w="19050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67636" y="2320379"/>
            <a:ext cx="183137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67636" y="2637830"/>
            <a:ext cx="183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 Status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7222" y="3142506"/>
            <a:ext cx="4387914" cy="649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可回溯的任务使用</a:t>
            </a:r>
            <a:pPr algn="l" indent="0" marL="0">
              <a:lnSpc>
                <a:spcPts val="1705"/>
              </a:lnSpc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独立 thread</a:t>
            </a:r>
            <a:pPr algn="l" indent="0" marL="0">
              <a:lnSpc>
                <a:spcPts val="1705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存储完整历史；临时任务直接委派给 </a:t>
            </a:r>
            <a:pPr algn="l" indent="0" marL="0">
              <a:lnSpc>
                <a:spcPts val="1705"/>
              </a:lnSpc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subagent</a:t>
            </a:r>
            <a:pPr algn="l" indent="0" marL="0">
              <a:lnSpc>
                <a:spcPts val="1705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。主线程决定任务委派方向、评估执行结果，不承载实现细节。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7222" y="3995291"/>
            <a:ext cx="4301877" cy="1012627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10373" y="4172992"/>
            <a:ext cx="39734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VALUE · 核心价值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10373" y="4411117"/>
            <a:ext cx="397348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统筹全局的同时保证每块工作可独立追溯，支持多任务并行推进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29355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03 · 里程碑审计 + /review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81652" y="506313"/>
            <a:ext cx="537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1044327"/>
            <a:ext cx="3177424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8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34901" y="2131368"/>
            <a:ext cx="3177424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里程碑完成后</a:t>
            </a:r>
            <a:endParaRPr lang="en-US" sz="2400" dirty="0"/>
          </a:p>
          <a:p>
            <a:pPr algn="l" indent="0" marL="0">
              <a:lnSpc>
                <a:spcPts val="276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先审计，再 review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34901" y="3010049"/>
            <a:ext cx="3177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400"/>
              </a:spcBef>
              <a:buNone/>
            </a:pPr>
            <a:r>
              <a:rPr lang="en-US" sz="1200" i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在验收关卡前设置多层复核，提前发现偏差。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7222" y="1044327"/>
            <a:ext cx="43879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项里程碑审计（独立线程执行）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7222" y="1358503"/>
            <a:ext cx="181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11873" y="1333202"/>
            <a:ext cx="1496187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验证里程碑是否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真正完成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07222" y="1640681"/>
            <a:ext cx="181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11873" y="1615380"/>
            <a:ext cx="1496187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下一个目标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是否仍然合理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7222" y="1922859"/>
            <a:ext cx="181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11873" y="1897559"/>
            <a:ext cx="136017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是否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遗漏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了某些里程碑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7222" y="2205038"/>
            <a:ext cx="181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11873" y="2179737"/>
            <a:ext cx="176822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新证据是否要求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调整工作顺序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7222" y="2487216"/>
            <a:ext cx="181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11873" y="2461915"/>
            <a:ext cx="1472202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原"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完成定义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"是否仍成立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7222" y="2997994"/>
            <a:ext cx="2074664" cy="6538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207222" y="3017044"/>
            <a:ext cx="2074664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9622" y="3163044"/>
            <a:ext cx="1805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59622" y="3347145"/>
            <a:ext cx="180526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同步对实现代码执行审查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34286" y="2997994"/>
            <a:ext cx="2074813" cy="6538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434286" y="3017044"/>
            <a:ext cx="2074813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6686" y="3163044"/>
            <a:ext cx="18054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6686" y="3347145"/>
            <a:ext cx="180541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所有操作留存独立记录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07222" y="3778746"/>
            <a:ext cx="4301877" cy="949226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10373" y="3931146"/>
            <a:ext cx="39734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VALUE · 核心价值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10373" y="4156472"/>
            <a:ext cx="397348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提前发现路线图偏差与代码隐性问题，避免小问题累积导致大规模返工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21286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04 · 本地线程校验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81652" y="506313"/>
            <a:ext cx="537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1044327"/>
            <a:ext cx="3177424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8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34901" y="2131368"/>
            <a:ext cx="3177424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本机测试</a:t>
            </a:r>
            <a:endParaRPr lang="en-US" sz="2400" dirty="0"/>
          </a:p>
          <a:p>
            <a:pPr algn="l" indent="0" marL="0">
              <a:lnSpc>
                <a:spcPts val="276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交给本地线程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34901" y="3010049"/>
            <a:ext cx="3177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400"/>
              </a:spcBef>
              <a:buNone/>
            </a:pPr>
            <a:r>
              <a:rPr lang="en-US" sz="1200" i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远程持续运行，本地专属校验，两套环境协同闭环。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7222" y="1044327"/>
            <a:ext cx="43879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仅委派给本地线程的任务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7222" y="1333202"/>
            <a:ext cx="4387914" cy="216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5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远程实例承载绝大多数任务，仅以下依赖本机环境者例外：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7222" y="1676698"/>
            <a:ext cx="977503" cy="288727"/>
          </a:xfrm>
          <a:prstGeom prst="rect">
            <a:avLst/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34173" y="1740098"/>
            <a:ext cx="7380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登录态浏览器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60925" y="1676698"/>
            <a:ext cx="736253" cy="288727"/>
          </a:xfrm>
          <a:prstGeom prst="rect">
            <a:avLst/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87876" y="1740098"/>
            <a:ext cx="4919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本地凭据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73378" y="1676698"/>
            <a:ext cx="595908" cy="288727"/>
          </a:xfrm>
          <a:prstGeom prst="rect">
            <a:avLst/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00329" y="1740098"/>
            <a:ext cx="3488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Xcode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45486" y="1676698"/>
            <a:ext cx="930622" cy="288727"/>
          </a:xfrm>
          <a:prstGeom prst="rect">
            <a:avLst/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72436" y="1740098"/>
            <a:ext cx="690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权限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07222" y="2041624"/>
            <a:ext cx="850255" cy="288727"/>
          </a:xfrm>
          <a:prstGeom prst="rect">
            <a:avLst/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34173" y="2105025"/>
            <a:ext cx="6082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模拟器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07222" y="2482751"/>
            <a:ext cx="43879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典型闭环流程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7222" y="2746177"/>
            <a:ext cx="685056" cy="30093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13618" y="2831902"/>
            <a:ext cx="472264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5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远程实现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43029" y="282520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878" y="2746177"/>
            <a:ext cx="685205" cy="30093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27272" y="2831902"/>
            <a:ext cx="472416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5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远程测试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56833" y="282520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4683" y="2755702"/>
            <a:ext cx="666006" cy="281880"/>
          </a:xfrm>
          <a:prstGeom prst="rect">
            <a:avLst/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31554" y="2831902"/>
            <a:ext cx="472264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5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本地校验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51439" y="282520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29289" y="2746177"/>
            <a:ext cx="685205" cy="30093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35683" y="2831902"/>
            <a:ext cx="472416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5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远程修复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665244" y="282520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43093" y="2755702"/>
            <a:ext cx="666006" cy="281880"/>
          </a:xfrm>
          <a:prstGeom prst="rect">
            <a:avLst/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939964" y="2831902"/>
            <a:ext cx="472264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5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本地复测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07222" y="3250257"/>
            <a:ext cx="4301877" cy="949226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410373" y="3402657"/>
            <a:ext cx="39734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VALUE · 核心价值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10373" y="3627983"/>
            <a:ext cx="397348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兼顾远程持续运行与本地专属校验，远程线程可等待本地环境就绪后继续推进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21286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05 · 简报与仪表盘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81652" y="506313"/>
            <a:ext cx="537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968127"/>
            <a:ext cx="3177424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8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634901" y="2029718"/>
            <a:ext cx="3177424" cy="6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spcBef>
                <a:spcPts val="800"/>
              </a:spcBef>
              <a:buNone/>
            </a:pPr>
            <a:r>
              <a:rPr lang="en-US" sz="2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简报 + 仪表盘</a:t>
            </a:r>
            <a:endParaRPr lang="en-US" sz="2200" dirty="0"/>
          </a:p>
          <a:p>
            <a:pPr algn="l" indent="0" marL="0">
              <a:lnSpc>
                <a:spcPts val="2530"/>
              </a:lnSpc>
              <a:spcBef>
                <a:spcPts val="800"/>
              </a:spcBef>
              <a:buNone/>
            </a:pPr>
            <a:r>
              <a:rPr lang="en-US" sz="2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同步全局进度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01" y="2849761"/>
            <a:ext cx="3177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400"/>
              </a:spcBef>
              <a:buNone/>
            </a:pPr>
            <a:r>
              <a:rPr lang="en-US" sz="1200" i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把项目状态外置，避免信息只存在线程上下文。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7222" y="968127"/>
            <a:ext cx="43879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三段式极简汇报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7222" y="1257002"/>
            <a:ext cx="4301877" cy="514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231035" y="1257002"/>
            <a:ext cx="0" cy="514350"/>
          </a:xfrm>
          <a:prstGeom prst="line">
            <a:avLst/>
          </a:prstGeom>
          <a:noFill/>
          <a:ln w="47625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247" y="1447502"/>
            <a:ext cx="958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DONE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99199" y="1418927"/>
            <a:ext cx="4080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已完成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7222" y="1834753"/>
            <a:ext cx="4301877" cy="514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231035" y="1834753"/>
            <a:ext cx="0" cy="514350"/>
          </a:xfrm>
          <a:prstGeom prst="line">
            <a:avLst/>
          </a:prstGeom>
          <a:noFill/>
          <a:ln w="47625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247" y="2025253"/>
            <a:ext cx="9323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73750" y="1996678"/>
            <a:ext cx="4080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7222" y="2412504"/>
            <a:ext cx="4301877" cy="5143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231035" y="2412504"/>
            <a:ext cx="0" cy="514350"/>
          </a:xfrm>
          <a:prstGeom prst="line">
            <a:avLst/>
          </a:prstGeom>
          <a:noFill/>
          <a:ln w="47625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247" y="2603004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48598" y="2574429"/>
            <a:ext cx="5440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有无阻塞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07222" y="3053804"/>
            <a:ext cx="2087463" cy="780604"/>
          </a:xfrm>
          <a:prstGeom prst="rect">
            <a:avLst/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59622" y="3155305"/>
            <a:ext cx="18183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/side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59622" y="3377505"/>
            <a:ext cx="1818317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不打断主线程探查进度、传递新指令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21636" y="3053804"/>
            <a:ext cx="2087463" cy="780604"/>
          </a:xfrm>
          <a:prstGeom prst="rect">
            <a:avLst/>
          </a:prstGeom>
          <a:solidFill>
            <a:srgbClr val="E8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74036" y="3155305"/>
            <a:ext cx="18183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dashboard.html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74036" y="3377505"/>
            <a:ext cx="181831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自定义可视化仪表盘，远程访问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07222" y="3986659"/>
            <a:ext cx="4301877" cy="949226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10373" y="4139059"/>
            <a:ext cx="39734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VALUE · 核心价值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10373" y="4364385"/>
            <a:ext cx="397348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用户无需回溯 worker 线程上下文，随时查看全局状态，大幅降低回归成本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31750"/>
            <a:ext cx="14637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五大习惯对比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117086" y="455563"/>
            <a:ext cx="529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7950" y="917377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 · 一图速览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1155502"/>
            <a:ext cx="829066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五大协作习惯核心价值矩阵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11269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适用边界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81652" y="506313"/>
            <a:ext cx="537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1171426"/>
            <a:ext cx="80316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· 适用边界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34901" y="1530102"/>
            <a:ext cx="8031682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这套架构并非适用于所有任务。</a:t>
            </a:r>
            <a:pPr algn="l" indent="0" marL="0">
              <a:lnSpc>
                <a:spcPts val="3080"/>
              </a:lnSpc>
              <a:buNone/>
            </a:pPr>
            <a:r>
              <a:rPr lang="en-US" sz="2200" b="1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仅当项目同时满足以下三个特征</a:t>
            </a:r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时，投入产出比最高。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4901" y="2718346"/>
            <a:ext cx="80316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200"/>
              </a:spcBef>
              <a:spcAft>
                <a:spcPts val="14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三项触发条件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4901" y="3077021"/>
            <a:ext cx="2506266" cy="132977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34901" y="3096071"/>
            <a:ext cx="2506266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051" y="3292822"/>
            <a:ext cx="2141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051" y="3622923"/>
            <a:ext cx="2141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持续涌现新信息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8051" y="3873698"/>
            <a:ext cx="214196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项目推进中不断出现需要重新判断的新证据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8867" y="3077021"/>
            <a:ext cx="2506266" cy="132977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18867" y="3096071"/>
            <a:ext cx="2506266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2018" y="3292822"/>
            <a:ext cx="2141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2018" y="3622923"/>
            <a:ext cx="2141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多块独立并行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2018" y="3873698"/>
            <a:ext cx="214196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可拆分为多个互不阻塞的并行子任务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02834" y="3077021"/>
            <a:ext cx="2506266" cy="132977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02834" y="3096071"/>
            <a:ext cx="2506266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5984" y="3292822"/>
            <a:ext cx="2141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05984" y="3622923"/>
            <a:ext cx="2141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多环境验证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05984" y="3873698"/>
            <a:ext cx="214196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需要多个不同环境（远程 + 本地）的验证证据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11269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范式升级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81652" y="506313"/>
            <a:ext cx="537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1247626"/>
            <a:ext cx="80316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0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 SHIFT · 范式升级本质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34901" y="1657201"/>
            <a:ext cx="8031682" cy="14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8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核心不是工具技巧，而是 </a:t>
            </a:r>
            <a:pPr algn="l" indent="0" marL="0">
              <a:lnSpc>
                <a:spcPts val="3780"/>
              </a:lnSpc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时代的新型项目管理</a:t>
            </a:r>
            <a:pPr algn="l" indent="0" marL="0">
              <a:lnSpc>
                <a:spcPts val="3780"/>
              </a:lnSpc>
              <a:buNone/>
            </a:pPr>
            <a:r>
              <a:rPr lang="en-US" sz="28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——开发者从执行者，转变为带领 AI 团队的技术负责人。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34901" y="3554313"/>
            <a:ext cx="3540323" cy="1546027"/>
          </a:xfrm>
          <a:prstGeom prst="rect">
            <a:avLst/>
          </a:prstGeom>
          <a:noFill/>
          <a:ln w="9525">
            <a:solidFill>
              <a:srgbClr val="B0AE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7576" y="3766989"/>
            <a:ext cx="31772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· 过去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7576" y="4030414"/>
            <a:ext cx="317727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亲自写代码的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7576" y="4678114"/>
            <a:ext cx="31772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6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自己完成所有实现，AI 是辅助工具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29125" y="4151114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987826" y="3554313"/>
            <a:ext cx="3521273" cy="1546027"/>
          </a:xfrm>
          <a:prstGeom prst="rect">
            <a:avLst/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90976" y="3757464"/>
            <a:ext cx="31772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· 现在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90976" y="4020889"/>
            <a:ext cx="317727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带领 AI 团队的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技术负责人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90976" y="4668589"/>
            <a:ext cx="31772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定目标 · 拆里程碑 · 委派 · 验收 · 控全局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82501"/>
            <a:ext cx="12953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底层三要素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81652" y="506313"/>
            <a:ext cx="537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1120527"/>
            <a:ext cx="80316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PILLARS · 三个朴素原则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34901" y="1453902"/>
            <a:ext cx="8031682" cy="33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真正支撑长周期任务不翻车的，</a:t>
            </a:r>
            <a:pPr algn="l" indent="0" marL="0">
              <a:lnSpc>
                <a:spcPts val="2610"/>
              </a:lnSpc>
              <a:buNone/>
            </a:pPr>
            <a:r>
              <a:rPr lang="en-US" sz="1800" b="1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并非更强的模型能力</a:t>
            </a:r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，而是三个朴素原则。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4901" y="2115443"/>
            <a:ext cx="2489299" cy="302805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2144018"/>
            <a:ext cx="2489299" cy="0"/>
          </a:xfrm>
          <a:prstGeom prst="line">
            <a:avLst/>
          </a:prstGeom>
          <a:noFill/>
          <a:ln w="5715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051" y="2401193"/>
            <a:ext cx="21246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38051" y="2964954"/>
            <a:ext cx="212465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持久锚点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8051" y="3264396"/>
            <a:ext cx="21246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持久 Goal 与 GOALS.md 为 AI 提供不会漂移的锚点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8051" y="3796159"/>
            <a:ext cx="2082998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051" y="3902422"/>
            <a:ext cx="2124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ANTI-DRIFT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27350" y="2115443"/>
            <a:ext cx="2489299" cy="302805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327350" y="2144018"/>
            <a:ext cx="2489299" cy="0"/>
          </a:xfrm>
          <a:prstGeom prst="line">
            <a:avLst/>
          </a:prstGeom>
          <a:noFill/>
          <a:ln w="57150">
            <a:solidFill>
              <a:srgbClr val="D97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0501" y="2401193"/>
            <a:ext cx="21246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530501" y="2964954"/>
            <a:ext cx="212465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多层验收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30501" y="3264396"/>
            <a:ext cx="21246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里程碑审计与 /review 为项目设置多层验收关卡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30501" y="3796159"/>
            <a:ext cx="2082998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0501" y="3902422"/>
            <a:ext cx="2124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19800" y="2115443"/>
            <a:ext cx="2489299" cy="302805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19800" y="2144018"/>
            <a:ext cx="2489299" cy="0"/>
          </a:xfrm>
          <a:prstGeom prst="line">
            <a:avLst/>
          </a:prstGeom>
          <a:noFill/>
          <a:ln w="57150">
            <a:solidFill>
              <a:srgbClr val="D97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2950" y="2401193"/>
            <a:ext cx="21246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222950" y="2964954"/>
            <a:ext cx="212465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状态外置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22950" y="3264396"/>
            <a:ext cx="21246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简报与仪表盘将项目状态外置，避免信息仅存于线程上下文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22950" y="3796159"/>
            <a:ext cx="2082998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2950" y="3902422"/>
            <a:ext cx="21246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EXTERNALIZED STATE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9038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14251" y="482501"/>
            <a:ext cx="1924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·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86352" y="487263"/>
            <a:ext cx="10432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· 15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34901" y="973931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核心逻辑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1402556"/>
            <a:ext cx="8031682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模型负责发挥智能能力，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开发者的核心作用是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引导这份智能始终锚定同一目标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，沿着验证证据的路径稳步推进。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34901" y="2794248"/>
            <a:ext cx="762000" cy="38100"/>
          </a:xfrm>
          <a:prstGeom prst="rect">
            <a:avLst/>
          </a:prstGeom>
          <a:solidFill>
            <a:srgbClr val="1414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4901" y="3010049"/>
            <a:ext cx="7874198" cy="116577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58713" y="3010049"/>
            <a:ext cx="0" cy="1165771"/>
          </a:xfrm>
          <a:prstGeom prst="line">
            <a:avLst/>
          </a:prstGeom>
          <a:noFill/>
          <a:ln w="47625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5676" y="3162449"/>
            <a:ext cx="75686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· 相关参考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5676" y="3400574"/>
            <a:ext cx="7568678" cy="169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原文推文 ·</a:t>
            </a:r>
            <a:pPr algn="l" indent="0" marL="0">
              <a:lnSpc>
                <a:spcPts val="133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x.com/gabrielchua/status/2074505300766568563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85676" y="3608189"/>
            <a:ext cx="7568678" cy="169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作者主页 ·</a:t>
            </a:r>
            <a:pPr algn="l" indent="0" marL="0">
              <a:lnSpc>
                <a:spcPts val="133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x.com/gabrielchua（OpenAI Codex DX Engineer）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85676" y="3815804"/>
            <a:ext cx="7568678" cy="169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开源仓库 ·</a:t>
            </a:r>
            <a:pPr algn="l" indent="0" marL="0">
              <a:lnSpc>
                <a:spcPts val="1330"/>
              </a:lnSpc>
              <a:spcAft>
                <a:spcPts val="300"/>
              </a:spcAft>
              <a:buNone/>
            </a:pPr>
            <a:r>
              <a:rPr lang="en-US" sz="95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github.com/openai/codex（harness / Goal mode）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4901" y="4511725"/>
            <a:ext cx="55061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Chua 个人实践 · 非 OpenAI 官方定论 · 核心骨架可迁移至所有长任务工具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15684" y="4540300"/>
            <a:ext cx="9112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 Codex 长周期大项目不跑偏</dc:title>
  <dc:subject>OpenAI 工程师分享的 5 个 AI 协作习惯深度解析</dc:subject>
  <dc:creator>ZCode</dc:creator>
  <cp:lastModifiedBy>ZCode</cp:lastModifiedBy>
  <cp:revision>1</cp:revision>
  <dcterms:created xsi:type="dcterms:W3CDTF">2026-07-18T13:47:12Z</dcterms:created>
  <dcterms:modified xsi:type="dcterms:W3CDTF">2026-07-18T13:47:12Z</dcterms:modified>
</cp:coreProperties>
</file>
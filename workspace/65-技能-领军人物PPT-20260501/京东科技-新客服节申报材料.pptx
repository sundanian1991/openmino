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47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0697" y="1071414"/>
            <a:ext cx="21624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spcAft>
                <a:spcPts val="1800"/>
              </a:spcAft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2026年度"新客服节"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06624" y="2042964"/>
            <a:ext cx="3730752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spcBef>
                <a:spcPts val="3600"/>
              </a:spcBef>
              <a:spcAft>
                <a:spcPts val="1200"/>
              </a:spcAft>
              <a:buNone/>
            </a:pPr>
            <a:r>
              <a:rPr lang="en-US" sz="3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新客服</a:t>
            </a:r>
            <a:r>
              <a:rPr lang="en-US" sz="3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</a:t>
            </a:r>
            <a:r>
              <a:rPr lang="en-US" sz="3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312933" y="2967335"/>
            <a:ext cx="25179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36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服务营销最佳实践奖 · 申报材料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65424" y="3849886"/>
            <a:ext cx="18130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京东科技股份有限公司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0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600" y="1191816"/>
            <a:ext cx="79248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507802"/>
            <a:ext cx="80832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企业介绍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600" y="1586954"/>
            <a:ext cx="282903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京东科技股份有限公司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600" y="2066330"/>
            <a:ext cx="28290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技术为本，让生活更美好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9600" y="2374255"/>
            <a:ext cx="2829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成为全球最值得信赖的企业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2628156"/>
            <a:ext cx="2829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客户为先 · 创新 · 拼搏 · 担当 · 感恩 · 诚信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37062" y="1460004"/>
            <a:ext cx="673557" cy="21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主营业务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373612" y="1485454"/>
            <a:ext cx="36141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信息技术咨询服务、云计算、人工智能应用、软件开发、数据处理服务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37062" y="1799779"/>
            <a:ext cx="4897338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37062" y="1936254"/>
            <a:ext cx="673557" cy="21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从事行业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373612" y="1961704"/>
            <a:ext cx="10299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金融科技 / 科技服务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37062" y="2276029"/>
            <a:ext cx="4897338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37062" y="2412504"/>
            <a:ext cx="673557" cy="21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企业地址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373612" y="2437954"/>
            <a:ext cx="3018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北京市北京经济技术开发区科创十一街18号院2号楼6层601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37062" y="2752279"/>
            <a:ext cx="4897338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37062" y="2888754"/>
            <a:ext cx="673557" cy="18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客服电话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373612" y="2914204"/>
            <a:ext cx="726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400-098-8505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37062" y="3199954"/>
            <a:ext cx="4897338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37062" y="3336429"/>
            <a:ext cx="673557" cy="18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企业总机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373612" y="3361879"/>
            <a:ext cx="726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400-098-8505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37062" y="3647629"/>
            <a:ext cx="4897338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37062" y="3784104"/>
            <a:ext cx="673557" cy="21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服务价值观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373612" y="3809554"/>
            <a:ext cx="22151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客户为先、创新、拼搏、担当、感恩、诚信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71094" y="296763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0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600" y="1191816"/>
            <a:ext cx="79248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507802"/>
            <a:ext cx="80832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呼叫中心现况简介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5216" y="1815554"/>
            <a:ext cx="248716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85216" y="2526655"/>
            <a:ext cx="24871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团队总人数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28416" y="1815554"/>
            <a:ext cx="248716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328416" y="2526655"/>
            <a:ext cx="24871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合作供应商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71616" y="1815554"/>
            <a:ext cx="248716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71616" y="2526655"/>
            <a:ext cx="24871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电销渠道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3056781"/>
            <a:ext cx="7924800" cy="190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4231035"/>
            <a:ext cx="7924800" cy="5429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6550" y="4421535"/>
            <a:ext cx="78243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服务渠道：电销渠道（100%） — 主要负责金融营销电销外呼业务，涵盖拉新、复购等全流程服务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53277" y="372963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0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600" y="1191816"/>
            <a:ext cx="79248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507802"/>
            <a:ext cx="80832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呼叫中心组织架构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352800" y="1409254"/>
            <a:ext cx="2438251" cy="888504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35631" y="1650355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1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数据科技业务部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35631" y="1951881"/>
            <a:ext cx="2072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二级部门 · 金融科技事业群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59350" y="2399258"/>
            <a:ext cx="25301" cy="101501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62299" y="2500759"/>
            <a:ext cx="2457301" cy="90755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54655" y="2751386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1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策略运营组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54655" y="3052911"/>
            <a:ext cx="2072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策略制定 · 数据分析 · 业务规划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24400" y="2500759"/>
            <a:ext cx="2457301" cy="907554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16756" y="2751386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1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电销服务组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6756" y="3052911"/>
            <a:ext cx="2072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供应商管理 · 质检培训 · 运营保障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9350" y="3459063"/>
            <a:ext cx="25301" cy="101501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323" y="3560564"/>
            <a:ext cx="2457301" cy="90755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3679" y="3811191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1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业务管理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3679" y="4112716"/>
            <a:ext cx="2072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日常供应商 BPO 沟通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43424" y="3560564"/>
            <a:ext cx="2457301" cy="90755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35780" y="3811191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1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质检培训运营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35780" y="4112716"/>
            <a:ext cx="2072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合规管控 · 赋能培训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05525" y="3560564"/>
            <a:ext cx="2457301" cy="90755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97881" y="3811191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1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前台运营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97881" y="4112716"/>
            <a:ext cx="2072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2900+ 坐席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07965" y="225121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58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292001"/>
            <a:ext cx="15667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客服转型背景与战略目标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9600" y="1522214"/>
            <a:ext cx="79248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736550"/>
            <a:ext cx="80832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客服转型背景与战略目标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1765102"/>
            <a:ext cx="3232249" cy="267429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2133302"/>
            <a:ext cx="267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00"/>
              </a:spcBef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行业挑战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01503"/>
            <a:ext cx="267510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市场竞争加剧，获客成本持续上升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64644"/>
            <a:ext cx="267510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传统电销模式效率低下，精准度不足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227784"/>
            <a:ext cx="267510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金融合规要求持续收紧，事后检查成本高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590925"/>
            <a:ext cx="267510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客户体验期望升级，需要更个性化的服务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75100" y="2897386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264051" y="1765102"/>
            <a:ext cx="3270349" cy="2674293"/>
          </a:xfrm>
          <a:prstGeom prst="rect">
            <a:avLst/>
          </a:prstGeom>
          <a:noFill/>
          <a:ln w="19050">
            <a:solidFill>
              <a:srgbClr val="E223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87901" y="2152352"/>
            <a:ext cx="267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00"/>
              </a:spcBef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战略目标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87901" y="2520553"/>
            <a:ext cx="2675102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客服价值化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从成本中心转为利润贡献部门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87901" y="3107234"/>
            <a:ext cx="2675102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数字智能化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 赋能全流程，人机协同提效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87901" y="3693914"/>
            <a:ext cx="2675102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服务营销一体化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服务即营销，体验即转化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600" y="4543722"/>
            <a:ext cx="8083296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18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转型驱动因素：我们不是传统意义上的客服部门，而是金融营销的电销部门。核心是通过数据找到有真实需求的客户，通过 AI 辅助坐席进行高效沟通，通过合规管控保障长期健康发展。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80374" y="201745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58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292001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客服转型实施过程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9600" y="1522214"/>
            <a:ext cx="79248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736550"/>
            <a:ext cx="80832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客服转型实施过程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1765102"/>
            <a:ext cx="1828800" cy="329341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774627"/>
            <a:ext cx="180975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6826" y="22476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97582" y="23111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7677" y="2282577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数据驱动识别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6826" y="2771477"/>
            <a:ext cx="14834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6826" y="3028652"/>
            <a:ext cx="14834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从海量数据中准确识别有真实需求的客户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6826" y="3462933"/>
            <a:ext cx="14834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96826" y="3720108"/>
            <a:ext cx="14834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开发AI需求识别模型，实施精准分层运营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6826" y="4154388"/>
            <a:ext cx="14834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6826" y="4411563"/>
            <a:ext cx="148343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客户识别准确度，避免打扰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41550" y="1765102"/>
            <a:ext cx="1828949" cy="329341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51075" y="1774627"/>
            <a:ext cx="1809899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28776" y="22476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29533" y="23111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9627" y="2282577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人机协同外呼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28776" y="2771477"/>
            <a:ext cx="14835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28776" y="3028652"/>
            <a:ext cx="14835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让AI辅助而非替代人工，保持营销温度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28776" y="3462933"/>
            <a:ext cx="14835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28776" y="3720108"/>
            <a:ext cx="14835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智能客户路由、实时话术辅助、情绪监控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28776" y="4154388"/>
            <a:ext cx="14835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828776" y="4411563"/>
            <a:ext cx="14835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人机协同平衡，技术与人性的结合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73650" y="1765102"/>
            <a:ext cx="1828800" cy="329341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83175" y="1774627"/>
            <a:ext cx="180975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60875" y="22476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61632" y="23111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41727" y="2282577"/>
            <a:ext cx="777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AI合规提效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60875" y="2771477"/>
            <a:ext cx="14834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60875" y="3028652"/>
            <a:ext cx="14834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在强化合规的同时不降低营销效率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60875" y="3462933"/>
            <a:ext cx="14834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60875" y="3720108"/>
            <a:ext cx="14834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实时合规监控、智能质检、风险预警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60875" y="4154388"/>
            <a:ext cx="14834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60875" y="4411563"/>
            <a:ext cx="14834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合规与效率平衡，从事后到事中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05600" y="1765102"/>
            <a:ext cx="1828800" cy="329341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715125" y="1774627"/>
            <a:ext cx="180975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92826" y="22476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993582" y="23111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73677" y="2282577"/>
            <a:ext cx="10881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全生命周期运营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92826" y="2771477"/>
            <a:ext cx="14834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92826" y="3028652"/>
            <a:ext cx="14834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覆盖新客获取到复购激活的完整链路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92826" y="3462933"/>
            <a:ext cx="14834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92826" y="3720108"/>
            <a:ext cx="14834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新客转化、复购激活、流失预警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92826" y="4154388"/>
            <a:ext cx="14834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92826" y="4411563"/>
            <a:ext cx="14834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数据整合，构建统一客户画像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31819" y="292001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58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292001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客服转型具体成果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9600" y="1039713"/>
            <a:ext cx="79248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581414"/>
            <a:ext cx="80832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客服转型具体成果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499" y="1460153"/>
            <a:ext cx="259100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499" y="1968103"/>
            <a:ext cx="2591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接通率提升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76499" y="1460153"/>
            <a:ext cx="259100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76499" y="1968103"/>
            <a:ext cx="2591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转化率提升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499" y="1460153"/>
            <a:ext cx="259100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499" y="1968103"/>
            <a:ext cx="2591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人均效率提升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9499" y="2644080"/>
            <a:ext cx="259100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9499" y="3152031"/>
            <a:ext cx="2591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合规率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76499" y="2644080"/>
            <a:ext cx="259100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76499" y="3152031"/>
            <a:ext cx="2591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质检效率提升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499" y="2644080"/>
            <a:ext cx="259100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-67%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499" y="3152031"/>
            <a:ext cx="2591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新人上手时间缩短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9600" y="3574107"/>
            <a:ext cx="2556867" cy="9779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6550" y="3802559"/>
            <a:ext cx="23490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客服价值化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6550" y="4085034"/>
            <a:ext cx="234902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从成本中心转为利润贡献，年度GMV（放款额）2000亿+，团队规模行业领先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93418" y="3574107"/>
            <a:ext cx="2557016" cy="9779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20368" y="3802559"/>
            <a:ext cx="2349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数字智能化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0368" y="4085034"/>
            <a:ext cx="234917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AI需求识别模型+实时话术辅助+智能质检，100%通话覆盖，合规风险降低60%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77384" y="3574107"/>
            <a:ext cx="2557016" cy="9779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04334" y="3802559"/>
            <a:ext cx="2349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服务营销一体化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04334" y="4085034"/>
            <a:ext cx="234917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精准触达+全生命周期运营，新客获取效率+28%，客户复购率+30%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27638" y="288670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58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292001"/>
            <a:ext cx="1281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客服转型的成功关键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9600" y="896838"/>
            <a:ext cx="79248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570163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客服转型的成功关键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" y="1165027"/>
            <a:ext cx="258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90451" y="1139726"/>
            <a:ext cx="18643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数据驱动决策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0451" y="1415951"/>
            <a:ext cx="186431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用数据模型识别真实需求，避免盲目外销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9600" y="1865263"/>
            <a:ext cx="258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0451" y="1839962"/>
            <a:ext cx="22427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人机协同而非替代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0451" y="2116187"/>
            <a:ext cx="224276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AI是坐席的"超级助手"，保持营销的温度和信任感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9600" y="2565499"/>
            <a:ext cx="258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0451" y="2540198"/>
            <a:ext cx="26470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合规前置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90451" y="2816423"/>
            <a:ext cx="264701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从事后检查转向事中预警，合规率100%且不影响营销效率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9600" y="3265736"/>
            <a:ext cx="258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0451" y="3240435"/>
            <a:ext cx="23821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全链路数据闭环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90451" y="3516660"/>
            <a:ext cx="238211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每通电话数据沉淀回客户画像，持续优化模型和话术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9600" y="3965972"/>
            <a:ext cx="258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90451" y="3940671"/>
            <a:ext cx="21434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供应商生态管理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0451" y="4216896"/>
            <a:ext cx="214348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35家供应商统一管理，标准化流程+差异化考核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9600" y="4564707"/>
            <a:ext cx="7924800" cy="428327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1101" y="4716959"/>
            <a:ext cx="78762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对其他呼叫中心的启发：转型不是一蹴而就的技术升级，而是从战略、组织、技术到执行的系统性变革。关键在于找到"数据+AI+人"的最佳平衡点。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226031" y="294560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58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292001"/>
            <a:ext cx="1281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组织变革与人才培养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9600" y="1052364"/>
            <a:ext cx="79248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581695"/>
            <a:ext cx="80832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组织变革与人才培养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1193602"/>
            <a:ext cx="3810000" cy="631627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1409402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组织变革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" y="2079129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定位升级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2387054"/>
            <a:ext cx="38862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从"客服中心"转为"数据驱动的服务营销中枢"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9600" y="2849017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架构调整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600" y="3156942"/>
            <a:ext cx="38862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策略组与服务组分工明确，业务管理与质检培训运营双线支撑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9600" y="3618905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供应商生态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9600" y="3926830"/>
            <a:ext cx="38862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35家供应商统一管理，标准化准入、考核与清退机制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24400" y="1193602"/>
            <a:ext cx="3810000" cy="631627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6800" y="1409402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人才培养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24400" y="2079129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AI辅助降低门槛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24400" y="2387054"/>
            <a:ext cx="38862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AI话术推荐让新人上手时间缩短67%，从传统电销向智能营销转型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24400" y="2849017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复合型能力培养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24400" y="3156942"/>
            <a:ext cx="38862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培养数据理解、客户沟通、合规意识的复合型营销人才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24400" y="3618905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考核机制引导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24400" y="3926830"/>
            <a:ext cx="38862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结果导向+过程管理+客户评价+合规红线，综合评估引导能力成长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27638" y="327795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58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972" y="299059"/>
            <a:ext cx="7122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9600" y="1052364"/>
            <a:ext cx="79248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9125" y="640321"/>
            <a:ext cx="80832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1193602"/>
            <a:ext cx="3898850" cy="141118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203127"/>
            <a:ext cx="50750" cy="1392138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3026" y="1558677"/>
            <a:ext cx="35689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3026" y="1952327"/>
            <a:ext cx="35689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精准识别升级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3026" y="2234803"/>
            <a:ext cx="356892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通过更精准的客户识别模型，提升 ROI，应对获客成本上升挑战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5401" y="1193602"/>
            <a:ext cx="3898999" cy="141118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44926" y="1203127"/>
            <a:ext cx="50750" cy="1392138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98827" y="1558677"/>
            <a:ext cx="3569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8827" y="1952327"/>
            <a:ext cx="35690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合规能力持续强化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8827" y="2234803"/>
            <a:ext cx="356908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应对金融营销合规要求持续收紧，建立更完善的合规预警和培训体系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9600" y="2731740"/>
            <a:ext cx="3898850" cy="1590824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2741265"/>
            <a:ext cx="50750" cy="1571774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73026" y="3096816"/>
            <a:ext cx="35689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3026" y="3490466"/>
            <a:ext cx="35689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技术持续迭代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3026" y="3772942"/>
            <a:ext cx="356892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跟进 AI、大数据等新技术，持续优化人机协同效率和营销效果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5401" y="2731740"/>
            <a:ext cx="3898999" cy="1590824"/>
          </a:xfrm>
          <a:prstGeom prst="rect">
            <a:avLst/>
          </a:prstGeom>
          <a:solidFill>
            <a:srgbClr val="E2231A"/>
          </a:solidFill>
          <a:ln w="9525">
            <a:solidFill>
              <a:srgbClr val="E223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44926" y="2741265"/>
            <a:ext cx="50750" cy="1571774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98827" y="3096816"/>
            <a:ext cx="35690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98827" y="3538091"/>
            <a:ext cx="35690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确保转型持续成功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8827" y="3820567"/>
            <a:ext cx="35690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保持对技术和市场的敏感度，不断优化数据模型、强化合规管控、提升团队能力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7163" y="299059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73450" y="1827312"/>
            <a:ext cx="305704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800"/>
              </a:spcBef>
              <a:spcAft>
                <a:spcPts val="1800"/>
              </a:spcAft>
              <a:buNone/>
            </a:pPr>
            <a:r>
              <a:rPr lang="en-US" sz="4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267200" y="2760762"/>
            <a:ext cx="609600" cy="25301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83198" y="3166914"/>
            <a:ext cx="18130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京东科技股份有限公司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22005" y="3617714"/>
            <a:ext cx="23458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2026年度新客服节 · 服务营销最佳实践奖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500</Words>
  <Application>Microsoft Macintosh PowerPoint</Application>
  <PresentationFormat>全屏显示(16:9)</PresentationFormat>
  <Paragraphs>198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2026年度新客服节 新客服最佳实践奖</dc:title>
  <dc:subject>PptxGenJS Presentation</dc:subject>
  <dc:creator>京东科技</dc:creator>
  <cp:lastModifiedBy>sundanian</cp:lastModifiedBy>
  <cp:revision>2</cp:revision>
  <dcterms:created xsi:type="dcterms:W3CDTF">2026-05-01T03:00:02Z</dcterms:created>
  <dcterms:modified xsi:type="dcterms:W3CDTF">2026-05-06T05:40:32Z</dcterms:modified>
</cp:coreProperties>
</file>
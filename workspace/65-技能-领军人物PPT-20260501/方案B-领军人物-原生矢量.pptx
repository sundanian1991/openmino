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24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各位评委老师好，我是京东科技股份有限公司的代表。</a:t>
            </a:r>
          </a:p>
          <a:p>
            <a:r>
              <a:rPr lang="zh-CN" dirty="0"/>
              <a:t>今天非常荣幸向大家汇报我们在新客服服务营销领域的实践成果。</a:t>
            </a:r>
          </a:p>
          <a:p>
            <a:r>
              <a:rPr lang="zh-CN" dirty="0"/>
              <a:t>我们将从九个维度，系统呈现京东科技数据科技业务部的服务营销一体化实践。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本次汇报分为九个部分：</a:t>
            </a:r>
          </a:p>
          <a:p>
            <a:r>
              <a:rPr lang="zh-CN" dirty="0"/>
              <a:t>从企业概况、组织现状开始，重点讲述客服转型的驱动因素、实施过程、具体成果，</a:t>
            </a:r>
          </a:p>
          <a:p>
            <a:r>
              <a:rPr lang="zh-CN" dirty="0"/>
              <a:t>以及成功关键、人才培养和未来规划。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京东科技是一家专注于金融科技与科技服务的企业，成立于2018年。</a:t>
            </a:r>
          </a:p>
          <a:p>
            <a:r>
              <a:rPr lang="zh-CN" dirty="0"/>
              <a:t>我们的使命是"技术为本，让生活更美好"，愿景是成为全球最值得信赖的企业。</a:t>
            </a:r>
          </a:p>
          <a:p>
            <a:r>
              <a:rPr lang="zh-CN" dirty="0"/>
              <a:t>主营业务涵盖信息技术咨询、云计算、AI应用、软件开发与数据处理。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目前，我们拥有3000多人的专业团队，合作供应商35家，100%电销渠道覆盖，年度GMV超过2000亿元。</a:t>
            </a:r>
          </a:p>
          <a:p>
            <a:r>
              <a:rPr lang="zh-CN" dirty="0"/>
              <a:t>团队构成以前台人员为主，占比超过90%，学历结构以本科和大专为主。</a:t>
            </a:r>
          </a:p>
          <a:p>
            <a:r>
              <a:rPr lang="zh-CN" dirty="0"/>
              <a:t>我们的核心业务是金融营销电销外呼，涵盖拉新和复购全流程。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组织架构上，我们隶属于京东科技金融科技事业群，数据科技业务部为二级部门。</a:t>
            </a:r>
          </a:p>
          <a:p>
            <a:r>
              <a:rPr lang="zh-CN" dirty="0"/>
              <a:t>下设策略组和服务组两条线：策略组负责</a:t>
            </a:r>
            <a:r>
              <a:rPr lang="zh-CN" altLang="en-US" dirty="0"/>
              <a:t>策略名单筛选、外呼平台建设</a:t>
            </a:r>
            <a:r>
              <a:rPr lang="zh-CN" dirty="0"/>
              <a:t>，</a:t>
            </a:r>
          </a:p>
          <a:p>
            <a:r>
              <a:rPr lang="zh-CN" dirty="0"/>
              <a:t>服务组负责供应商全量管理，包括合规、准入、清退和分工。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在转型过程中，我们面临五大挑战：客户识别准确度、人机协同平衡、合规与效率平衡、</a:t>
            </a:r>
          </a:p>
          <a:p>
            <a:r>
              <a:rPr lang="zh-CN" dirty="0"/>
              <a:t>数据整合难度和能力转型挑战。</a:t>
            </a:r>
          </a:p>
          <a:p>
            <a:r>
              <a:rPr lang="zh-CN" dirty="0"/>
              <a:t>对应地，我们确立了五大战略目标：提升营销效率、强化合规管控、改善客户体验、</a:t>
            </a:r>
          </a:p>
          <a:p>
            <a:r>
              <a:rPr lang="zh-CN" dirty="0"/>
              <a:t>驱动业务增长和培养团队能力。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我们的实施过程分为四个阶段：</a:t>
            </a:r>
          </a:p>
          <a:p>
            <a:r>
              <a:rPr lang="zh-CN" dirty="0"/>
              <a:t>第一阶段是数据赋能客户识别，通过AI模型精准分层运营；</a:t>
            </a:r>
          </a:p>
          <a:p>
            <a:r>
              <a:rPr lang="zh-CN" dirty="0"/>
              <a:t>第二阶段是人机协同智能外呼，实现智能路由和实时话术辅助；</a:t>
            </a:r>
          </a:p>
          <a:p>
            <a:r>
              <a:rPr lang="zh-CN" dirty="0"/>
              <a:t>第三阶段是AI赋能合规提效，实现100%智能质检覆盖；</a:t>
            </a:r>
          </a:p>
          <a:p>
            <a:r>
              <a:rPr lang="zh-CN" dirty="0"/>
              <a:t>第四阶段是AI赋能精准营销，形成数据闭环。</a:t>
            </a:r>
          </a:p>
          <a:p>
            <a:r>
              <a:rPr lang="zh-CN" dirty="0"/>
              <a:t>同时覆盖新客获取到流失预警的全生命周期运营。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转型成果体现在六个核心指标：接通率提升35%，首拨转化提升28%，人均效率提升40%，</a:t>
            </a:r>
          </a:p>
          <a:p>
            <a:r>
              <a:rPr lang="zh-CN" dirty="0"/>
              <a:t>新人上手时间缩短67%，质检效率提升300%，合规率保持100%。</a:t>
            </a:r>
          </a:p>
          <a:p>
            <a:r>
              <a:rPr lang="zh-CN" dirty="0"/>
              <a:t>四大维度：客户识别、人机协同、合规提效和规模领先，均取得显著突破。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成功的关键在于五个方面：精准客户识别、人机协同模式、合规效率平衡、</a:t>
            </a:r>
          </a:p>
          <a:p>
            <a:r>
              <a:rPr lang="zh-CN" dirty="0"/>
              <a:t>数据闭环驱动和全生命周期运营。</a:t>
            </a:r>
          </a:p>
          <a:p>
            <a:r>
              <a:rPr lang="zh-CN" dirty="0"/>
              <a:t>每个维度都是战略选择与执行力的有机结合。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组织变革方面，我们从传统电销向数据驱动的智能营销转型，建立双线协作机制。</a:t>
            </a:r>
          </a:p>
          <a:p>
            <a:r>
              <a:rPr lang="zh-CN" dirty="0"/>
              <a:t>人才培养方面，AI辅助将新人上手时间缩短67%，我们培养复合型营销人才，</a:t>
            </a:r>
          </a:p>
          <a:p>
            <a:r>
              <a:rPr lang="zh-CN" dirty="0"/>
              <a:t>将合规意识贯穿日常形成自律文化。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面对未来，我们有三大挑战需要应对：获客成本上升、合规要求趋严和技术迭代压力。</a:t>
            </a:r>
          </a:p>
          <a:p>
            <a:r>
              <a:rPr lang="zh-CN" dirty="0"/>
              <a:t>我们的核心目标始终不变：成为全球最值得信赖的企业。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感谢各位评委老师的聆听。</a:t>
            </a:r>
          </a:p>
          <a:p>
            <a:r>
              <a:rPr lang="zh-CN" dirty="0"/>
              <a:t>我们期待与更多行业同仁交流，共同推动客服行业的数字化转型。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" y="0"/>
            <a:ext cx="1905000" cy="4762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327350" y="2229802"/>
            <a:ext cx="5537299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2026年度"新客服节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89458" y="3048952"/>
            <a:ext cx="541308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新客服最佳实践奖"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3619500"/>
            <a:ext cx="1524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95800" y="3901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服务营销最佳实践申报材料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9887" y="439388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京东科技股份有限公司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6830" y="4918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技术为本，让生活更美好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8507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733550" y="1304925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34913" y="1426845"/>
            <a:ext cx="140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90750" y="13620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企业概况</a:t>
            </a:r>
          </a:p>
        </p:txBody>
      </p:sp>
      <p:sp>
        <p:nvSpPr>
          <p:cNvPr id="11" name="Ellipse 11"/>
          <p:cNvSpPr/>
          <p:nvPr/>
        </p:nvSpPr>
        <p:spPr>
          <a:xfrm>
            <a:off x="1733550" y="1828800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17661" y="1950720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90750" y="1885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呼叫中心现况</a:t>
            </a:r>
          </a:p>
        </p:txBody>
      </p:sp>
      <p:sp>
        <p:nvSpPr>
          <p:cNvPr id="14" name="Ellipse 14"/>
          <p:cNvSpPr/>
          <p:nvPr/>
        </p:nvSpPr>
        <p:spPr>
          <a:xfrm>
            <a:off x="1733550" y="2352675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17661" y="24745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90750" y="24098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组织架构</a:t>
            </a:r>
          </a:p>
        </p:txBody>
      </p:sp>
      <p:sp>
        <p:nvSpPr>
          <p:cNvPr id="17" name="Ellipse 17"/>
          <p:cNvSpPr/>
          <p:nvPr/>
        </p:nvSpPr>
        <p:spPr>
          <a:xfrm>
            <a:off x="1733550" y="2876550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817661" y="2998470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90750" y="2933700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转型背景与战略目标</a:t>
            </a:r>
          </a:p>
        </p:txBody>
      </p:sp>
      <p:sp>
        <p:nvSpPr>
          <p:cNvPr id="20" name="Ellipse 20"/>
          <p:cNvSpPr/>
          <p:nvPr/>
        </p:nvSpPr>
        <p:spPr>
          <a:xfrm>
            <a:off x="1733550" y="3400425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817661" y="352234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0750" y="34575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转型实施过程</a:t>
            </a:r>
          </a:p>
        </p:txBody>
      </p:sp>
      <p:sp>
        <p:nvSpPr>
          <p:cNvPr id="23" name="Ellipse 23"/>
          <p:cNvSpPr/>
          <p:nvPr/>
        </p:nvSpPr>
        <p:spPr>
          <a:xfrm>
            <a:off x="6496050" y="1304925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80161" y="142684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53250" y="13620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转型具体成果</a:t>
            </a:r>
          </a:p>
        </p:txBody>
      </p:sp>
      <p:sp>
        <p:nvSpPr>
          <p:cNvPr id="26" name="Ellipse 26"/>
          <p:cNvSpPr/>
          <p:nvPr/>
        </p:nvSpPr>
        <p:spPr>
          <a:xfrm>
            <a:off x="6496050" y="1828800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80161" y="1950720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53250" y="1885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成功关键因素</a:t>
            </a:r>
          </a:p>
        </p:txBody>
      </p:sp>
      <p:sp>
        <p:nvSpPr>
          <p:cNvPr id="29" name="Ellipse 29"/>
          <p:cNvSpPr/>
          <p:nvPr/>
        </p:nvSpPr>
        <p:spPr>
          <a:xfrm>
            <a:off x="6496050" y="2352675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80161" y="24745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53250" y="24098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组织变革与人才培养</a:t>
            </a:r>
          </a:p>
        </p:txBody>
      </p:sp>
      <p:sp>
        <p:nvSpPr>
          <p:cNvPr id="32" name="Ellipse 32"/>
          <p:cNvSpPr/>
          <p:nvPr/>
        </p:nvSpPr>
        <p:spPr>
          <a:xfrm>
            <a:off x="6496050" y="2876550"/>
            <a:ext cx="342900" cy="3429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80161" y="2998470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53250" y="2933700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下一步计划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企业概况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286000" y="1238250"/>
            <a:ext cx="7620000" cy="381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57612" y="1866900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京东科技股份有限公司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524500" y="2428875"/>
            <a:ext cx="1143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872038" y="26955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技术为本，让生活更美好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06503" y="3019425"/>
            <a:ext cx="33789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金融科技 / 科技服务 · 始于2018年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67125" y="33432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主营业务：信息技术咨询服务、技术服务、云计算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05275" y="36671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人工智能应用、软件开发、数据处理服务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326605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1、呼叫中心现况简介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91446" y="1390650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3000+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839" y="191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团队规模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2114" y="217265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人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457575" y="11430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27040" y="1390650"/>
            <a:ext cx="104232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35家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56926" y="191833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供应商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8189" y="217265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343650" y="11430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47619" y="1390650"/>
            <a:ext cx="97331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50989" y="191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电销渠道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7588" y="2172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占比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229725" y="11430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519642" y="1390650"/>
            <a:ext cx="180141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2000亿+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0866" y="1918335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年度GMV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76986" y="2172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放款额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2450" y="3076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人员结构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333750"/>
            <a:ext cx="47625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4355" y="3521392"/>
            <a:ext cx="64225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前台人员：2900+（本科60% / 大专40%） 中台人员：100+ 后台人员：50+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55" y="3807142"/>
            <a:ext cx="7605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服务渠道：电销渠道 100% — 主要负责金融营销电销外呼业务，涵盖拉新、复购等全流程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33523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2、呼叫中心组织架构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42158" y="1076325"/>
            <a:ext cx="47076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京东科技 — 金融科技事业群 — 数据科技业务部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0" y="1381125"/>
            <a:ext cx="1524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191000" y="171450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E2231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733187" y="1883092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数据科技业务部（二级部门）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76950" y="2190750"/>
            <a:ext cx="38100" cy="38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238500" y="2571750"/>
            <a:ext cx="571500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667000" y="2571750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1A1A1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863316" y="27403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策略组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477000" y="2571750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1A1A1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673316" y="27403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服务组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71950" y="3048000"/>
            <a:ext cx="38100" cy="2857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981950" y="3048000"/>
            <a:ext cx="38100" cy="2857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667000" y="3333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842260" y="3489960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策略名单筛选</a:t>
            </a:r>
            <a:endParaRPr lang="zh-CN" sz="1200" dirty="0">
              <a:solidFill>
                <a:srgbClr val="1A1A1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842260" y="3756660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外呼平台建设</a:t>
            </a:r>
            <a:endParaRPr lang="zh-CN" sz="1200" dirty="0">
              <a:solidFill>
                <a:srgbClr val="1A1A1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477000" y="3333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52260" y="3489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主责：供应商全量管理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2260" y="3756660"/>
            <a:ext cx="20372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 / 准入 / 清退 / 分工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90687" y="5030152"/>
            <a:ext cx="50106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团队规模：前台2900+ / 中台100+ / 后台50+，总计3000+人，供应商35家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58828E01-9E9D-0971-5920-C94583B77FB7}"/>
              </a:ext>
            </a:extLst>
          </p:cNvPr>
          <p:cNvSpPr txBox="1"/>
          <p:nvPr/>
        </p:nvSpPr>
        <p:spPr>
          <a:xfrm>
            <a:off x="6652260" y="4050982"/>
            <a:ext cx="22299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质检培训运营（合规+赋能）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DC1520E5-87B8-4F8C-353C-223E30A66DE2}"/>
              </a:ext>
            </a:extLst>
          </p:cNvPr>
          <p:cNvSpPr txBox="1"/>
          <p:nvPr/>
        </p:nvSpPr>
        <p:spPr>
          <a:xfrm>
            <a:off x="6652260" y="4291488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业务管理（BPO沟通）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576761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3、呼叫中心客服转型背景与战略目标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1045" y="1060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面临的挑战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352550"/>
            <a:ext cx="762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81050" y="15430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2510" y="1556385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客户识别准确度：从海量数据中准确识别真实需求</a:t>
            </a:r>
          </a:p>
        </p:txBody>
      </p:sp>
      <p:sp>
        <p:nvSpPr>
          <p:cNvPr id="12" name="Ellipse 12"/>
          <p:cNvSpPr/>
          <p:nvPr/>
        </p:nvSpPr>
        <p:spPr>
          <a:xfrm>
            <a:off x="781050" y="20002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2510" y="2013585"/>
            <a:ext cx="36846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人机协同平衡：AI辅助而非替代，保持营销温度</a:t>
            </a:r>
          </a:p>
        </p:txBody>
      </p:sp>
      <p:sp>
        <p:nvSpPr>
          <p:cNvPr id="14" name="Ellipse 14"/>
          <p:cNvSpPr/>
          <p:nvPr/>
        </p:nvSpPr>
        <p:spPr>
          <a:xfrm>
            <a:off x="781050" y="24574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2510" y="2470785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合规与效率平衡：强化合规同时不降低营销效率</a:t>
            </a:r>
          </a:p>
        </p:txBody>
      </p:sp>
      <p:sp>
        <p:nvSpPr>
          <p:cNvPr id="16" name="Ellipse 16"/>
          <p:cNvSpPr/>
          <p:nvPr/>
        </p:nvSpPr>
        <p:spPr>
          <a:xfrm>
            <a:off x="781050" y="29146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32510" y="2927985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数据整合难度：整合分散系统数据，构建统一画像</a:t>
            </a:r>
          </a:p>
        </p:txBody>
      </p:sp>
      <p:sp>
        <p:nvSpPr>
          <p:cNvPr id="18" name="Ellipse 18"/>
          <p:cNvSpPr/>
          <p:nvPr/>
        </p:nvSpPr>
        <p:spPr>
          <a:xfrm>
            <a:off x="781050" y="33718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32510" y="33851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能力转型挑战：传统电销向智能营销转型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6545" y="1060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战略目标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1352550"/>
            <a:ext cx="762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86550" y="15430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938010" y="1556385"/>
            <a:ext cx="41578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营销效率：精准识别+智能路由，提升接通率与转化率</a:t>
            </a:r>
          </a:p>
        </p:txBody>
      </p:sp>
      <p:sp>
        <p:nvSpPr>
          <p:cNvPr id="24" name="Ellipse 24"/>
          <p:cNvSpPr/>
          <p:nvPr/>
        </p:nvSpPr>
        <p:spPr>
          <a:xfrm>
            <a:off x="6686550" y="20002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938010" y="2013585"/>
            <a:ext cx="37810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合规管控：AI实时监控+智能质检，强化合规管理</a:t>
            </a:r>
          </a:p>
        </p:txBody>
      </p:sp>
      <p:sp>
        <p:nvSpPr>
          <p:cNvPr id="26" name="Ellipse 26"/>
          <p:cNvSpPr/>
          <p:nvPr/>
        </p:nvSpPr>
        <p:spPr>
          <a:xfrm>
            <a:off x="6686550" y="24574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938010" y="2470785"/>
            <a:ext cx="4596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客户体验：AI辅助需求挖掘，让客户"被理解"而非"被推销"</a:t>
            </a:r>
          </a:p>
        </p:txBody>
      </p:sp>
      <p:sp>
        <p:nvSpPr>
          <p:cNvPr id="28" name="Ellipse 28"/>
          <p:cNvSpPr/>
          <p:nvPr/>
        </p:nvSpPr>
        <p:spPr>
          <a:xfrm>
            <a:off x="6686550" y="29146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938010" y="2927985"/>
            <a:ext cx="4482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业务增长：精准触达+全生命周期运营，提升GMV与新客数</a:t>
            </a:r>
          </a:p>
        </p:txBody>
      </p:sp>
      <p:sp>
        <p:nvSpPr>
          <p:cNvPr id="30" name="Ellipse 30"/>
          <p:cNvSpPr/>
          <p:nvPr/>
        </p:nvSpPr>
        <p:spPr>
          <a:xfrm>
            <a:off x="6686550" y="33718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938010" y="3385185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团队能力：AI辅助降低新人门槛，培养复合型人才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0" y="1238250"/>
            <a:ext cx="9525" cy="36195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473248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4、呼叫中心客服转型实施过程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2476500" cy="32385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2476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600200" y="1314450"/>
            <a:ext cx="419100" cy="4191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61551" y="1444942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8553" y="18068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数据赋能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8553" y="2025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客户识别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2497931"/>
            <a:ext cx="12937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AI需求识别模型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7712" y="2878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精准分层运营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7712" y="3259931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差异化触达策略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429000" y="1143000"/>
            <a:ext cx="2476500" cy="32385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3429000" y="1143000"/>
            <a:ext cx="2476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57700" y="1314450"/>
            <a:ext cx="419100" cy="4191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93173" y="14449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6053" y="18068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人机协同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36053" y="2025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智能外呼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05212" y="2497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智能客户路由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05212" y="2878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实时话术辅助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05212" y="3259931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情绪与合规监控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143000"/>
            <a:ext cx="2476500" cy="32385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143000"/>
            <a:ext cx="2476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315200" y="1314450"/>
            <a:ext cx="419100" cy="4191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50673" y="14449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12593" y="1806892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AI赋能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93553" y="2025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合规提效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62712" y="2497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实时合规监控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2712" y="2878931"/>
            <a:ext cx="1474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100%智能质检覆盖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2712" y="3259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风险预警机制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0" y="1143000"/>
            <a:ext cx="2476500" cy="32385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0" y="1143000"/>
            <a:ext cx="2476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0172700" y="1314450"/>
            <a:ext cx="419100" cy="4191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308173" y="14449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70093" y="1806892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AI赋能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51053" y="2025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精准营销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20212" y="2497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深度需求挖掘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20212" y="2878931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个性化产品匹配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20212" y="32599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数据闭环优化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37425" y="4712018"/>
            <a:ext cx="57171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全生命周期运营：新客获取 → 首次转化 → 复购激活 → 流失预警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473248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5、呼叫中心客服转型具体成果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19261" y="129730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35%↑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996" y="175212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接通率提升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47925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895686" y="129730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28%↑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5661" y="17521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首拨转化提升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24350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72111" y="129730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40%↑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41605" y="175212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人均效率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00775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48536" y="129730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67%↓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8511" y="17521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新人上手时间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77200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36400" y="1297305"/>
            <a:ext cx="9389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300%↑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94455" y="175212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质检效率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953625" y="1095375"/>
            <a:ext cx="1666875" cy="104775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441641" y="1297305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96121" y="175212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合规率保持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0545" y="2393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核心成果维度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686050"/>
            <a:ext cx="762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3000375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E2231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8419" y="31075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客户识别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" y="3099435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接通率+35%，首拨转化+28%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E2231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8419" y="36314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人机协同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99260" y="3623310"/>
            <a:ext cx="49027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人均效率+40%，新人上手时间-67%，转化率+25%，复购率+30%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048125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E2231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88419" y="41552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合规提效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99260" y="4147185"/>
            <a:ext cx="35181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合规率100%，质检效率+300%，合规风险-60%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572000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E2231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88419" y="4679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规模领先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99260" y="4671060"/>
            <a:ext cx="33166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3000+人专业团队，行业最大电销团队之一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02979" y="4676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507752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6、呼叫中心客服转型的成功关键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62000" y="119062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15012" y="1324928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2545" y="1155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精准客户识别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8260" y="1489710"/>
            <a:ext cx="52882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从海量数据中准确定位真实需求客户，避免无效打扰，提升转化效率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333500" y="1809750"/>
            <a:ext cx="952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762000" y="214312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94884" y="22774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2545" y="21078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人机协同模式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8260" y="24422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AI作为坐席"超级助手"，辅助而非替代，保持营销的温度与信任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2762250"/>
            <a:ext cx="952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762000" y="309562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4884" y="32299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2545" y="3060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合规效率平衡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8260" y="3394710"/>
            <a:ext cx="4482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AI实时监控+智能质检，在强化合规的同时不牺牲营销效率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333500" y="3714750"/>
            <a:ext cx="952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62000" y="404812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94884" y="41824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2545" y="40128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数据闭环驱动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8260" y="4347210"/>
            <a:ext cx="4411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每通电话数据沉淀回画像，持续优化识别模型与话术策略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333500" y="4667250"/>
            <a:ext cx="952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62000" y="500062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94884" y="51349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2545" y="49653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全生命周期运营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18260" y="52997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从新客获取到流失预警，覆盖客户完整生命周期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23106" y="467678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680274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7、呼叫中心客服转型的组织变革与人才培养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31545" y="1060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组织变革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1352550"/>
            <a:ext cx="762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71550" y="15430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23010" y="15563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从传统电销向数据驱动的智能营销转型</a:t>
            </a:r>
          </a:p>
        </p:txBody>
      </p:sp>
      <p:sp>
        <p:nvSpPr>
          <p:cNvPr id="12" name="Ellipse 12"/>
          <p:cNvSpPr/>
          <p:nvPr/>
        </p:nvSpPr>
        <p:spPr>
          <a:xfrm>
            <a:off x="971550" y="201930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23010" y="20326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建立策略组与服务组双线协作机制</a:t>
            </a:r>
          </a:p>
        </p:txBody>
      </p:sp>
      <p:sp>
        <p:nvSpPr>
          <p:cNvPr id="14" name="Ellipse 14"/>
          <p:cNvSpPr/>
          <p:nvPr/>
        </p:nvSpPr>
        <p:spPr>
          <a:xfrm>
            <a:off x="971550" y="24955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23010" y="250888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AI辅助工具全面嵌入日常工作流程</a:t>
            </a:r>
          </a:p>
        </p:txBody>
      </p:sp>
      <p:sp>
        <p:nvSpPr>
          <p:cNvPr id="16" name="Ellipse 16"/>
          <p:cNvSpPr/>
          <p:nvPr/>
        </p:nvSpPr>
        <p:spPr>
          <a:xfrm>
            <a:off x="971550" y="297180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23010" y="29851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合规管理从事后检查转向事中预警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37045" y="1060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人才培养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0" y="1352550"/>
            <a:ext cx="762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6877050" y="15430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28510" y="1556385"/>
            <a:ext cx="30975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AI辅助降低新人门槛，上手时间缩短67%</a:t>
            </a:r>
          </a:p>
        </p:txBody>
      </p:sp>
      <p:sp>
        <p:nvSpPr>
          <p:cNvPr id="22" name="Ellipse 22"/>
          <p:cNvSpPr/>
          <p:nvPr/>
        </p:nvSpPr>
        <p:spPr>
          <a:xfrm>
            <a:off x="6877050" y="201930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28510" y="2032635"/>
            <a:ext cx="34568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培养复合型营销人才（数据理解+沟通技巧）</a:t>
            </a:r>
          </a:p>
        </p:txBody>
      </p:sp>
      <p:sp>
        <p:nvSpPr>
          <p:cNvPr id="24" name="Ellipse 24"/>
          <p:cNvSpPr/>
          <p:nvPr/>
        </p:nvSpPr>
        <p:spPr>
          <a:xfrm>
            <a:off x="6877050" y="249555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128510" y="25088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实时话术辅助系统作为标准化培训工具</a:t>
            </a:r>
          </a:p>
        </p:txBody>
      </p:sp>
      <p:sp>
        <p:nvSpPr>
          <p:cNvPr id="26" name="Ellipse 26"/>
          <p:cNvSpPr/>
          <p:nvPr/>
        </p:nvSpPr>
        <p:spPr>
          <a:xfrm>
            <a:off x="6877050" y="2971800"/>
            <a:ext cx="152400" cy="1524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128510" y="29851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合规意识贯穿日常，形成自律文化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0" y="1238250"/>
            <a:ext cx="9525" cy="28575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333375"/>
            <a:ext cx="381000" cy="3810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3234" y="467678"/>
            <a:ext cx="123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347662"/>
            <a:ext cx="54225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8、呼叫中心客服转型的下一步计划</a:t>
            </a:r>
          </a:p>
        </p:txBody>
      </p:sp>
      <p:sp>
        <p:nvSpPr>
          <p:cNvPr id="6" name="Rectangle 6"/>
          <p:cNvSpPr/>
          <p:nvPr/>
        </p:nvSpPr>
        <p:spPr>
          <a:xfrm>
            <a:off x="1238250" y="714375"/>
            <a:ext cx="5715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499" y="1238250"/>
            <a:ext cx="3507105" cy="17145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238250"/>
            <a:ext cx="3238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4855" y="1473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应对获客成本上升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712" y="1831181"/>
            <a:ext cx="3741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通过精准识别提升ROI，优化触达策略降低单客成本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476750" y="1238250"/>
            <a:ext cx="3238500" cy="17145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476750" y="1238250"/>
            <a:ext cx="3238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50105" y="1473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适应合规要求趋严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2962" y="1831181"/>
            <a:ext cx="2961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持续强化合规能力，AI监控体系升级迭代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1999" y="1238250"/>
            <a:ext cx="3460595" cy="17145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382000" y="1238250"/>
            <a:ext cx="3238500" cy="381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555355" y="1473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应对技术迭代压力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8212" y="1831181"/>
            <a:ext cx="36186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持续学习应用AI、大数据等新技术，保持行业领先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4276" y="3441382"/>
            <a:ext cx="4343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核心目标：成为全球最值得信赖的企业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524500" y="3857625"/>
            <a:ext cx="1143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00208" y="2371725"/>
            <a:ext cx="239158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E2231A"/>
                </a:solidFill>
                <a:latin typeface="Arial"/>
                <a:ea typeface="Microsoft YaHei"/>
                <a:cs typeface="Arial"/>
              </a:rPr>
              <a:t>THANKS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3143250"/>
            <a:ext cx="1524000" cy="28575"/>
          </a:xfrm>
          <a:prstGeom prst="rect">
            <a:avLst/>
          </a:prstGeom>
          <a:solidFill>
            <a:srgbClr val="E2231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70132" y="353663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京东科技股份有限公司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0" y="39185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服务营销最佳实践申报材料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1605</Words>
  <Application>Microsoft Macintosh PowerPoint</Application>
  <PresentationFormat>宽屏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sundanian</cp:lastModifiedBy>
  <cp:revision>2</cp:revision>
  <dcterms:created xsi:type="dcterms:W3CDTF">2013-01-27T09:14:16Z</dcterms:created>
  <dcterms:modified xsi:type="dcterms:W3CDTF">2026-05-06T09:19:14Z</dcterms:modified>
  <cp:category/>
</cp:coreProperties>
</file>
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7520" y="1105942"/>
            <a:ext cx="3108960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2026年度"新客服节"
</a:t>
            </a:r>
            <a:pPr algn="ctr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新客服最佳实践奖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388834" y="2269182"/>
            <a:ext cx="2366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服务营销最佳实践奖 · 申报材料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65120" y="3393132"/>
            <a:ext cx="18136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0" y="4008983"/>
            <a:ext cx="762000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企业介绍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企业介绍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876151"/>
            <a:ext cx="28498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266676"/>
            <a:ext cx="28498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技术为本，让生活更美好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600" y="1955602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600" y="2123777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成为全球最值得信赖的企业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447627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9600" y="2615803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客户为先 · 创新 · 拼搏 · 担当 · 感恩 · 诚信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60750" y="1306264"/>
            <a:ext cx="46736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0750" y="1022152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主营业务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49701" y="1003102"/>
            <a:ext cx="36141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信息技术咨询服务、云计算、人工智能应用、软件开发、数据处理服务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60750" y="1741140"/>
            <a:ext cx="46736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0750" y="1457027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从事行业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49701" y="1437977"/>
            <a:ext cx="10299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金融科技 / 科技服务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60750" y="2176016"/>
            <a:ext cx="46736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0750" y="1891903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企业地址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49701" y="1872853"/>
            <a:ext cx="3018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北京市北京经济技术开发区科创十一街18号院2号楼6层601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60750" y="2610892"/>
            <a:ext cx="46736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0750" y="2326779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客服电话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49701" y="2307729"/>
            <a:ext cx="7260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400-098-8505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60750" y="3045768"/>
            <a:ext cx="46736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0750" y="2761655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企业总机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49701" y="2742605"/>
            <a:ext cx="7260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400-098-8505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60750" y="3196530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服务价值观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49701" y="3177480"/>
            <a:ext cx="2215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客户为先、创新、拼搏、担当、感恩、诚信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呼叫中心现况简介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呼叫中心现况简介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784152"/>
            <a:ext cx="2472333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877" y="1028551"/>
            <a:ext cx="25217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84877" y="1460302"/>
            <a:ext cx="25217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团队总人数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5834" y="1784152"/>
            <a:ext cx="2472333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1110" y="1028551"/>
            <a:ext cx="25217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11110" y="1460302"/>
            <a:ext cx="25217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合作供应商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62067" y="1784152"/>
            <a:ext cx="2472333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7344" y="1028551"/>
            <a:ext cx="252177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7344" y="1460302"/>
            <a:ext cx="25217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电销渠道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1971377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人员结构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600" y="3938885"/>
            <a:ext cx="7924800" cy="364927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3888" y="3938885"/>
            <a:ext cx="0" cy="364927"/>
          </a:xfrm>
          <a:prstGeom prst="line">
            <a:avLst/>
          </a:prstGeom>
          <a:noFill/>
          <a:ln w="2857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575" y="4040386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服务渠道：电销渠道（100%） — 主要负责金融营销电销外呼业务，涵盖拉新、复购等全流程服务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呼叫中心组织架构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呼叫中心组织架构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12803" y="876151"/>
            <a:ext cx="1918246" cy="644426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56282" y="1003102"/>
            <a:ext cx="12312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数据科技业务部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56282" y="1250752"/>
            <a:ext cx="1231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二级部门 · 金融科技事业群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62475" y="1520577"/>
            <a:ext cx="19050" cy="2031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90800" y="1520577"/>
            <a:ext cx="3962400" cy="190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71898" y="1723727"/>
            <a:ext cx="3047702" cy="6349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00399" y="1850678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策略运营组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399" y="2088803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策略制定 · 数据分析 · 业务规划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24400" y="1723727"/>
            <a:ext cx="3047702" cy="6349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2902" y="1850678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电销服务组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2902" y="2088803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 · 质检培训 · 运营保障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62475" y="2358628"/>
            <a:ext cx="19050" cy="2031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56792" y="2358628"/>
            <a:ext cx="5230416" cy="190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8571" y="2561779"/>
            <a:ext cx="2685752" cy="634901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408" y="2698254"/>
            <a:ext cx="2202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业务管理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408" y="2917329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日常供应商 BPO 沟通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29124" y="2561779"/>
            <a:ext cx="2685752" cy="634901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70961" y="2698254"/>
            <a:ext cx="2202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质检培训运营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0961" y="2917329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合规管控 · 赋能培训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9676" y="2561779"/>
            <a:ext cx="2685752" cy="634901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61513" y="2698254"/>
            <a:ext cx="2202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前台运营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61513" y="2917329"/>
            <a:ext cx="22020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2900+ 坐席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5667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客服转型背景与战略目标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客服转型背景与战略目标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876151"/>
            <a:ext cx="3460849" cy="2005608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104751"/>
            <a:ext cx="3115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行业挑战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750" y="1485751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市场竞争加剧，获客成本持续上升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2750" y="1777603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传统电销模式效率低下，精准度不足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2750" y="2069455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金融合规要求持续收紧，事后检查成本高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750" y="2361307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客户体验期望升级，需要更个性化的服务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9651" y="1675656"/>
            <a:ext cx="4145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35451" y="876151"/>
            <a:ext cx="3498949" cy="2005608"/>
          </a:xfrm>
          <a:prstGeom prst="rect">
            <a:avLst/>
          </a:prstGeom>
          <a:noFill/>
          <a:ln w="19050">
            <a:solidFill>
              <a:srgbClr val="E223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7651" y="1250603"/>
            <a:ext cx="3115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战略目标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651" y="1631603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客服价值化 — 从成本中心转为利润贡献部门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651" y="1923455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数字智能化 — AI 赋能全流程，人机协同提效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651" y="2215307"/>
            <a:ext cx="3115639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服务营销一体化 — 服务即营销，体验即转化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600" y="3059460"/>
            <a:ext cx="8258175" cy="54590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3888" y="3059460"/>
            <a:ext cx="0" cy="545902"/>
          </a:xfrm>
          <a:prstGeom prst="line">
            <a:avLst/>
          </a:prstGeom>
          <a:noFill/>
          <a:ln w="28575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575" y="3160961"/>
            <a:ext cx="8083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转型驱动因素：我们不是传统意义上的客服部门，而是金融营销的电销部门。核心是通过数据找到有真实需求的客户，通过 AI 辅助坐席进行高效沟通，通过合规管控保障长期健康发展。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客服转型实施过程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客服转型实施过程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876151"/>
            <a:ext cx="279350" cy="2793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3929" y="952351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0451" y="910977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数据驱动识别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1287214"/>
            <a:ext cx="18478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1495127"/>
            <a:ext cx="1884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09600" y="1644253"/>
            <a:ext cx="188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从海量数据中准确识别有真实需求的客户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1872853"/>
            <a:ext cx="1884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09600" y="2021979"/>
            <a:ext cx="188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开发AI需求识别模型，实施精准分层运营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2250579"/>
            <a:ext cx="1884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09600" y="2399705"/>
            <a:ext cx="188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客户识别准确度，避免打扰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35151" y="876151"/>
            <a:ext cx="279350" cy="2793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39479" y="952351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6002" y="910977"/>
            <a:ext cx="932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人机协同外呼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35151" y="1287214"/>
            <a:ext cx="18479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5151" y="1495127"/>
            <a:ext cx="1884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635151" y="1644253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让AI辅助而非替代人工，保持营销温度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35151" y="1872853"/>
            <a:ext cx="1884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35151" y="2021979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智能客户路由、实时话术辅助、情绪监控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35151" y="2250579"/>
            <a:ext cx="1884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35151" y="2399705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人机协同平衡，技术与人性的结合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0850" y="876151"/>
            <a:ext cx="279350" cy="2793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5179" y="952351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41702" y="910977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AI合规提效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0850" y="1287214"/>
            <a:ext cx="184785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0850" y="1495127"/>
            <a:ext cx="1884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60850" y="1644253"/>
            <a:ext cx="188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在强化合规的同时不降低营销效率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0850" y="1872853"/>
            <a:ext cx="1884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60850" y="2021979"/>
            <a:ext cx="188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实时合规监控、智能质检、风险预警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0850" y="2250579"/>
            <a:ext cx="1884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60850" y="2399705"/>
            <a:ext cx="188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合规与效率平衡，从事后到事中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86401" y="876151"/>
            <a:ext cx="279350" cy="279350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90730" y="952351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67252" y="910977"/>
            <a:ext cx="1088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全生命周期运营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86401" y="1287214"/>
            <a:ext cx="18479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86401" y="1495127"/>
            <a:ext cx="1884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6401" y="1644253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覆盖新客获取到复购激活的完整链路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86401" y="1872853"/>
            <a:ext cx="1884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86401" y="2021979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新客转化、复购激活、流失预警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86401" y="2250579"/>
            <a:ext cx="18849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86401" y="2399705"/>
            <a:ext cx="1884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数据整合，构建统一客户画像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客服转型具体成果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客服转型具体成果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0778" y="1028551"/>
            <a:ext cx="97640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0778" y="1371302"/>
            <a:ext cx="9764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接通率提升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0763" y="876151"/>
            <a:ext cx="9525" cy="790426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23865" y="1028551"/>
            <a:ext cx="97656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23865" y="1371302"/>
            <a:ext cx="976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转化率提升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94000" y="876151"/>
            <a:ext cx="9525" cy="790426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7103" y="1028551"/>
            <a:ext cx="97640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97103" y="1371302"/>
            <a:ext cx="9764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人均效率提升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67089" y="876151"/>
            <a:ext cx="9525" cy="790426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70190" y="1028551"/>
            <a:ext cx="97656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70190" y="1371302"/>
            <a:ext cx="976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0326" y="876151"/>
            <a:ext cx="9525" cy="790426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43427" y="1028551"/>
            <a:ext cx="97656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43427" y="1371302"/>
            <a:ext cx="976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质检效率提升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3563" y="876151"/>
            <a:ext cx="9525" cy="790426"/>
          </a:xfrm>
          <a:prstGeom prst="rect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16664" y="1028551"/>
            <a:ext cx="97656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16664" y="1371302"/>
            <a:ext cx="976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新人上手时间缩短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9600" y="1844278"/>
            <a:ext cx="2539901" cy="80947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9600" y="1853803"/>
            <a:ext cx="2539901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1990279"/>
            <a:ext cx="22798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客服价值化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2000" y="2222004"/>
            <a:ext cx="22798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从成本中心转为利润贡献，年度GMV（放款额）2000亿+，团队规模行业领先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1901" y="1844278"/>
            <a:ext cx="2540050" cy="80947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01901" y="1853803"/>
            <a:ext cx="2540050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4301" y="1990279"/>
            <a:ext cx="22799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数字智能化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54301" y="2222004"/>
            <a:ext cx="22799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AI需求识别模型+实时话术辅助+智能质检，100%通话覆盖，合规风险降低60%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94350" y="1844278"/>
            <a:ext cx="2540050" cy="80947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994350" y="1853803"/>
            <a:ext cx="2540050" cy="0"/>
          </a:xfrm>
          <a:prstGeom prst="line">
            <a:avLst/>
          </a:prstGeom>
          <a:noFill/>
          <a:ln w="19050">
            <a:solidFill>
              <a:srgbClr val="E22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6750" y="1990279"/>
            <a:ext cx="22799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服务营销一体化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46750" y="2222004"/>
            <a:ext cx="22799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精准触达+全生命周期运营，新客获取效率+28%，客户复购率+30%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客服转型的成功关键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客服转型的成功关键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1557040"/>
            <a:ext cx="792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003102"/>
            <a:ext cx="41442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3602" y="1015752"/>
            <a:ext cx="7487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数据驱动决策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93602" y="1253877"/>
            <a:ext cx="7487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用数据模型识别真实需求，避免盲目外销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9600" y="2242691"/>
            <a:ext cx="792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1688753"/>
            <a:ext cx="41442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3602" y="1701403"/>
            <a:ext cx="7487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人机协同而非替代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93602" y="1939528"/>
            <a:ext cx="7487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AI是坐席的"超级助手"，保持营销的温度和信任感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9600" y="2928342"/>
            <a:ext cx="792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2374404"/>
            <a:ext cx="41442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3602" y="2387054"/>
            <a:ext cx="7487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合规前置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93602" y="2625179"/>
            <a:ext cx="7487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从事后检查转向事中预警，合规率100%且不影响营销效率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9600" y="3613993"/>
            <a:ext cx="7924800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3060055"/>
            <a:ext cx="41442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3602" y="3072705"/>
            <a:ext cx="7487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全链路数据闭环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93602" y="3310830"/>
            <a:ext cx="7487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每通电话数据沉淀回客户画像，持续优化模型和话术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600" y="3745706"/>
            <a:ext cx="41442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3602" y="3758357"/>
            <a:ext cx="7487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供应商生态管理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93602" y="3996482"/>
            <a:ext cx="7487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35家供应商统一管理，标准化流程+差异化考核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600" y="4294882"/>
            <a:ext cx="7924800" cy="62537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4304407"/>
            <a:ext cx="792480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301" y="4440882"/>
            <a:ext cx="7720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对其他呼叫中心的启发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7301" y="4621857"/>
            <a:ext cx="7720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转型不是一蹴而就的技术升级，而是从战略、组织、技术到执行的系统性变革。关键在于找到"数据+AI+人"的最佳平衡点。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组织变革与人才培养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587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53901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组织变革与人才培养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876151"/>
            <a:ext cx="3835450" cy="412552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977652"/>
            <a:ext cx="35496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组织变革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466404"/>
            <a:ext cx="3912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定位升级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685479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从"客服中心"转为"数据驱动的服务营销中枢"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9600" y="2015579"/>
            <a:ext cx="3912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架构调整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600" y="2234654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策略组与服务组分工明确，业务管理与质检培训运营双线支撑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2564755"/>
            <a:ext cx="3912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供应商生态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600" y="2783830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35家供应商统一管理，标准化准入、考核与清退机制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8950" y="876151"/>
            <a:ext cx="3835450" cy="412552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651" y="977652"/>
            <a:ext cx="35496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人才培养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950" y="1466404"/>
            <a:ext cx="3912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AI辅助降低门槛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950" y="1685479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AI话术推荐让新人上手时间缩短67%，从传统电销向智能营销转型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98950" y="2015579"/>
            <a:ext cx="3912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复合型能力培养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98950" y="2234654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培养数据理解、客户沟通、合规意识的复合型营销人才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98950" y="2564755"/>
            <a:ext cx="3912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考核机制引导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8950" y="2783830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结果导向+过程管理+客户评价+合规红线，综合评估引导能力成长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213"/>
            <a:ext cx="158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6477" y="152400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20613"/>
            <a:ext cx="9144000" cy="0"/>
          </a:xfrm>
          <a:prstGeom prst="line">
            <a:avLst/>
          </a:prstGeom>
          <a:noFill/>
          <a:ln w="28575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28600"/>
            <a:ext cx="93268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817364"/>
            <a:ext cx="423862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3463" y="812602"/>
            <a:ext cx="0" cy="90785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1715691"/>
            <a:ext cx="423862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50" y="812602"/>
            <a:ext cx="0" cy="907852"/>
          </a:xfrm>
          <a:prstGeom prst="line">
            <a:avLst/>
          </a:prstGeom>
          <a:noFill/>
          <a:ln w="38100">
            <a:solidFill>
              <a:srgbClr val="E22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" y="949077"/>
            <a:ext cx="39639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0100" y="1212503"/>
            <a:ext cx="39639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精准识别升级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" y="1431578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通过更精准的客户识别模型，提升 ROI，应对获客成本上升挑战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9600" y="1852166"/>
            <a:ext cx="423862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3463" y="1847404"/>
            <a:ext cx="0" cy="90785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600" y="2750493"/>
            <a:ext cx="423862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650" y="1847404"/>
            <a:ext cx="0" cy="907852"/>
          </a:xfrm>
          <a:prstGeom prst="line">
            <a:avLst/>
          </a:prstGeom>
          <a:noFill/>
          <a:ln w="38100">
            <a:solidFill>
              <a:srgbClr val="E22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" y="1983879"/>
            <a:ext cx="39639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0100" y="2247305"/>
            <a:ext cx="39639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合规能力持续强化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" y="2466380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应对金融营销合规要求持续收紧，建立更完善的合规预警和培训体系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9600" y="2886968"/>
            <a:ext cx="423862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3463" y="2882205"/>
            <a:ext cx="0" cy="907852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600" y="3785295"/>
            <a:ext cx="4238625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50" y="2882205"/>
            <a:ext cx="0" cy="907852"/>
          </a:xfrm>
          <a:prstGeom prst="line">
            <a:avLst/>
          </a:prstGeom>
          <a:noFill/>
          <a:ln w="38100">
            <a:solidFill>
              <a:srgbClr val="E223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" y="3018681"/>
            <a:ext cx="39639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100" y="3282107"/>
            <a:ext cx="39639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技术持续迭代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0100" y="3501182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跟进 AI、大数据等新技术，持续优化人机协同效率和营销效果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9600" y="3917007"/>
            <a:ext cx="4238625" cy="907852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09600" y="3921770"/>
            <a:ext cx="4238625" cy="0"/>
          </a:xfrm>
          <a:prstGeom prst="line">
            <a:avLst/>
          </a:prstGeom>
          <a:noFill/>
          <a:ln w="9525">
            <a:solidFill>
              <a:srgbClr val="E223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3463" y="3917007"/>
            <a:ext cx="0" cy="907852"/>
          </a:xfrm>
          <a:prstGeom prst="line">
            <a:avLst/>
          </a:prstGeom>
          <a:noFill/>
          <a:ln w="9525">
            <a:solidFill>
              <a:srgbClr val="E223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600" y="4820096"/>
            <a:ext cx="4238625" cy="0"/>
          </a:xfrm>
          <a:prstGeom prst="line">
            <a:avLst/>
          </a:prstGeom>
          <a:noFill/>
          <a:ln w="9525">
            <a:solidFill>
              <a:srgbClr val="E223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8650" y="3917007"/>
            <a:ext cx="0" cy="907852"/>
          </a:xfrm>
          <a:prstGeom prst="line">
            <a:avLst/>
          </a:prstGeom>
          <a:noFill/>
          <a:ln w="38100">
            <a:solidFill>
              <a:srgbClr val="E223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100" y="4053483"/>
            <a:ext cx="39639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0100" y="4316909"/>
            <a:ext cx="39639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持续保障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0100" y="4535984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保持对技术和市场的敏感度，不断优化数据模型、强化合规管控、提升团队能力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9600" y="4746724"/>
            <a:ext cx="1565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 · 2026新客服节申报材料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53723" y="4746724"/>
            <a:ext cx="184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533525"/>
            <a:ext cx="1015901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03066" y="1866900"/>
            <a:ext cx="299647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2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19649" y="2809875"/>
            <a:ext cx="1942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京东科技股份有限公司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97002" y="3114675"/>
            <a:ext cx="23968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2026年度新客服节 · 服务营销最佳实践奖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64050" y="3581400"/>
            <a:ext cx="1015901" cy="28575"/>
          </a:xfrm>
          <a:prstGeom prst="rect">
            <a:avLst/>
          </a:prstGeom>
          <a:solidFill>
            <a:srgbClr val="E223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2026年度新客服节 新客服最佳实践奖</dc:title>
  <dc:subject>PptxGenJS Presentation</dc:subject>
  <dc:creator>京东科技</dc:creator>
  <cp:lastModifiedBy>京东科技</cp:lastModifiedBy>
  <cp:revision>1</cp:revision>
  <dcterms:created xsi:type="dcterms:W3CDTF">2026-05-01T08:31:59Z</dcterms:created>
  <dcterms:modified xsi:type="dcterms:W3CDTF">2026-05-01T08:31:59Z</dcterms:modified>
</cp:coreProperties>
</file>
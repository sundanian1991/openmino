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51522" y="672941"/>
            <a:ext cx="10089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2026年度评选申报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6805" y="2359342"/>
            <a:ext cx="588521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2026年度“新客服最佳实践奖”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6805" y="293084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申报方案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3838575"/>
            <a:ext cx="4485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京东科技 — 金融科技事业群 — 数据科技业务部</a:t>
            </a:r>
          </a:p>
        </p:txBody>
      </p:sp>
      <p:sp>
        <p:nvSpPr>
          <p:cNvPr id="8" name="Line 8"/>
          <p:cNvSpPr/>
          <p:nvPr/>
        </p:nvSpPr>
        <p:spPr>
          <a:xfrm>
            <a:off x="1143000" y="4381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1A5FA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29665" y="4649152"/>
            <a:ext cx="3109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申报人：孙大年 高级经理 sundanian@jd.com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4915852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讲解时间 30 分钟 Q&amp;A 15 分钟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封面 / 撰写指引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153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本模板仅用于2026年度新客服最佳实践奖评选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114300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20065" y="11439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评选要求与申报说明</a:t>
            </a:r>
          </a:p>
        </p:txBody>
      </p:sp>
      <p:sp>
        <p:nvSpPr>
          <p:cNvPr id="11" name="Line 11"/>
          <p:cNvSpPr/>
          <p:nvPr/>
        </p:nvSpPr>
        <p:spPr>
          <a:xfrm>
            <a:off x="533400" y="13525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33400" y="15811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4365" y="15630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此模板应仅用于2026年度“新客服节新客服最佳实践奖”评选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33400" y="19621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4365" y="1944052"/>
            <a:ext cx="3431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内容依据2026年度新客服最佳实践奖评选办法制订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" y="23431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34365" y="232505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请提供过去12个月（1整年）的信息和数据作为依据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27241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34365" y="2706052"/>
            <a:ext cx="25799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PPT内容请围绕申请奖项主题进行讲解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" y="31051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4365" y="3087052"/>
            <a:ext cx="27563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讲解时间为30分钟，Q&amp;A问答时间15分钟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0" y="1524000"/>
            <a:ext cx="4000500" cy="2857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7620000" y="1524000"/>
            <a:ext cx="38100" cy="28575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800022" y="17016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申报信息</a:t>
            </a:r>
          </a:p>
        </p:txBody>
      </p:sp>
      <p:sp>
        <p:nvSpPr>
          <p:cNvPr id="25" name="Line 25"/>
          <p:cNvSpPr/>
          <p:nvPr/>
        </p:nvSpPr>
        <p:spPr>
          <a:xfrm>
            <a:off x="7810500" y="18859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798118" y="20854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企业名称：京东科技股份有限公司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98118" y="233314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行业：金融科技 / 科技服务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98118" y="258079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申报人：孙大年 高级经理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98118" y="2828449"/>
            <a:ext cx="16623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邮箱：sundanian@jd.com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98118" y="307609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电话：18249515580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98118" y="3323749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年度GMV：2000亿+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98118" y="3571399"/>
            <a:ext cx="12707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团队规模：3000人+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98118" y="3819049"/>
            <a:ext cx="8720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合规率：100%</a:t>
            </a:r>
          </a:p>
        </p:txBody>
      </p:sp>
      <p:sp>
        <p:nvSpPr>
          <p:cNvPr id="34" name="Line 34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来源：评选办法 · 2026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企业介绍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6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京东科技以技术为本，承载集团金融营销服务职能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11430000" cy="2428875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22922" y="120634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COMPANY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6730" y="15640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京东科技股份有限公司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6255" y="2045018"/>
            <a:ext cx="6343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0E4FA"/>
                </a:solidFill>
                <a:latin typeface="Segoe UI"/>
                <a:ea typeface="Microsoft YaHei"/>
                <a:cs typeface="Segoe UI"/>
              </a:rPr>
              <a:t>主营业务：信息技术咨询服务、人工智能应用、软件开发、数据处理服务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6255" y="2349818"/>
            <a:ext cx="58408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0E4FA"/>
                </a:solidFill>
                <a:latin typeface="Segoe UI"/>
                <a:ea typeface="Microsoft YaHei"/>
                <a:cs typeface="Segoe UI"/>
              </a:rPr>
              <a:t>从事行业：金融科技 / 科技服务 总部地址：北京市经济技术开发区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81000" y="3533775"/>
            <a:ext cx="3619500" cy="294322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81000" y="3533775"/>
            <a:ext cx="38100" cy="2943225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1022" y="37495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服务使命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0545" y="4012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技术为本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165" y="4363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让生活更美好</a:t>
            </a:r>
          </a:p>
        </p:txBody>
      </p:sp>
      <p:sp>
        <p:nvSpPr>
          <p:cNvPr id="19" name="Line 19"/>
          <p:cNvSpPr/>
          <p:nvPr/>
        </p:nvSpPr>
        <p:spPr>
          <a:xfrm>
            <a:off x="571500" y="47244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070" y="48558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以技术驱动服务升级，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0070" y="50463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为用户提供专业、高效的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0070" y="52368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金融服务体验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52900" y="3533775"/>
            <a:ext cx="3619500" cy="294322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152900" y="3533775"/>
            <a:ext cx="38100" cy="2943225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332922" y="37495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服务愿景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22445" y="40128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全球最值得信赖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30065" y="43634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成为客户信赖的企业</a:t>
            </a:r>
          </a:p>
        </p:txBody>
      </p:sp>
      <p:sp>
        <p:nvSpPr>
          <p:cNvPr id="28" name="Line 28"/>
          <p:cNvSpPr/>
          <p:nvPr/>
        </p:nvSpPr>
        <p:spPr>
          <a:xfrm>
            <a:off x="4343400" y="47244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331970" y="485584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建立长期信任关系，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31970" y="504634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持续为客户创造价值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924800" y="3533775"/>
            <a:ext cx="3886200" cy="294322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924800" y="3533775"/>
            <a:ext cx="38100" cy="29432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104822" y="374951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服务价值观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94345" y="40128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六大核心价值</a:t>
            </a:r>
          </a:p>
        </p:txBody>
      </p:sp>
      <p:sp>
        <p:nvSpPr>
          <p:cNvPr id="35" name="Line 35"/>
          <p:cNvSpPr/>
          <p:nvPr/>
        </p:nvSpPr>
        <p:spPr>
          <a:xfrm>
            <a:off x="8115300" y="443865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15300" y="45910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17218" y="4590574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客户为先 创新 拼搏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115300" y="48196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217218" y="4819174"/>
            <a:ext cx="9645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担当 感恩 诚信</a:t>
            </a:r>
          </a:p>
        </p:txBody>
      </p:sp>
      <p:sp>
        <p:nvSpPr>
          <p:cNvPr id="40" name="Line 40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70522" y="6654641"/>
            <a:ext cx="15090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来源：京东科技官网 · 2026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呼叫中心现况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4441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3000人电销团队，年放款超2000亿，合规率100%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1970" y="13506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团队规模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490" y="1682115"/>
            <a:ext cx="147549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3000+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970" y="2360295"/>
            <a:ext cx="19485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前台2900+ / 中台100+ / 后台50+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191000" y="1143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191000" y="1143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31970" y="1350645"/>
            <a:ext cx="11861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年度GMV（放款额）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1490" y="1682115"/>
            <a:ext cx="337323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&amp;yen;2000亿+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31970" y="2360295"/>
            <a:ext cx="13175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近12个月累计放款规模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1143000"/>
            <a:ext cx="3810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001000" y="1143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41970" y="13506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合规率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1490" y="1682115"/>
            <a:ext cx="10706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100%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1970" y="23602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合规红线一票否决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3048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81000" y="3048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21970" y="32556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营销业务占比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1490" y="3587115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99%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970" y="4265295"/>
            <a:ext cx="17250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电销渠道100%，主营拉新复购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91000" y="3048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191000" y="3048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331970" y="32556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供应商数量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01490" y="3587115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35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31970" y="4265295"/>
            <a:ext cx="10547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家合作BPO供应商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0" y="3048000"/>
            <a:ext cx="3810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8001000" y="3048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141970" y="32556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团队稳定性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11490" y="3587115"/>
            <a:ext cx="10706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100%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41970" y="42652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近一年团队零流失</a:t>
            </a:r>
          </a:p>
        </p:txBody>
      </p:sp>
      <p:sp>
        <p:nvSpPr>
          <p:cNvPr id="39" name="Line 3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呼叫中心现况 / 组织架构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3555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数据科技业务部为二级部门，三层架构分工明确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6667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905000" y="1143000"/>
            <a:ext cx="36195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51937" y="1340168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数据科技业务部（二级部门）</a:t>
            </a:r>
          </a:p>
        </p:txBody>
      </p:sp>
      <p:sp>
        <p:nvSpPr>
          <p:cNvPr id="12" name="Line 12"/>
          <p:cNvSpPr/>
          <p:nvPr/>
        </p:nvSpPr>
        <p:spPr>
          <a:xfrm>
            <a:off x="3714750" y="1714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1143000" y="2286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1714500" y="2286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3714750" y="2286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715000" y="2286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62000" y="2571750"/>
            <a:ext cx="1905000" cy="571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98615" y="28013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前台运营部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762250" y="2571750"/>
            <a:ext cx="1905000" cy="571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298865" y="28013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中台支撑部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762500" y="2571750"/>
            <a:ext cx="1905000" cy="571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99115" y="28013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后台管理部</a:t>
            </a:r>
          </a:p>
        </p:txBody>
      </p:sp>
      <p:sp>
        <p:nvSpPr>
          <p:cNvPr id="23" name="Line 23"/>
          <p:cNvSpPr/>
          <p:nvPr/>
        </p:nvSpPr>
        <p:spPr>
          <a:xfrm>
            <a:off x="1714500" y="3143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AAAAAA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619500"/>
            <a:ext cx="22860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619500"/>
            <a:ext cx="381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0570" y="3808095"/>
            <a:ext cx="975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前台 · 2900+人</a:t>
            </a:r>
          </a:p>
        </p:txBody>
      </p:sp>
      <p:sp>
        <p:nvSpPr>
          <p:cNvPr id="27" name="Line 27"/>
          <p:cNvSpPr/>
          <p:nvPr/>
        </p:nvSpPr>
        <p:spPr>
          <a:xfrm>
            <a:off x="76200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40957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772" y="41019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金融营销电销外呼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2672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6772" y="427339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拉新、复购全流程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4386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6772" y="44448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本科及以上60%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6101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6772" y="461629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大专40%</a:t>
            </a:r>
          </a:p>
        </p:txBody>
      </p:sp>
      <p:sp>
        <p:nvSpPr>
          <p:cNvPr id="36" name="Line 36"/>
          <p:cNvSpPr/>
          <p:nvPr/>
        </p:nvSpPr>
        <p:spPr>
          <a:xfrm>
            <a:off x="3714750" y="3143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AAAAAA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571750" y="3619500"/>
            <a:ext cx="22860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571750" y="3619500"/>
            <a:ext cx="381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750820" y="3808095"/>
            <a:ext cx="864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中台 · 100+人</a:t>
            </a:r>
          </a:p>
        </p:txBody>
      </p:sp>
      <p:sp>
        <p:nvSpPr>
          <p:cNvPr id="40" name="Line 40"/>
          <p:cNvSpPr/>
          <p:nvPr/>
        </p:nvSpPr>
        <p:spPr>
          <a:xfrm>
            <a:off x="276225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2762250" y="40957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847022" y="41019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数据策略与模型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762250" y="42672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847022" y="4273391"/>
            <a:ext cx="846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AI辅助系统运营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762250" y="44386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847022" y="44448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质检培训运营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762250" y="46101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847022" y="46162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合规保障</a:t>
            </a:r>
          </a:p>
        </p:txBody>
      </p:sp>
      <p:sp>
        <p:nvSpPr>
          <p:cNvPr id="49" name="Line 49"/>
          <p:cNvSpPr/>
          <p:nvPr/>
        </p:nvSpPr>
        <p:spPr>
          <a:xfrm>
            <a:off x="5715000" y="3143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AAAAAA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4572000" y="3619500"/>
            <a:ext cx="22860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4572000" y="3619500"/>
            <a:ext cx="381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751070" y="3808095"/>
            <a:ext cx="8233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后台 · 50+人</a:t>
            </a:r>
          </a:p>
        </p:txBody>
      </p:sp>
      <p:sp>
        <p:nvSpPr>
          <p:cNvPr id="53" name="Line 53"/>
          <p:cNvSpPr/>
          <p:nvPr/>
        </p:nvSpPr>
        <p:spPr>
          <a:xfrm>
            <a:off x="476250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762500" y="40957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847272" y="41019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供应商管理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762500" y="42672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847272" y="427339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业务管理与协调</a:t>
            </a:r>
          </a:p>
        </p:txBody>
      </p:sp>
      <p:sp>
        <p:nvSpPr>
          <p:cNvPr id="58" name="Rectangle 58"/>
          <p:cNvSpPr/>
          <p:nvPr/>
        </p:nvSpPr>
        <p:spPr>
          <a:xfrm>
            <a:off x="4762500" y="44386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847272" y="44448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运营管理支撑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762500" y="46101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4847272" y="46162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数据分析报告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200900" y="952500"/>
            <a:ext cx="4610100" cy="552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200900" y="952500"/>
            <a:ext cx="38100" cy="552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11301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关键信息</a:t>
            </a:r>
          </a:p>
        </p:txBody>
      </p:sp>
      <p:sp>
        <p:nvSpPr>
          <p:cNvPr id="65" name="Line 65"/>
          <p:cNvSpPr/>
          <p:nvPr/>
        </p:nvSpPr>
        <p:spPr>
          <a:xfrm>
            <a:off x="7391400" y="1314450"/>
            <a:ext cx="4229100" cy="9525"/>
          </a:xfrm>
          <a:custGeom>
            <a:avLst/>
            <a:gdLst/>
            <a:ahLst/>
            <a:cxnLst/>
            <a:rect l="l" t="t" r="r" b="b"/>
            <a:pathLst>
              <a:path w="4229100" h="9525">
                <a:moveTo>
                  <a:pt x="0" y="0"/>
                </a:moveTo>
                <a:lnTo>
                  <a:pt x="4229100" y="0"/>
                </a:lnTo>
              </a:path>
            </a:pathLst>
          </a:custGeom>
          <a:noFill/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372350" y="1457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部门定位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79018" y="17997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京东科技金融科技事业群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379018" y="19902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核心部门，承载集团金融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379018" y="2180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营销服务职能</a:t>
            </a:r>
          </a:p>
        </p:txBody>
      </p:sp>
      <p:sp>
        <p:nvSpPr>
          <p:cNvPr id="70" name="Line 70"/>
          <p:cNvSpPr/>
          <p:nvPr/>
        </p:nvSpPr>
        <p:spPr>
          <a:xfrm>
            <a:off x="7391400" y="2571750"/>
            <a:ext cx="4229100" cy="9525"/>
          </a:xfrm>
          <a:custGeom>
            <a:avLst/>
            <a:gdLst/>
            <a:ahLst/>
            <a:cxnLst/>
            <a:rect l="l" t="t" r="r" b="b"/>
            <a:pathLst>
              <a:path w="4229100" h="9525">
                <a:moveTo>
                  <a:pt x="0" y="0"/>
                </a:moveTo>
                <a:lnTo>
                  <a:pt x="42291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372350" y="27146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服务部门定位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379018" y="30570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数据驱动的服务营销中枢</a:t>
            </a:r>
          </a:p>
        </p:txBody>
      </p:sp>
      <p:sp>
        <p:nvSpPr>
          <p:cNvPr id="73" name="Line 73"/>
          <p:cNvSpPr/>
          <p:nvPr/>
        </p:nvSpPr>
        <p:spPr>
          <a:xfrm>
            <a:off x="7391400" y="3448050"/>
            <a:ext cx="4229100" cy="9525"/>
          </a:xfrm>
          <a:custGeom>
            <a:avLst/>
            <a:gdLst/>
            <a:ahLst/>
            <a:cxnLst/>
            <a:rect l="l" t="t" r="r" b="b"/>
            <a:pathLst>
              <a:path w="4229100" h="9525">
                <a:moveTo>
                  <a:pt x="0" y="0"/>
                </a:moveTo>
                <a:lnTo>
                  <a:pt x="42291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7372350" y="3590925"/>
            <a:ext cx="1636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运营始于2018年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379018" y="393334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7年运营经验积累</a:t>
            </a:r>
          </a:p>
        </p:txBody>
      </p:sp>
      <p:sp>
        <p:nvSpPr>
          <p:cNvPr id="76" name="Line 76"/>
          <p:cNvSpPr/>
          <p:nvPr/>
        </p:nvSpPr>
        <p:spPr>
          <a:xfrm>
            <a:off x="7391400" y="4324350"/>
            <a:ext cx="4229100" cy="9525"/>
          </a:xfrm>
          <a:custGeom>
            <a:avLst/>
            <a:gdLst/>
            <a:ahLst/>
            <a:cxnLst/>
            <a:rect l="l" t="t" r="r" b="b"/>
            <a:pathLst>
              <a:path w="4229100" h="9525">
                <a:moveTo>
                  <a:pt x="0" y="0"/>
                </a:moveTo>
                <a:lnTo>
                  <a:pt x="42291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7372350" y="44672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客服中心层级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379018" y="48096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二级部门架构，直接向事业群汇报</a:t>
            </a:r>
          </a:p>
        </p:txBody>
      </p:sp>
      <p:sp>
        <p:nvSpPr>
          <p:cNvPr id="79" name="Line 7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转型背景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102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获客成本上升、合规趋严、效率瓶颈迫使转型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22922" y="11301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面临的挑战</a:t>
            </a:r>
          </a:p>
        </p:txBody>
      </p:sp>
      <p:sp>
        <p:nvSpPr>
          <p:cNvPr id="11" name="Line 11"/>
          <p:cNvSpPr/>
          <p:nvPr/>
        </p:nvSpPr>
        <p:spPr>
          <a:xfrm>
            <a:off x="533400" y="1314450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0" y="0"/>
                </a:moveTo>
                <a:lnTo>
                  <a:pt x="5314950" y="0"/>
                </a:lnTo>
              </a:path>
            </a:pathLst>
          </a:custGeom>
          <a:noFill/>
          <a:ln w="14288">
            <a:solidFill>
              <a:srgbClr val="9C2B2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33400" y="1504950"/>
            <a:ext cx="4933950" cy="8572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33400" y="1504950"/>
            <a:ext cx="38100" cy="857250"/>
          </a:xfrm>
          <a:prstGeom prst="rect">
            <a:avLst/>
          </a:prstGeom>
          <a:solidFill>
            <a:srgbClr val="9C2B2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0565" y="16773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获客成本持续上升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1518" y="1914049"/>
            <a:ext cx="46669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市场竞争加剧，精准识别有真实需求客户成为核心挑战，ROI压力持续增大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" y="2495550"/>
            <a:ext cx="4933950" cy="8572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33400" y="2495550"/>
            <a:ext cx="38100" cy="857250"/>
          </a:xfrm>
          <a:prstGeom prst="rect">
            <a:avLst/>
          </a:prstGeom>
          <a:solidFill>
            <a:srgbClr val="9C2B2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10565" y="26679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合规要求持续收紧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1518" y="2904649"/>
            <a:ext cx="40119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金融营销合规要求不断升级，事后检查模式已无法满足监管标准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" y="3486150"/>
            <a:ext cx="4933950" cy="8572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33400" y="3486150"/>
            <a:ext cx="38100" cy="857250"/>
          </a:xfrm>
          <a:prstGeom prst="rect">
            <a:avLst/>
          </a:prstGeom>
          <a:solidFill>
            <a:srgbClr val="9C2B2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0565" y="36585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传统电销效率瓶颈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1518" y="3895249"/>
            <a:ext cx="4154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人工外呼接通率低、转化率低，新人培训周期长，人均产出不均衡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4476750"/>
            <a:ext cx="4933950" cy="857250"/>
          </a:xfrm>
          <a:prstGeom prst="rect">
            <a:avLst/>
          </a:prstGeom>
          <a:solidFill>
            <a:srgbClr val="F5E6E6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33400" y="4476750"/>
            <a:ext cx="38100" cy="857250"/>
          </a:xfrm>
          <a:prstGeom prst="rect">
            <a:avLst/>
          </a:prstGeom>
          <a:solidFill>
            <a:srgbClr val="9C2B2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0565" y="46491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9C2B2B"/>
                </a:solidFill>
                <a:latin typeface="Segoe UI"/>
                <a:ea typeface="Microsoft YaHei"/>
                <a:cs typeface="Segoe UI"/>
              </a:rPr>
              <a:t>数据整合与能力转型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1518" y="4885849"/>
            <a:ext cx="42967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分散在各系统的客户数据需要统一画像，从传统电销向智能营销转型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0" y="1524000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153150" y="952500"/>
            <a:ext cx="38100" cy="552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333172" y="11301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转型方向</a:t>
            </a:r>
          </a:p>
        </p:txBody>
      </p:sp>
      <p:sp>
        <p:nvSpPr>
          <p:cNvPr id="32" name="Line 32"/>
          <p:cNvSpPr/>
          <p:nvPr/>
        </p:nvSpPr>
        <p:spPr>
          <a:xfrm>
            <a:off x="6343650" y="131445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20790" y="14820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客服价值化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31268" y="18378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从成本中心转向增长引擎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31268" y="20283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数据驱动客户识别，精准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31268" y="22188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分层运营，差异化触达策略</a:t>
            </a:r>
          </a:p>
        </p:txBody>
      </p:sp>
      <p:sp>
        <p:nvSpPr>
          <p:cNvPr id="37" name="Line 37"/>
          <p:cNvSpPr/>
          <p:nvPr/>
        </p:nvSpPr>
        <p:spPr>
          <a:xfrm>
            <a:off x="6343650" y="260985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320790" y="27584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数字智能化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31268" y="3114199"/>
            <a:ext cx="17121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AI辅助坐席沟通，实时话术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31268" y="33046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推荐，情绪与合规监控</a:t>
            </a:r>
          </a:p>
        </p:txBody>
      </p:sp>
      <p:sp>
        <p:nvSpPr>
          <p:cNvPr id="41" name="Line 41"/>
          <p:cNvSpPr/>
          <p:nvPr/>
        </p:nvSpPr>
        <p:spPr>
          <a:xfrm>
            <a:off x="6343650" y="369570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320790" y="38442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服务营销一体化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31268" y="42000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全生命周期运营，从新客获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1268" y="43905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取到复购激活，数据闭环优化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转型实施过程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63677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四步路径：数据辅助、人机协同、合规提效、全生命周期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2095500"/>
            <a:ext cx="2286000" cy="11430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92109" y="2349341"/>
            <a:ext cx="4447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STEP 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1214" y="25946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数据赋能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0180" y="28555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客户识别</a:t>
            </a:r>
          </a:p>
        </p:txBody>
      </p:sp>
      <p:sp>
        <p:nvSpPr>
          <p:cNvPr id="13" name="Line 13"/>
          <p:cNvSpPr/>
          <p:nvPr/>
        </p:nvSpPr>
        <p:spPr>
          <a:xfrm>
            <a:off x="2857500" y="26670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>
            <a:noFill/>
          </a:ln>
        </p:spPr>
      </p:sp>
      <p:sp>
        <p:nvSpPr>
          <p:cNvPr id="14" name="Polygon 14"/>
          <p:cNvSpPr/>
          <p:nvPr/>
        </p:nvSpPr>
        <p:spPr>
          <a:xfrm>
            <a:off x="3409950" y="2609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524250" y="2095500"/>
            <a:ext cx="2286000" cy="11430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429044" y="2349341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STEP 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3964" y="25946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人机协同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2930" y="28555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智能外呼</a:t>
            </a:r>
          </a:p>
        </p:txBody>
      </p:sp>
      <p:sp>
        <p:nvSpPr>
          <p:cNvPr id="19" name="Line 19"/>
          <p:cNvSpPr/>
          <p:nvPr/>
        </p:nvSpPr>
        <p:spPr>
          <a:xfrm>
            <a:off x="5810250" y="26670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6362700" y="2609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477000" y="2095500"/>
            <a:ext cx="2286000" cy="11430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381794" y="2349341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STEP 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36714" y="25946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合规提效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45680" y="28555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智能质检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0" y="26670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>
            <a:noFill/>
          </a:ln>
        </p:spPr>
      </p:sp>
      <p:sp>
        <p:nvSpPr>
          <p:cNvPr id="26" name="Polygon 26"/>
          <p:cNvSpPr/>
          <p:nvPr/>
        </p:nvSpPr>
        <p:spPr>
          <a:xfrm>
            <a:off x="9315450" y="2609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9429750" y="2095500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334544" y="2349341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STEP 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13430" y="25946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全生命周期运营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98430" y="28555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0E4FA"/>
                </a:solidFill>
                <a:latin typeface="Segoe UI"/>
                <a:ea typeface="Microsoft YaHei"/>
                <a:cs typeface="Segoe UI"/>
              </a:rPr>
              <a:t>持续增长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81000" y="3714750"/>
            <a:ext cx="26670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0065" y="38871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数据赋能客户识别</a:t>
            </a:r>
          </a:p>
        </p:txBody>
      </p:sp>
      <p:sp>
        <p:nvSpPr>
          <p:cNvPr id="33" name="Line 33"/>
          <p:cNvSpPr/>
          <p:nvPr/>
        </p:nvSpPr>
        <p:spPr>
          <a:xfrm>
            <a:off x="533400" y="4095750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</a:path>
            </a:pathLst>
          </a:custGeom>
          <a:noFill/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33400" y="4191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17220" y="4198620"/>
            <a:ext cx="15804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AI需求识别模型，预测客户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33400" y="4419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17220" y="4427220"/>
            <a:ext cx="1744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金融需求（信贷/理财/保险）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33400" y="4648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17220" y="46558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精准分层运营，差异化触达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33400" y="4876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17220" y="4884420"/>
            <a:ext cx="11598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首拨转化率提升28%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238500" y="3714750"/>
            <a:ext cx="26670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377565" y="38871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人机协同智能外呼</a:t>
            </a:r>
          </a:p>
        </p:txBody>
      </p:sp>
      <p:sp>
        <p:nvSpPr>
          <p:cNvPr id="44" name="Line 44"/>
          <p:cNvSpPr/>
          <p:nvPr/>
        </p:nvSpPr>
        <p:spPr>
          <a:xfrm>
            <a:off x="3390900" y="4095750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</a:path>
            </a:pathLst>
          </a:custGeom>
          <a:noFill/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3390900" y="4191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474720" y="4198620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智能客户路由，匹配最优坐席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390900" y="4419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474720" y="4427220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实时话术辅助，异议处理提醒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390900" y="4648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474720" y="46558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情绪与合规实时监控预警</a:t>
            </a:r>
          </a:p>
        </p:txBody>
      </p:sp>
      <p:sp>
        <p:nvSpPr>
          <p:cNvPr id="51" name="Rectangle 51"/>
          <p:cNvSpPr/>
          <p:nvPr/>
        </p:nvSpPr>
        <p:spPr>
          <a:xfrm>
            <a:off x="3390900" y="4876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474720" y="4884420"/>
            <a:ext cx="10284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人均效率提升40%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096000" y="3714750"/>
            <a:ext cx="26670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235065" y="3887152"/>
            <a:ext cx="11296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AI辅助合规提效</a:t>
            </a:r>
          </a:p>
        </p:txBody>
      </p:sp>
      <p:sp>
        <p:nvSpPr>
          <p:cNvPr id="55" name="Line 55"/>
          <p:cNvSpPr/>
          <p:nvPr/>
        </p:nvSpPr>
        <p:spPr>
          <a:xfrm>
            <a:off x="6248400" y="4095750"/>
            <a:ext cx="2362200" cy="9525"/>
          </a:xfrm>
          <a:custGeom>
            <a:avLst/>
            <a:gdLst/>
            <a:ahLst/>
            <a:cxnLst/>
            <a:rect l="l" t="t" r="r" b="b"/>
            <a:pathLst>
              <a:path w="2362200" h="9525">
                <a:moveTo>
                  <a:pt x="0" y="0"/>
                </a:moveTo>
                <a:lnTo>
                  <a:pt x="2362200" y="0"/>
                </a:lnTo>
              </a:path>
            </a:pathLst>
          </a:custGeom>
          <a:noFill/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6248400" y="4191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32220" y="41986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实时识别敏感词、违规话术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248400" y="4419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332220" y="4427220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智能质检100%通话覆盖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248400" y="4648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32220" y="4655820"/>
            <a:ext cx="1100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质检效率提升300%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248400" y="4876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332220" y="4884420"/>
            <a:ext cx="10284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合规风险降低60%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953500" y="3714750"/>
            <a:ext cx="28575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092565" y="38871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全生命周期运营</a:t>
            </a:r>
          </a:p>
        </p:txBody>
      </p:sp>
      <p:sp>
        <p:nvSpPr>
          <p:cNvPr id="66" name="Line 66"/>
          <p:cNvSpPr/>
          <p:nvPr/>
        </p:nvSpPr>
        <p:spPr>
          <a:xfrm>
            <a:off x="9105900" y="4095750"/>
            <a:ext cx="2552700" cy="9525"/>
          </a:xfrm>
          <a:custGeom>
            <a:avLst/>
            <a:gdLst/>
            <a:ahLst/>
            <a:cxnLst/>
            <a:rect l="l" t="t" r="r" b="b"/>
            <a:pathLst>
              <a:path w="2552700" h="952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/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9105900" y="4191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189720" y="4198620"/>
            <a:ext cx="1744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新客获取→首次转化→复购激活</a:t>
            </a:r>
          </a:p>
        </p:txBody>
      </p:sp>
      <p:sp>
        <p:nvSpPr>
          <p:cNvPr id="69" name="Rectangle 69"/>
          <p:cNvSpPr/>
          <p:nvPr/>
        </p:nvSpPr>
        <p:spPr>
          <a:xfrm>
            <a:off x="9105900" y="4419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9189720" y="44272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流失预警，及时挽回</a:t>
            </a:r>
          </a:p>
        </p:txBody>
      </p:sp>
      <p:sp>
        <p:nvSpPr>
          <p:cNvPr id="71" name="Rectangle 71"/>
          <p:cNvSpPr/>
          <p:nvPr/>
        </p:nvSpPr>
        <p:spPr>
          <a:xfrm>
            <a:off x="9105900" y="4648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9189720" y="465582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数据闭环沉淀画像持续优化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105900" y="4876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189720" y="4884420"/>
            <a:ext cx="11598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客户复购率提升30%</a:t>
            </a:r>
          </a:p>
        </p:txBody>
      </p:sp>
      <p:sp>
        <p:nvSpPr>
          <p:cNvPr id="75" name="Line 7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转型成果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6759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接通率+35%，人均效率+40%，转化率+25%，合规率保持100%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1970" y="13506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接通率提升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490" y="1682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+35%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970" y="23602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精准客户识别，减少无效触达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191000" y="1143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191000" y="1143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31970" y="1350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首拨转化率提升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1490" y="1682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+28%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31970" y="2360295"/>
            <a:ext cx="15804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AI辅助话术推荐，精准触达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1143000"/>
            <a:ext cx="3810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001000" y="1143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41970" y="13506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人均效率提升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1490" y="1682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+40%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1970" y="2360295"/>
            <a:ext cx="11861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AI成为坐席超级助手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3048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81000" y="3048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21970" y="32556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新人上手时间缩短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1490" y="3587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-67%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970" y="4265295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AI辅助降低新人培训门槛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91000" y="3048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191000" y="3048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331970" y="3255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营销转化率提升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01490" y="3587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+25%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31970" y="42652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个性化产品匹配，数据闭环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0" y="3048000"/>
            <a:ext cx="3810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8001000" y="3048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141970" y="3255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客户复购率提升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11490" y="3587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+30%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41970" y="42652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全生命周期运营，主动触达</a:t>
            </a:r>
          </a:p>
        </p:txBody>
      </p:sp>
      <p:sp>
        <p:nvSpPr>
          <p:cNvPr id="39" name="Line 3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93270" y="6654641"/>
            <a:ext cx="328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成功关键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8616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数据准确度、人机平衡、合规效率兼顾是成功三要素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238250"/>
            <a:ext cx="3524250" cy="495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81000" y="1238250"/>
            <a:ext cx="47625" cy="495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51911" y="15301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要素一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0732" y="1899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精准识别</a:t>
            </a:r>
          </a:p>
        </p:txBody>
      </p:sp>
      <p:sp>
        <p:nvSpPr>
          <p:cNvPr id="13" name="Line 13"/>
          <p:cNvSpPr/>
          <p:nvPr/>
        </p:nvSpPr>
        <p:spPr>
          <a:xfrm>
            <a:off x="619125" y="2381250"/>
            <a:ext cx="3095625" cy="9525"/>
          </a:xfrm>
          <a:custGeom>
            <a:avLst/>
            <a:gdLst/>
            <a:ahLst/>
            <a:cxnLst/>
            <a:rect l="l" t="t" r="r" b="b"/>
            <a:pathLst>
              <a:path w="3095625" h="9525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19125" y="25527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1518" y="2552224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AI需求识别模型预测客户意向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" y="2857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11518" y="2857024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精准分层运营，差异化触达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" y="3162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11518" y="3161824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避免无效打扰，提升客户体验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" y="34671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1518" y="3466624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接通率提升35%，首拨转化+28%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23875" y="5429250"/>
            <a:ext cx="32385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607427" y="56668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找对人，说对话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333875" y="1238250"/>
            <a:ext cx="3524250" cy="495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333875" y="1238250"/>
            <a:ext cx="47625" cy="49530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904786" y="15301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要素二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33606" y="1899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人机协同</a:t>
            </a:r>
          </a:p>
        </p:txBody>
      </p:sp>
      <p:sp>
        <p:nvSpPr>
          <p:cNvPr id="28" name="Line 28"/>
          <p:cNvSpPr/>
          <p:nvPr/>
        </p:nvSpPr>
        <p:spPr>
          <a:xfrm>
            <a:off x="4572000" y="2381250"/>
            <a:ext cx="3095625" cy="9525"/>
          </a:xfrm>
          <a:custGeom>
            <a:avLst/>
            <a:gdLst/>
            <a:ahLst/>
            <a:cxnLst/>
            <a:rect l="l" t="t" r="r" b="b"/>
            <a:pathLst>
              <a:path w="3095625" h="9525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4572000" y="25527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664392" y="2552224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AI辅助而非替代人工坐席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572000" y="2857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64392" y="2857024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实时话术推荐，情绪监控预警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3162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64392" y="3161824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保持营销的温度和信任感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72000" y="34671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64392" y="3466624"/>
            <a:ext cx="1932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人均效率+40%，新人上手-67%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476750" y="5429250"/>
            <a:ext cx="32385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496757" y="5666899"/>
            <a:ext cx="1198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AI辅助，人做决策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86750" y="1238250"/>
            <a:ext cx="3524250" cy="495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286750" y="1238250"/>
            <a:ext cx="47625" cy="49530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857661" y="15301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要素三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86482" y="1899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合规效率</a:t>
            </a:r>
          </a:p>
        </p:txBody>
      </p:sp>
      <p:sp>
        <p:nvSpPr>
          <p:cNvPr id="43" name="Line 43"/>
          <p:cNvSpPr/>
          <p:nvPr/>
        </p:nvSpPr>
        <p:spPr>
          <a:xfrm>
            <a:off x="8524875" y="2381250"/>
            <a:ext cx="3095625" cy="9525"/>
          </a:xfrm>
          <a:custGeom>
            <a:avLst/>
            <a:gdLst/>
            <a:ahLst/>
            <a:cxnLst/>
            <a:rect l="l" t="t" r="r" b="b"/>
            <a:pathLst>
              <a:path w="3095625" h="9525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8524875" y="25527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617268" y="2552224"/>
            <a:ext cx="1527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实时合规监控+智能质检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524875" y="2857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617268" y="2857024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从后检查转向事中预警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524875" y="3162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617268" y="3161824"/>
            <a:ext cx="18189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合规率保持100%，风险降60%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24875" y="34671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617268" y="3466624"/>
            <a:ext cx="119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质检效率提升300%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429625" y="5429250"/>
            <a:ext cx="32385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214140" y="566689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合规不降效，效率不越线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组织变革与人才培养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65827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3000人团队稳定，60%本科以上，复合型人才培养体系成熟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56197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20065" y="11058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组织架构变革</a:t>
            </a:r>
          </a:p>
        </p:txBody>
      </p:sp>
      <p:sp>
        <p:nvSpPr>
          <p:cNvPr id="11" name="Line 11"/>
          <p:cNvSpPr/>
          <p:nvPr/>
        </p:nvSpPr>
        <p:spPr>
          <a:xfrm>
            <a:off x="533400" y="1295400"/>
            <a:ext cx="5314950" cy="9525"/>
          </a:xfrm>
          <a:custGeom>
            <a:avLst/>
            <a:gdLst/>
            <a:ahLst/>
            <a:cxnLst/>
            <a:rect l="l" t="t" r="r" b="b"/>
            <a:pathLst>
              <a:path w="5314950" h="9525">
                <a:moveTo>
                  <a:pt x="0" y="0"/>
                </a:moveTo>
                <a:lnTo>
                  <a:pt x="5314950" y="0"/>
                </a:lnTo>
              </a:path>
            </a:pathLst>
          </a:custGeom>
          <a:noFill/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33400" y="14287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16268" y="1418749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二级部门架构，数据科技业务部独立运营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33400" y="16573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16268" y="1647349"/>
            <a:ext cx="18901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前台-中台-后台三层分工明确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" y="18859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16268" y="1875949"/>
            <a:ext cx="22817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中台新增AI辅助系统与质检培训职能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21145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16268" y="2104549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前台专注营销外呼，中台提供数据策略支撑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" y="2533650"/>
            <a:ext cx="493395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33400" y="2533650"/>
            <a:ext cx="381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3422" y="27303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人员结构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8660" y="3013710"/>
            <a:ext cx="296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前台2900+人 中台100+人 后台50+人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1518" y="332374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本科及以上60%，大专40%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3905250"/>
            <a:ext cx="493395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33400" y="3905250"/>
            <a:ext cx="38100" cy="1143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13422" y="41019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E6B3E"/>
                </a:solidFill>
                <a:latin typeface="Segoe UI"/>
                <a:ea typeface="Microsoft YaHei"/>
                <a:cs typeface="Segoe UI"/>
              </a:rPr>
              <a:t>团队稳定性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9610" y="4223385"/>
            <a:ext cx="8759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100%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518" y="471439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近一年团队零流失，核心骨干全部留存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153150" y="952500"/>
            <a:ext cx="565785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292215" y="11058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复合型人才培养</a:t>
            </a:r>
          </a:p>
        </p:txBody>
      </p:sp>
      <p:sp>
        <p:nvSpPr>
          <p:cNvPr id="32" name="Line 32"/>
          <p:cNvSpPr/>
          <p:nvPr/>
        </p:nvSpPr>
        <p:spPr>
          <a:xfrm>
            <a:off x="6305550" y="1295400"/>
            <a:ext cx="5353050" cy="9525"/>
          </a:xfrm>
          <a:custGeom>
            <a:avLst/>
            <a:gdLst/>
            <a:ahLst/>
            <a:cxnLst/>
            <a:rect l="l" t="t" r="r" b="b"/>
            <a:pathLst>
              <a:path w="5353050" h="9525">
                <a:moveTo>
                  <a:pt x="0" y="0"/>
                </a:moveTo>
                <a:lnTo>
                  <a:pt x="5353050" y="0"/>
                </a:lnTo>
              </a:path>
            </a:pathLst>
          </a:custGeom>
          <a:noFill/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6305550" y="14287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88418" y="1418749"/>
            <a:ext cx="25167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AI辅助降低新人门槛，缩短上手时间67%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305550" y="16573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388418" y="16473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从传统电销向数据驱动智能营销转型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305550" y="18859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388418" y="187594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培养复合型营销人才，兼顾合规与服务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305550" y="2305050"/>
            <a:ext cx="5353050" cy="1714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47472" y="25017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培养路径</a:t>
            </a:r>
          </a:p>
        </p:txBody>
      </p:sp>
      <p:sp>
        <p:nvSpPr>
          <p:cNvPr id="41" name="Line 41"/>
          <p:cNvSpPr/>
          <p:nvPr/>
        </p:nvSpPr>
        <p:spPr>
          <a:xfrm>
            <a:off x="6457950" y="268605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457950" y="2781300"/>
            <a:ext cx="142875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884860" y="29317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新人入职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49165" y="3130391"/>
            <a:ext cx="846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AI辅助快速上手</a:t>
            </a:r>
          </a:p>
        </p:txBody>
      </p:sp>
      <p:sp>
        <p:nvSpPr>
          <p:cNvPr id="45" name="Polygon 45"/>
          <p:cNvSpPr/>
          <p:nvPr/>
        </p:nvSpPr>
        <p:spPr>
          <a:xfrm>
            <a:off x="8001000" y="3067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7886700" y="31242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115300" y="2781300"/>
            <a:ext cx="142875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542210" y="29317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技能提升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24589" y="3130391"/>
            <a:ext cx="8101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数据+营销双修</a:t>
            </a:r>
          </a:p>
        </p:txBody>
      </p:sp>
      <p:sp>
        <p:nvSpPr>
          <p:cNvPr id="50" name="Polygon 50"/>
          <p:cNvSpPr/>
          <p:nvPr/>
        </p:nvSpPr>
        <p:spPr>
          <a:xfrm>
            <a:off x="9658350" y="3067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Line 51"/>
          <p:cNvSpPr/>
          <p:nvPr/>
        </p:nvSpPr>
        <p:spPr>
          <a:xfrm>
            <a:off x="9544050" y="31242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9772650" y="2781300"/>
            <a:ext cx="15240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178177" y="2931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复合型人才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96429" y="3130391"/>
            <a:ext cx="8764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0E4FA"/>
                </a:solidFill>
                <a:latin typeface="Segoe UI"/>
                <a:ea typeface="Microsoft YaHei"/>
                <a:cs typeface="Segoe UI"/>
              </a:rPr>
              <a:t>数据+合规+营销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305550" y="4343400"/>
            <a:ext cx="5353050" cy="190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6305550" y="4343400"/>
            <a:ext cx="38100" cy="19050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447472" y="452104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未来12个月三大挑战</a:t>
            </a:r>
          </a:p>
        </p:txBody>
      </p:sp>
      <p:sp>
        <p:nvSpPr>
          <p:cNvPr id="58" name="Line 58"/>
          <p:cNvSpPr/>
          <p:nvPr/>
        </p:nvSpPr>
        <p:spPr>
          <a:xfrm>
            <a:off x="6457950" y="470535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457950" y="4800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541770" y="4808220"/>
            <a:ext cx="23362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获客成本持续上升，需精准识别提升ROI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457950" y="5029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541770" y="5036820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金融营销合规要求持续收紧，强化合规能力</a:t>
            </a:r>
          </a:p>
        </p:txBody>
      </p:sp>
      <p:sp>
        <p:nvSpPr>
          <p:cNvPr id="63" name="Rectangle 63"/>
          <p:cNvSpPr/>
          <p:nvPr/>
        </p:nvSpPr>
        <p:spPr>
          <a:xfrm>
            <a:off x="6457950" y="5257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541770" y="5265420"/>
            <a:ext cx="2632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AI、大数据等新技术快速迭代，持续学习应用</a:t>
            </a:r>
          </a:p>
        </p:txBody>
      </p:sp>
      <p:sp>
        <p:nvSpPr>
          <p:cNvPr id="65" name="Line 6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7122" y="665464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下一步计划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6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持续精进精准识别、合规强化、技术迭代三大方向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524000"/>
            <a:ext cx="3619500" cy="381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81000" y="1524000"/>
            <a:ext cx="38100" cy="381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1022" y="1739741"/>
            <a:ext cx="1045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STEP 01 · 精准识别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0545" y="20697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深化数据驱动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9118" y="244744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升级AI需求识别模型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118" y="26760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扩充客户画像维度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118" y="29046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提升需求预测准确率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118" y="3133249"/>
            <a:ext cx="15057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目标：接通率再提升15%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76250" y="4572000"/>
            <a:ext cx="34290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91804" y="48015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找对人，说对话，转化快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1524000"/>
            <a:ext cx="3619500" cy="381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286250" y="1524000"/>
            <a:ext cx="38100" cy="381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466272" y="1739741"/>
            <a:ext cx="10752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STEP 02 · 合规强化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55795" y="20697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合规体系升级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64368" y="2447449"/>
            <a:ext cx="1284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完善AI实时合规监控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64368" y="26760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建立合规知识库自动更新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64368" y="29046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强化坐席合规意识培训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64368" y="3133249"/>
            <a:ext cx="1726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目标：合规率持续保持100%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81500" y="4572000"/>
            <a:ext cx="34290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197054" y="48015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合规不降效，效率不越线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524000"/>
            <a:ext cx="3619500" cy="381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71522" y="1739741"/>
            <a:ext cx="10752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STEP 03 · 技术迭代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1045" y="20697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技术持续迭代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9618" y="2447449"/>
            <a:ext cx="1427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跟进AI大模型应用落地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9618" y="26760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优化智能路由匹配算法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618" y="29046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升级情绪识别与干预能力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618" y="313324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目标：人均效率再提升20%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86750" y="4572000"/>
            <a:ext cx="3429000" cy="5715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263324" y="48015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技术驱动，持续领先</a:t>
            </a:r>
          </a:p>
        </p:txBody>
      </p:sp>
      <p:sp>
        <p:nvSpPr>
          <p:cNvPr id="38" name="Line 3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87245" y="665464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51522" y="672941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8678" y="2371725"/>
            <a:ext cx="287464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感谢评审</a:t>
            </a:r>
          </a:p>
        </p:txBody>
      </p:sp>
      <p:sp>
        <p:nvSpPr>
          <p:cNvPr id="6" name="Line 6"/>
          <p:cNvSpPr/>
          <p:nvPr/>
        </p:nvSpPr>
        <p:spPr>
          <a:xfrm>
            <a:off x="5143500" y="3238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1A5FA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856416" y="3569018"/>
            <a:ext cx="24791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京东科技以数据驱动+AI辅助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190" y="3854768"/>
            <a:ext cx="49536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将3000人电销团队打造为年放款2000亿+的智能营销中枢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6429" y="4649152"/>
            <a:ext cx="37991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京东科技股份有限公司 金融科技事业群 数据科技业务部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22624" y="4934902"/>
            <a:ext cx="33467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联系人：孙大年 sundanian@jd.com 18249515580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
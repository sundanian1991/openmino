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51522" y="672941"/>
            <a:ext cx="100898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2026年度评选申报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06805" y="2359342"/>
            <a:ext cx="5885217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2026年度“新客服最佳实践奖”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6805" y="2930842"/>
            <a:ext cx="1820608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申报方案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23950" y="3838575"/>
            <a:ext cx="44853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京东科技 — 金融科技事业群 — 数据科技业务部</a:t>
            </a:r>
          </a:p>
        </p:txBody>
      </p:sp>
      <p:sp>
        <p:nvSpPr>
          <p:cNvPr id="8" name="Line 8"/>
          <p:cNvSpPr/>
          <p:nvPr/>
        </p:nvSpPr>
        <p:spPr>
          <a:xfrm>
            <a:off x="1143000" y="43815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1A5FA8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1129665" y="4649152"/>
            <a:ext cx="31090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申报人：孙大年 高级经理 sundanian@jd.com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9665" y="4915852"/>
            <a:ext cx="20662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讲解时间 30 分钟 Q&amp;A 15 分钟</a:t>
            </a:r>
          </a:p>
        </p:txBody>
      </p:sp>
      <p:sp>
        <p:nvSpPr>
          <p:cNvPr id="11" name="Rectangle 11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企业介绍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6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京东科技以技术为本，承载集团金融营销服务职能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5715000" cy="1905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685800" y="1143000"/>
            <a:ext cx="533400" cy="5334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800100" y="1352550"/>
            <a:ext cx="304800" cy="285750"/>
          </a:xfrm>
          <a:prstGeom prst="rect">
            <a:avLst/>
          </a:prstGeom>
          <a:noFill/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838200" y="1390650"/>
            <a:ext cx="9525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971550" y="1390650"/>
            <a:ext cx="9525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38200" y="1504950"/>
            <a:ext cx="9525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971550" y="1504950"/>
            <a:ext cx="95250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" name="Polygon 16"/>
          <p:cNvSpPr/>
          <p:nvPr/>
        </p:nvSpPr>
        <p:spPr>
          <a:xfrm>
            <a:off x="800100" y="1295400"/>
            <a:ext cx="304800" cy="76200"/>
          </a:xfrm>
          <a:custGeom>
            <a:avLst/>
            <a:gdLst/>
            <a:ahLst/>
            <a:cxnLst/>
            <a:rect l="l" t="t" r="r" b="b"/>
            <a:pathLst>
              <a:path w="304800" h="76200">
                <a:moveTo>
                  <a:pt x="152400" y="0"/>
                </a:moveTo>
                <a:lnTo>
                  <a:pt x="0" y="76200"/>
                </a:lnTo>
                <a:lnTo>
                  <a:pt x="304800" y="762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361122" y="12063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企业定位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52550" y="1438275"/>
            <a:ext cx="214286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金融科技 / 科技服务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59218" y="172354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主营业务：信息技术咨询服务、人工智能应用、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59218" y="1914049"/>
            <a:ext cx="216074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云计算、软件开发、数据处理服务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3009900"/>
            <a:ext cx="276225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81000" y="3009900"/>
            <a:ext cx="381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1524000" y="3238500"/>
            <a:ext cx="533400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1657350" y="3314700"/>
            <a:ext cx="266700" cy="285750"/>
          </a:xfrm>
          <a:custGeom>
            <a:avLst/>
            <a:gdLst/>
            <a:ahLst/>
            <a:cxnLst/>
            <a:rect l="l" t="t" r="r" b="b"/>
            <a:pathLst>
              <a:path w="266700" h="285750">
                <a:moveTo>
                  <a:pt x="133350" y="57150"/>
                </a:moveTo>
                <a:cubicBezTo>
                  <a:pt x="133350" y="19050"/>
                  <a:pt x="95250" y="0"/>
                  <a:pt x="57150" y="19050"/>
                </a:cubicBezTo>
                <a:cubicBezTo>
                  <a:pt x="19050" y="38100"/>
                  <a:pt x="0" y="76200"/>
                  <a:pt x="0" y="114300"/>
                </a:cubicBezTo>
                <a:cubicBezTo>
                  <a:pt x="0" y="171450"/>
                  <a:pt x="57150" y="228600"/>
                  <a:pt x="133350" y="285750"/>
                </a:cubicBezTo>
                <a:cubicBezTo>
                  <a:pt x="209550" y="228600"/>
                  <a:pt x="266700" y="171450"/>
                  <a:pt x="266700" y="114300"/>
                </a:cubicBezTo>
                <a:cubicBezTo>
                  <a:pt x="266700" y="76200"/>
                  <a:pt x="247650" y="38100"/>
                  <a:pt x="209550" y="19050"/>
                </a:cubicBezTo>
                <a:cubicBezTo>
                  <a:pt x="171450" y="0"/>
                  <a:pt x="133350" y="19050"/>
                  <a:pt x="133350" y="5715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54355" y="38547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服务使命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558165" y="4172902"/>
            <a:ext cx="17978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技术为本，让生活更美好</a:t>
            </a:r>
          </a:p>
        </p:txBody>
      </p:sp>
      <p:sp>
        <p:nvSpPr>
          <p:cNvPr id="27" name="Line 27"/>
          <p:cNvSpPr/>
          <p:nvPr/>
        </p:nvSpPr>
        <p:spPr>
          <a:xfrm>
            <a:off x="571500" y="44577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560070" y="45891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以技术驱动服务升级，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60070" y="47796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为用户提供专业、高效的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60070" y="49701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金融服务体验</a:t>
            </a:r>
          </a:p>
        </p:txBody>
      </p:sp>
      <p:sp>
        <p:nvSpPr>
          <p:cNvPr id="31" name="Line 31"/>
          <p:cNvSpPr/>
          <p:nvPr/>
        </p:nvSpPr>
        <p:spPr>
          <a:xfrm>
            <a:off x="571500" y="535305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556260" y="54902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服务愿景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9118" y="57621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成为全球最值得信赖的企业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9118" y="59907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建立长期信任关系，持续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9118" y="616219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为客户创造价值</a:t>
            </a:r>
          </a:p>
        </p:txBody>
      </p:sp>
      <p:sp>
        <p:nvSpPr>
          <p:cNvPr id="36" name="Rectangle 36"/>
          <p:cNvSpPr/>
          <p:nvPr/>
        </p:nvSpPr>
        <p:spPr>
          <a:xfrm>
            <a:off x="3333750" y="3009900"/>
            <a:ext cx="2762250" cy="3429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3333750" y="3009900"/>
            <a:ext cx="381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4476750" y="3238500"/>
            <a:ext cx="533400" cy="5334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Polygon 39"/>
          <p:cNvSpPr/>
          <p:nvPr/>
        </p:nvSpPr>
        <p:spPr>
          <a:xfrm>
            <a:off x="4610100" y="3352800"/>
            <a:ext cx="266700" cy="247650"/>
          </a:xfrm>
          <a:custGeom>
            <a:avLst/>
            <a:gdLst/>
            <a:ahLst/>
            <a:cxnLst/>
            <a:rect l="l" t="t" r="r" b="b"/>
            <a:pathLst>
              <a:path w="266700" h="247650">
                <a:moveTo>
                  <a:pt x="133350" y="0"/>
                </a:moveTo>
                <a:lnTo>
                  <a:pt x="171450" y="95250"/>
                </a:lnTo>
                <a:lnTo>
                  <a:pt x="266700" y="95250"/>
                </a:lnTo>
                <a:lnTo>
                  <a:pt x="190500" y="152400"/>
                </a:lnTo>
                <a:lnTo>
                  <a:pt x="219075" y="247650"/>
                </a:lnTo>
                <a:lnTo>
                  <a:pt x="133350" y="190500"/>
                </a:lnTo>
                <a:lnTo>
                  <a:pt x="47625" y="247650"/>
                </a:lnTo>
                <a:lnTo>
                  <a:pt x="76200" y="152400"/>
                </a:lnTo>
                <a:lnTo>
                  <a:pt x="0" y="95250"/>
                </a:lnTo>
                <a:lnTo>
                  <a:pt x="95250" y="952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507105" y="38547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六大核心价值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524250" y="41910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2" name="TextBox 42"/>
          <p:cNvSpPr txBox="1"/>
          <p:nvPr/>
        </p:nvSpPr>
        <p:spPr>
          <a:xfrm>
            <a:off x="3784330" y="43524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客户为先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762500" y="41910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5172099" y="43524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创新</a:t>
            </a:r>
          </a:p>
        </p:txBody>
      </p:sp>
      <p:sp>
        <p:nvSpPr>
          <p:cNvPr id="45" name="Rectangle 45"/>
          <p:cNvSpPr/>
          <p:nvPr/>
        </p:nvSpPr>
        <p:spPr>
          <a:xfrm>
            <a:off x="3524250" y="46863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6" name="TextBox 46"/>
          <p:cNvSpPr txBox="1"/>
          <p:nvPr/>
        </p:nvSpPr>
        <p:spPr>
          <a:xfrm>
            <a:off x="3933849" y="48477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拼搏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762500" y="46863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172099" y="48477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担当</a:t>
            </a:r>
          </a:p>
        </p:txBody>
      </p:sp>
      <p:sp>
        <p:nvSpPr>
          <p:cNvPr id="49" name="Rectangle 49"/>
          <p:cNvSpPr/>
          <p:nvPr/>
        </p:nvSpPr>
        <p:spPr>
          <a:xfrm>
            <a:off x="3524250" y="51816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3933849" y="53430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感恩</a:t>
            </a:r>
          </a:p>
        </p:txBody>
      </p:sp>
      <p:sp>
        <p:nvSpPr>
          <p:cNvPr id="51" name="Rectangle 51"/>
          <p:cNvSpPr/>
          <p:nvPr/>
        </p:nvSpPr>
        <p:spPr>
          <a:xfrm>
            <a:off x="4762500" y="5181600"/>
            <a:ext cx="1143000" cy="4191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5172099" y="53430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诚信</a:t>
            </a:r>
          </a:p>
        </p:txBody>
      </p:sp>
      <p:sp>
        <p:nvSpPr>
          <p:cNvPr id="53" name="Rectangle 53"/>
          <p:cNvSpPr/>
          <p:nvPr/>
        </p:nvSpPr>
        <p:spPr>
          <a:xfrm>
            <a:off x="6286500" y="952500"/>
            <a:ext cx="5524500" cy="55245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54" name="Rectangle 54"/>
          <p:cNvSpPr/>
          <p:nvPr/>
        </p:nvSpPr>
        <p:spPr>
          <a:xfrm>
            <a:off x="6286500" y="952500"/>
            <a:ext cx="38100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466522" y="12063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关键数字</a:t>
            </a:r>
          </a:p>
        </p:txBody>
      </p:sp>
      <p:sp>
        <p:nvSpPr>
          <p:cNvPr id="56" name="Line 56"/>
          <p:cNvSpPr/>
          <p:nvPr/>
        </p:nvSpPr>
        <p:spPr>
          <a:xfrm>
            <a:off x="6477000" y="13906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1A5FA8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6477000" y="1562100"/>
            <a:ext cx="247650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7463790" y="17587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开始运营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131263" y="1992630"/>
            <a:ext cx="1167975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2018</a:t>
            </a:r>
          </a:p>
        </p:txBody>
      </p:sp>
      <p:sp>
        <p:nvSpPr>
          <p:cNvPr id="60" name="Rectangle 60"/>
          <p:cNvSpPr/>
          <p:nvPr/>
        </p:nvSpPr>
        <p:spPr>
          <a:xfrm>
            <a:off x="9144000" y="1562100"/>
            <a:ext cx="228600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10035540" y="17587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运营年限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089461" y="1992630"/>
            <a:ext cx="395078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8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209847" y="2493645"/>
            <a:ext cx="154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年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77000" y="2857500"/>
            <a:ext cx="4953000" cy="9525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6629400" y="304800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Ellipse 66"/>
          <p:cNvSpPr/>
          <p:nvPr/>
        </p:nvSpPr>
        <p:spPr>
          <a:xfrm>
            <a:off x="6743700" y="3105150"/>
            <a:ext cx="114300" cy="114300"/>
          </a:xfrm>
          <a:prstGeom prst="ellipse">
            <a:avLst/>
          </a:prstGeom>
          <a:noFill/>
          <a:ln w="14288">
            <a:solidFill>
              <a:srgbClr val="FFFFFF"/>
            </a:solidFill>
          </a:ln>
        </p:spPr>
      </p:sp>
      <p:sp>
        <p:nvSpPr>
          <p:cNvPr id="67" name="Ellipse 67"/>
          <p:cNvSpPr/>
          <p:nvPr/>
        </p:nvSpPr>
        <p:spPr>
          <a:xfrm>
            <a:off x="6781800" y="3143250"/>
            <a:ext cx="38100" cy="38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Freeform 68"/>
          <p:cNvSpPr/>
          <p:nvPr/>
        </p:nvSpPr>
        <p:spPr>
          <a:xfrm>
            <a:off x="6800850" y="32194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solidFill>
            <a:srgbClr val="000000"/>
          </a:solidFill>
          <a:ln w="14288">
            <a:solidFill>
              <a:srgbClr val="FFFFFF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7114222" y="3149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总部地址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111365" y="3353752"/>
            <a:ext cx="186690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北京市北京经济技术开发区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13270" y="35604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科创十一街18号院2号楼6层601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477000" y="3962400"/>
            <a:ext cx="4953000" cy="9525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73" name="Rectangle 73"/>
          <p:cNvSpPr/>
          <p:nvPr/>
        </p:nvSpPr>
        <p:spPr>
          <a:xfrm>
            <a:off x="6629400" y="415290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Rectangle 74"/>
          <p:cNvSpPr/>
          <p:nvPr/>
        </p:nvSpPr>
        <p:spPr>
          <a:xfrm>
            <a:off x="6705600" y="4229100"/>
            <a:ext cx="152400" cy="190500"/>
          </a:xfrm>
          <a:prstGeom prst="rect">
            <a:avLst/>
          </a:prstGeom>
          <a:noFill/>
          <a:ln w="14288">
            <a:solidFill>
              <a:srgbClr val="FFFFFF"/>
            </a:solidFill>
          </a:ln>
        </p:spPr>
      </p:sp>
      <p:sp>
        <p:nvSpPr>
          <p:cNvPr id="75" name="Line 75"/>
          <p:cNvSpPr/>
          <p:nvPr/>
        </p:nvSpPr>
        <p:spPr>
          <a:xfrm>
            <a:off x="6743700" y="42672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6" name="Line 76"/>
          <p:cNvSpPr/>
          <p:nvPr/>
        </p:nvSpPr>
        <p:spPr>
          <a:xfrm>
            <a:off x="6819900" y="4267200"/>
            <a:ext cx="9525" cy="95250"/>
          </a:xfrm>
          <a:custGeom>
            <a:avLst/>
            <a:gdLst/>
            <a:ahLst/>
            <a:cxnLst/>
            <a:rect l="l" t="t" r="r" b="b"/>
            <a:pathLst>
              <a:path w="952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7114222" y="42543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客服电话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7101840" y="4434840"/>
            <a:ext cx="15639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4000988505</a:t>
            </a:r>
          </a:p>
        </p:txBody>
      </p:sp>
      <p:sp>
        <p:nvSpPr>
          <p:cNvPr id="79" name="Rectangle 79"/>
          <p:cNvSpPr/>
          <p:nvPr/>
        </p:nvSpPr>
        <p:spPr>
          <a:xfrm>
            <a:off x="6477000" y="5067300"/>
            <a:ext cx="4953000" cy="9525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80" name="Rectangle 80"/>
          <p:cNvSpPr/>
          <p:nvPr/>
        </p:nvSpPr>
        <p:spPr>
          <a:xfrm>
            <a:off x="6629400" y="525780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Rectangle 81"/>
          <p:cNvSpPr/>
          <p:nvPr/>
        </p:nvSpPr>
        <p:spPr>
          <a:xfrm>
            <a:off x="6686550" y="5353050"/>
            <a:ext cx="2286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2" name="Rectangle 82"/>
          <p:cNvSpPr/>
          <p:nvPr/>
        </p:nvSpPr>
        <p:spPr>
          <a:xfrm>
            <a:off x="6724650" y="5429250"/>
            <a:ext cx="1524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3" name="Rectangle 83"/>
          <p:cNvSpPr/>
          <p:nvPr/>
        </p:nvSpPr>
        <p:spPr>
          <a:xfrm>
            <a:off x="6753225" y="5505450"/>
            <a:ext cx="9525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7114222" y="53592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客服中心层级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7101840" y="5539740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二级部门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呼叫中心现况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50739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3000+人电销团队，35家供应商，年放款2000亿+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5715000" cy="3048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4355" y="1340168"/>
            <a:ext cx="169049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呼叫中心基本信息</a:t>
            </a:r>
          </a:p>
        </p:txBody>
      </p:sp>
      <p:sp>
        <p:nvSpPr>
          <p:cNvPr id="12" name="Line 12"/>
          <p:cNvSpPr/>
          <p:nvPr/>
        </p:nvSpPr>
        <p:spPr>
          <a:xfrm>
            <a:off x="571500" y="16192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752600"/>
            <a:ext cx="2286000" cy="381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50570" y="18840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服务渠道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035618" y="1875949"/>
            <a:ext cx="12134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电销渠道（100%）</a:t>
            </a:r>
          </a:p>
        </p:txBody>
      </p:sp>
      <p:sp>
        <p:nvSpPr>
          <p:cNvPr id="16" name="Rectangle 16"/>
          <p:cNvSpPr/>
          <p:nvPr/>
        </p:nvSpPr>
        <p:spPr>
          <a:xfrm>
            <a:off x="571500" y="2209800"/>
            <a:ext cx="2286000" cy="381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750570" y="23412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业务范围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035618" y="23331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金融营销电销外呼</a:t>
            </a:r>
          </a:p>
        </p:txBody>
      </p:sp>
      <p:sp>
        <p:nvSpPr>
          <p:cNvPr id="19" name="Rectangle 19"/>
          <p:cNvSpPr/>
          <p:nvPr/>
        </p:nvSpPr>
        <p:spPr>
          <a:xfrm>
            <a:off x="571500" y="2667000"/>
            <a:ext cx="2286000" cy="381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750570" y="27984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涵盖场景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035618" y="2790349"/>
            <a:ext cx="11639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拉新、复购全流程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3124200"/>
            <a:ext cx="2286000" cy="381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50570" y="32556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四业务产线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035618" y="3247549"/>
            <a:ext cx="173355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金条、企金、信用卡、财富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" y="3581400"/>
            <a:ext cx="2286000" cy="3810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0570" y="37128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运营始于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035618" y="3704749"/>
            <a:ext cx="4658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2018年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286500" y="1143000"/>
            <a:ext cx="5524500" cy="3048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6286500" y="1143000"/>
            <a:ext cx="381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459855" y="13401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团队规模</a:t>
            </a:r>
          </a:p>
        </p:txBody>
      </p:sp>
      <p:sp>
        <p:nvSpPr>
          <p:cNvPr id="31" name="Line 31"/>
          <p:cNvSpPr/>
          <p:nvPr/>
        </p:nvSpPr>
        <p:spPr>
          <a:xfrm>
            <a:off x="6477000" y="1619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1A5FA8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809750"/>
            <a:ext cx="1524000" cy="104775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987540" y="2006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前台人员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534787" y="2231708"/>
            <a:ext cx="1408426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2900+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168277" y="2692241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人</a:t>
            </a:r>
          </a:p>
        </p:txBody>
      </p:sp>
      <p:sp>
        <p:nvSpPr>
          <p:cNvPr id="36" name="Rectangle 36"/>
          <p:cNvSpPr/>
          <p:nvPr/>
        </p:nvSpPr>
        <p:spPr>
          <a:xfrm>
            <a:off x="8191500" y="1809750"/>
            <a:ext cx="1524000" cy="104775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8702040" y="2006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中台人员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442511" y="2231708"/>
            <a:ext cx="1021978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100+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82777" y="2692241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人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906000" y="1809750"/>
            <a:ext cx="1524000" cy="104775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10416540" y="2006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后台人员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0229470" y="2231708"/>
            <a:ext cx="877060" cy="640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50+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597277" y="2692241"/>
            <a:ext cx="14144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人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477000" y="3048000"/>
            <a:ext cx="4953000" cy="9525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656070" y="32175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前台人员教育背景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667500" y="3467100"/>
            <a:ext cx="1905000" cy="1905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210800" y="3519488"/>
            <a:ext cx="8184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本科及以上 60%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763000" y="3467100"/>
            <a:ext cx="1333500" cy="190500"/>
          </a:xfrm>
          <a:prstGeom prst="rect">
            <a:avLst/>
          </a:prstGeom>
          <a:solidFill>
            <a:srgbClr val="8A5A0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9193072" y="3519488"/>
            <a:ext cx="47335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大专 40%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7022" y="3797141"/>
            <a:ext cx="306938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供应商数量：35家 团队稳定性：100% 营销业务占比：99%</a:t>
            </a:r>
          </a:p>
        </p:txBody>
      </p:sp>
      <p:sp>
        <p:nvSpPr>
          <p:cNvPr id="51" name="Rectangle 51"/>
          <p:cNvSpPr/>
          <p:nvPr/>
        </p:nvSpPr>
        <p:spPr>
          <a:xfrm>
            <a:off x="381000" y="4476750"/>
            <a:ext cx="3619500" cy="1905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381000" y="4476750"/>
            <a:ext cx="38100" cy="19050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560070" y="4722495"/>
            <a:ext cx="52892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年度GMV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29759" y="4880610"/>
            <a:ext cx="2521982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2000亿+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964769" y="5609749"/>
            <a:ext cx="4519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放款额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286250" y="4476750"/>
            <a:ext cx="3619500" cy="1905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4286250" y="4476750"/>
            <a:ext cx="38100" cy="19050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4465320" y="47224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团队规模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5157049" y="4880610"/>
            <a:ext cx="187790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3000+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656421" y="5609749"/>
            <a:ext cx="8791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专业营销团队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191500" y="4476750"/>
            <a:ext cx="3619500" cy="1905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2" name="Rectangle 62"/>
          <p:cNvSpPr/>
          <p:nvPr/>
        </p:nvSpPr>
        <p:spPr>
          <a:xfrm>
            <a:off x="8191500" y="4476750"/>
            <a:ext cx="38100" cy="19050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370570" y="4722495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合规率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9319932" y="4880610"/>
            <a:ext cx="1362637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100%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9490472" y="5609749"/>
            <a:ext cx="10215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零重大合规事件</a:t>
            </a:r>
          </a:p>
        </p:txBody>
      </p:sp>
      <p:sp>
        <p:nvSpPr>
          <p:cNvPr id="66" name="Line 6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组织架构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35557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数据科技业务部为二级部门，三层架构分工明确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6667500" cy="5524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1905000" y="1143000"/>
            <a:ext cx="3619500" cy="5715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2351937" y="1340168"/>
            <a:ext cx="272562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数据科技业务部（二级部门）</a:t>
            </a:r>
          </a:p>
        </p:txBody>
      </p:sp>
      <p:sp>
        <p:nvSpPr>
          <p:cNvPr id="12" name="Line 12"/>
          <p:cNvSpPr/>
          <p:nvPr/>
        </p:nvSpPr>
        <p:spPr>
          <a:xfrm>
            <a:off x="3714750" y="1714500"/>
            <a:ext cx="9525" cy="571500"/>
          </a:xfrm>
          <a:custGeom>
            <a:avLst/>
            <a:gdLst/>
            <a:ahLst/>
            <a:cxnLst/>
            <a:rect l="l" t="t" r="r" b="b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>
            <a:noFill/>
          </a:ln>
        </p:spPr>
      </p:sp>
      <p:sp>
        <p:nvSpPr>
          <p:cNvPr id="13" name="Line 13"/>
          <p:cNvSpPr/>
          <p:nvPr/>
        </p:nvSpPr>
        <p:spPr>
          <a:xfrm>
            <a:off x="1143000" y="2286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4" name="Line 14"/>
          <p:cNvSpPr/>
          <p:nvPr/>
        </p:nvSpPr>
        <p:spPr>
          <a:xfrm>
            <a:off x="171450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5" name="Line 15"/>
          <p:cNvSpPr/>
          <p:nvPr/>
        </p:nvSpPr>
        <p:spPr>
          <a:xfrm>
            <a:off x="371475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6" name="Line 16"/>
          <p:cNvSpPr/>
          <p:nvPr/>
        </p:nvSpPr>
        <p:spPr>
          <a:xfrm>
            <a:off x="5715000" y="228600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noFill/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6200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129861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电销服务组</a:t>
            </a:r>
          </a:p>
        </p:txBody>
      </p:sp>
      <p:sp>
        <p:nvSpPr>
          <p:cNvPr id="19" name="Rectangle 19"/>
          <p:cNvSpPr/>
          <p:nvPr/>
        </p:nvSpPr>
        <p:spPr>
          <a:xfrm>
            <a:off x="276225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29886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策略运营组</a:t>
            </a:r>
          </a:p>
        </p:txBody>
      </p:sp>
      <p:sp>
        <p:nvSpPr>
          <p:cNvPr id="21" name="Rectangle 21"/>
          <p:cNvSpPr/>
          <p:nvPr/>
        </p:nvSpPr>
        <p:spPr>
          <a:xfrm>
            <a:off x="4762500" y="2571750"/>
            <a:ext cx="1905000" cy="571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299115" y="2801302"/>
            <a:ext cx="83177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后台管理部</a:t>
            </a:r>
          </a:p>
        </p:txBody>
      </p:sp>
      <p:sp>
        <p:nvSpPr>
          <p:cNvPr id="23" name="Line 23"/>
          <p:cNvSpPr/>
          <p:nvPr/>
        </p:nvSpPr>
        <p:spPr>
          <a:xfrm>
            <a:off x="171450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57150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57150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50570" y="3808095"/>
            <a:ext cx="13892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电销服务组 · 2900+人</a:t>
            </a:r>
          </a:p>
        </p:txBody>
      </p:sp>
      <p:sp>
        <p:nvSpPr>
          <p:cNvPr id="27" name="Line 27"/>
          <p:cNvSpPr/>
          <p:nvPr/>
        </p:nvSpPr>
        <p:spPr>
          <a:xfrm>
            <a:off x="7620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76200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772" y="41019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金融营销电销外呼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6200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46772" y="427339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拉新、复购全流程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6772" y="4444841"/>
            <a:ext cx="8222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本科及以上60%</a:t>
            </a:r>
          </a:p>
        </p:txBody>
      </p:sp>
      <p:sp>
        <p:nvSpPr>
          <p:cNvPr id="34" name="Rectangle 34"/>
          <p:cNvSpPr/>
          <p:nvPr/>
        </p:nvSpPr>
        <p:spPr>
          <a:xfrm>
            <a:off x="76200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846772" y="4616291"/>
            <a:ext cx="4607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大专40%</a:t>
            </a:r>
          </a:p>
        </p:txBody>
      </p:sp>
      <p:sp>
        <p:nvSpPr>
          <p:cNvPr id="36" name="Line 36"/>
          <p:cNvSpPr/>
          <p:nvPr/>
        </p:nvSpPr>
        <p:spPr>
          <a:xfrm>
            <a:off x="371475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37" name="Rectangle 37"/>
          <p:cNvSpPr/>
          <p:nvPr/>
        </p:nvSpPr>
        <p:spPr>
          <a:xfrm>
            <a:off x="257175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257175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2750820" y="3808095"/>
            <a:ext cx="1278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策略运营组 · 100+人</a:t>
            </a:r>
          </a:p>
        </p:txBody>
      </p:sp>
      <p:sp>
        <p:nvSpPr>
          <p:cNvPr id="40" name="Line 40"/>
          <p:cNvSpPr/>
          <p:nvPr/>
        </p:nvSpPr>
        <p:spPr>
          <a:xfrm>
            <a:off x="276225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276225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2847022" y="410194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数据策略与模型开发</a:t>
            </a:r>
          </a:p>
        </p:txBody>
      </p:sp>
      <p:sp>
        <p:nvSpPr>
          <p:cNvPr id="43" name="Rectangle 43"/>
          <p:cNvSpPr/>
          <p:nvPr/>
        </p:nvSpPr>
        <p:spPr>
          <a:xfrm>
            <a:off x="276225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2847022" y="4273391"/>
            <a:ext cx="108730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AI辅助系统运营管理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76225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847022" y="44448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质检培训运营</a:t>
            </a:r>
          </a:p>
        </p:txBody>
      </p:sp>
      <p:sp>
        <p:nvSpPr>
          <p:cNvPr id="47" name="Rectangle 47"/>
          <p:cNvSpPr/>
          <p:nvPr/>
        </p:nvSpPr>
        <p:spPr>
          <a:xfrm>
            <a:off x="276225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2847022" y="461629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合规保障与风控</a:t>
            </a:r>
          </a:p>
        </p:txBody>
      </p:sp>
      <p:sp>
        <p:nvSpPr>
          <p:cNvPr id="49" name="Line 49"/>
          <p:cNvSpPr/>
          <p:nvPr/>
        </p:nvSpPr>
        <p:spPr>
          <a:xfrm>
            <a:off x="5715000" y="314325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0"/>
                </a:moveTo>
                <a:lnTo>
                  <a:pt x="0" y="381000"/>
                </a:lnTo>
              </a:path>
            </a:pathLst>
          </a:custGeom>
          <a:noFill/>
          <a:ln w="9525">
            <a:solidFill>
              <a:srgbClr val="AAAAAA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4572000" y="3619500"/>
            <a:ext cx="2286000" cy="171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4572000" y="3619500"/>
            <a:ext cx="38100" cy="1714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4751070" y="3808095"/>
            <a:ext cx="12374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后台管理部 · 50+人</a:t>
            </a:r>
          </a:p>
        </p:txBody>
      </p:sp>
      <p:sp>
        <p:nvSpPr>
          <p:cNvPr id="53" name="Line 53"/>
          <p:cNvSpPr/>
          <p:nvPr/>
        </p:nvSpPr>
        <p:spPr>
          <a:xfrm>
            <a:off x="4762500" y="4000500"/>
            <a:ext cx="1905000" cy="9525"/>
          </a:xfrm>
          <a:custGeom>
            <a:avLst/>
            <a:gdLst/>
            <a:ahLst/>
            <a:cxnLst/>
            <a:rect l="l" t="t" r="r" b="b"/>
            <a:pathLst>
              <a:path w="1905000" h="9525">
                <a:moveTo>
                  <a:pt x="0" y="0"/>
                </a:moveTo>
                <a:lnTo>
                  <a:pt x="19050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4762500" y="40957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4847272" y="41019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供应商管理与考核</a:t>
            </a:r>
          </a:p>
        </p:txBody>
      </p:sp>
      <p:sp>
        <p:nvSpPr>
          <p:cNvPr id="56" name="Rectangle 56"/>
          <p:cNvSpPr/>
          <p:nvPr/>
        </p:nvSpPr>
        <p:spPr>
          <a:xfrm>
            <a:off x="4762500" y="42672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4847272" y="427339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业务管理与跨部门协调</a:t>
            </a:r>
          </a:p>
        </p:txBody>
      </p:sp>
      <p:sp>
        <p:nvSpPr>
          <p:cNvPr id="58" name="Rectangle 58"/>
          <p:cNvSpPr/>
          <p:nvPr/>
        </p:nvSpPr>
        <p:spPr>
          <a:xfrm>
            <a:off x="4762500" y="443865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4847272" y="44448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运营管理支撑</a:t>
            </a:r>
          </a:p>
        </p:txBody>
      </p:sp>
      <p:sp>
        <p:nvSpPr>
          <p:cNvPr id="60" name="Rectangle 60"/>
          <p:cNvSpPr/>
          <p:nvPr/>
        </p:nvSpPr>
        <p:spPr>
          <a:xfrm>
            <a:off x="4762500" y="4610100"/>
            <a:ext cx="28575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4847272" y="4616291"/>
            <a:ext cx="11053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数据分析与报告输出</a:t>
            </a:r>
          </a:p>
        </p:txBody>
      </p:sp>
      <p:sp>
        <p:nvSpPr>
          <p:cNvPr id="62" name="Rectangle 62"/>
          <p:cNvSpPr/>
          <p:nvPr/>
        </p:nvSpPr>
        <p:spPr>
          <a:xfrm>
            <a:off x="7200900" y="952500"/>
            <a:ext cx="4610100" cy="5524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7200900" y="952500"/>
            <a:ext cx="38100" cy="5524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380922" y="11301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关键信息</a:t>
            </a:r>
          </a:p>
        </p:txBody>
      </p:sp>
      <p:sp>
        <p:nvSpPr>
          <p:cNvPr id="65" name="Line 65"/>
          <p:cNvSpPr/>
          <p:nvPr/>
        </p:nvSpPr>
        <p:spPr>
          <a:xfrm>
            <a:off x="7391400" y="1314450"/>
            <a:ext cx="4229100" cy="9525"/>
          </a:xfrm>
          <a:custGeom>
            <a:avLst/>
            <a:gdLst/>
            <a:ahLst/>
            <a:cxnLst/>
            <a:rect l="l" t="t" r="r" b="b"/>
            <a:pathLst>
              <a:path w="4229100" h="9525">
                <a:moveTo>
                  <a:pt x="0" y="0"/>
                </a:moveTo>
                <a:lnTo>
                  <a:pt x="4229100" y="0"/>
                </a:lnTo>
              </a:path>
            </a:pathLst>
          </a:custGeom>
          <a:noFill/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7391400" y="1485900"/>
            <a:ext cx="39624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7566660" y="16040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部门定位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7570470" y="18649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京东科技金融科技事业群核心部门，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7570470" y="20554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承载集团金融营销服务职能</a:t>
            </a:r>
          </a:p>
        </p:txBody>
      </p:sp>
      <p:sp>
        <p:nvSpPr>
          <p:cNvPr id="70" name="Rectangle 70"/>
          <p:cNvSpPr/>
          <p:nvPr/>
        </p:nvSpPr>
        <p:spPr>
          <a:xfrm>
            <a:off x="7391400" y="2590800"/>
            <a:ext cx="39624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7566660" y="2708910"/>
            <a:ext cx="76657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服务定位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570470" y="29698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数据驱动的服务营销中枢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570470" y="31603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通过精细化运营和智能化管理</a:t>
            </a:r>
          </a:p>
        </p:txBody>
      </p:sp>
      <p:sp>
        <p:nvSpPr>
          <p:cNvPr id="74" name="Rectangle 74"/>
          <p:cNvSpPr/>
          <p:nvPr/>
        </p:nvSpPr>
        <p:spPr>
          <a:xfrm>
            <a:off x="7391400" y="3695700"/>
            <a:ext cx="3962400" cy="762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7566660" y="3813810"/>
            <a:ext cx="141985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运营始于 2018 年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7570470" y="4112895"/>
            <a:ext cx="10152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7年运营经验积累</a:t>
            </a:r>
          </a:p>
        </p:txBody>
      </p:sp>
      <p:sp>
        <p:nvSpPr>
          <p:cNvPr id="77" name="Rectangle 77"/>
          <p:cNvSpPr/>
          <p:nvPr/>
        </p:nvSpPr>
        <p:spPr>
          <a:xfrm>
            <a:off x="7391400" y="4610100"/>
            <a:ext cx="3962400" cy="762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78" name="TextBox 78"/>
          <p:cNvSpPr txBox="1"/>
          <p:nvPr/>
        </p:nvSpPr>
        <p:spPr>
          <a:xfrm>
            <a:off x="7566660" y="47282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客服中心层级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7570470" y="502729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二级部门架构，直接向事业群汇报</a:t>
            </a:r>
          </a:p>
        </p:txBody>
      </p:sp>
      <p:sp>
        <p:nvSpPr>
          <p:cNvPr id="80" name="Line 80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1" name="TextBox 81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转型背景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409041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从传统电销向数据驱动智能营销转型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3619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Rectangle 11"/>
          <p:cNvSpPr/>
          <p:nvPr/>
        </p:nvSpPr>
        <p:spPr>
          <a:xfrm>
            <a:off x="571500" y="1295400"/>
            <a:ext cx="419100" cy="4191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2" name="Polygon 12"/>
          <p:cNvSpPr/>
          <p:nvPr/>
        </p:nvSpPr>
        <p:spPr>
          <a:xfrm>
            <a:off x="704850" y="1409700"/>
            <a:ext cx="152400" cy="228600"/>
          </a:xfrm>
          <a:custGeom>
            <a:avLst/>
            <a:gdLst/>
            <a:ahLst/>
            <a:cxnLst/>
            <a:rect l="l" t="t" r="r" b="b"/>
            <a:pathLst>
              <a:path w="152400" h="228600">
                <a:moveTo>
                  <a:pt x="76200" y="0"/>
                </a:moveTo>
                <a:lnTo>
                  <a:pt x="0" y="133350"/>
                </a:lnTo>
                <a:lnTo>
                  <a:pt x="57150" y="133350"/>
                </a:lnTo>
                <a:lnTo>
                  <a:pt x="57150" y="228600"/>
                </a:lnTo>
                <a:lnTo>
                  <a:pt x="95250" y="228600"/>
                </a:lnTo>
                <a:lnTo>
                  <a:pt x="95250" y="133350"/>
                </a:lnTo>
                <a:lnTo>
                  <a:pt x="152400" y="1333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89660" y="13563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客服价值化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94422" y="1568291"/>
            <a:ext cx="12258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从成本中心到利润中心</a:t>
            </a:r>
          </a:p>
        </p:txBody>
      </p:sp>
      <p:sp>
        <p:nvSpPr>
          <p:cNvPr id="15" name="Line 15"/>
          <p:cNvSpPr/>
          <p:nvPr/>
        </p:nvSpPr>
        <p:spPr>
          <a:xfrm>
            <a:off x="571500" y="1809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571500" y="1905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4370" y="19221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传统电销模式效率瓶颈明显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71500" y="2133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74370" y="21507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客户识别不准，无效触达多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362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674370" y="2379345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获客成本持续上升，ROI下降</a:t>
            </a:r>
          </a:p>
        </p:txBody>
      </p:sp>
      <p:sp>
        <p:nvSpPr>
          <p:cNvPr id="22" name="Rectangle 22"/>
          <p:cNvSpPr/>
          <p:nvPr/>
        </p:nvSpPr>
        <p:spPr>
          <a:xfrm>
            <a:off x="571500" y="2590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74370" y="26079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需从被动服务转向主动营销</a:t>
            </a:r>
          </a:p>
        </p:txBody>
      </p:sp>
      <p:sp>
        <p:nvSpPr>
          <p:cNvPr id="24" name="Rectangle 24"/>
          <p:cNvSpPr/>
          <p:nvPr/>
        </p:nvSpPr>
        <p:spPr>
          <a:xfrm>
            <a:off x="571500" y="3048000"/>
            <a:ext cx="2857500" cy="5334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22699" y="3179445"/>
            <a:ext cx="19551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目标：让客服成为业务增长引擎</a:t>
            </a:r>
          </a:p>
        </p:txBody>
      </p:sp>
      <p:sp>
        <p:nvSpPr>
          <p:cNvPr id="26" name="Rectangle 26"/>
          <p:cNvSpPr/>
          <p:nvPr/>
        </p:nvSpPr>
        <p:spPr>
          <a:xfrm>
            <a:off x="4286250" y="1143000"/>
            <a:ext cx="3619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4286250" y="1143000"/>
            <a:ext cx="38100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476750" y="1295400"/>
            <a:ext cx="419100" cy="4191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4572000" y="1409700"/>
            <a:ext cx="228600" cy="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4610100" y="1447800"/>
            <a:ext cx="5715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4686300" y="1447800"/>
            <a:ext cx="57150" cy="1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994910" y="1356360"/>
            <a:ext cx="95059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数字智能化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999672" y="1568291"/>
            <a:ext cx="9668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AI赋能全流程提效</a:t>
            </a:r>
          </a:p>
        </p:txBody>
      </p:sp>
      <p:sp>
        <p:nvSpPr>
          <p:cNvPr id="34" name="Line 34"/>
          <p:cNvSpPr/>
          <p:nvPr/>
        </p:nvSpPr>
        <p:spPr>
          <a:xfrm>
            <a:off x="4476750" y="1809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4476750" y="1905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79620" y="19221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数据分散，客户画像不完整</a:t>
            </a:r>
          </a:p>
        </p:txBody>
      </p:sp>
      <p:sp>
        <p:nvSpPr>
          <p:cNvPr id="37" name="Rectangle 37"/>
          <p:cNvSpPr/>
          <p:nvPr/>
        </p:nvSpPr>
        <p:spPr>
          <a:xfrm>
            <a:off x="4476750" y="2133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579620" y="21507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缺乏实时智能辅助能力</a:t>
            </a:r>
          </a:p>
        </p:txBody>
      </p:sp>
      <p:sp>
        <p:nvSpPr>
          <p:cNvPr id="39" name="Rectangle 39"/>
          <p:cNvSpPr/>
          <p:nvPr/>
        </p:nvSpPr>
        <p:spPr>
          <a:xfrm>
            <a:off x="4476750" y="2362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4579620" y="23793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质检依赖人工，覆盖率不足</a:t>
            </a:r>
          </a:p>
        </p:txBody>
      </p:sp>
      <p:sp>
        <p:nvSpPr>
          <p:cNvPr id="41" name="Rectangle 41"/>
          <p:cNvSpPr/>
          <p:nvPr/>
        </p:nvSpPr>
        <p:spPr>
          <a:xfrm>
            <a:off x="4476750" y="2590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4579620" y="260794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新人培训周期长，流失率高</a:t>
            </a:r>
          </a:p>
        </p:txBody>
      </p:sp>
      <p:sp>
        <p:nvSpPr>
          <p:cNvPr id="43" name="Rectangle 43"/>
          <p:cNvSpPr/>
          <p:nvPr/>
        </p:nvSpPr>
        <p:spPr>
          <a:xfrm>
            <a:off x="4476750" y="3048000"/>
            <a:ext cx="2857500" cy="5334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5076318" y="3179445"/>
            <a:ext cx="16583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目标：AI成为坐席超级助手</a:t>
            </a:r>
          </a:p>
        </p:txBody>
      </p:sp>
      <p:sp>
        <p:nvSpPr>
          <p:cNvPr id="45" name="Rectangle 45"/>
          <p:cNvSpPr/>
          <p:nvPr/>
        </p:nvSpPr>
        <p:spPr>
          <a:xfrm>
            <a:off x="8191500" y="1143000"/>
            <a:ext cx="3619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8191500" y="1143000"/>
            <a:ext cx="38100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Rectangle 47"/>
          <p:cNvSpPr/>
          <p:nvPr/>
        </p:nvSpPr>
        <p:spPr>
          <a:xfrm>
            <a:off x="8382000" y="1295400"/>
            <a:ext cx="419100" cy="4191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48" name="Ellipse 48"/>
          <p:cNvSpPr/>
          <p:nvPr/>
        </p:nvSpPr>
        <p:spPr>
          <a:xfrm>
            <a:off x="8477250" y="1390650"/>
            <a:ext cx="228600" cy="22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9" name="Polygon 49"/>
          <p:cNvSpPr/>
          <p:nvPr/>
        </p:nvSpPr>
        <p:spPr>
          <a:xfrm>
            <a:off x="8534400" y="137160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57150" y="0"/>
                </a:moveTo>
                <a:lnTo>
                  <a:pt x="0" y="76200"/>
                </a:lnTo>
                <a:lnTo>
                  <a:pt x="114300" y="762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" name="Polygon 50"/>
          <p:cNvSpPr/>
          <p:nvPr/>
        </p:nvSpPr>
        <p:spPr>
          <a:xfrm>
            <a:off x="8534400" y="156210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57150" y="762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8900160" y="1356360"/>
            <a:ext cx="13186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服务营销一体化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904922" y="1568291"/>
            <a:ext cx="134635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从单次触达到全生命周期</a:t>
            </a:r>
          </a:p>
        </p:txBody>
      </p:sp>
      <p:sp>
        <p:nvSpPr>
          <p:cNvPr id="53" name="Line 53"/>
          <p:cNvSpPr/>
          <p:nvPr/>
        </p:nvSpPr>
        <p:spPr>
          <a:xfrm>
            <a:off x="8382000" y="1809750"/>
            <a:ext cx="3238500" cy="9525"/>
          </a:xfrm>
          <a:custGeom>
            <a:avLst/>
            <a:gdLst/>
            <a:ahLst/>
            <a:cxnLst/>
            <a:rect l="l" t="t" r="r" b="b"/>
            <a:pathLst>
              <a:path w="3238500" h="9525">
                <a:moveTo>
                  <a:pt x="0" y="0"/>
                </a:moveTo>
                <a:lnTo>
                  <a:pt x="3238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4" name="Rectangle 54"/>
          <p:cNvSpPr/>
          <p:nvPr/>
        </p:nvSpPr>
        <p:spPr>
          <a:xfrm>
            <a:off x="8382000" y="19050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8484870" y="19221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缺乏全生命周期运营能力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382000" y="21336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8484870" y="215074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合规与效率难以兼顾</a:t>
            </a:r>
          </a:p>
        </p:txBody>
      </p:sp>
      <p:sp>
        <p:nvSpPr>
          <p:cNvPr id="58" name="Rectangle 58"/>
          <p:cNvSpPr/>
          <p:nvPr/>
        </p:nvSpPr>
        <p:spPr>
          <a:xfrm>
            <a:off x="8382000" y="23622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8484870" y="23793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数据闭环尚未打通</a:t>
            </a:r>
          </a:p>
        </p:txBody>
      </p:sp>
      <p:sp>
        <p:nvSpPr>
          <p:cNvPr id="60" name="Rectangle 60"/>
          <p:cNvSpPr/>
          <p:nvPr/>
        </p:nvSpPr>
        <p:spPr>
          <a:xfrm>
            <a:off x="8382000" y="25908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8484870" y="260794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金融营销合规要求趋严</a:t>
            </a:r>
          </a:p>
        </p:txBody>
      </p:sp>
      <p:sp>
        <p:nvSpPr>
          <p:cNvPr id="62" name="Rectangle 62"/>
          <p:cNvSpPr/>
          <p:nvPr/>
        </p:nvSpPr>
        <p:spPr>
          <a:xfrm>
            <a:off x="8382000" y="3048000"/>
            <a:ext cx="2857500" cy="5334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8971216" y="3179445"/>
            <a:ext cx="167906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目标：精准触达，持续增长</a:t>
            </a:r>
          </a:p>
        </p:txBody>
      </p:sp>
      <p:sp>
        <p:nvSpPr>
          <p:cNvPr id="64" name="Rectangle 64"/>
          <p:cNvSpPr/>
          <p:nvPr/>
        </p:nvSpPr>
        <p:spPr>
          <a:xfrm>
            <a:off x="381000" y="4095750"/>
            <a:ext cx="11430000" cy="2286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65" name="Rectangle 65"/>
          <p:cNvSpPr/>
          <p:nvPr/>
        </p:nvSpPr>
        <p:spPr>
          <a:xfrm>
            <a:off x="381000" y="4095750"/>
            <a:ext cx="38100" cy="22860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552450" y="4276725"/>
            <a:ext cx="95821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战略目标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59118" y="4561999"/>
            <a:ext cx="49873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打造数据驱动的智能营销中枢，实现从传统电销向AI赋能的服务营销一体化转型</a:t>
            </a:r>
          </a:p>
        </p:txBody>
      </p:sp>
      <p:sp>
        <p:nvSpPr>
          <p:cNvPr id="68" name="Line 68"/>
          <p:cNvSpPr/>
          <p:nvPr/>
        </p:nvSpPr>
        <p:spPr>
          <a:xfrm>
            <a:off x="571500" y="48196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4762">
            <a:solidFill>
              <a:srgbClr val="1A5FA8"/>
            </a:solidFill>
          </a:ln>
        </p:spPr>
      </p:sp>
      <p:sp>
        <p:nvSpPr>
          <p:cNvPr id="69" name="Rectangle 69"/>
          <p:cNvSpPr/>
          <p:nvPr/>
        </p:nvSpPr>
        <p:spPr>
          <a:xfrm>
            <a:off x="571500" y="4991100"/>
            <a:ext cx="247650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1437799" y="51687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精准客户识别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244921" y="5468302"/>
            <a:ext cx="11296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AI需求识别模型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1075372" y="571309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精准分层，减少无效触达</a:t>
            </a:r>
          </a:p>
        </p:txBody>
      </p:sp>
      <p:sp>
        <p:nvSpPr>
          <p:cNvPr id="73" name="Rectangle 73"/>
          <p:cNvSpPr/>
          <p:nvPr/>
        </p:nvSpPr>
        <p:spPr>
          <a:xfrm>
            <a:off x="3333750" y="4991100"/>
            <a:ext cx="247650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4200049" y="51687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智能营销辅助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995095" y="54683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人机协同新模式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969068" y="57130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实时话术，异议处理</a:t>
            </a:r>
          </a:p>
        </p:txBody>
      </p:sp>
      <p:sp>
        <p:nvSpPr>
          <p:cNvPr id="77" name="Rectangle 77"/>
          <p:cNvSpPr/>
          <p:nvPr/>
        </p:nvSpPr>
        <p:spPr>
          <a:xfrm>
            <a:off x="6096000" y="4991100"/>
            <a:ext cx="247650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962299" y="516874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合规提效保障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769421" y="5468302"/>
            <a:ext cx="11296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AI智能质检体系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6734604" y="5713095"/>
            <a:ext cx="119929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100%覆盖，实时预警</a:t>
            </a:r>
          </a:p>
        </p:txBody>
      </p:sp>
      <p:sp>
        <p:nvSpPr>
          <p:cNvPr id="81" name="Rectangle 81"/>
          <p:cNvSpPr/>
          <p:nvPr/>
        </p:nvSpPr>
        <p:spPr>
          <a:xfrm>
            <a:off x="8858250" y="4991100"/>
            <a:ext cx="2571750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</p:sp>
      <p:sp>
        <p:nvSpPr>
          <p:cNvPr id="82" name="TextBox 82"/>
          <p:cNvSpPr txBox="1"/>
          <p:nvPr/>
        </p:nvSpPr>
        <p:spPr>
          <a:xfrm>
            <a:off x="9711928" y="5168741"/>
            <a:ext cx="86439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6B86A8"/>
                </a:solidFill>
                <a:latin typeface="Segoe UI"/>
                <a:ea typeface="Microsoft YaHei"/>
                <a:cs typeface="Segoe UI"/>
              </a:rPr>
              <a:t>全生命周期运营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647730" y="54683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持续营销增长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541192" y="57130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新客获取到复购激活</a:t>
            </a:r>
          </a:p>
        </p:txBody>
      </p:sp>
      <p:sp>
        <p:nvSpPr>
          <p:cNvPr id="85" name="Line 85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6" name="TextBox 86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74390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转型实施过程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698762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四步路径：数据赋能 → 人机协同 → 合规提效 → 全生命周期运营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Line 9"/>
          <p:cNvSpPr/>
          <p:nvPr/>
        </p:nvSpPr>
        <p:spPr>
          <a:xfrm>
            <a:off x="952500" y="1714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257300" y="1447800"/>
            <a:ext cx="533400" cy="533400"/>
          </a:xfrm>
          <a:prstGeom prst="ellipse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18869" y="1625918"/>
            <a:ext cx="21026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01</a:t>
            </a:r>
          </a:p>
        </p:txBody>
      </p:sp>
      <p:sp>
        <p:nvSpPr>
          <p:cNvPr id="12" name="Rectangle 12"/>
          <p:cNvSpPr/>
          <p:nvPr/>
        </p:nvSpPr>
        <p:spPr>
          <a:xfrm>
            <a:off x="762000" y="2095500"/>
            <a:ext cx="1524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212580" y="2218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数据赋能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181100" y="2514600"/>
            <a:ext cx="6858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1314450" y="2762250"/>
            <a:ext cx="76200" cy="2667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1428750" y="2667000"/>
            <a:ext cx="76200" cy="361950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1543050" y="2571750"/>
            <a:ext cx="76200" cy="4572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1657350" y="2628900"/>
            <a:ext cx="76200" cy="400050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Ellipse 19"/>
          <p:cNvSpPr/>
          <p:nvPr/>
        </p:nvSpPr>
        <p:spPr>
          <a:xfrm>
            <a:off x="3543300" y="1447800"/>
            <a:ext cx="533400" cy="533400"/>
          </a:xfrm>
          <a:prstGeom prst="ellipse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678991" y="16259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02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048000" y="2095500"/>
            <a:ext cx="1524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3498580" y="2218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人机协同</a:t>
            </a:r>
          </a:p>
        </p:txBody>
      </p:sp>
      <p:sp>
        <p:nvSpPr>
          <p:cNvPr id="23" name="Rectangle 23"/>
          <p:cNvSpPr/>
          <p:nvPr/>
        </p:nvSpPr>
        <p:spPr>
          <a:xfrm>
            <a:off x="3467100" y="2514600"/>
            <a:ext cx="6858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4" name="Ellipse 24"/>
          <p:cNvSpPr/>
          <p:nvPr/>
        </p:nvSpPr>
        <p:spPr>
          <a:xfrm>
            <a:off x="3600450" y="2743200"/>
            <a:ext cx="190500" cy="19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3695700" y="2933700"/>
            <a:ext cx="9525" cy="114300"/>
          </a:xfrm>
          <a:custGeom>
            <a:avLst/>
            <a:gdLst/>
            <a:ahLst/>
            <a:cxnLst/>
            <a:rect l="l" t="t" r="r" b="b"/>
            <a:pathLst>
              <a:path w="9525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noFill/>
          <a:ln>
            <a:noFill/>
          </a:ln>
        </p:spPr>
      </p:sp>
      <p:sp>
        <p:nvSpPr>
          <p:cNvPr id="26" name="Line 26"/>
          <p:cNvSpPr/>
          <p:nvPr/>
        </p:nvSpPr>
        <p:spPr>
          <a:xfrm>
            <a:off x="3638550" y="299085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810000" y="2762250"/>
            <a:ext cx="152400" cy="1143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Line 28"/>
          <p:cNvSpPr/>
          <p:nvPr/>
        </p:nvSpPr>
        <p:spPr>
          <a:xfrm>
            <a:off x="3848100" y="2800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29" name="Line 29"/>
          <p:cNvSpPr/>
          <p:nvPr/>
        </p:nvSpPr>
        <p:spPr>
          <a:xfrm>
            <a:off x="3886200" y="2800350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noFill/>
          <a:ln w="9525">
            <a:solidFill>
              <a:srgbClr val="FFFFFF"/>
            </a:solidFill>
          </a:ln>
        </p:spPr>
      </p:sp>
      <p:sp>
        <p:nvSpPr>
          <p:cNvPr id="30" name="Ellipse 30"/>
          <p:cNvSpPr/>
          <p:nvPr/>
        </p:nvSpPr>
        <p:spPr>
          <a:xfrm>
            <a:off x="5829300" y="1447800"/>
            <a:ext cx="533400" cy="533400"/>
          </a:xfrm>
          <a:prstGeom prst="ellipse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5964991" y="16259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03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334000" y="2095500"/>
            <a:ext cx="1524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784580" y="22188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合规提效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53100" y="2514600"/>
            <a:ext cx="6858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5" name="Freeform 35"/>
          <p:cNvSpPr/>
          <p:nvPr/>
        </p:nvSpPr>
        <p:spPr>
          <a:xfrm>
            <a:off x="5943600" y="2667000"/>
            <a:ext cx="304800" cy="495300"/>
          </a:xfrm>
          <a:custGeom>
            <a:avLst/>
            <a:gdLst/>
            <a:ahLst/>
            <a:cxnLst/>
            <a:rect l="l" t="t" r="r" b="b"/>
            <a:pathLst>
              <a:path w="304800" h="495300">
                <a:moveTo>
                  <a:pt x="152400" y="0"/>
                </a:moveTo>
                <a:lnTo>
                  <a:pt x="0" y="95250"/>
                </a:lnTo>
                <a:lnTo>
                  <a:pt x="0" y="247650"/>
                </a:lnTo>
                <a:cubicBezTo>
                  <a:pt x="0" y="361950"/>
                  <a:pt x="76200" y="457200"/>
                  <a:pt x="152400" y="495300"/>
                </a:cubicBezTo>
                <a:cubicBezTo>
                  <a:pt x="228600" y="457200"/>
                  <a:pt x="304800" y="361950"/>
                  <a:pt x="304800" y="247650"/>
                </a:cubicBezTo>
                <a:lnTo>
                  <a:pt x="30480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" name="Freeform 36"/>
          <p:cNvSpPr/>
          <p:nvPr/>
        </p:nvSpPr>
        <p:spPr>
          <a:xfrm>
            <a:off x="6038850" y="2819400"/>
            <a:ext cx="133350" cy="95250"/>
          </a:xfrm>
          <a:custGeom>
            <a:avLst/>
            <a:gdLst/>
            <a:ahLst/>
            <a:cxnLst/>
            <a:rect l="l" t="t" r="r" b="b"/>
            <a:pathLst>
              <a:path w="133350" h="95250">
                <a:moveTo>
                  <a:pt x="0" y="57150"/>
                </a:moveTo>
                <a:lnTo>
                  <a:pt x="38100" y="95250"/>
                </a:lnTo>
                <a:lnTo>
                  <a:pt x="133350" y="0"/>
                </a:lnTo>
              </a:path>
            </a:pathLst>
          </a:custGeom>
          <a:noFill/>
          <a:ln w="19050">
            <a:solidFill>
              <a:srgbClr val="FFFFFF"/>
            </a:solidFill>
            <a:round/>
          </a:ln>
        </p:spPr>
      </p:sp>
      <p:sp>
        <p:nvSpPr>
          <p:cNvPr id="37" name="Ellipse 37"/>
          <p:cNvSpPr/>
          <p:nvPr/>
        </p:nvSpPr>
        <p:spPr>
          <a:xfrm>
            <a:off x="8115300" y="1447800"/>
            <a:ext cx="533400" cy="533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250991" y="1625918"/>
            <a:ext cx="26201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04</a:t>
            </a:r>
          </a:p>
        </p:txBody>
      </p:sp>
      <p:sp>
        <p:nvSpPr>
          <p:cNvPr id="39" name="Rectangle 39"/>
          <p:cNvSpPr/>
          <p:nvPr/>
        </p:nvSpPr>
        <p:spPr>
          <a:xfrm>
            <a:off x="7620000" y="2095500"/>
            <a:ext cx="15240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846302" y="221884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全生命周期运营</a:t>
            </a:r>
          </a:p>
        </p:txBody>
      </p:sp>
      <p:sp>
        <p:nvSpPr>
          <p:cNvPr id="41" name="Rectangle 41"/>
          <p:cNvSpPr/>
          <p:nvPr/>
        </p:nvSpPr>
        <p:spPr>
          <a:xfrm>
            <a:off x="8039100" y="2514600"/>
            <a:ext cx="685800" cy="685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Ellipse 42"/>
          <p:cNvSpPr/>
          <p:nvPr/>
        </p:nvSpPr>
        <p:spPr>
          <a:xfrm>
            <a:off x="8229600" y="2705100"/>
            <a:ext cx="304800" cy="304800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</p:sp>
      <p:sp>
        <p:nvSpPr>
          <p:cNvPr id="43" name="Polygon 43"/>
          <p:cNvSpPr/>
          <p:nvPr/>
        </p:nvSpPr>
        <p:spPr>
          <a:xfrm>
            <a:off x="8324850" y="268605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57150" y="0"/>
                </a:moveTo>
                <a:lnTo>
                  <a:pt x="0" y="76200"/>
                </a:lnTo>
                <a:lnTo>
                  <a:pt x="114300" y="762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" name="Polygon 44"/>
          <p:cNvSpPr/>
          <p:nvPr/>
        </p:nvSpPr>
        <p:spPr>
          <a:xfrm>
            <a:off x="8324850" y="2952750"/>
            <a:ext cx="114300" cy="76200"/>
          </a:xfrm>
          <a:custGeom>
            <a:avLst/>
            <a:gdLst/>
            <a:ahLst/>
            <a:cxnLst/>
            <a:rect l="l" t="t" r="r" b="b"/>
            <a:pathLst>
              <a:path w="114300" h="76200">
                <a:moveTo>
                  <a:pt x="57150" y="7620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" name="Polygon 45"/>
          <p:cNvSpPr/>
          <p:nvPr/>
        </p:nvSpPr>
        <p:spPr>
          <a:xfrm>
            <a:off x="2286000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Polygon 46"/>
          <p:cNvSpPr/>
          <p:nvPr/>
        </p:nvSpPr>
        <p:spPr>
          <a:xfrm>
            <a:off x="4572000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" name="Polygon 47"/>
          <p:cNvSpPr/>
          <p:nvPr/>
        </p:nvSpPr>
        <p:spPr>
          <a:xfrm>
            <a:off x="6858000" y="1666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" name="Rectangle 48"/>
          <p:cNvSpPr/>
          <p:nvPr/>
        </p:nvSpPr>
        <p:spPr>
          <a:xfrm>
            <a:off x="381000" y="3619500"/>
            <a:ext cx="5524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9" name="Rectangle 49"/>
          <p:cNvSpPr/>
          <p:nvPr/>
        </p:nvSpPr>
        <p:spPr>
          <a:xfrm>
            <a:off x="381000" y="3619500"/>
            <a:ext cx="38100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Rectangle 50"/>
          <p:cNvSpPr/>
          <p:nvPr/>
        </p:nvSpPr>
        <p:spPr>
          <a:xfrm>
            <a:off x="571500" y="3733800"/>
            <a:ext cx="419100" cy="4191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51" name="Rectangle 51"/>
          <p:cNvSpPr/>
          <p:nvPr/>
        </p:nvSpPr>
        <p:spPr>
          <a:xfrm>
            <a:off x="647700" y="3848100"/>
            <a:ext cx="57150" cy="190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Rectangle 52"/>
          <p:cNvSpPr/>
          <p:nvPr/>
        </p:nvSpPr>
        <p:spPr>
          <a:xfrm>
            <a:off x="742950" y="3790950"/>
            <a:ext cx="57150" cy="24765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838200" y="3829050"/>
            <a:ext cx="57150" cy="20955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1089660" y="3775710"/>
            <a:ext cx="208233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数据赋能 — 精准客户识别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94422" y="3987641"/>
            <a:ext cx="193074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AI需求识别模型，预测客户金融需求</a:t>
            </a:r>
          </a:p>
        </p:txBody>
      </p:sp>
      <p:sp>
        <p:nvSpPr>
          <p:cNvPr id="56" name="Line 56"/>
          <p:cNvSpPr/>
          <p:nvPr/>
        </p:nvSpPr>
        <p:spPr>
          <a:xfrm>
            <a:off x="571500" y="42291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7" name="Rectangle 57"/>
          <p:cNvSpPr/>
          <p:nvPr/>
        </p:nvSpPr>
        <p:spPr>
          <a:xfrm>
            <a:off x="571500" y="43434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673418" y="4352449"/>
            <a:ext cx="32002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构建300+维度客户画像，涵盖信贷/理财/保险偏好</a:t>
            </a:r>
          </a:p>
        </p:txBody>
      </p:sp>
      <p:sp>
        <p:nvSpPr>
          <p:cNvPr id="59" name="Rectangle 59"/>
          <p:cNvSpPr/>
          <p:nvPr/>
        </p:nvSpPr>
        <p:spPr>
          <a:xfrm>
            <a:off x="571500" y="45910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73418" y="4600099"/>
            <a:ext cx="30151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精准分层运营，差异化触达策略，减少无效外呼</a:t>
            </a:r>
          </a:p>
        </p:txBody>
      </p:sp>
      <p:sp>
        <p:nvSpPr>
          <p:cNvPr id="61" name="Rectangle 61"/>
          <p:cNvSpPr/>
          <p:nvPr/>
        </p:nvSpPr>
        <p:spPr>
          <a:xfrm>
            <a:off x="571500" y="48387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673418" y="4847749"/>
            <a:ext cx="234586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首拨转化率提升28%，接通率提升35%</a:t>
            </a:r>
          </a:p>
        </p:txBody>
      </p:sp>
      <p:sp>
        <p:nvSpPr>
          <p:cNvPr id="63" name="Rectangle 63"/>
          <p:cNvSpPr/>
          <p:nvPr/>
        </p:nvSpPr>
        <p:spPr>
          <a:xfrm>
            <a:off x="571500" y="5143500"/>
            <a:ext cx="1143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14005" y="5274945"/>
            <a:ext cx="105798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首拨转化率 +28%</a:t>
            </a:r>
          </a:p>
        </p:txBody>
      </p:sp>
      <p:sp>
        <p:nvSpPr>
          <p:cNvPr id="65" name="Rectangle 65"/>
          <p:cNvSpPr/>
          <p:nvPr/>
        </p:nvSpPr>
        <p:spPr>
          <a:xfrm>
            <a:off x="1905000" y="5143500"/>
            <a:ext cx="1143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2085523" y="5274945"/>
            <a:ext cx="781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接通率 +35%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286500" y="3619500"/>
            <a:ext cx="55245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286500" y="3619500"/>
            <a:ext cx="38100" cy="26670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6477000" y="3733800"/>
            <a:ext cx="419100" cy="4191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70" name="Ellipse 70"/>
          <p:cNvSpPr/>
          <p:nvPr/>
        </p:nvSpPr>
        <p:spPr>
          <a:xfrm>
            <a:off x="6572250" y="3867150"/>
            <a:ext cx="114300" cy="1143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1" name="Line 71"/>
          <p:cNvSpPr/>
          <p:nvPr/>
        </p:nvSpPr>
        <p:spPr>
          <a:xfrm>
            <a:off x="6629400" y="39814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>
            <a:noFill/>
          </a:ln>
        </p:spPr>
      </p:sp>
      <p:sp>
        <p:nvSpPr>
          <p:cNvPr id="72" name="Rectangle 72"/>
          <p:cNvSpPr/>
          <p:nvPr/>
        </p:nvSpPr>
        <p:spPr>
          <a:xfrm>
            <a:off x="6705600" y="3886200"/>
            <a:ext cx="95250" cy="762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6995160" y="3775710"/>
            <a:ext cx="263440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人机协同 — 智能外呼与坐席辅助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6999922" y="3987641"/>
            <a:ext cx="183434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AI成为3000人坐席团队的超级助手</a:t>
            </a:r>
          </a:p>
        </p:txBody>
      </p:sp>
      <p:sp>
        <p:nvSpPr>
          <p:cNvPr id="75" name="Line 75"/>
          <p:cNvSpPr/>
          <p:nvPr/>
        </p:nvSpPr>
        <p:spPr>
          <a:xfrm>
            <a:off x="6477000" y="42291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6477000" y="43434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TextBox 77"/>
          <p:cNvSpPr txBox="1"/>
          <p:nvPr/>
        </p:nvSpPr>
        <p:spPr>
          <a:xfrm>
            <a:off x="6578918" y="4352449"/>
            <a:ext cx="31575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智能路由匹配，根据客户特征与坐席专长最优配对</a:t>
            </a:r>
          </a:p>
        </p:txBody>
      </p:sp>
      <p:sp>
        <p:nvSpPr>
          <p:cNvPr id="78" name="Rectangle 78"/>
          <p:cNvSpPr/>
          <p:nvPr/>
        </p:nvSpPr>
        <p:spPr>
          <a:xfrm>
            <a:off x="6477000" y="459105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TextBox 79"/>
          <p:cNvSpPr txBox="1"/>
          <p:nvPr/>
        </p:nvSpPr>
        <p:spPr>
          <a:xfrm>
            <a:off x="6578918" y="4600099"/>
            <a:ext cx="2708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实时话术辅助，AI推荐异议处理与产品话术</a:t>
            </a:r>
          </a:p>
        </p:txBody>
      </p:sp>
      <p:sp>
        <p:nvSpPr>
          <p:cNvPr id="80" name="Rectangle 80"/>
          <p:cNvSpPr/>
          <p:nvPr/>
        </p:nvSpPr>
        <p:spPr>
          <a:xfrm>
            <a:off x="6477000" y="48387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6578918" y="4847749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情绪与合规实时监控预警，降低服务风险</a:t>
            </a:r>
          </a:p>
        </p:txBody>
      </p:sp>
      <p:sp>
        <p:nvSpPr>
          <p:cNvPr id="82" name="Rectangle 82"/>
          <p:cNvSpPr/>
          <p:nvPr/>
        </p:nvSpPr>
        <p:spPr>
          <a:xfrm>
            <a:off x="6477000" y="5143500"/>
            <a:ext cx="13335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6683764" y="5274945"/>
            <a:ext cx="919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人均效率 +40%</a:t>
            </a:r>
          </a:p>
        </p:txBody>
      </p:sp>
      <p:sp>
        <p:nvSpPr>
          <p:cNvPr id="84" name="Rectangle 84"/>
          <p:cNvSpPr/>
          <p:nvPr/>
        </p:nvSpPr>
        <p:spPr>
          <a:xfrm>
            <a:off x="8001000" y="5143500"/>
            <a:ext cx="1143000" cy="3429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8112514" y="5274945"/>
            <a:ext cx="9199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新人上手 -67%</a:t>
            </a:r>
          </a:p>
        </p:txBody>
      </p:sp>
      <p:sp>
        <p:nvSpPr>
          <p:cNvPr id="86" name="Line 8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7" name="TextBox 87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转型成果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67599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接通率+35%，人均效率+40%，转化率+25%，合规率保持100%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21970" y="1350645"/>
            <a:ext cx="6800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接通率提升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+35%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970" y="23602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精准客户识别，减少无效触达</a:t>
            </a:r>
          </a:p>
        </p:txBody>
      </p:sp>
      <p:sp>
        <p:nvSpPr>
          <p:cNvPr id="14" name="Rectangle 14"/>
          <p:cNvSpPr/>
          <p:nvPr/>
        </p:nvSpPr>
        <p:spPr>
          <a:xfrm>
            <a:off x="4191000" y="1143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191000" y="1143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331970" y="1350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首拨转化率提升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30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+28%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331970" y="2360295"/>
            <a:ext cx="158048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AI辅助话术推荐，精准触达</a:t>
            </a:r>
          </a:p>
        </p:txBody>
      </p:sp>
      <p:sp>
        <p:nvSpPr>
          <p:cNvPr id="19" name="Rectangle 19"/>
          <p:cNvSpPr/>
          <p:nvPr/>
        </p:nvSpPr>
        <p:spPr>
          <a:xfrm>
            <a:off x="8001000" y="1143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8001000" y="1143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8141970" y="1350645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人均效率提升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11490" y="1682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+40%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141970" y="2360295"/>
            <a:ext cx="118614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AI成为坐席超级助手</a:t>
            </a:r>
          </a:p>
        </p:txBody>
      </p:sp>
      <p:sp>
        <p:nvSpPr>
          <p:cNvPr id="24" name="Rectangle 24"/>
          <p:cNvSpPr/>
          <p:nvPr/>
        </p:nvSpPr>
        <p:spPr>
          <a:xfrm>
            <a:off x="38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381000" y="3048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521970" y="32556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新人上手时间缩短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9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-67%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970" y="4265295"/>
            <a:ext cx="144903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AI辅助降低新人培训门槛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191000" y="3048000"/>
            <a:ext cx="3429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4191000" y="3048000"/>
            <a:ext cx="38100" cy="15240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331970" y="3255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营销转化率提升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0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00000"/>
                </a:solidFill>
                <a:latin typeface="Times New Roman"/>
                <a:ea typeface="SimSun"/>
                <a:cs typeface="Times New Roman"/>
              </a:rPr>
              <a:t>+25%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331970" y="42652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个性化产品匹配，数据闭环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001000" y="3048000"/>
            <a:ext cx="3810000" cy="1524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8001000" y="3048000"/>
            <a:ext cx="38100" cy="1524000"/>
          </a:xfrm>
          <a:prstGeom prst="rect">
            <a:avLst/>
          </a:prstGeom>
          <a:solidFill>
            <a:srgbClr val="2E6B3E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8141970" y="32556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客户复购率提升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11490" y="3587115"/>
            <a:ext cx="11971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2E6B3E"/>
                </a:solidFill>
                <a:latin typeface="Times New Roman"/>
                <a:ea typeface="SimSun"/>
                <a:cs typeface="Times New Roman"/>
              </a:rPr>
              <a:t>+30%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141970" y="42652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全生命周期运营，主动触达</a:t>
            </a:r>
          </a:p>
        </p:txBody>
      </p:sp>
      <p:sp>
        <p:nvSpPr>
          <p:cNvPr id="39" name="Rectangle 39"/>
          <p:cNvSpPr/>
          <p:nvPr/>
        </p:nvSpPr>
        <p:spPr>
          <a:xfrm>
            <a:off x="381000" y="4953000"/>
            <a:ext cx="11430000" cy="142875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381000" y="4953000"/>
            <a:ext cx="38100" cy="142875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554355" y="5150168"/>
            <a:ext cx="8623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核心贡献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58165" y="5468302"/>
            <a:ext cx="507963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数据驱动的智能电销模式，将3000人团队打造为年放款2000亿+的营销中枢</a:t>
            </a:r>
          </a:p>
        </p:txBody>
      </p:sp>
      <p:sp>
        <p:nvSpPr>
          <p:cNvPr id="43" name="Rectangle 43"/>
          <p:cNvSpPr/>
          <p:nvPr/>
        </p:nvSpPr>
        <p:spPr>
          <a:xfrm>
            <a:off x="571500" y="5810250"/>
            <a:ext cx="1714500" cy="3810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825769" y="5952649"/>
            <a:ext cx="12059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年度GMV 2000亿+</a:t>
            </a:r>
          </a:p>
        </p:txBody>
      </p:sp>
      <p:sp>
        <p:nvSpPr>
          <p:cNvPr id="45" name="Rectangle 45"/>
          <p:cNvSpPr/>
          <p:nvPr/>
        </p:nvSpPr>
        <p:spPr>
          <a:xfrm>
            <a:off x="2476500" y="5810250"/>
            <a:ext cx="1524000" cy="381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2833631" y="5952649"/>
            <a:ext cx="8097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合规率 100%</a:t>
            </a:r>
          </a:p>
        </p:txBody>
      </p:sp>
      <p:sp>
        <p:nvSpPr>
          <p:cNvPr id="47" name="Rectangle 47"/>
          <p:cNvSpPr/>
          <p:nvPr/>
        </p:nvSpPr>
        <p:spPr>
          <a:xfrm>
            <a:off x="4191000" y="5810250"/>
            <a:ext cx="1714500" cy="381000"/>
          </a:xfrm>
          <a:prstGeom prst="rect">
            <a:avLst/>
          </a:prstGeom>
          <a:noFill/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4508814" y="5952649"/>
            <a:ext cx="107887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质检效率 +300%</a:t>
            </a:r>
          </a:p>
        </p:txBody>
      </p:sp>
      <p:sp>
        <p:nvSpPr>
          <p:cNvPr id="49" name="Rectangle 49"/>
          <p:cNvSpPr/>
          <p:nvPr/>
        </p:nvSpPr>
        <p:spPr>
          <a:xfrm>
            <a:off x="6096000" y="5810250"/>
            <a:ext cx="1714500" cy="381000"/>
          </a:xfrm>
          <a:prstGeom prst="rect">
            <a:avLst/>
          </a:prstGeom>
          <a:noFill/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6454932" y="5952649"/>
            <a:ext cx="99663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合规风险 -60%</a:t>
            </a:r>
          </a:p>
        </p:txBody>
      </p:sp>
      <p:sp>
        <p:nvSpPr>
          <p:cNvPr id="51" name="Line 51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成功关键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63390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战略定力+技术驱动+组织协同，打造转型成功基石</a:t>
            </a:r>
          </a:p>
        </p:txBody>
      </p:sp>
      <p:sp>
        <p:nvSpPr>
          <p:cNvPr id="8" name="Line 8"/>
          <p:cNvSpPr/>
          <p:nvPr/>
        </p:nvSpPr>
        <p:spPr>
          <a:xfrm>
            <a:off x="0" y="895350"/>
            <a:ext cx="11811000" cy="9525"/>
          </a:xfrm>
          <a:custGeom>
            <a:avLst/>
            <a:gdLst/>
            <a:ahLst/>
            <a:cxnLst/>
            <a:rect l="l" t="t" r="r" b="b"/>
            <a:pathLst>
              <a:path w="11811000" h="9525">
                <a:moveTo>
                  <a:pt x="0" y="0"/>
                </a:moveTo>
                <a:lnTo>
                  <a:pt x="11811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5524500" cy="523875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523875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4355" y="1340168"/>
            <a:ext cx="10694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挑战与克服</a:t>
            </a:r>
          </a:p>
        </p:txBody>
      </p:sp>
      <p:sp>
        <p:nvSpPr>
          <p:cNvPr id="12" name="Line 12"/>
          <p:cNvSpPr/>
          <p:nvPr/>
        </p:nvSpPr>
        <p:spPr>
          <a:xfrm>
            <a:off x="571500" y="1619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771650"/>
            <a:ext cx="4762500" cy="76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571500" y="1771650"/>
            <a:ext cx="381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Ellipse 15"/>
          <p:cNvSpPr/>
          <p:nvPr/>
        </p:nvSpPr>
        <p:spPr>
          <a:xfrm>
            <a:off x="704850" y="1924050"/>
            <a:ext cx="228600" cy="22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81662" y="19821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!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16318" y="18949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客户识别准确度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17270" y="2093595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如何从海量数据中准确识别有真实需求的客户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7270" y="2284095"/>
            <a:ext cx="22837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解决：AI需求识别模型 + 300+维度画像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" y="2647950"/>
            <a:ext cx="4762500" cy="76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571500" y="2647950"/>
            <a:ext cx="381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704850" y="2800350"/>
            <a:ext cx="228600" cy="22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781662" y="28584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!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16318" y="27712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人机协同平衡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7270" y="2969895"/>
            <a:ext cx="25005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AI辅助而非替代人工，保持营销温度和信任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17270" y="3160395"/>
            <a:ext cx="22771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解决：实时话术辅助 + 坐席自主决策权</a:t>
            </a:r>
          </a:p>
        </p:txBody>
      </p:sp>
      <p:sp>
        <p:nvSpPr>
          <p:cNvPr id="27" name="Rectangle 27"/>
          <p:cNvSpPr/>
          <p:nvPr/>
        </p:nvSpPr>
        <p:spPr>
          <a:xfrm>
            <a:off x="571500" y="3524250"/>
            <a:ext cx="4762500" cy="76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571500" y="3524250"/>
            <a:ext cx="381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704850" y="3676650"/>
            <a:ext cx="228600" cy="22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81662" y="37347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!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6318" y="3647599"/>
            <a:ext cx="10713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合规与效率平衡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17270" y="3846195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强化合规同时不降低营销效率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17270" y="4036695"/>
            <a:ext cx="22508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解决：AI实时预警 + 智能质检100%覆盖</a:t>
            </a:r>
          </a:p>
        </p:txBody>
      </p:sp>
      <p:sp>
        <p:nvSpPr>
          <p:cNvPr id="34" name="Rectangle 34"/>
          <p:cNvSpPr/>
          <p:nvPr/>
        </p:nvSpPr>
        <p:spPr>
          <a:xfrm>
            <a:off x="571500" y="4400550"/>
            <a:ext cx="4762500" cy="762000"/>
          </a:xfrm>
          <a:prstGeom prst="rect">
            <a:avLst/>
          </a:prstGeom>
          <a:solidFill>
            <a:srgbClr val="FFF3E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571500" y="4400550"/>
            <a:ext cx="38100" cy="7620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Ellipse 36"/>
          <p:cNvSpPr/>
          <p:nvPr/>
        </p:nvSpPr>
        <p:spPr>
          <a:xfrm>
            <a:off x="704850" y="4552950"/>
            <a:ext cx="228600" cy="2286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81662" y="4611052"/>
            <a:ext cx="749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!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6318" y="4523899"/>
            <a:ext cx="92187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能力转型挑战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17270" y="4722495"/>
            <a:ext cx="27634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从传统电销向数据驱动、AI辅助的智能营销转型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17270" y="491299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解决：AI降低新人门槛 + 持续培训体系</a:t>
            </a:r>
          </a:p>
        </p:txBody>
      </p:sp>
      <p:sp>
        <p:nvSpPr>
          <p:cNvPr id="41" name="Rectangle 41"/>
          <p:cNvSpPr/>
          <p:nvPr/>
        </p:nvSpPr>
        <p:spPr>
          <a:xfrm>
            <a:off x="6286500" y="1143000"/>
            <a:ext cx="5524500" cy="5238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2" name="Rectangle 42"/>
          <p:cNvSpPr/>
          <p:nvPr/>
        </p:nvSpPr>
        <p:spPr>
          <a:xfrm>
            <a:off x="6286500" y="1143000"/>
            <a:ext cx="38100" cy="523875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6459855" y="1340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成功关键因素</a:t>
            </a:r>
          </a:p>
        </p:txBody>
      </p:sp>
      <p:sp>
        <p:nvSpPr>
          <p:cNvPr id="44" name="Line 44"/>
          <p:cNvSpPr/>
          <p:nvPr/>
        </p:nvSpPr>
        <p:spPr>
          <a:xfrm>
            <a:off x="6477000" y="1619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5" name="Rectangle 45"/>
          <p:cNvSpPr/>
          <p:nvPr/>
        </p:nvSpPr>
        <p:spPr>
          <a:xfrm>
            <a:off x="6477000" y="17716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6" name="Rectangle 46"/>
          <p:cNvSpPr/>
          <p:nvPr/>
        </p:nvSpPr>
        <p:spPr>
          <a:xfrm>
            <a:off x="6629400" y="19240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Polygon 47"/>
          <p:cNvSpPr/>
          <p:nvPr/>
        </p:nvSpPr>
        <p:spPr>
          <a:xfrm>
            <a:off x="6743700" y="1981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0" y="1143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111365" y="19631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战略定力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13270" y="21888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高层持续支持，战略方向坚定不变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13270" y="23793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投入资源保障，不因短期波动调整方向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477000" y="28384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629400" y="29908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Rectangle 53"/>
          <p:cNvSpPr/>
          <p:nvPr/>
        </p:nvSpPr>
        <p:spPr>
          <a:xfrm>
            <a:off x="6686550" y="3067050"/>
            <a:ext cx="22860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" name="Line 54"/>
          <p:cNvSpPr/>
          <p:nvPr/>
        </p:nvSpPr>
        <p:spPr>
          <a:xfrm>
            <a:off x="6724650" y="31051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>
            <a:noFill/>
          </a:ln>
        </p:spPr>
      </p:sp>
      <p:sp>
        <p:nvSpPr>
          <p:cNvPr id="55" name="Line 55"/>
          <p:cNvSpPr/>
          <p:nvPr/>
        </p:nvSpPr>
        <p:spPr>
          <a:xfrm>
            <a:off x="6781800" y="3105150"/>
            <a:ext cx="9525" cy="57150"/>
          </a:xfrm>
          <a:custGeom>
            <a:avLst/>
            <a:gdLst/>
            <a:ahLst/>
            <a:cxnLst/>
            <a:rect l="l" t="t" r="r" b="b"/>
            <a:pathLst>
              <a:path w="952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>
            <a:noFill/>
          </a:ln>
        </p:spPr>
      </p:sp>
      <p:sp>
        <p:nvSpPr>
          <p:cNvPr id="56" name="TextBox 56"/>
          <p:cNvSpPr txBox="1"/>
          <p:nvPr/>
        </p:nvSpPr>
        <p:spPr>
          <a:xfrm>
            <a:off x="7111365" y="30299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技术驱动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7113270" y="3255645"/>
            <a:ext cx="21917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AI贯穿全流程：识别-触达-质检-优化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113270" y="34461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数据闭环持续迭代，越用越聪明</a:t>
            </a:r>
          </a:p>
        </p:txBody>
      </p:sp>
      <p:sp>
        <p:nvSpPr>
          <p:cNvPr id="59" name="Rectangle 59"/>
          <p:cNvSpPr/>
          <p:nvPr/>
        </p:nvSpPr>
        <p:spPr>
          <a:xfrm>
            <a:off x="6477000" y="39052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0" name="Rectangle 60"/>
          <p:cNvSpPr/>
          <p:nvPr/>
        </p:nvSpPr>
        <p:spPr>
          <a:xfrm>
            <a:off x="6629400" y="40576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Ellipse 61"/>
          <p:cNvSpPr/>
          <p:nvPr/>
        </p:nvSpPr>
        <p:spPr>
          <a:xfrm>
            <a:off x="6696075" y="41814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2" name="Ellipse 62"/>
          <p:cNvSpPr/>
          <p:nvPr/>
        </p:nvSpPr>
        <p:spPr>
          <a:xfrm>
            <a:off x="6810375" y="41814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" name="Line 63"/>
          <p:cNvSpPr/>
          <p:nvPr/>
        </p:nvSpPr>
        <p:spPr>
          <a:xfrm>
            <a:off x="6743700" y="4229100"/>
            <a:ext cx="114300" cy="9525"/>
          </a:xfrm>
          <a:custGeom>
            <a:avLst/>
            <a:gdLst/>
            <a:ahLst/>
            <a:cxnLst/>
            <a:rect l="l" t="t" r="r" b="b"/>
            <a:pathLst>
              <a:path w="114300" h="9525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/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7111365" y="40967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组织协同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113270" y="4322445"/>
            <a:ext cx="213912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三组分工明确：策略+电销+后台管理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7113270" y="4512945"/>
            <a:ext cx="186309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跨部门高效协作，职责边界清晰</a:t>
            </a:r>
          </a:p>
        </p:txBody>
      </p:sp>
      <p:sp>
        <p:nvSpPr>
          <p:cNvPr id="67" name="Rectangle 67"/>
          <p:cNvSpPr/>
          <p:nvPr/>
        </p:nvSpPr>
        <p:spPr>
          <a:xfrm>
            <a:off x="6477000" y="49720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8" name="Rectangle 68"/>
          <p:cNvSpPr/>
          <p:nvPr/>
        </p:nvSpPr>
        <p:spPr>
          <a:xfrm>
            <a:off x="6629400" y="51244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Freeform 69"/>
          <p:cNvSpPr/>
          <p:nvPr/>
        </p:nvSpPr>
        <p:spPr>
          <a:xfrm>
            <a:off x="6705600" y="5200650"/>
            <a:ext cx="190500" cy="266700"/>
          </a:xfrm>
          <a:custGeom>
            <a:avLst/>
            <a:gdLst/>
            <a:ahLst/>
            <a:cxnLst/>
            <a:rect l="l" t="t" r="r" b="b"/>
            <a:pathLst>
              <a:path w="190500" h="266700">
                <a:moveTo>
                  <a:pt x="95250" y="0"/>
                </a:moveTo>
                <a:lnTo>
                  <a:pt x="0" y="57150"/>
                </a:lnTo>
                <a:lnTo>
                  <a:pt x="0" y="152400"/>
                </a:lnTo>
                <a:cubicBezTo>
                  <a:pt x="0" y="209550"/>
                  <a:pt x="38100" y="247650"/>
                  <a:pt x="95250" y="266700"/>
                </a:cubicBezTo>
                <a:cubicBezTo>
                  <a:pt x="152400" y="247650"/>
                  <a:pt x="190500" y="209550"/>
                  <a:pt x="190500" y="152400"/>
                </a:cubicBezTo>
                <a:lnTo>
                  <a:pt x="190500" y="571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7111365" y="516350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合规底线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13270" y="5389245"/>
            <a:ext cx="21194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合规率100%作为红线指标，一票否决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7113270" y="55797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从事后检查转向事中预警，防患于未然</a:t>
            </a:r>
          </a:p>
        </p:txBody>
      </p:sp>
      <p:sp>
        <p:nvSpPr>
          <p:cNvPr id="73" name="Line 73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4" name="TextBox 74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组织变革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60860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组织架构三级升级为二级部门，直接向事业群汇报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5715000" cy="523875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81000" y="1143000"/>
            <a:ext cx="38100" cy="5238750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554355" y="1340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组织架构变革</a:t>
            </a:r>
          </a:p>
        </p:txBody>
      </p:sp>
      <p:sp>
        <p:nvSpPr>
          <p:cNvPr id="12" name="Line 12"/>
          <p:cNvSpPr/>
          <p:nvPr/>
        </p:nvSpPr>
        <p:spPr>
          <a:xfrm>
            <a:off x="571500" y="1619250"/>
            <a:ext cx="5334000" cy="9525"/>
          </a:xfrm>
          <a:custGeom>
            <a:avLst/>
            <a:gdLst/>
            <a:ahLst/>
            <a:cxnLst/>
            <a:rect l="l" t="t" r="r" b="b"/>
            <a:pathLst>
              <a:path w="5334000" h="9525">
                <a:moveTo>
                  <a:pt x="0" y="0"/>
                </a:moveTo>
                <a:lnTo>
                  <a:pt x="5334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571500" y="1809750"/>
            <a:ext cx="4762500" cy="952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49618" y="195214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变革前：三级部门</a:t>
            </a:r>
          </a:p>
        </p:txBody>
      </p:sp>
      <p:sp>
        <p:nvSpPr>
          <p:cNvPr id="15" name="Line 15"/>
          <p:cNvSpPr/>
          <p:nvPr/>
        </p:nvSpPr>
        <p:spPr>
          <a:xfrm>
            <a:off x="762000" y="21526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750570" y="22459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层级较多，决策链条长，响应速度慢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0570" y="243649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资源调配效率低，跨部门协同成本高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0570" y="2626995"/>
            <a:ext cx="20142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i="1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三级部门 → 二级部门（精简扁平）</a:t>
            </a:r>
          </a:p>
        </p:txBody>
      </p:sp>
      <p:sp>
        <p:nvSpPr>
          <p:cNvPr id="19" name="Polygon 19"/>
          <p:cNvSpPr/>
          <p:nvPr/>
        </p:nvSpPr>
        <p:spPr>
          <a:xfrm>
            <a:off x="2895600" y="2952750"/>
            <a:ext cx="114300" cy="133350"/>
          </a:xfrm>
          <a:custGeom>
            <a:avLst/>
            <a:gdLst/>
            <a:ahLst/>
            <a:cxnLst/>
            <a:rect l="l" t="t" r="r" b="b"/>
            <a:pathLst>
              <a:path w="114300" h="133350">
                <a:moveTo>
                  <a:pt x="57150" y="0"/>
                </a:moveTo>
                <a:lnTo>
                  <a:pt x="0" y="133350"/>
                </a:lnTo>
                <a:lnTo>
                  <a:pt x="114300" y="1333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130868" y="2980849"/>
            <a:ext cx="32380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升级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571500" y="3333750"/>
            <a:ext cx="4762500" cy="13335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749618" y="3476149"/>
            <a:ext cx="122091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变革后：二级部门</a:t>
            </a:r>
          </a:p>
        </p:txBody>
      </p:sp>
      <p:sp>
        <p:nvSpPr>
          <p:cNvPr id="23" name="Line 23"/>
          <p:cNvSpPr/>
          <p:nvPr/>
        </p:nvSpPr>
        <p:spPr>
          <a:xfrm>
            <a:off x="762000" y="367665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62000" y="3790950"/>
            <a:ext cx="1333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72277" y="39223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电销服务组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92351" y="4540091"/>
            <a:ext cx="47279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2900+人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286000" y="3790950"/>
            <a:ext cx="1333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2596277" y="39223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策略运营组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764548" y="4540091"/>
            <a:ext cx="376404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100+人</a:t>
            </a:r>
          </a:p>
        </p:txBody>
      </p:sp>
      <p:sp>
        <p:nvSpPr>
          <p:cNvPr id="30" name="Rectangle 30"/>
          <p:cNvSpPr/>
          <p:nvPr/>
        </p:nvSpPr>
        <p:spPr>
          <a:xfrm>
            <a:off x="3810000" y="3790950"/>
            <a:ext cx="1333500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120277" y="3922395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后台管理部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306622" y="4540091"/>
            <a:ext cx="34025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50+人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4953000"/>
            <a:ext cx="4762500" cy="1143000"/>
          </a:xfrm>
          <a:prstGeom prst="rect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749618" y="509539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变革成效</a:t>
            </a:r>
          </a:p>
        </p:txBody>
      </p:sp>
      <p:sp>
        <p:nvSpPr>
          <p:cNvPr id="35" name="Line 35"/>
          <p:cNvSpPr/>
          <p:nvPr/>
        </p:nvSpPr>
        <p:spPr>
          <a:xfrm>
            <a:off x="762000" y="52959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4762">
            <a:solidFill>
              <a:srgbClr val="1A5FA8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750570" y="53892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决策效率提升：扁平化管理，减少审批层级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0570" y="5579745"/>
            <a:ext cx="265176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资源调配灵活：快速响应市场变化和业务需求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0570" y="5770245"/>
            <a:ext cx="25203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8AAED0"/>
                </a:solidFill>
                <a:latin typeface="Segoe UI"/>
                <a:ea typeface="Microsoft YaHei"/>
                <a:cs typeface="Segoe UI"/>
              </a:rPr>
              <a:t>跨部门协同顺畅：职责边界清晰，分工明确</a:t>
            </a:r>
          </a:p>
        </p:txBody>
      </p:sp>
      <p:sp>
        <p:nvSpPr>
          <p:cNvPr id="39" name="Rectangle 39"/>
          <p:cNvSpPr/>
          <p:nvPr/>
        </p:nvSpPr>
        <p:spPr>
          <a:xfrm>
            <a:off x="6286500" y="1143000"/>
            <a:ext cx="5524500" cy="52387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6286500" y="1143000"/>
            <a:ext cx="38100" cy="523875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459855" y="134016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人才培养体系</a:t>
            </a:r>
          </a:p>
        </p:txBody>
      </p:sp>
      <p:sp>
        <p:nvSpPr>
          <p:cNvPr id="42" name="Line 42"/>
          <p:cNvSpPr/>
          <p:nvPr/>
        </p:nvSpPr>
        <p:spPr>
          <a:xfrm>
            <a:off x="6477000" y="161925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CCCCCC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477000" y="18097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4" name="Rectangle 44"/>
          <p:cNvSpPr/>
          <p:nvPr/>
        </p:nvSpPr>
        <p:spPr>
          <a:xfrm>
            <a:off x="6629400" y="19621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86550" y="2038350"/>
            <a:ext cx="22860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6724650" y="209550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>
            <a:noFill/>
          </a:ln>
        </p:spPr>
      </p:sp>
      <p:sp>
        <p:nvSpPr>
          <p:cNvPr id="47" name="Line 47"/>
          <p:cNvSpPr/>
          <p:nvPr/>
        </p:nvSpPr>
        <p:spPr>
          <a:xfrm>
            <a:off x="6724650" y="2152650"/>
            <a:ext cx="152400" cy="9525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111365" y="2001202"/>
            <a:ext cx="11296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AI辅助降低门槛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113270" y="2226945"/>
            <a:ext cx="247430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新人上手时间缩短67%，培训成本大幅下降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113270" y="2417445"/>
            <a:ext cx="18433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AI实时话术辅助，降低经验依赖</a:t>
            </a:r>
          </a:p>
        </p:txBody>
      </p:sp>
      <p:sp>
        <p:nvSpPr>
          <p:cNvPr id="51" name="Rectangle 51"/>
          <p:cNvSpPr/>
          <p:nvPr/>
        </p:nvSpPr>
        <p:spPr>
          <a:xfrm>
            <a:off x="6477000" y="29146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2" name="Rectangle 52"/>
          <p:cNvSpPr/>
          <p:nvPr/>
        </p:nvSpPr>
        <p:spPr>
          <a:xfrm>
            <a:off x="6629400" y="30670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Polygon 53"/>
          <p:cNvSpPr/>
          <p:nvPr/>
        </p:nvSpPr>
        <p:spPr>
          <a:xfrm>
            <a:off x="6743700" y="312420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0" y="114300"/>
                </a:lnTo>
                <a:lnTo>
                  <a:pt x="57150" y="7620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7111365" y="31061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持续培训体系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7113270" y="3331845"/>
            <a:ext cx="2125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季度技能提升培训，合规意识常态化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113270" y="35223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优秀坐席经验沉淀为知识库，共享复用</a:t>
            </a:r>
          </a:p>
        </p:txBody>
      </p:sp>
      <p:sp>
        <p:nvSpPr>
          <p:cNvPr id="57" name="Rectangle 57"/>
          <p:cNvSpPr/>
          <p:nvPr/>
        </p:nvSpPr>
        <p:spPr>
          <a:xfrm>
            <a:off x="6477000" y="40195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6629400" y="41719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Ellipse 59"/>
          <p:cNvSpPr/>
          <p:nvPr/>
        </p:nvSpPr>
        <p:spPr>
          <a:xfrm>
            <a:off x="6743700" y="4210050"/>
            <a:ext cx="114300" cy="1143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Freeform 60"/>
          <p:cNvSpPr/>
          <p:nvPr/>
        </p:nvSpPr>
        <p:spPr>
          <a:xfrm>
            <a:off x="6724650" y="430530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0" y="114300"/>
                </a:moveTo>
                <a:lnTo>
                  <a:pt x="0" y="38100"/>
                </a:lnTo>
                <a:cubicBezTo>
                  <a:pt x="0" y="0"/>
                  <a:pt x="152400" y="0"/>
                  <a:pt x="152400" y="38100"/>
                </a:cubicBezTo>
                <a:lnTo>
                  <a:pt x="152400" y="114300"/>
                </a:lnTo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7111365" y="42110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复合型人才梯队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113270" y="4436745"/>
            <a:ext cx="226399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培养"懂数据+懂AI+懂业务"的复合人才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7113270" y="4627245"/>
            <a:ext cx="19879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团队稳定性100%，核心人才零流失</a:t>
            </a:r>
          </a:p>
        </p:txBody>
      </p:sp>
      <p:sp>
        <p:nvSpPr>
          <p:cNvPr id="64" name="Rectangle 64"/>
          <p:cNvSpPr/>
          <p:nvPr/>
        </p:nvSpPr>
        <p:spPr>
          <a:xfrm>
            <a:off x="6477000" y="5124450"/>
            <a:ext cx="4953000" cy="952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5" name="Rectangle 65"/>
          <p:cNvSpPr/>
          <p:nvPr/>
        </p:nvSpPr>
        <p:spPr>
          <a:xfrm>
            <a:off x="6629400" y="5276850"/>
            <a:ext cx="342900" cy="3429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Rectangle 66"/>
          <p:cNvSpPr/>
          <p:nvPr/>
        </p:nvSpPr>
        <p:spPr>
          <a:xfrm>
            <a:off x="6686550" y="5353050"/>
            <a:ext cx="76200" cy="1905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7" name="Rectangle 67"/>
          <p:cNvSpPr/>
          <p:nvPr/>
        </p:nvSpPr>
        <p:spPr>
          <a:xfrm>
            <a:off x="6781800" y="5410200"/>
            <a:ext cx="76200" cy="1333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Rectangle 68"/>
          <p:cNvSpPr/>
          <p:nvPr/>
        </p:nvSpPr>
        <p:spPr>
          <a:xfrm>
            <a:off x="6877050" y="5372100"/>
            <a:ext cx="762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7111365" y="53159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多维考核机制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7113270" y="5541645"/>
            <a:ext cx="23428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结果导向+过程管理+客户评价+合规红线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7113270" y="573214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定量与定性结合，兼顾业绩与能力成长</a:t>
            </a:r>
          </a:p>
        </p:txBody>
      </p:sp>
      <p:sp>
        <p:nvSpPr>
          <p:cNvPr id="72" name="Line 7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523393" y="6654641"/>
            <a:ext cx="2980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70522" y="12049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下一步计划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1294459" y="120491"/>
            <a:ext cx="52701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京东科技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4345" y="488632"/>
            <a:ext cx="58616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持续精进三大方向：精准识别、合规强化、技术迭代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Line 9"/>
          <p:cNvSpPr/>
          <p:nvPr/>
        </p:nvSpPr>
        <p:spPr>
          <a:xfrm>
            <a:off x="952500" y="1333500"/>
            <a:ext cx="10287000" cy="9525"/>
          </a:xfrm>
          <a:custGeom>
            <a:avLst/>
            <a:gdLst/>
            <a:ahLst/>
            <a:cxnLst/>
            <a:rect l="l" t="t" r="r" b="b"/>
            <a:pathLst>
              <a:path w="10287000" h="9525">
                <a:moveTo>
                  <a:pt x="0" y="0"/>
                </a:moveTo>
                <a:lnTo>
                  <a:pt x="10287000" y="0"/>
                </a:lnTo>
              </a:path>
            </a:pathLst>
          </a:custGeom>
          <a:noFill/>
          <a:ln>
            <a:noFill/>
          </a:ln>
        </p:spPr>
      </p:sp>
      <p:sp>
        <p:nvSpPr>
          <p:cNvPr id="10" name="Ellipse 10"/>
          <p:cNvSpPr/>
          <p:nvPr/>
        </p:nvSpPr>
        <p:spPr>
          <a:xfrm>
            <a:off x="1352550" y="1162050"/>
            <a:ext cx="342900" cy="34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42231" y="1277302"/>
            <a:ext cx="16353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12580" y="1609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精准识别</a:t>
            </a:r>
          </a:p>
        </p:txBody>
      </p:sp>
      <p:sp>
        <p:nvSpPr>
          <p:cNvPr id="13" name="Polygon 13"/>
          <p:cNvSpPr/>
          <p:nvPr/>
        </p:nvSpPr>
        <p:spPr>
          <a:xfrm>
            <a:off x="2952750" y="1285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4019550" y="1162050"/>
            <a:ext cx="342900" cy="34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4089104" y="1277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879580" y="1609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合规强化</a:t>
            </a:r>
          </a:p>
        </p:txBody>
      </p:sp>
      <p:sp>
        <p:nvSpPr>
          <p:cNvPr id="17" name="Polygon 17"/>
          <p:cNvSpPr/>
          <p:nvPr/>
        </p:nvSpPr>
        <p:spPr>
          <a:xfrm>
            <a:off x="5619750" y="1285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Ellipse 18"/>
          <p:cNvSpPr/>
          <p:nvPr/>
        </p:nvSpPr>
        <p:spPr>
          <a:xfrm>
            <a:off x="6686550" y="1162050"/>
            <a:ext cx="342900" cy="342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756104" y="1277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46580" y="1609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技术迭代</a:t>
            </a:r>
          </a:p>
        </p:txBody>
      </p:sp>
      <p:sp>
        <p:nvSpPr>
          <p:cNvPr id="21" name="Polygon 21"/>
          <p:cNvSpPr/>
          <p:nvPr/>
        </p:nvSpPr>
        <p:spPr>
          <a:xfrm>
            <a:off x="8286750" y="1285875"/>
            <a:ext cx="95250" cy="95250"/>
          </a:xfrm>
          <a:custGeom>
            <a:avLst/>
            <a:gdLst/>
            <a:ahLst/>
            <a:cxnLst/>
            <a:rect l="l" t="t" r="r" b="b"/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" name="Ellipse 22"/>
          <p:cNvSpPr/>
          <p:nvPr/>
        </p:nvSpPr>
        <p:spPr>
          <a:xfrm>
            <a:off x="9353550" y="1162050"/>
            <a:ext cx="342900" cy="342900"/>
          </a:xfrm>
          <a:prstGeom prst="ellipse">
            <a:avLst/>
          </a:prstGeom>
          <a:solidFill>
            <a:srgbClr val="0A1F3A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423104" y="1277302"/>
            <a:ext cx="20379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04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13580" y="1609249"/>
            <a:ext cx="6228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生态共建</a:t>
            </a:r>
          </a:p>
        </p:txBody>
      </p:sp>
      <p:sp>
        <p:nvSpPr>
          <p:cNvPr id="25" name="Rectangle 25"/>
          <p:cNvSpPr/>
          <p:nvPr/>
        </p:nvSpPr>
        <p:spPr>
          <a:xfrm>
            <a:off x="381000" y="2000250"/>
            <a:ext cx="5524500" cy="2095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381000" y="2000250"/>
            <a:ext cx="38100" cy="20955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571500" y="2133600"/>
            <a:ext cx="457200" cy="4572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28" name="Ellipse 28"/>
          <p:cNvSpPr/>
          <p:nvPr/>
        </p:nvSpPr>
        <p:spPr>
          <a:xfrm>
            <a:off x="647700" y="2209800"/>
            <a:ext cx="304800" cy="304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" name="Ellipse 29"/>
          <p:cNvSpPr/>
          <p:nvPr/>
        </p:nvSpPr>
        <p:spPr>
          <a:xfrm>
            <a:off x="704850" y="2266950"/>
            <a:ext cx="190500" cy="190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" name="Ellipse 30"/>
          <p:cNvSpPr/>
          <p:nvPr/>
        </p:nvSpPr>
        <p:spPr>
          <a:xfrm>
            <a:off x="762000" y="2324100"/>
            <a:ext cx="76200" cy="7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125855" y="21593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精准识别深化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2522" y="2406491"/>
            <a:ext cx="14487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升级AI模型，扩充画像维度</a:t>
            </a:r>
          </a:p>
        </p:txBody>
      </p:sp>
      <p:sp>
        <p:nvSpPr>
          <p:cNvPr id="33" name="Line 33"/>
          <p:cNvSpPr/>
          <p:nvPr/>
        </p:nvSpPr>
        <p:spPr>
          <a:xfrm>
            <a:off x="571500" y="2667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571500" y="2781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673418" y="2790349"/>
            <a:ext cx="270898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升级AI需求识别模型，提升需求预测准确率</a:t>
            </a:r>
          </a:p>
        </p:txBody>
      </p:sp>
      <p:sp>
        <p:nvSpPr>
          <p:cNvPr id="36" name="Rectangle 36"/>
          <p:cNvSpPr/>
          <p:nvPr/>
        </p:nvSpPr>
        <p:spPr>
          <a:xfrm>
            <a:off x="571500" y="30099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73418" y="3018949"/>
            <a:ext cx="304361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扩充客户画像维度至500+，覆盖全生命周期行为</a:t>
            </a:r>
          </a:p>
        </p:txBody>
      </p:sp>
      <p:sp>
        <p:nvSpPr>
          <p:cNvPr id="38" name="Rectangle 38"/>
          <p:cNvSpPr/>
          <p:nvPr/>
        </p:nvSpPr>
        <p:spPr>
          <a:xfrm>
            <a:off x="571500" y="3238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673418" y="3247549"/>
            <a:ext cx="30222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目标：接通率再提升15%，首拨转化率再提升20%</a:t>
            </a:r>
          </a:p>
        </p:txBody>
      </p:sp>
      <p:sp>
        <p:nvSpPr>
          <p:cNvPr id="40" name="Rectangle 40"/>
          <p:cNvSpPr/>
          <p:nvPr/>
        </p:nvSpPr>
        <p:spPr>
          <a:xfrm>
            <a:off x="571500" y="3543300"/>
            <a:ext cx="952500" cy="30480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705168" y="3654266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接通率 +15%</a:t>
            </a:r>
          </a:p>
        </p:txBody>
      </p:sp>
      <p:sp>
        <p:nvSpPr>
          <p:cNvPr id="42" name="Rectangle 42"/>
          <p:cNvSpPr/>
          <p:nvPr/>
        </p:nvSpPr>
        <p:spPr>
          <a:xfrm>
            <a:off x="6286500" y="2000250"/>
            <a:ext cx="5524500" cy="2095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3" name="Rectangle 43"/>
          <p:cNvSpPr/>
          <p:nvPr/>
        </p:nvSpPr>
        <p:spPr>
          <a:xfrm>
            <a:off x="6286500" y="2000250"/>
            <a:ext cx="38100" cy="2095500"/>
          </a:xfrm>
          <a:prstGeom prst="rect">
            <a:avLst/>
          </a:prstGeom>
          <a:noFill/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77000" y="2133600"/>
            <a:ext cx="457200" cy="4572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45" name="Freeform 45"/>
          <p:cNvSpPr/>
          <p:nvPr/>
        </p:nvSpPr>
        <p:spPr>
          <a:xfrm>
            <a:off x="6591300" y="2228850"/>
            <a:ext cx="228600" cy="361950"/>
          </a:xfrm>
          <a:custGeom>
            <a:avLst/>
            <a:gdLst/>
            <a:ahLst/>
            <a:cxnLst/>
            <a:rect l="l" t="t" r="r" b="b"/>
            <a:pathLst>
              <a:path w="228600" h="361950">
                <a:moveTo>
                  <a:pt x="114300" y="0"/>
                </a:moveTo>
                <a:lnTo>
                  <a:pt x="0" y="76200"/>
                </a:lnTo>
                <a:lnTo>
                  <a:pt x="0" y="190500"/>
                </a:lnTo>
                <a:cubicBezTo>
                  <a:pt x="0" y="266700"/>
                  <a:pt x="57150" y="323850"/>
                  <a:pt x="114300" y="361950"/>
                </a:cubicBezTo>
                <a:cubicBezTo>
                  <a:pt x="171450" y="323850"/>
                  <a:pt x="228600" y="266700"/>
                  <a:pt x="228600" y="190500"/>
                </a:cubicBezTo>
                <a:lnTo>
                  <a:pt x="228600" y="762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" name="Freeform 46"/>
          <p:cNvSpPr/>
          <p:nvPr/>
        </p:nvSpPr>
        <p:spPr>
          <a:xfrm>
            <a:off x="6657975" y="2371725"/>
            <a:ext cx="104775" cy="76200"/>
          </a:xfrm>
          <a:custGeom>
            <a:avLst/>
            <a:gdLst/>
            <a:ahLst/>
            <a:cxnLst/>
            <a:rect l="l" t="t" r="r" b="b"/>
            <a:pathLst>
              <a:path w="104775" h="76200">
                <a:moveTo>
                  <a:pt x="0" y="47625"/>
                </a:moveTo>
                <a:lnTo>
                  <a:pt x="28575" y="76200"/>
                </a:lnTo>
                <a:lnTo>
                  <a:pt x="104775" y="0"/>
                </a:lnTo>
              </a:path>
            </a:pathLst>
          </a:custGeom>
          <a:noFill/>
          <a:ln w="14288">
            <a:solidFill>
              <a:srgbClr val="FFFFFF"/>
            </a:solidFill>
            <a:round/>
          </a:ln>
        </p:spPr>
      </p:sp>
      <p:sp>
        <p:nvSpPr>
          <p:cNvPr id="47" name="TextBox 47"/>
          <p:cNvSpPr txBox="1"/>
          <p:nvPr/>
        </p:nvSpPr>
        <p:spPr>
          <a:xfrm>
            <a:off x="7031355" y="21593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合规体系升级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38022" y="2406491"/>
            <a:ext cx="156926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AI实时监控，知识库自动更新</a:t>
            </a:r>
          </a:p>
        </p:txBody>
      </p:sp>
      <p:sp>
        <p:nvSpPr>
          <p:cNvPr id="49" name="Line 49"/>
          <p:cNvSpPr/>
          <p:nvPr/>
        </p:nvSpPr>
        <p:spPr>
          <a:xfrm>
            <a:off x="6477000" y="2667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0" name="Rectangle 50"/>
          <p:cNvSpPr/>
          <p:nvPr/>
        </p:nvSpPr>
        <p:spPr>
          <a:xfrm>
            <a:off x="6477000" y="2781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6578918" y="2790349"/>
            <a:ext cx="255946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完善AI实时合规监控，覆盖100%通话场景</a:t>
            </a:r>
          </a:p>
        </p:txBody>
      </p:sp>
      <p:sp>
        <p:nvSpPr>
          <p:cNvPr id="52" name="Rectangle 52"/>
          <p:cNvSpPr/>
          <p:nvPr/>
        </p:nvSpPr>
        <p:spPr>
          <a:xfrm>
            <a:off x="6477000" y="30099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TextBox 53"/>
          <p:cNvSpPr txBox="1"/>
          <p:nvPr/>
        </p:nvSpPr>
        <p:spPr>
          <a:xfrm>
            <a:off x="6578918" y="3018949"/>
            <a:ext cx="2587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建立合规知识库自动更新机制，季度迭代</a:t>
            </a:r>
          </a:p>
        </p:txBody>
      </p:sp>
      <p:sp>
        <p:nvSpPr>
          <p:cNvPr id="54" name="Rectangle 54"/>
          <p:cNvSpPr/>
          <p:nvPr/>
        </p:nvSpPr>
        <p:spPr>
          <a:xfrm>
            <a:off x="6477000" y="3238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6578918" y="3247549"/>
            <a:ext cx="2865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目标：合规率持续保持100%，零重大合规事件</a:t>
            </a:r>
          </a:p>
        </p:txBody>
      </p:sp>
      <p:sp>
        <p:nvSpPr>
          <p:cNvPr id="56" name="Rectangle 56"/>
          <p:cNvSpPr/>
          <p:nvPr/>
        </p:nvSpPr>
        <p:spPr>
          <a:xfrm>
            <a:off x="6477000" y="3543300"/>
            <a:ext cx="1143000" cy="3048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6705918" y="3654266"/>
            <a:ext cx="6851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合规率 100%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81000" y="4286250"/>
            <a:ext cx="5524500" cy="2095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9" name="Rectangle 59"/>
          <p:cNvSpPr/>
          <p:nvPr/>
        </p:nvSpPr>
        <p:spPr>
          <a:xfrm>
            <a:off x="381000" y="4286250"/>
            <a:ext cx="38100" cy="20955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Rectangle 60"/>
          <p:cNvSpPr/>
          <p:nvPr/>
        </p:nvSpPr>
        <p:spPr>
          <a:xfrm>
            <a:off x="571500" y="4419600"/>
            <a:ext cx="457200" cy="4572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61" name="Rectangle 61"/>
          <p:cNvSpPr/>
          <p:nvPr/>
        </p:nvSpPr>
        <p:spPr>
          <a:xfrm>
            <a:off x="685800" y="4533900"/>
            <a:ext cx="228600" cy="2286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723900" y="4572000"/>
            <a:ext cx="5715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800100" y="4572000"/>
            <a:ext cx="57150" cy="15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1125855" y="44453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技术持续迭代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132522" y="469249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大模型应用落地，情绪识别升级</a:t>
            </a:r>
          </a:p>
        </p:txBody>
      </p:sp>
      <p:sp>
        <p:nvSpPr>
          <p:cNvPr id="66" name="Line 66"/>
          <p:cNvSpPr/>
          <p:nvPr/>
        </p:nvSpPr>
        <p:spPr>
          <a:xfrm>
            <a:off x="571500" y="4953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7" name="Rectangle 67"/>
          <p:cNvSpPr/>
          <p:nvPr/>
        </p:nvSpPr>
        <p:spPr>
          <a:xfrm>
            <a:off x="571500" y="5067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TextBox 68"/>
          <p:cNvSpPr txBox="1"/>
          <p:nvPr/>
        </p:nvSpPr>
        <p:spPr>
          <a:xfrm>
            <a:off x="673418" y="5076349"/>
            <a:ext cx="299377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跟进AI大模型应用落地，引入更智能的对话能力</a:t>
            </a:r>
          </a:p>
        </p:txBody>
      </p:sp>
      <p:sp>
        <p:nvSpPr>
          <p:cNvPr id="69" name="Rectangle 69"/>
          <p:cNvSpPr/>
          <p:nvPr/>
        </p:nvSpPr>
        <p:spPr>
          <a:xfrm>
            <a:off x="571500" y="52959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TextBox 70"/>
          <p:cNvSpPr txBox="1"/>
          <p:nvPr/>
        </p:nvSpPr>
        <p:spPr>
          <a:xfrm>
            <a:off x="673418" y="5304949"/>
            <a:ext cx="295105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优化智能路由匹配算法，提升坐席-客户匹配度</a:t>
            </a:r>
          </a:p>
        </p:txBody>
      </p:sp>
      <p:sp>
        <p:nvSpPr>
          <p:cNvPr id="71" name="Rectangle 71"/>
          <p:cNvSpPr/>
          <p:nvPr/>
        </p:nvSpPr>
        <p:spPr>
          <a:xfrm>
            <a:off x="571500" y="5524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73418" y="5533549"/>
            <a:ext cx="334265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目标：人均效率再提升20%，新人上手时间再缩短50%</a:t>
            </a:r>
          </a:p>
        </p:txBody>
      </p:sp>
      <p:sp>
        <p:nvSpPr>
          <p:cNvPr id="73" name="Rectangle 73"/>
          <p:cNvSpPr/>
          <p:nvPr/>
        </p:nvSpPr>
        <p:spPr>
          <a:xfrm>
            <a:off x="571500" y="5829300"/>
            <a:ext cx="1143000" cy="30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TextBox 74"/>
          <p:cNvSpPr txBox="1"/>
          <p:nvPr/>
        </p:nvSpPr>
        <p:spPr>
          <a:xfrm>
            <a:off x="721346" y="5940266"/>
            <a:ext cx="843308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人均效率 +20%</a:t>
            </a:r>
          </a:p>
        </p:txBody>
      </p:sp>
      <p:sp>
        <p:nvSpPr>
          <p:cNvPr id="75" name="Rectangle 75"/>
          <p:cNvSpPr/>
          <p:nvPr/>
        </p:nvSpPr>
        <p:spPr>
          <a:xfrm>
            <a:off x="6286500" y="4286250"/>
            <a:ext cx="5524500" cy="2095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76" name="Rectangle 76"/>
          <p:cNvSpPr/>
          <p:nvPr/>
        </p:nvSpPr>
        <p:spPr>
          <a:xfrm>
            <a:off x="6286500" y="4286250"/>
            <a:ext cx="38100" cy="2095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6477000" y="4419600"/>
            <a:ext cx="457200" cy="457200"/>
          </a:xfrm>
          <a:prstGeom prst="rect">
            <a:avLst/>
          </a:prstGeom>
          <a:solidFill>
            <a:srgbClr val="E8F0FA"/>
          </a:solidFill>
          <a:ln>
            <a:noFill/>
          </a:ln>
        </p:spPr>
      </p:sp>
      <p:sp>
        <p:nvSpPr>
          <p:cNvPr id="78" name="Ellipse 78"/>
          <p:cNvSpPr/>
          <p:nvPr/>
        </p:nvSpPr>
        <p:spPr>
          <a:xfrm>
            <a:off x="6610350" y="4552950"/>
            <a:ext cx="76200" cy="7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9" name="Ellipse 79"/>
          <p:cNvSpPr/>
          <p:nvPr/>
        </p:nvSpPr>
        <p:spPr>
          <a:xfrm>
            <a:off x="6762750" y="4495800"/>
            <a:ext cx="76200" cy="7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Ellipse 80"/>
          <p:cNvSpPr/>
          <p:nvPr/>
        </p:nvSpPr>
        <p:spPr>
          <a:xfrm>
            <a:off x="6762750" y="4667250"/>
            <a:ext cx="76200" cy="7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1" name="Ellipse 81"/>
          <p:cNvSpPr/>
          <p:nvPr/>
        </p:nvSpPr>
        <p:spPr>
          <a:xfrm>
            <a:off x="6762750" y="4552950"/>
            <a:ext cx="76200" cy="76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" name="Line 82"/>
          <p:cNvSpPr/>
          <p:nvPr/>
        </p:nvSpPr>
        <p:spPr>
          <a:xfrm>
            <a:off x="6648450" y="4533900"/>
            <a:ext cx="152400" cy="57150"/>
          </a:xfrm>
          <a:custGeom>
            <a:avLst/>
            <a:gdLst/>
            <a:ahLst/>
            <a:cxnLst/>
            <a:rect l="l" t="t" r="r" b="b"/>
            <a:pathLst>
              <a:path w="152400" h="57150">
                <a:moveTo>
                  <a:pt x="0" y="57150"/>
                </a:moveTo>
                <a:lnTo>
                  <a:pt x="152400" y="0"/>
                </a:lnTo>
              </a:path>
            </a:pathLst>
          </a:custGeom>
          <a:noFill/>
          <a:ln>
            <a:noFill/>
          </a:ln>
        </p:spPr>
      </p:sp>
      <p:sp>
        <p:nvSpPr>
          <p:cNvPr id="83" name="Line 83"/>
          <p:cNvSpPr/>
          <p:nvPr/>
        </p:nvSpPr>
        <p:spPr>
          <a:xfrm>
            <a:off x="6648450" y="4591050"/>
            <a:ext cx="152400" cy="57150"/>
          </a:xfrm>
          <a:custGeom>
            <a:avLst/>
            <a:gdLst/>
            <a:ahLst/>
            <a:cxnLst/>
            <a:rect l="l" t="t" r="r" b="b"/>
            <a:pathLst>
              <a:path w="152400" h="57150">
                <a:moveTo>
                  <a:pt x="0" y="0"/>
                </a:moveTo>
                <a:lnTo>
                  <a:pt x="152400" y="57150"/>
                </a:lnTo>
              </a:path>
            </a:pathLst>
          </a:custGeom>
          <a:noFill/>
          <a:ln>
            <a:noFill/>
          </a:ln>
        </p:spPr>
      </p:sp>
      <p:sp>
        <p:nvSpPr>
          <p:cNvPr id="84" name="Line 84"/>
          <p:cNvSpPr/>
          <p:nvPr/>
        </p:nvSpPr>
        <p:spPr>
          <a:xfrm>
            <a:off x="6648450" y="4591050"/>
            <a:ext cx="152400" cy="114300"/>
          </a:xfrm>
          <a:custGeom>
            <a:avLst/>
            <a:gdLst/>
            <a:ahLst/>
            <a:cxnLst/>
            <a:rect l="l" t="t" r="r" b="b"/>
            <a:pathLst>
              <a:path w="152400" h="114300">
                <a:moveTo>
                  <a:pt x="0" y="0"/>
                </a:moveTo>
                <a:lnTo>
                  <a:pt x="152400" y="114300"/>
                </a:lnTo>
              </a:path>
            </a:pathLst>
          </a:custGeom>
          <a:noFill/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7031355" y="4445318"/>
            <a:ext cx="127644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生态共建拓展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7038022" y="4692491"/>
            <a:ext cx="17078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开放能力，赋能上下游合作伙伴</a:t>
            </a:r>
          </a:p>
        </p:txBody>
      </p:sp>
      <p:sp>
        <p:nvSpPr>
          <p:cNvPr id="87" name="Line 87"/>
          <p:cNvSpPr/>
          <p:nvPr/>
        </p:nvSpPr>
        <p:spPr>
          <a:xfrm>
            <a:off x="6477000" y="4953000"/>
            <a:ext cx="5143500" cy="9525"/>
          </a:xfrm>
          <a:custGeom>
            <a:avLst/>
            <a:gdLst/>
            <a:ahLst/>
            <a:cxnLst/>
            <a:rect l="l" t="t" r="r" b="b"/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8" name="Rectangle 88"/>
          <p:cNvSpPr/>
          <p:nvPr/>
        </p:nvSpPr>
        <p:spPr>
          <a:xfrm>
            <a:off x="6477000" y="50673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TextBox 89"/>
          <p:cNvSpPr txBox="1"/>
          <p:nvPr/>
        </p:nvSpPr>
        <p:spPr>
          <a:xfrm>
            <a:off x="6578918" y="5076349"/>
            <a:ext cx="25665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开放AI能力接口，赋能供应商与合作伙伴</a:t>
            </a:r>
          </a:p>
        </p:txBody>
      </p:sp>
      <p:sp>
        <p:nvSpPr>
          <p:cNvPr id="90" name="Rectangle 90"/>
          <p:cNvSpPr/>
          <p:nvPr/>
        </p:nvSpPr>
        <p:spPr>
          <a:xfrm>
            <a:off x="6477000" y="52959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TextBox 91"/>
          <p:cNvSpPr txBox="1"/>
          <p:nvPr/>
        </p:nvSpPr>
        <p:spPr>
          <a:xfrm>
            <a:off x="6578918" y="5304949"/>
            <a:ext cx="273034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建设行业客服最佳实践标准，输出标杆经验</a:t>
            </a:r>
          </a:p>
        </p:txBody>
      </p:sp>
      <p:sp>
        <p:nvSpPr>
          <p:cNvPr id="92" name="Rectangle 92"/>
          <p:cNvSpPr/>
          <p:nvPr/>
        </p:nvSpPr>
        <p:spPr>
          <a:xfrm>
            <a:off x="6477000" y="5524500"/>
            <a:ext cx="28575" cy="133350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TextBox 93"/>
          <p:cNvSpPr txBox="1"/>
          <p:nvPr/>
        </p:nvSpPr>
        <p:spPr>
          <a:xfrm>
            <a:off x="6578918" y="5533549"/>
            <a:ext cx="267338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目标：生态伙伴覆盖10+，服务满意度95%+</a:t>
            </a:r>
          </a:p>
        </p:txBody>
      </p:sp>
      <p:sp>
        <p:nvSpPr>
          <p:cNvPr id="94" name="Rectangle 94"/>
          <p:cNvSpPr/>
          <p:nvPr/>
        </p:nvSpPr>
        <p:spPr>
          <a:xfrm>
            <a:off x="6477000" y="5829300"/>
            <a:ext cx="1143000" cy="304800"/>
          </a:xfrm>
          <a:prstGeom prst="rect">
            <a:avLst/>
          </a:prstGeom>
          <a:noFill/>
          <a:ln>
            <a:noFill/>
          </a:ln>
        </p:spPr>
      </p:sp>
      <p:sp>
        <p:nvSpPr>
          <p:cNvPr id="95" name="TextBox 95"/>
          <p:cNvSpPr txBox="1"/>
          <p:nvPr/>
        </p:nvSpPr>
        <p:spPr>
          <a:xfrm>
            <a:off x="6471864" y="5940266"/>
            <a:ext cx="115327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伙伴 10+ 满意度 95%</a:t>
            </a:r>
          </a:p>
        </p:txBody>
      </p:sp>
      <p:sp>
        <p:nvSpPr>
          <p:cNvPr id="96" name="Line 96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7" name="TextBox 97"/>
          <p:cNvSpPr txBox="1"/>
          <p:nvPr/>
        </p:nvSpPr>
        <p:spPr>
          <a:xfrm>
            <a:off x="370522" y="6654641"/>
            <a:ext cx="126803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来源：申报材料 · 2026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11487245" y="6654641"/>
            <a:ext cx="33423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0A0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noFill/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51522" y="672941"/>
            <a:ext cx="41857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A86B6B"/>
                </a:solidFill>
                <a:latin typeface="Segoe UI"/>
                <a:ea typeface="Microsoft YaHei"/>
                <a:cs typeface="Segoe UI"/>
              </a:rPr>
              <a:t>THANKS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58678" y="2181225"/>
            <a:ext cx="287464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FFFFFF"/>
                </a:solidFill>
                <a:latin typeface="Times New Roman"/>
                <a:ea typeface="SimSun"/>
                <a:cs typeface="Times New Roman"/>
              </a:rPr>
              <a:t>感谢评审</a:t>
            </a:r>
          </a:p>
        </p:txBody>
      </p:sp>
      <p:sp>
        <p:nvSpPr>
          <p:cNvPr id="6" name="Line 6"/>
          <p:cNvSpPr/>
          <p:nvPr/>
        </p:nvSpPr>
        <p:spPr>
          <a:xfrm>
            <a:off x="4953000" y="3048000"/>
            <a:ext cx="2286000" cy="9525"/>
          </a:xfrm>
          <a:custGeom>
            <a:avLst/>
            <a:gdLst/>
            <a:ahLst/>
            <a:cxnLst/>
            <a:rect l="l" t="t" r="r" b="b"/>
            <a:pathLst>
              <a:path w="2286000" h="9525">
                <a:moveTo>
                  <a:pt x="0" y="0"/>
                </a:moveTo>
                <a:lnTo>
                  <a:pt x="2286000" y="0"/>
                </a:lnTo>
              </a:path>
            </a:pathLst>
          </a:custGeom>
          <a:noFill/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797266" y="3378518"/>
            <a:ext cx="259746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86B6B"/>
                </a:solidFill>
                <a:latin typeface="Segoe UI"/>
                <a:ea typeface="Microsoft YaHei"/>
                <a:cs typeface="Segoe UI"/>
              </a:rPr>
              <a:t>京东科技以数据驱动 + AI辅助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19190" y="3664268"/>
            <a:ext cx="495361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A86B6B"/>
                </a:solidFill>
                <a:latin typeface="Segoe UI"/>
                <a:ea typeface="Microsoft YaHei"/>
                <a:cs typeface="Segoe UI"/>
              </a:rPr>
              <a:t>将3000人电销团队打造为年放款2000亿+的智能营销中枢</a:t>
            </a:r>
          </a:p>
        </p:txBody>
      </p:sp>
      <p:sp>
        <p:nvSpPr>
          <p:cNvPr id="9" name="Rectangle 9"/>
          <p:cNvSpPr/>
          <p:nvPr/>
        </p:nvSpPr>
        <p:spPr>
          <a:xfrm>
            <a:off x="5143500" y="4381500"/>
            <a:ext cx="1905000" cy="495300"/>
          </a:xfrm>
          <a:prstGeom prst="rect">
            <a:avLst/>
          </a:prstGeom>
          <a:noFill/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4561851" y="4511040"/>
            <a:ext cx="30682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京东科技 JD Technology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96429" y="5220652"/>
            <a:ext cx="37991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5555"/>
                </a:solidFill>
                <a:latin typeface="Segoe UI"/>
                <a:ea typeface="Microsoft YaHei"/>
                <a:cs typeface="Segoe UI"/>
              </a:rPr>
              <a:t>京东科技股份有限公司 金融科技事业群 数据科技业务部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22624" y="5506402"/>
            <a:ext cx="334675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7A5555"/>
                </a:solidFill>
                <a:latin typeface="Segoe UI"/>
                <a:ea typeface="Microsoft YaHei"/>
                <a:cs typeface="Segoe UI"/>
              </a:rPr>
              <a:t>联系人：孙大年 sundanian@jd.com 18249515580</a:t>
            </a:r>
          </a:p>
        </p:txBody>
      </p:sp>
      <p:sp>
        <p:nvSpPr>
          <p:cNvPr id="13" name="Rectangle 13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
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47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3867" y="1890713"/>
            <a:ext cx="201611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568482" y="2617738"/>
            <a:ext cx="40070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新客服节 · 新客服最佳实践奖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54550" y="3249513"/>
            <a:ext cx="634901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91440" y="4222849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金融科技事业群 · 数据科技业务部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951708" y="1355675"/>
            <a:ext cx="0" cy="3279874"/>
          </a:xfrm>
          <a:prstGeom prst="line">
            <a:avLst/>
          </a:prstGeom>
          <a:noFill/>
          <a:ln w="9525">
            <a:solidFill>
              <a:srgbClr val="D0C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916757"/>
            <a:ext cx="19177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2000" y="2459682"/>
            <a:ext cx="1917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技术为本，让生活更美好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2000" y="2867620"/>
            <a:ext cx="1880146" cy="0"/>
          </a:xfrm>
          <a:prstGeom prst="line">
            <a:avLst/>
          </a:prstGeom>
          <a:noFill/>
          <a:ln w="9525">
            <a:solidFill>
              <a:srgbClr val="D0C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024783"/>
            <a:ext cx="19177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服务愿景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2000" y="3215283"/>
            <a:ext cx="1917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成为全球最值得信赖的企业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2000" y="3497759"/>
            <a:ext cx="19177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服务价值观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2000" y="3721556"/>
            <a:ext cx="2307200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 · 创新 · </a:t>
            </a:r>
            <a:r>
              <a:rPr lang="en-US" sz="95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拼搏</a:t>
            </a:r>
            <a:endParaRPr lang="en-US" sz="95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520"/>
              </a:lnSpc>
              <a:buNone/>
            </a:pPr>
            <a:r>
              <a:rPr lang="en-US" sz="95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</a:t>
            </a: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感恩 · 诚信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61271" y="1355675"/>
            <a:ext cx="2496889" cy="869752"/>
          </a:xfrm>
          <a:prstGeom prst="roundRect">
            <a:avLst>
              <a:gd name="adj" fmla="val 4381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8496" y="1517600"/>
            <a:ext cx="216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企业名称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48496" y="1708100"/>
            <a:ext cx="21648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85111" y="1355675"/>
            <a:ext cx="2496889" cy="869752"/>
          </a:xfrm>
          <a:prstGeom prst="roundRect">
            <a:avLst>
              <a:gd name="adj" fmla="val 4381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72336" y="1517600"/>
            <a:ext cx="216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72336" y="1708100"/>
            <a:ext cx="216488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信息技术咨询服务、云计算、人工智能应用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1271" y="2352377"/>
            <a:ext cx="2496889" cy="692051"/>
          </a:xfrm>
          <a:prstGeom prst="roundRect">
            <a:avLst>
              <a:gd name="adj" fmla="val 55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48496" y="2514302"/>
            <a:ext cx="216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从事行业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48496" y="2704802"/>
            <a:ext cx="21648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 / 科技服务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85111" y="2352377"/>
            <a:ext cx="2496889" cy="692051"/>
          </a:xfrm>
          <a:prstGeom prst="roundRect">
            <a:avLst>
              <a:gd name="adj" fmla="val 55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2336" y="2514302"/>
            <a:ext cx="216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企业总机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72336" y="2704802"/>
            <a:ext cx="21648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4000988505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1271" y="3171379"/>
            <a:ext cx="5120729" cy="692051"/>
          </a:xfrm>
          <a:prstGeom prst="roundRect">
            <a:avLst>
              <a:gd name="adj" fmla="val 55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48496" y="3333304"/>
            <a:ext cx="48412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企业地址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48496" y="3523804"/>
            <a:ext cx="48412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北京市北京经济技术开发区科创十一街18号院2号楼6层601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1、呼叫中心现况简介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京东科技-金融科技事业群-数据科技业务部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355675"/>
            <a:ext cx="7620000" cy="3279874"/>
          </a:xfrm>
          <a:prstGeom prst="roundRect">
            <a:avLst>
              <a:gd name="adj" fmla="val 1162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68129" y="1593800"/>
            <a:ext cx="0" cy="965746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788" y="1593800"/>
            <a:ext cx="2436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团队规模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50788" y="1796951"/>
            <a:ext cx="243646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50788" y="2378571"/>
            <a:ext cx="2436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专业营销团队成员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6346" y="1593800"/>
            <a:ext cx="0" cy="965746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9005" y="1593800"/>
            <a:ext cx="2436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合作供应商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49005" y="1796951"/>
            <a:ext cx="243646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49005" y="2378571"/>
            <a:ext cx="2436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家合作供应商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47126" y="1593800"/>
            <a:ext cx="24461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年度GMV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47126" y="1796951"/>
            <a:ext cx="2446181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2000亿+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747126" y="2378571"/>
            <a:ext cx="2446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年度放款额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4675" y="2788146"/>
            <a:ext cx="7194649" cy="9525"/>
          </a:xfrm>
          <a:prstGeom prst="rect">
            <a:avLst/>
          </a:prstGeom>
          <a:solidFill>
            <a:srgbClr val="E0DF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67238" y="2950071"/>
            <a:ext cx="0" cy="615851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675" y="2950071"/>
            <a:ext cx="34523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4675" y="3175397"/>
            <a:ext cx="3452342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电销渠道（100%）— 主要负责金融营销电销外呼业务，涵盖拉新、复购等全流程服务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5150" y="2950071"/>
            <a:ext cx="32548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团队结构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5150" y="3175397"/>
            <a:ext cx="7585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75150" y="3413522"/>
            <a:ext cx="758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 · 本科60%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96545" y="3175397"/>
            <a:ext cx="4667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96545" y="3413522"/>
            <a:ext cx="4667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31893" y="3175397"/>
            <a:ext cx="3515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1893" y="3413522"/>
            <a:ext cx="351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2、呼叫中心组织架构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数据科技业务部组织层级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793950" y="1819573"/>
            <a:ext cx="3555950" cy="650677"/>
          </a:xfrm>
          <a:prstGeom prst="roundRect">
            <a:avLst>
              <a:gd name="adj" fmla="val 5855"/>
            </a:avLst>
          </a:prstGeom>
          <a:solidFill>
            <a:srgbClr val="EEEE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93950" y="1824335"/>
            <a:ext cx="355595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5138" y="1819573"/>
            <a:ext cx="0" cy="650677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93950" y="2465487"/>
            <a:ext cx="355595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8238" y="1819573"/>
            <a:ext cx="0" cy="650677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4560" y="1956048"/>
            <a:ext cx="31737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数据科技业务部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4560" y="2181374"/>
            <a:ext cx="3173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金融科技事业群 · 二级部门 · 3000+人团队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2428" y="2622649"/>
            <a:ext cx="1905000" cy="599777"/>
          </a:xfrm>
          <a:prstGeom prst="roundRect">
            <a:avLst>
              <a:gd name="adj" fmla="val 6352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28542" y="2733675"/>
            <a:ext cx="1612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策略运营组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8542" y="2959001"/>
            <a:ext cx="1612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策略规划 · 数据分析 · 模型构建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38179" y="2913013"/>
            <a:ext cx="634901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3830" y="2622649"/>
            <a:ext cx="1937742" cy="599777"/>
          </a:xfrm>
          <a:prstGeom prst="roundRect">
            <a:avLst>
              <a:gd name="adj" fmla="val 6352"/>
            </a:avLst>
          </a:prstGeom>
          <a:solidFill>
            <a:srgbClr val="EEEE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23830" y="2627412"/>
            <a:ext cx="1937742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6809" y="2622649"/>
            <a:ext cx="0" cy="599777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3830" y="3217664"/>
            <a:ext cx="1937742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8117" y="2622649"/>
            <a:ext cx="0" cy="599777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8856" y="2733675"/>
            <a:ext cx="16267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电销服务组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8856" y="2959001"/>
            <a:ext cx="16267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 · 业务运营 · 质检培训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69950" y="3501777"/>
            <a:ext cx="6603950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20776" y="3520827"/>
            <a:ext cx="19050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58801" y="3622328"/>
            <a:ext cx="1143000" cy="549176"/>
          </a:xfrm>
          <a:prstGeom prst="roundRect">
            <a:avLst>
              <a:gd name="adj" fmla="val 6938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60617" y="3708053"/>
            <a:ext cx="939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0617" y="3933379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供应商日常沟通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1625" y="3520827"/>
            <a:ext cx="19050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79650" y="3622328"/>
            <a:ext cx="1143000" cy="549176"/>
          </a:xfrm>
          <a:prstGeom prst="roundRect">
            <a:avLst>
              <a:gd name="adj" fmla="val 6938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781467" y="3708053"/>
            <a:ext cx="939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质检培训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1467" y="3933379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合规监控·赋能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62326" y="3520827"/>
            <a:ext cx="19050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351" y="3622328"/>
            <a:ext cx="1143000" cy="549176"/>
          </a:xfrm>
          <a:prstGeom prst="roundRect">
            <a:avLst>
              <a:gd name="adj" fmla="val 6938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02167" y="3708053"/>
            <a:ext cx="939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运营支撑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02167" y="3933379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系统运营·数据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83176" y="3520827"/>
            <a:ext cx="19050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21201" y="3622328"/>
            <a:ext cx="1143000" cy="549176"/>
          </a:xfrm>
          <a:prstGeom prst="roundRect">
            <a:avLst>
              <a:gd name="adj" fmla="val 6938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23017" y="3708053"/>
            <a:ext cx="939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前台电销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23017" y="3933379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2900+坐席团队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03877" y="3520827"/>
            <a:ext cx="19050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41902" y="3622328"/>
            <a:ext cx="1143000" cy="549176"/>
          </a:xfrm>
          <a:prstGeom prst="roundRect">
            <a:avLst>
              <a:gd name="adj" fmla="val 6938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43718" y="3708053"/>
            <a:ext cx="939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43718" y="3933379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35家BPO供应商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5F44ADE7-6BB0-3243-75DD-BF8DED9DA59D}"/>
              </a:ext>
            </a:extLst>
          </p:cNvPr>
          <p:cNvSpPr/>
          <p:nvPr/>
        </p:nvSpPr>
        <p:spPr>
          <a:xfrm rot="5400000">
            <a:off x="4239602" y="2899661"/>
            <a:ext cx="634901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3、客服转型背景与战略目标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行业挑战 → 战略方向 → 核心目标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355675"/>
            <a:ext cx="29844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 业 挑 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2000" y="1682651"/>
            <a:ext cx="2925961" cy="679252"/>
          </a:xfrm>
          <a:prstGeom prst="roundRect">
            <a:avLst>
              <a:gd name="adj" fmla="val 5609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1819126"/>
            <a:ext cx="2654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获客成本持续上升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925" y="2044452"/>
            <a:ext cx="26541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市场竞争加剧，需要通过精准识别提升ROI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2000" y="2450753"/>
            <a:ext cx="2925961" cy="679252"/>
          </a:xfrm>
          <a:prstGeom prst="roundRect">
            <a:avLst>
              <a:gd name="adj" fmla="val 5609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3925" y="2587228"/>
            <a:ext cx="2654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合规要求趋严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925" y="2812554"/>
            <a:ext cx="26541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金融营销合规要求持续收紧，需要强化合规能力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3218855"/>
            <a:ext cx="2925961" cy="679252"/>
          </a:xfrm>
          <a:prstGeom prst="roundRect">
            <a:avLst>
              <a:gd name="adj" fmla="val 5609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3925" y="3355330"/>
            <a:ext cx="26541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技术迭代压力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925" y="3580656"/>
            <a:ext cx="26541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AI、大数据等新技术快速迭代，需持续学习应用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92761" y="1355675"/>
            <a:ext cx="4477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 略 目 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92761" y="1682651"/>
            <a:ext cx="4389239" cy="679252"/>
          </a:xfrm>
          <a:prstGeom prst="roundRect">
            <a:avLst>
              <a:gd name="adj" fmla="val 5609"/>
            </a:avLst>
          </a:prstGeom>
          <a:solidFill>
            <a:srgbClr val="F8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92761" y="1687413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7237" y="1682651"/>
            <a:ext cx="0" cy="679252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92761" y="2357140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7048" y="1682651"/>
            <a:ext cx="0" cy="679252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73736" y="1819126"/>
            <a:ext cx="41272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73736" y="2044452"/>
            <a:ext cx="41272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从成本中心转变为价值创造中心，通过数据驱动实现精准营销与高效服务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92761" y="2450753"/>
            <a:ext cx="4389239" cy="679252"/>
          </a:xfrm>
          <a:prstGeom prst="roundRect">
            <a:avLst>
              <a:gd name="adj" fmla="val 5609"/>
            </a:avLst>
          </a:prstGeom>
          <a:solidFill>
            <a:srgbClr val="F8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992761" y="2455515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7237" y="2450753"/>
            <a:ext cx="0" cy="679252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92761" y="3125242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7048" y="2450753"/>
            <a:ext cx="0" cy="679252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3736" y="2587228"/>
            <a:ext cx="41272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73736" y="2812554"/>
            <a:ext cx="41272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AI赋能全流程：需求识别、智能路由、话术辅助、合规监控、智能质检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92761" y="3218855"/>
            <a:ext cx="4389239" cy="679252"/>
          </a:xfrm>
          <a:prstGeom prst="roundRect">
            <a:avLst>
              <a:gd name="adj" fmla="val 5609"/>
            </a:avLst>
          </a:prstGeom>
          <a:solidFill>
            <a:srgbClr val="F8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992761" y="3223617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77237" y="3218855"/>
            <a:ext cx="0" cy="679252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92761" y="3893344"/>
            <a:ext cx="4389239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7048" y="3218855"/>
            <a:ext cx="0" cy="679252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3736" y="3355330"/>
            <a:ext cx="41272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73736" y="3580656"/>
            <a:ext cx="41272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全生命周期运营：新客获取→首次转化→复购激活→流失预警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4、客服转型实施过程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从战略目标到落地实施的四个阶段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355675"/>
            <a:ext cx="1809750" cy="3279874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14921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9298" y="15476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8475" y="1822252"/>
            <a:ext cx="1567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8475" y="209847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8475" y="2266652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明确转型方向，确定数据驱动+AI赋能的核心策略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8475" y="2672953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8475" y="2841129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组建数据团队，搭建AI需求识别模型，规划智能外呼体系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8475" y="3247430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8475" y="3415605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传统思维惯性，技术选型难度，跨部门协调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8700" y="1355675"/>
            <a:ext cx="1809750" cy="3279874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35176" y="14921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25998" y="15476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5176" y="1822252"/>
            <a:ext cx="1567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系统建设期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5176" y="209847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35176" y="2266652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建设智能外呼平台，打通数据链路，实现精准客户画像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5176" y="2672953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5176" y="2841129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开发客户画像系统，上线智能路由，部署实时话术辅助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5176" y="3247430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5176" y="3415605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数据整合难度大，系统稳定性要求高，供应商协同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35401" y="1355675"/>
            <a:ext cx="1809750" cy="3279874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1876" y="14921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2699" y="15476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1876" y="1822252"/>
            <a:ext cx="15675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试点运营期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1876" y="209847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1876" y="2266652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小范围试点验证，优化AI模型和运营流程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1876" y="2672953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1876" y="2841129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选择核心业务线试点，A/B测试验证效果，持续迭代优化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1876" y="3247430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1876" y="3415605"/>
            <a:ext cx="15675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模型准确率提升，坐席适应新工具，合规监控完善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72101" y="1355675"/>
            <a:ext cx="1809899" cy="3279874"/>
          </a:xfrm>
          <a:prstGeom prst="roundRect">
            <a:avLst>
              <a:gd name="adj" fmla="val 2105"/>
            </a:avLst>
          </a:prstGeom>
          <a:solidFill>
            <a:srgbClr val="E2231A">
              <a:alpha val="8000"/>
            </a:srgbClr>
          </a:solidFill>
          <a:ln w="9525">
            <a:solidFill>
              <a:srgbClr val="E223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08577" y="14921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99399" y="15476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08577" y="1822252"/>
            <a:ext cx="15676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全面推广期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08577" y="2098477"/>
            <a:ext cx="1567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08577" y="2266652"/>
            <a:ext cx="15676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全业务线推广，规模化运营，建立持续优化机制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08577" y="2672953"/>
            <a:ext cx="1567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08577" y="2841129"/>
            <a:ext cx="15676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覆盖全部产线，3000+人全面使用，建立数据闭环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08577" y="3247430"/>
            <a:ext cx="1567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08577" y="3415605"/>
            <a:ext cx="15676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大规模团队培训，供应商管理标准化，合规体系完善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5、客服转型具体成果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创新成果 · 绩效达成 · 战略贡献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35567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651" y="1542901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76651" y="1746052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76651" y="218777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接通率提升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44317" y="135567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8968" y="1542901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转化成果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58968" y="1746052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58968" y="218777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营销转化率提升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26634" y="135567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41285" y="1542901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合规保障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41285" y="1746052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41285" y="218777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合规率保持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268292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6651" y="2870150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效率跃升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6651" y="3073301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76651" y="351502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人均效率提升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4317" y="268292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8968" y="2870150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新人培养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58968" y="3073301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458968" y="351502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新人上手时间缩短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6634" y="2682925"/>
            <a:ext cx="2455366" cy="1200299"/>
          </a:xfrm>
          <a:prstGeom prst="roundRect">
            <a:avLst>
              <a:gd name="adj" fmla="val 3174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41285" y="2870150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质检升级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41285" y="3073301"/>
            <a:ext cx="22260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41285" y="3515023"/>
            <a:ext cx="2226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质检效率提升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2000" y="4010174"/>
            <a:ext cx="7620000" cy="625376"/>
          </a:xfrm>
          <a:prstGeom prst="roundRect">
            <a:avLst>
              <a:gd name="adj" fmla="val 6092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303538" y="4019699"/>
            <a:ext cx="0" cy="606326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475" y="4121200"/>
            <a:ext cx="23188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8475" y="4321225"/>
            <a:ext cx="2318817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从成本中心转型为价值创造中心，年GMV突破2000亿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40462" y="4019699"/>
            <a:ext cx="0" cy="606326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5251" y="4121200"/>
            <a:ext cx="2318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35251" y="4321225"/>
            <a:ext cx="2318968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AI全流程赋能，需求识别、智能路由、实时辅助、合规监控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72175" y="4121200"/>
            <a:ext cx="23188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72175" y="4321225"/>
            <a:ext cx="231881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全生命周期运营，客户复购率提升30%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6、客服转型的成功关键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从战略到战术、从计划到落地的关键要因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95128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1980" y="201468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68301" y="1951286"/>
            <a:ext cx="137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数据驱动的客户识别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68301" y="2167086"/>
            <a:ext cx="1373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AI需求识别模型精准定位有真实需求的客户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2000" y="270673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1980" y="277013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8301" y="2706737"/>
            <a:ext cx="137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人机协同的智能外呼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68301" y="2922538"/>
            <a:ext cx="1373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AI成为坐席"超级助手"，实时话术推荐+情绪监控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2000" y="346218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1980" y="352558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8301" y="3462189"/>
            <a:ext cx="137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AI赋能的合规体系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68301" y="3677989"/>
            <a:ext cx="1373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实时合规监控+智能质检，100%通话覆盖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67000" y="195128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6980" y="201468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73301" y="1951286"/>
            <a:ext cx="137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全生命周期精准营销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73301" y="2167086"/>
            <a:ext cx="13732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新客获取→首次转化→复购激活→流失预警完整链路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67000" y="288771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66980" y="295111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73301" y="2887712"/>
            <a:ext cx="137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规模化团队管理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73301" y="3103513"/>
            <a:ext cx="1373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35家供应商、3000+人标准化运营，稳定性100%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24400" y="1465659"/>
            <a:ext cx="3657600" cy="3059757"/>
          </a:xfrm>
          <a:prstGeom prst="roundRect">
            <a:avLst>
              <a:gd name="adj" fmla="val 1245"/>
            </a:avLst>
          </a:prstGeom>
          <a:solidFill>
            <a:srgbClr val="EEEE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4400" y="1470422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7238" y="1465659"/>
            <a:ext cx="0" cy="3059757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4400" y="4520654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8688" y="1465659"/>
            <a:ext cx="0" cy="3059757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125" y="1703784"/>
            <a:ext cx="32774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对其他中心的启发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125" y="2040285"/>
            <a:ext cx="3277463" cy="64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0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技术不是壁垒，数据才是。</a:t>
            </a:r>
            <a:r>
              <a:rPr lang="en-US" sz="1000" dirty="0" err="1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真正的转型不在于引入多少AI工具，而在于能否构建从数据采集到应用决策的完整闭环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6125" y="2763887"/>
            <a:ext cx="3277463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人机协同的核心是"人"。</a:t>
            </a: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AI的价值在于降低门槛、提升效率，但信任建立和情感连接仍然需要人来完成。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125" y="3271689"/>
            <a:ext cx="3277463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合规不是成本，是竞争力。</a:t>
            </a: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在合规要求趋严的时代，先建立合规体系的团队将获得更大的发展空间。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125" y="3779490"/>
            <a:ext cx="3277463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规模化管理的关键是标准化。</a:t>
            </a:r>
            <a:r>
              <a:rPr lang="en-US" sz="10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35家供应商、3000+人团队的管理能力，本身就是一种竞争壁垒。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7、组织变革与人才培养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架构变革 · 人才驱动 · 能力升级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2000" y="1777901"/>
            <a:ext cx="3657600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355675"/>
            <a:ext cx="3730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B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2477839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539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8960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6902" y="1990576"/>
            <a:ext cx="26703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部门定位升级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6902" y="2215902"/>
            <a:ext cx="2670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从传统客服部门转型为"数据驱动的服务营销中枢"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2000" y="3227040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62220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8960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6902" y="2558802"/>
            <a:ext cx="35625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策略组与服务组双轮驱动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6902" y="2784128"/>
            <a:ext cx="356255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策略组负责数据分析与策略制定，服务组负责供应商管理与运营落地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2000" y="337140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8960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6902" y="3308003"/>
            <a:ext cx="34578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供应商协同管理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6902" y="3533329"/>
            <a:ext cx="34578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建立35家供应商的标准化管理体系，实现规模化运营与质量控制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4400" y="1777901"/>
            <a:ext cx="3657600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400" y="1355675"/>
            <a:ext cx="3730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4400" y="2477839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4400" y="20539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9302" y="1990576"/>
            <a:ext cx="30684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AI辅助降低新人门槛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9302" y="2215902"/>
            <a:ext cx="30684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AI实时话术推荐和需求挖掘辅助，新人上手时间缩短67%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24400" y="3046065"/>
            <a:ext cx="3657600" cy="0"/>
          </a:xfrm>
          <a:prstGeom prst="line">
            <a:avLst/>
          </a:prstGeom>
          <a:noFill/>
          <a:ln w="9525">
            <a:solidFill>
              <a:srgbClr val="E0D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4400" y="262220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9302" y="2558802"/>
            <a:ext cx="1981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复合型人才培养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9302" y="2784128"/>
            <a:ext cx="1981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培养懂数据+懂AI+懂营销的复合人才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24400" y="319042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9302" y="3127028"/>
            <a:ext cx="3560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合规意识深度植入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9302" y="3352354"/>
            <a:ext cx="35602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通过AI实时监控和智能质检，让合规意识从被动遵守变为主动习惯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8、客服转型的下一步计划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2000" y="93657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5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持续进化 · 未来展望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355675"/>
            <a:ext cx="1809750" cy="2756892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pptx-icons/icon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99" y="1517600"/>
            <a:ext cx="381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226" y="1974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31040" y="20224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60908" y="2002503"/>
            <a:ext cx="1464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AI能力深化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49226" y="2504926"/>
            <a:ext cx="1464004" cy="14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持续优化AI需求识别模型，提升精准度和覆盖率，探索大语言模型在客服场景的应用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98700" y="1355675"/>
            <a:ext cx="1809750" cy="2756892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/tmp/pptx-icons/icon-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139" y="1492376"/>
            <a:ext cx="381000" cy="38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5926" y="1974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967740" y="20224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31672" y="2000101"/>
            <a:ext cx="1464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合规体系升级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85926" y="2504926"/>
            <a:ext cx="1464004" cy="14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应对持续趋严的合规要求，建设更完善的AI合规监控体系，从预警向预防演进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635401" y="1355675"/>
            <a:ext cx="1809750" cy="2756892"/>
          </a:xfrm>
          <a:prstGeom prst="roundRect">
            <a:avLst>
              <a:gd name="adj" fmla="val 2105"/>
            </a:avLst>
          </a:prstGeom>
          <a:solidFill>
            <a:srgbClr val="EEEEEC"/>
          </a:solidFill>
          <a:ln w="9525">
            <a:solidFill>
              <a:srgbClr val="E0DFD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/tmp/pptx-icons/icon-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2989" y="1492376"/>
            <a:ext cx="38100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22627" y="19748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904440" y="20224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127474" y="2000101"/>
            <a:ext cx="1464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渠道多元化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22627" y="2504926"/>
            <a:ext cx="1464004" cy="14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在电销基础上探索多渠道融合，构建全渠道智能营销体系，提升客户触达效率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572101" y="1355675"/>
            <a:ext cx="1809899" cy="2756892"/>
          </a:xfrm>
          <a:prstGeom prst="roundRect">
            <a:avLst>
              <a:gd name="adj" fmla="val 2105"/>
            </a:avLst>
          </a:prstGeom>
          <a:solidFill>
            <a:srgbClr val="E2231A">
              <a:alpha val="8000"/>
            </a:srgbClr>
          </a:solidFill>
          <a:ln w="9525">
            <a:solidFill>
              <a:srgbClr val="E223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/tmp/pptx-icons/icon-anch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8454" y="1492376"/>
            <a:ext cx="381000" cy="381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59327" y="1974800"/>
            <a:ext cx="228600" cy="228600"/>
          </a:xfrm>
          <a:prstGeom prst="roundRect">
            <a:avLst>
              <a:gd name="adj" fmla="val 400000"/>
            </a:avLst>
          </a:prstGeom>
          <a:noFill/>
          <a:ln w="19050">
            <a:solidFill>
              <a:srgbClr val="E223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841141" y="20224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105070" y="1989087"/>
            <a:ext cx="14641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持续保障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759327" y="2504926"/>
            <a:ext cx="1464156" cy="144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保持团队稳定性100%，合规率100%，在规模增长的同时确保服务质量和风险可控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62000" y="4239518"/>
            <a:ext cx="7620000" cy="396032"/>
          </a:xfrm>
          <a:prstGeom prst="rect">
            <a:avLst/>
          </a:prstGeom>
          <a:solidFill>
            <a:srgbClr val="E2231A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771525" y="4239518"/>
            <a:ext cx="0" cy="396032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33450" y="4341019"/>
            <a:ext cx="744207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客服转型是一个持续的过程，没有终点。关键在于建立持续学习和进化的机制，让每一次技术迭代都成为能力升级的机会。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1816" y="1981200"/>
            <a:ext cx="348862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861816" y="3017807"/>
            <a:ext cx="4007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金融科技事业群 · 数据科技业务部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554</Words>
  <Application>Microsoft Macintosh PowerPoint</Application>
  <PresentationFormat>全屏显示(16:9)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2026年度新客服节 · 服务营销最佳实践奖</dc:title>
  <dc:subject>PptxGenJS Presentation</dc:subject>
  <dc:creator>京东科技</dc:creator>
  <cp:lastModifiedBy>sundanian</cp:lastModifiedBy>
  <cp:revision>3</cp:revision>
  <dcterms:created xsi:type="dcterms:W3CDTF">2026-05-01T09:49:53Z</dcterms:created>
  <dcterms:modified xsi:type="dcterms:W3CDTF">2026-05-01T10:25:14Z</dcterms:modified>
</cp:coreProperties>
</file>
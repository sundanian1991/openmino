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357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undanian/Documents/projects/ai-agents/my-agent/workspace/2026-07-03-cyber-ppt-judgment/assets/images/slide01_cover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0" y="341586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60320"/>
            <a:ext cx="12191695" cy="4297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8346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当你感觉"不对"的时候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听不见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Dwarkesh x Grant Sanderson 的对话出发</a:t>
            </a:r>
            <a:endParaRPr lang="en-US" sz="17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重新理解人机协作中"判断力"的稀缺性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5943600"/>
            <a:ext cx="2743200" cy="36576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5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灵感来源：Dwarkesh Podcast x Grant Sanderson (3Blue1Brown) | "AI and the Future of Math" . 2026.06.30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不是"会"或"不会"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——而是锯齿状的前沿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IMO 成绩单（2024-2026）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几何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5029200" cy="274320"/>
          </a:xfrm>
          <a:prstGeom prst="rect">
            <a:avLst/>
          </a:prstGeom>
          <a:solidFill>
            <a:srgbClr val="D8D3CA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240280"/>
            <a:ext cx="50292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7/7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19秒解出 (2024)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743200"/>
            <a:ext cx="5029200" cy="274320"/>
          </a:xfrm>
          <a:prstGeom prst="rect">
            <a:avLst/>
          </a:prstGeom>
          <a:solidFill>
            <a:srgbClr val="D8D3CA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743200"/>
            <a:ext cx="3592286" cy="27432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697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8B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5/7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3246120"/>
            <a:ext cx="5029200" cy="274320"/>
          </a:xfrm>
          <a:prstGeom prst="rect">
            <a:avLst/>
          </a:prstGeom>
          <a:solidFill>
            <a:srgbClr val="D8D3CA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246120"/>
            <a:ext cx="2873829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200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4/7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3749040"/>
            <a:ext cx="5029200" cy="274320"/>
          </a:xfrm>
          <a:prstGeom prst="rect">
            <a:avLst/>
          </a:prstGeom>
          <a:solidFill>
            <a:srgbClr val="D8D3CA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3749040"/>
            <a:ext cx="718457" cy="27432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703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Wild card 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10972800" cy="1645920"/>
          </a:xfrm>
          <a:prstGeom prst="rect">
            <a:avLst/>
          </a:prstGeom>
          <a:solidFill>
            <a:srgbClr val="8A1538">
              <a:alpha val="15000"/>
            </a:srgbClr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54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"The dirty secret with the IMO is that you really can train for a lot of them. Geometry, it just solves it in nineteen seconds since 2024 because it's a brute force solver."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Grant Sanderson, Dwarkesh Podcast, 00:00:00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这种"锯齿"在放大后依然存在——数学内部也没有被均匀攻破。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这意味着：AI 的能力边界不是阶跃的，而是分形的。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三种数学突破的形态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只能加速其中一种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11880" cy="4754880"/>
          </a:xfrm>
          <a:prstGeom prst="rect">
            <a:avLst/>
          </a:prstGeom>
          <a:solidFill>
            <a:srgbClr val="FFF8E1">
              <a:alpha val="40000"/>
            </a:srgbClr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闪电连接 Lightning Bolt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两个已知域之间的"巧合相似性"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例：Montgomery 的 z 函数零点公式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Dyson 眼中正是 Hermitian 矩阵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特征值的统计规律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一顿午餐催生深远猜想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48640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9A82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天然擅长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9A82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本来就是"知道所有领域的专家"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0248" y="1645920"/>
            <a:ext cx="3611880" cy="4754880"/>
          </a:xfrm>
          <a:prstGeom prst="rect">
            <a:avLst/>
          </a:prstGeom>
          <a:solidFill>
            <a:srgbClr val="FFEBEE">
              <a:alpha val="40000"/>
            </a:srgbClr>
          </a:solidFill>
          <a:ln w="15240">
            <a:solidFill>
              <a:srgbClr val="8A1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828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造山 Mountain Building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53128" y="242316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必须构建一套全新的理论框架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例：Lagrange -&gt; Abel -&gt; Galois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"再看抽象一层——不是公式本身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是公式背后的对称性"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论文被拒5次，死后20年才被读懂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07408" y="548640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需要"百年验证循环"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 奖励信号无法穿越这个时间尺度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83296" y="1645920"/>
            <a:ext cx="3611880" cy="4754880"/>
          </a:xfrm>
          <a:prstGeom prst="rect">
            <a:avLst/>
          </a:prstGeom>
          <a:solidFill>
            <a:srgbClr val="F3E5F5">
              <a:alpha val="40000"/>
            </a:srgbClr>
          </a:solidFill>
          <a:ln w="1524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828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蛮力推导 Raw Hustle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6176" y="242316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千页级、机器可读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但人难以理解的证明链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例：费马大定理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不存在初等证明的道路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"没消化的正确"也是一种风险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0456" y="548640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B1F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结果对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B1F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但人类的"理解"过程可能断裂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最深的洞见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 100 年才能被验证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0972800" cy="0"/>
          </a:xfrm>
          <a:prstGeom prst="line">
            <a:avLst/>
          </a:prstGeom>
          <a:noFill/>
          <a:ln w="25400">
            <a:solidFill>
              <a:srgbClr val="8A15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651760"/>
            <a:ext cx="182880" cy="182880"/>
          </a:xfrm>
          <a:prstGeom prst="ellipse">
            <a:avLst/>
          </a:prstGeom>
          <a:solidFill>
            <a:srgbClr val="D8D3CA"/>
          </a:solidFill>
          <a:ln w="12700">
            <a:solidFill>
              <a:srgbClr val="777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1770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Lagrange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38144" y="2651760"/>
            <a:ext cx="182880" cy="182880"/>
          </a:xfrm>
          <a:prstGeom prst="ellipse">
            <a:avLst/>
          </a:prstGeom>
          <a:solidFill>
            <a:srgbClr val="D8D3CA"/>
          </a:solidFill>
          <a:ln w="12700">
            <a:solidFill>
              <a:srgbClr val="7773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6624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06624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Abel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96128" y="2651760"/>
            <a:ext cx="182880" cy="1828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1832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64608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Galois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(20岁离世)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54112" y="2651760"/>
            <a:ext cx="182880" cy="182880"/>
          </a:xfrm>
          <a:prstGeom prst="ellipse">
            <a:avLst/>
          </a:prstGeom>
          <a:solidFill>
            <a:srgbClr val="D8D3CA"/>
          </a:solidFill>
          <a:ln w="12700">
            <a:solidFill>
              <a:srgbClr val="777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1860s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22592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Liouville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912096" y="2651760"/>
            <a:ext cx="182880" cy="182880"/>
          </a:xfrm>
          <a:prstGeom prst="ellipse">
            <a:avLst/>
          </a:prstGeom>
          <a:solidFill>
            <a:srgbClr val="D8D3CA"/>
          </a:solidFill>
          <a:ln w="12700">
            <a:solidFill>
              <a:srgbClr val="7773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1870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80576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Jordan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070080" y="2651760"/>
            <a:ext cx="182880" cy="182880"/>
          </a:xfrm>
          <a:prstGeom prst="ellipse">
            <a:avLst/>
          </a:prstGeom>
          <a:solidFill>
            <a:srgbClr val="D8D3CA"/>
          </a:solidFill>
          <a:ln w="12700">
            <a:solidFill>
              <a:srgbClr val="7773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1960s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Gell-Mann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Lagrange → Abel → Galois：一群天才前后耗时 60 年搭建群论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Liouville 在 Galois 死后20年发现笔记价值 → Jordan 写出完整理论 → Gell-Mann 200年后用群论预测夸克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064240" cy="1828800"/>
          </a:xfrm>
          <a:prstGeom prst="rect">
            <a:avLst/>
          </a:prstGeom>
          <a:solidFill>
            <a:srgbClr val="8A1538">
              <a:alpha val="12000"/>
            </a:srgbClr>
          </a:solidFill>
          <a:ln w="9525">
            <a:solidFill>
              <a:srgbClr val="8A15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720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"The verification loop on conceptual breakthroughs can be a century long."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5212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这恰好是 RL 的 "reward 信号" 无法工作的场景——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你既不能等到100年后再给奖励，也无法确定这100年里同行评议就不会错判。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Dwarkesh Podcast, Grant Sanderson, 00:11:32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"奖赏-惩罚"机制在这里会断裂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0" cy="2560320"/>
          </a:xfrm>
          <a:prstGeom prst="rect">
            <a:avLst/>
          </a:prstGeom>
          <a:solidFill>
            <a:srgbClr val="FFF8E1">
              <a:alpha val="5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编程：即时验证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 → 跑 → 看结果对错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reward 信号即现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模型快速迭代优化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8B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本质：短周期 · 可量化 · source of truth 确定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029200" cy="2560320"/>
          </a:xfrm>
          <a:prstGeom prst="rect">
            <a:avLst/>
          </a:prstGeom>
          <a:solidFill>
            <a:srgbClr val="FFEBEE">
              <a:alpha val="50000"/>
            </a:srgbClr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造山：百年验证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直觉 → 论文 → 被拒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死后N年 → 读懂 → 再N年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验证要等物理学跟进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本质：长周期 · 不可量化 · reward 信号是"No good"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651760"/>
            <a:ext cx="1097280" cy="0"/>
          </a:xfrm>
          <a:prstGeom prst="line">
            <a:avLst/>
          </a:prstGeom>
          <a:noFill/>
          <a:ln w="38100">
            <a:solidFill>
              <a:srgbClr val="8A153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20640" y="31089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029200" cy="2011680"/>
          </a:xfrm>
          <a:prstGeom prst="rect">
            <a:avLst/>
          </a:prstGeom>
          <a:solidFill>
            <a:srgbClr val="8A1538">
              <a:alpha val="10000"/>
            </a:srgbClr>
          </a:solidFill>
          <a:ln w="9525">
            <a:solidFill>
              <a:srgbClr val="8A1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34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反例：望月新一的 abc 猜想证明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"Inter-universal geometry"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98348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一种"外星数学"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数学界爬了多年的山，最后发现不对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同行评议也救不了：老师看不出价值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297680"/>
            <a:ext cx="5029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1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434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平行对照：Copernicus vs Ptolemy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98348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初期日心说预测反而不准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但它在认识论上更优越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这种"好但暂时不准"的东西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无法放进 RL reward 函数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大多数人在纠偏，不是在判断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1371600"/>
          </a:xfrm>
          <a:prstGeom prst="rect">
            <a:avLst/>
          </a:prstGeom>
          <a:solidFill>
            <a:srgbClr val="FFF8E1">
              <a:alpha val="40000"/>
            </a:srgbClr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显性的主观倾向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我喜欢什么风格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不喜欢什么语气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倾向什么表达形式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极易被 AI 捕捉学习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5029200" cy="1371600"/>
          </a:xfrm>
          <a:prstGeom prst="rect">
            <a:avLst/>
          </a:prstGeom>
          <a:solidFill>
            <a:srgbClr val="FFEBEE">
              <a:alpha val="40000"/>
            </a:srgbClr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5087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高压缩的隐性判断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"感觉不对"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无法直接陈述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大量关键决策的起点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2514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无法直接被 AI 理解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错误循环：把直觉当偏好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463040" cy="411480"/>
          </a:xfrm>
          <a:prstGeom prst="rect">
            <a:avLst/>
          </a:prstGeom>
          <a:solidFill>
            <a:srgbClr val="FFF8E1">
              <a:alpha val="30000"/>
            </a:srgbClr>
          </a:solidFill>
          <a:ln w="9525">
            <a:solidFill>
              <a:srgbClr val="558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输出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38528" y="3621024"/>
            <a:ext cx="292608" cy="0"/>
          </a:xfrm>
          <a:prstGeom prst="line">
            <a:avLst/>
          </a:prstGeom>
          <a:noFill/>
          <a:ln w="12700">
            <a:solidFill>
              <a:srgbClr val="77736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48840" y="3429000"/>
            <a:ext cx="1463040" cy="411480"/>
          </a:xfrm>
          <a:prstGeom prst="rect">
            <a:avLst/>
          </a:prstGeom>
          <a:solidFill>
            <a:srgbClr val="FFEBEE">
              <a:alpha val="30000"/>
            </a:srgbClr>
          </a:solidFill>
          <a:ln w="9525">
            <a:solidFill>
              <a:srgbClr val="8A1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429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"感觉不对"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30168" y="3621024"/>
            <a:ext cx="292608" cy="0"/>
          </a:xfrm>
          <a:prstGeom prst="line">
            <a:avLst/>
          </a:prstGeom>
          <a:noFill/>
          <a:ln w="12700">
            <a:solidFill>
              <a:srgbClr val="77736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94760" y="3429000"/>
            <a:ext cx="1463040" cy="411480"/>
          </a:xfrm>
          <a:prstGeom prst="rect">
            <a:avLst/>
          </a:prstGeom>
          <a:solidFill>
            <a:srgbClr val="FFF8E1">
              <a:alpha val="30000"/>
            </a:srgbClr>
          </a:solidFill>
          <a:ln w="9525">
            <a:solidFill>
              <a:srgbClr val="558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429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纠偏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76088" y="3621024"/>
            <a:ext cx="292608" cy="0"/>
          </a:xfrm>
          <a:prstGeom prst="line">
            <a:avLst/>
          </a:prstGeom>
          <a:noFill/>
          <a:ln w="12700">
            <a:solidFill>
              <a:srgbClr val="77736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57800" y="3429000"/>
            <a:ext cx="1463040" cy="411480"/>
          </a:xfrm>
          <a:prstGeom prst="rect">
            <a:avLst/>
          </a:prstGeom>
          <a:solidFill>
            <a:srgbClr val="FFEBEE">
              <a:alpha val="30000"/>
            </a:srgbClr>
          </a:solidFill>
          <a:ln w="9525">
            <a:solidFill>
              <a:srgbClr val="8A15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429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新输出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39128" y="3621024"/>
            <a:ext cx="292608" cy="0"/>
          </a:xfrm>
          <a:prstGeom prst="line">
            <a:avLst/>
          </a:prstGeom>
          <a:noFill/>
          <a:ln w="12700">
            <a:solidFill>
              <a:srgbClr val="77736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0" y="3429000"/>
            <a:ext cx="1463040" cy="411480"/>
          </a:xfrm>
          <a:prstGeom prst="rect">
            <a:avLst/>
          </a:prstGeom>
          <a:solidFill>
            <a:srgbClr val="FFF8E1">
              <a:alpha val="30000"/>
            </a:srgbClr>
          </a:solidFill>
          <a:ln w="9525">
            <a:solidFill>
              <a:srgbClr val="558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429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"还是不对"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56448" y="3621024"/>
            <a:ext cx="292608" cy="0"/>
          </a:xfrm>
          <a:prstGeom prst="line">
            <a:avLst/>
          </a:prstGeom>
          <a:noFill/>
          <a:ln w="12700">
            <a:solidFill>
              <a:srgbClr val="77736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83880" y="3429000"/>
            <a:ext cx="1463040" cy="411480"/>
          </a:xfrm>
          <a:prstGeom prst="rect">
            <a:avLst/>
          </a:prstGeom>
          <a:solidFill>
            <a:srgbClr val="FFEBEE">
              <a:alpha val="30000"/>
            </a:srgbClr>
          </a:solidFill>
          <a:ln w="9525">
            <a:solidFill>
              <a:srgbClr val="8A15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3429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再纠偏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2980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循环无沉淀</a:t>
            </a:r>
            <a:endParaRPr lang="en-US" sz="900" dirty="0"/>
          </a:p>
        </p:txBody>
      </p:sp>
      <p:pic>
        <p:nvPicPr>
          <p:cNvPr id="30" name="Image 0" descr="/Users/sundanian/Documents/projects/ai-agents/my-agent/workspace/2026-07-03-cyber-ppt-judgment/assets/images/slide06_intuition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" y="4160520"/>
            <a:ext cx="4114800" cy="22860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937760" y="420624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只有把模糊感受"向下深挖"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为什么不对 -&gt; 背后逻辑 -&gt; 下次怎么避免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才能把单次纠偏变成可复用的判断样本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复刻了结果，但丢失了取舍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显性输出（AI 可见）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502920"/>
          </a:xfrm>
          <a:prstGeom prst="rect">
            <a:avLst/>
          </a:prstGeom>
          <a:solidFill>
            <a:srgbClr val="FFF8E1">
              <a:alpha val="30000"/>
            </a:srgbClr>
          </a:solidFill>
          <a:ln w="7620">
            <a:solidFill>
              <a:srgbClr val="558B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最终的表达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029200" cy="502920"/>
          </a:xfrm>
          <a:prstGeom prst="rect">
            <a:avLst/>
          </a:prstGeom>
          <a:solidFill>
            <a:srgbClr val="FFF8E1">
              <a:alpha val="30000"/>
            </a:srgbClr>
          </a:solidFill>
          <a:ln w="7620">
            <a:solidFill>
              <a:srgbClr val="558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被保留的段落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029200" cy="502920"/>
          </a:xfrm>
          <a:prstGeom prst="rect">
            <a:avLst/>
          </a:prstGeom>
          <a:solidFill>
            <a:srgbClr val="FFF8E1">
              <a:alpha val="30000"/>
            </a:srgbClr>
          </a:solidFill>
          <a:ln w="7620">
            <a:solidFill>
              <a:srgbClr val="558B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表格里的数据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029200" cy="502920"/>
          </a:xfrm>
          <a:prstGeom prst="rect">
            <a:avLst/>
          </a:prstGeom>
          <a:solidFill>
            <a:srgbClr val="FFF8E1">
              <a:alpha val="30000"/>
            </a:srgbClr>
          </a:solidFill>
          <a:ln w="7620">
            <a:solidFill>
              <a:srgbClr val="558B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定稿的标题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029200" cy="502920"/>
          </a:xfrm>
          <a:prstGeom prst="rect">
            <a:avLst/>
          </a:prstGeom>
          <a:solidFill>
            <a:srgbClr val="FFF8E1">
              <a:alpha val="30000"/>
            </a:srgbClr>
          </a:solidFill>
          <a:ln w="7620">
            <a:solidFill>
              <a:srgbClr val="558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97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图形的构图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隐性裁决（AI 不可见）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5029200" cy="502920"/>
          </a:xfrm>
          <a:prstGeom prst="rect">
            <a:avLst/>
          </a:prstGeom>
          <a:solidFill>
            <a:srgbClr val="FFEBEE">
              <a:alpha val="30000"/>
            </a:srgbClr>
          </a:solidFill>
          <a:ln w="7620">
            <a:solidFill>
              <a:srgbClr val="8A1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37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 为什么砍掉另一个方向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5029200" cy="502920"/>
          </a:xfrm>
          <a:prstGeom prst="rect">
            <a:avLst/>
          </a:prstGeom>
          <a:solidFill>
            <a:srgbClr val="FFEBEE">
              <a:alpha val="30000"/>
            </a:srgbClr>
          </a:solidFill>
          <a:ln w="7620">
            <a:solidFill>
              <a:srgbClr val="8A1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377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 为什么保留这段表达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029200" cy="502920"/>
          </a:xfrm>
          <a:prstGeom prst="rect">
            <a:avLst/>
          </a:prstGeom>
          <a:solidFill>
            <a:srgbClr val="FFEBEE">
              <a:alpha val="30000"/>
            </a:srgbClr>
          </a:solidFill>
          <a:ln w="7620">
            <a:solidFill>
              <a:srgbClr val="8A15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017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 为什么这个完整答案是错的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5029200" cy="502920"/>
          </a:xfrm>
          <a:prstGeom prst="rect">
            <a:avLst/>
          </a:prstGeom>
          <a:solidFill>
            <a:srgbClr val="FFEBEE">
              <a:alpha val="30000"/>
            </a:srgbClr>
          </a:solidFill>
          <a:ln w="7620">
            <a:solidFill>
              <a:srgbClr val="8A15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 为什么标题应改成这样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297680"/>
            <a:ext cx="5029200" cy="502920"/>
          </a:xfrm>
          <a:prstGeom prst="rect">
            <a:avLst/>
          </a:prstGeom>
          <a:solidFill>
            <a:srgbClr val="FFEBEE">
              <a:alpha val="30000"/>
            </a:srgbClr>
          </a:solidFill>
          <a:ln w="7620">
            <a:solidFill>
              <a:srgbClr val="8A15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297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 ...这些才是核心资产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2743200"/>
            <a:ext cx="457200" cy="0"/>
          </a:xfrm>
          <a:prstGeom prst="line">
            <a:avLst/>
          </a:prstGeom>
          <a:noFill/>
          <a:ln w="25400">
            <a:solidFill>
              <a:srgbClr val="7773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
看到
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丢失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solidFill>
            <a:srgbClr val="8A1538">
              <a:alpha val="12000"/>
            </a:srgbClr>
          </a:solidFill>
          <a:ln w="9525">
            <a:solidFill>
              <a:srgbClr val="8A15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12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被遗漏的隐性判断，是创作者最应沉淀的核心资产。</a:t>
            </a: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这些判断恰好也是人机协作中最值得"开采"的部分。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个人判断档案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问解压缩你的直觉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58B2F"/>
            </a:solidFill>
            <a:prstDash val="solid"/>
          </a:ln>
          <a:effectLst>
            <a:outerShdw blurRad="50800" dist="1905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566160" cy="64008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3566160" cy="27432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我否定了什么？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被排除的方案/方向/表达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8B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转化为下次可调用样本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5661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blurRad="50800" dist="1905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737360"/>
            <a:ext cx="3566160" cy="64008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2103120"/>
            <a:ext cx="3566160" cy="2743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为什么否定？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703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定位偏差/表达不适配/受众不匹配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8E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转化为下次可调用样本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21040" y="1737360"/>
            <a:ext cx="35661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  <a:effectLst>
            <a:outerShdw blurRad="50800" dist="1905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737360"/>
            <a:ext cx="3566160" cy="6400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103120"/>
            <a:ext cx="3566160" cy="2743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50392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我保留了什么？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3703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被采纳的优质内容的核心特征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5820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976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转化为下次可调用样本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97280" y="4892040"/>
            <a:ext cx="4572000" cy="1188720"/>
          </a:xfrm>
          <a:prstGeom prst="rect">
            <a:avLst/>
          </a:prstGeom>
          <a:solidFill>
            <a:srgbClr val="FFF8E1">
              <a:alpha val="50000"/>
            </a:srgbClr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4892040"/>
            <a:ext cx="1188720" cy="1188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554480" y="5760720"/>
            <a:ext cx="731520" cy="3200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8920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246888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真正关心的本质？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5486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穿透表层需求，锚定核心诉求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32320" y="4892040"/>
            <a:ext cx="4572000" cy="1188720"/>
          </a:xfrm>
          <a:prstGeom prst="rect">
            <a:avLst/>
          </a:prstGeom>
          <a:solidFill>
            <a:srgbClr val="FFF8E1">
              <a:alpha val="50000"/>
            </a:srgbClr>
          </a:solidFill>
          <a:ln w="19050">
            <a:solidFill>
              <a:srgbClr val="8A1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4892040"/>
            <a:ext cx="1188720" cy="1188720"/>
          </a:xfrm>
          <a:prstGeom prst="rect">
            <a:avLst/>
          </a:prstGeom>
          <a:solidFill>
            <a:srgbClr val="8A1538"/>
          </a:solidFill>
          <a:ln/>
        </p:spPr>
      </p:sp>
      <p:sp>
        <p:nvSpPr>
          <p:cNvPr id="33" name="Shape 31"/>
          <p:cNvSpPr/>
          <p:nvPr/>
        </p:nvSpPr>
        <p:spPr>
          <a:xfrm>
            <a:off x="7589520" y="5760720"/>
            <a:ext cx="731520" cy="320040"/>
          </a:xfrm>
          <a:prstGeom prst="rect">
            <a:avLst/>
          </a:prstGeom>
          <a:solidFill>
            <a:srgbClr val="8A1538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48920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850392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下次避免什么？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03920" y="5486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收敛成可复用的避坑经验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你的策展密度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AI 可能性空间的乘数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最终价值 = AI 可能性空间 x 人类策展+判断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5303520" cy="2011680"/>
          </a:xfrm>
          <a:prstGeom prst="rect">
            <a:avLst/>
          </a:prstGeom>
          <a:solidFill>
            <a:srgbClr val="F1F8E9">
              <a:alpha val="50000"/>
            </a:srgbClr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06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并行生成大量不同路径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不同结构 / 不同切口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不同表达的方案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8B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 可能性本身不直接产生价值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FEBEE">
              <a:alpha val="50000"/>
            </a:srgbClr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606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人类端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0175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从平行方案中筛选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砍掉不合适的方向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保留真正重要的表达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 价值跃迁完全依赖这一步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认知鸿沟三阶梯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303520"/>
            <a:ext cx="3474720" cy="914400"/>
          </a:xfrm>
          <a:prstGeom prst="rect">
            <a:avLst/>
          </a:prstGeom>
          <a:solidFill>
            <a:srgbClr val="6D7175"/>
          </a:solidFill>
          <a:ln w="12700">
            <a:solidFill>
              <a:srgbClr val="6D71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303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听懂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5669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1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基础理解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53949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297680" y="5303520"/>
            <a:ext cx="3474720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5303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说明白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297680" y="5669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82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清晰表达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53949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138160" y="5303520"/>
            <a:ext cx="3474720" cy="91440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5303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让别人听懂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138160" y="5669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找到受众真正的认知入口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数学家最终的形态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是策展人，不是解题者</a:t>
            </a:r>
            <a:endParaRPr lang="en-US" sz="3200" dirty="0"/>
          </a:p>
        </p:txBody>
      </p:sp>
      <p:pic>
        <p:nvPicPr>
          <p:cNvPr id="4" name="Image 0" descr="/Users/sundanian/Documents/projects/ai-agents/my-agent/workspace/2026-07-03-cyber-ppt-judgment/assets/images/slide10_cu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594360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45920"/>
            <a:ext cx="73152" cy="475488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5120" y="1645920"/>
            <a:ext cx="5029200" cy="3108960"/>
          </a:xfrm>
          <a:prstGeom prst="rect">
            <a:avLst/>
          </a:prstGeom>
          <a:solidFill>
            <a:srgbClr val="121212">
              <a:alpha val="7000"/>
            </a:srgbClr>
          </a:solidFill>
          <a:ln w="19050">
            <a:solidFill>
              <a:srgbClr val="8A15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645920"/>
            <a:ext cx="91440" cy="3108960"/>
          </a:xfrm>
          <a:prstGeom prst="rect">
            <a:avLst/>
          </a:prstGeom>
          <a:solidFill>
            <a:srgbClr val="8A1538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17830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i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"What mathematicians will end up being is actually more analogous to art museum curators than anything else."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32918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数学家最终的工作不是解题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而是像美术馆策展人一样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在无限可能中挑出"值得被看见的作品"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03720" y="4480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Grant Sanderson, ~00:28:00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675120" y="4937760"/>
            <a:ext cx="5029200" cy="1280160"/>
          </a:xfrm>
          <a:prstGeom prst="rect">
            <a:avLst/>
          </a:prstGeom>
          <a:solidFill>
            <a:srgbClr val="8A1538">
              <a:alpha val="12000"/>
            </a:srgbClr>
          </a:solidFill>
          <a:ln w="9525">
            <a:solidFill>
              <a:srgbClr val="8A15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>
                    <a:alpha val="5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S-Tier Career Advice (01:23:00)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03720" y="5212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"Understand where the money is coming from, and what value you are actually adding, and the connection between those two."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5897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 Soleio citation, X 33K likes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从下一次对话开始，留下判断的"化石"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1538"/>
            </a:solidFill>
            <a:prstDash val="solid"/>
          </a:ln>
          <a:effectLst>
            <a:outerShdw blurRad="76200" dist="1905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822960"/>
          </a:xfrm>
          <a:prstGeom prst="rect">
            <a:avLst/>
          </a:prstGeom>
          <a:solidFill>
            <a:srgbClr val="8A15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3566160" cy="365760"/>
          </a:xfrm>
          <a:prstGeom prst="rect">
            <a:avLst/>
          </a:prstGeom>
          <a:solidFill>
            <a:srgbClr val="8A153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019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每次协作结束时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花 2 分钟回答 5 个问题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023360"/>
            <a:ext cx="3108960" cy="0"/>
          </a:xfrm>
          <a:prstGeom prst="line">
            <a:avLst/>
          </a:prstGeom>
          <a:noFill/>
          <a:ln w="19050">
            <a:solidFill>
              <a:srgbClr val="8A1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变成肌肉记忆，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A15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不是附加任务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5661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blurRad="76200" dist="1905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828800"/>
            <a:ext cx="3566160" cy="82296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286000"/>
            <a:ext cx="3566160" cy="36576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9019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不要只保存最终版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保存"我否定了什么 + 为什么"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4023360"/>
            <a:ext cx="3108960" cy="0"/>
          </a:xfrm>
          <a:prstGeom prst="line">
            <a:avLst/>
          </a:prstGeom>
          <a:noFill/>
          <a:ln w="19050">
            <a:solidFill>
              <a:srgbClr val="388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114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88E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这才是真正的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88E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学习证据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1828800"/>
            <a:ext cx="35661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  <a:effectLst>
            <a:outerShdw blurRad="76200" dist="1905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828800"/>
            <a:ext cx="3566160" cy="82296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2286000"/>
            <a:ext cx="3566160" cy="36576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9019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458200" y="2834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逐步把 AI 从工具变成学徒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820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它能调用的判断样本越多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未来的产出越接近你的直觉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58200" y="4023360"/>
            <a:ext cx="3108960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114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976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量变 → 质变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976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审美同步真正发生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附：出处 &amp; 延伸阅读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Dwarkesh Podcast × Grant Sanderson (3Blue1Brown) | "AI and the Future of Math" · 2026.06.30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1538"/>
            </a:solidFill>
            <a:prstDash val="solid"/>
          </a:ln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3566160" cy="548640"/>
          </a:xfrm>
          <a:prstGeom prst="rect">
            <a:avLst/>
          </a:prstGeom>
          <a:solidFill>
            <a:srgbClr val="8A153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3566160" cy="274320"/>
          </a:xfrm>
          <a:prstGeom prst="rect">
            <a:avLst/>
          </a:prstGeom>
          <a:solidFill>
            <a:srgbClr val="8A15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📺 访谈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主节目: dwarkesh.com/p/grant-sanderson-2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YouTube: youtu.be/TfyPshgMbug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完整时间戳: 8 节 (1h33m)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9456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194560"/>
            <a:ext cx="3566160" cy="548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468880"/>
            <a:ext cx="3566160" cy="2743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240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📄 配套论文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Erds unit distance 反例论文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474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arXiv:2605.20695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977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Timothy Chow: unsolved expository problem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219456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2194560"/>
            <a:ext cx="356616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2468880"/>
            <a:ext cx="356616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240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🌱 交叉阅读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Grant × Jane Street 数学家访谈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3474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3b1b.co/janestreet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3977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Dwarkesh × Terence Tao (2026.03.20)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3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 generated via CyberPPT skill (MBB methodology + hybrid PPTX workflow) · 2026.07.03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787</Words>
  <Application>Microsoft Macintosh PowerPoint</Application>
  <PresentationFormat>宽屏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PingFang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判断力与AI协作</dc:title>
  <dc:subject>PptxGenJS Presentation</dc:subject>
  <dc:creator>Dwarkesh x Grant Sanderson</dc:creator>
  <cp:lastModifiedBy>sundanian</cp:lastModifiedBy>
  <cp:revision>2</cp:revision>
  <dcterms:created xsi:type="dcterms:W3CDTF">2026-07-03T15:38:15Z</dcterms:created>
  <dcterms:modified xsi:type="dcterms:W3CDTF">2026-07-04T01:52:32Z</dcterms:modified>
</cp:coreProperties>
</file>
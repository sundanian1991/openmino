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31319" y="1536502"/>
            <a:ext cx="3281214" cy="253901"/>
          </a:xfrm>
          <a:prstGeom prst="roundRect">
            <a:avLst>
              <a:gd name="adj" fmla="val 100039"/>
            </a:avLst>
          </a:prstGeom>
          <a:solidFill>
            <a:srgbClr val="1A1A3E"/>
          </a:solidFill>
          <a:ln w="9525">
            <a:solidFill>
              <a:srgbClr val="4361E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143994" y="1596777"/>
            <a:ext cx="29129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361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CODEX · AI COLLABORATION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373716" y="1993553"/>
            <a:ext cx="4396567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80"/>
              </a:lnSpc>
              <a:spcAft>
                <a:spcPts val="60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让Codex长周期大项目不跑偏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639375" y="2498973"/>
            <a:ext cx="386525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800"/>
              </a:spcAft>
              <a:buNone/>
            </a:pPr>
            <a:r>
              <a:rPr lang="en-US" sz="1500" dirty="0">
                <a:solidFill>
                  <a:srgbClr val="F72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OpenAI工程师分享的5个AI协作习惯深度解析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254550" y="2994273"/>
            <a:ext cx="634901" cy="38100"/>
          </a:xfrm>
          <a:prstGeom prst="roundRect">
            <a:avLst>
              <a:gd name="adj" fmla="val 66667"/>
            </a:avLst>
          </a:prstGeom>
          <a:solidFill>
            <a:srgbClr val="4361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038167" y="3235523"/>
            <a:ext cx="30675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B8B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Gabriel Chua · OpenAI Codex DX Engineer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038167" y="3406973"/>
            <a:ext cx="306751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B8B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全网浏览量 890,000+ · 适用于所有支持长任务的AI编码工具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0750" cy="5143500"/>
          </a:xfrm>
          <a:prstGeom prst="rect">
            <a:avLst/>
          </a:prstGeom>
          <a:solidFill>
            <a:srgbClr val="4361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304800"/>
            <a:ext cx="829066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4361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7950" y="457200"/>
            <a:ext cx="8290661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为什么长周期AI任务容易跑偏？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7950" y="873026"/>
            <a:ext cx="3975199" cy="1930301"/>
          </a:xfrm>
          <a:prstGeom prst="roundRect">
            <a:avLst>
              <a:gd name="adj" fmla="val 3948"/>
            </a:avLst>
          </a:prstGeom>
          <a:solidFill>
            <a:srgbClr val="141428"/>
          </a:solidFill>
          <a:ln w="9525">
            <a:solidFill>
              <a:srgbClr val="2A2A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44426" y="984052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4361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17649" y="1019621"/>
            <a:ext cx="57686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b="1" dirty="0">
                <a:solidFill>
                  <a:srgbClr val="B8B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923776" y="1019621"/>
            <a:ext cx="414275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b="1" dirty="0">
                <a:solidFill>
                  <a:srgbClr val="B8B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核心矛盾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4426" y="1225302"/>
            <a:ext cx="3776293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B8B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AI编码工具已支持连续数小时甚至数天的长周期任务，但核心痛点并非启动任务，而是在多轮迭代中避免偏离目标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07950" y="2879527"/>
            <a:ext cx="3975199" cy="1930450"/>
          </a:xfrm>
          <a:prstGeom prst="roundRect">
            <a:avLst>
              <a:gd name="adj" fmla="val 3947"/>
            </a:avLst>
          </a:prstGeom>
          <a:solidFill>
            <a:srgbClr val="141428"/>
          </a:solidFill>
          <a:ln w="9525">
            <a:solidFill>
              <a:srgbClr val="2A2A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44426" y="2990552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4361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17649" y="3026122"/>
            <a:ext cx="57686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b="1" dirty="0">
                <a:solidFill>
                  <a:srgbClr val="B8B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923776" y="3026122"/>
            <a:ext cx="621488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b="1" dirty="0">
                <a:solidFill>
                  <a:srgbClr val="B8B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偏移触发条件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44426" y="3231803"/>
            <a:ext cx="3776293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B8B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早期假设变更、新信息涌现、对话轮次累积——都可能导致方向渐进式偏移，且难以察觉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660850" y="873026"/>
            <a:ext cx="3975199" cy="3565475"/>
          </a:xfrm>
          <a:prstGeom prst="roundRect">
            <a:avLst>
              <a:gd name="adj" fmla="val 2137"/>
            </a:avLst>
          </a:prstGeom>
          <a:solidFill>
            <a:srgbClr val="141428"/>
          </a:solidFill>
          <a:ln w="9525">
            <a:solidFill>
              <a:srgbClr val="2A2A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797326" y="984052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4361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870549" y="1019621"/>
            <a:ext cx="57686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b="1" dirty="0">
                <a:solidFill>
                  <a:srgbClr val="B8B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076676" y="1019621"/>
            <a:ext cx="621488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b="1" dirty="0">
                <a:solidFill>
                  <a:srgbClr val="B8B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理想协作模式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797326" y="1225302"/>
            <a:ext cx="3776293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B8B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既要牢牢守住项目核心目标，又要为用户和AI预留"根据新证据动态调整计划"的弹性空间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660850" y="4514701"/>
            <a:ext cx="3975199" cy="295275"/>
          </a:xfrm>
          <a:prstGeom prst="rect">
            <a:avLst/>
          </a:prstGeom>
          <a:solidFill>
            <a:srgbClr val="1A0A1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4679900" y="4514701"/>
            <a:ext cx="0" cy="295275"/>
          </a:xfrm>
          <a:prstGeom prst="line">
            <a:avLst/>
          </a:prstGeom>
          <a:noFill/>
          <a:ln w="38100">
            <a:solidFill>
              <a:srgbClr val="F7258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25901" y="4590901"/>
            <a:ext cx="375686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72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范式转变：从"放养式使用AI" → "带领AI团队协同作战"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0750" cy="5143500"/>
          </a:xfrm>
          <a:prstGeom prst="rect">
            <a:avLst/>
          </a:prstGeom>
          <a:solidFill>
            <a:srgbClr val="4361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304800"/>
            <a:ext cx="829066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4361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7950" y="457200"/>
            <a:ext cx="8290661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"带AI团队"全景协作架构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7950" y="873026"/>
            <a:ext cx="4785420" cy="1269950"/>
          </a:xfrm>
          <a:prstGeom prst="roundRect">
            <a:avLst>
              <a:gd name="adj" fmla="val 6000"/>
            </a:avLst>
          </a:prstGeom>
          <a:solidFill>
            <a:srgbClr val="141428"/>
          </a:solidFill>
          <a:ln w="9525">
            <a:solidFill>
              <a:srgbClr val="2A2A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18976" y="984796"/>
            <a:ext cx="63401" cy="63401"/>
          </a:xfrm>
          <a:prstGeom prst="roundRect">
            <a:avLst>
              <a:gd name="adj" fmla="val 1442249"/>
            </a:avLst>
          </a:prstGeom>
          <a:solidFill>
            <a:srgbClr val="4361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45778" y="958751"/>
            <a:ext cx="715152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buNone/>
            </a:pPr>
            <a:r>
              <a:rPr lang="en-US" sz="700" b="1" dirty="0">
                <a:solidFill>
                  <a:srgbClr val="B8B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主线程 · 全局协调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618976" y="1099542"/>
            <a:ext cx="4654635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B8B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仅负责目标、约束、决策、项目状态四件事</a:t>
            </a:r>
            <a:endParaRPr lang="en-US" sz="700" dirty="0"/>
          </a:p>
          <a:p>
            <a:pPr algn="l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B8B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决定任务委派方向，评估执行结果</a:t>
            </a:r>
            <a:endParaRPr lang="en-US" sz="700" dirty="0"/>
          </a:p>
          <a:p>
            <a:pPr algn="l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B8B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不陷入具体实现细节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507950" y="2206377"/>
            <a:ext cx="4785420" cy="1270099"/>
          </a:xfrm>
          <a:prstGeom prst="roundRect">
            <a:avLst>
              <a:gd name="adj" fmla="val 6000"/>
            </a:avLst>
          </a:prstGeom>
          <a:solidFill>
            <a:srgbClr val="141428"/>
          </a:solidFill>
          <a:ln w="9525">
            <a:solidFill>
              <a:srgbClr val="2A2A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18976" y="2318147"/>
            <a:ext cx="63401" cy="63401"/>
          </a:xfrm>
          <a:prstGeom prst="roundRect">
            <a:avLst>
              <a:gd name="adj" fmla="val 1442249"/>
            </a:avLst>
          </a:prstGeom>
          <a:solidFill>
            <a:srgbClr val="7209B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45778" y="2292102"/>
            <a:ext cx="1025744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buNone/>
            </a:pPr>
            <a:r>
              <a:rPr lang="en-US" sz="700" b="1" dirty="0">
                <a:solidFill>
                  <a:srgbClr val="B8B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Worker子单元 · 并行执行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618976" y="2432893"/>
            <a:ext cx="4654635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B8B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接收主线程委派的具体任务</a:t>
            </a:r>
            <a:endParaRPr lang="en-US" sz="700" dirty="0"/>
          </a:p>
          <a:p>
            <a:pPr algn="l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B8B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可回溯任务使用独立thread存储完整历史</a:t>
            </a:r>
            <a:endParaRPr lang="en-US" sz="700" dirty="0"/>
          </a:p>
          <a:p>
            <a:pPr algn="l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B8B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临时任务直接委派给subagent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507950" y="3539877"/>
            <a:ext cx="4785420" cy="1270099"/>
          </a:xfrm>
          <a:prstGeom prst="roundRect">
            <a:avLst>
              <a:gd name="adj" fmla="val 6000"/>
            </a:avLst>
          </a:prstGeom>
          <a:solidFill>
            <a:srgbClr val="141428"/>
          </a:solidFill>
          <a:ln w="9525">
            <a:solidFill>
              <a:srgbClr val="2A2A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18976" y="3651647"/>
            <a:ext cx="63401" cy="63401"/>
          </a:xfrm>
          <a:prstGeom prst="roundRect">
            <a:avLst>
              <a:gd name="adj" fmla="val 1442249"/>
            </a:avLst>
          </a:prstGeom>
          <a:solidFill>
            <a:srgbClr val="06D6A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45778" y="3625602"/>
            <a:ext cx="805779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buNone/>
            </a:pPr>
            <a:r>
              <a:rPr lang="en-US" sz="700" b="1" dirty="0">
                <a:solidFill>
                  <a:srgbClr val="B8B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本地线程 · 环境校验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618976" y="3766393"/>
            <a:ext cx="4654635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B8B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处理需要本机环境的测试验证</a:t>
            </a:r>
            <a:endParaRPr lang="en-US" sz="700" dirty="0"/>
          </a:p>
          <a:p>
            <a:pPr algn="l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B8B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登录态浏览器、本地凭据、Xcode等</a:t>
            </a:r>
            <a:endParaRPr lang="en-US" sz="700" dirty="0"/>
          </a:p>
          <a:p>
            <a:pPr algn="l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B8B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发现bug回传远程修复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5445770" y="873026"/>
            <a:ext cx="3190280" cy="1774329"/>
          </a:xfrm>
          <a:prstGeom prst="roundRect">
            <a:avLst>
              <a:gd name="adj" fmla="val 4295"/>
            </a:avLst>
          </a:prstGeom>
          <a:solidFill>
            <a:srgbClr val="141428"/>
          </a:solidFill>
          <a:ln w="9525">
            <a:solidFill>
              <a:srgbClr val="2A2A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556796" y="984796"/>
            <a:ext cx="63401" cy="63401"/>
          </a:xfrm>
          <a:prstGeom prst="roundRect">
            <a:avLst>
              <a:gd name="adj" fmla="val 1442249"/>
            </a:avLst>
          </a:prstGeom>
          <a:solidFill>
            <a:srgbClr val="F725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683597" y="958751"/>
            <a:ext cx="1017243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buNone/>
            </a:pPr>
            <a:r>
              <a:rPr lang="en-US" sz="700" b="1" dirty="0">
                <a:solidFill>
                  <a:srgbClr val="B8B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GOALS.md · 路线图锚点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5556796" y="1099542"/>
            <a:ext cx="3027593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B8B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存储项目里程碑与验证证据</a:t>
            </a:r>
            <a:endParaRPr lang="en-US" sz="700" dirty="0"/>
          </a:p>
          <a:p>
            <a:pPr algn="l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B8B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按里程碑结构化记录产出、工作范围</a:t>
            </a:r>
            <a:endParaRPr lang="en-US" sz="700" dirty="0"/>
          </a:p>
          <a:p>
            <a:pPr algn="l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B8B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随项目推进持续迭代更新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5445770" y="2710755"/>
            <a:ext cx="3190280" cy="261342"/>
          </a:xfrm>
          <a:prstGeom prst="roundRect">
            <a:avLst>
              <a:gd name="adj" fmla="val 29157"/>
            </a:avLst>
          </a:prstGeom>
          <a:solidFill>
            <a:srgbClr val="0D1A2E"/>
          </a:solidFill>
          <a:ln w="9525">
            <a:solidFill>
              <a:srgbClr val="1A3A5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556796" y="2783681"/>
            <a:ext cx="3027593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4361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核心流程：里程碑完成 → 路线图审计 → 代码审查 → 推进下一步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5445770" y="3035498"/>
            <a:ext cx="3190280" cy="1774478"/>
          </a:xfrm>
          <a:prstGeom prst="roundRect">
            <a:avLst>
              <a:gd name="adj" fmla="val 4294"/>
            </a:avLst>
          </a:prstGeom>
          <a:solidFill>
            <a:srgbClr val="141428"/>
          </a:solidFill>
          <a:ln w="9525">
            <a:solidFill>
              <a:srgbClr val="2A2A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556796" y="3147268"/>
            <a:ext cx="63401" cy="63401"/>
          </a:xfrm>
          <a:prstGeom prst="roundRect">
            <a:avLst>
              <a:gd name="adj" fmla="val 1442249"/>
            </a:avLst>
          </a:prstGeom>
          <a:solidFill>
            <a:srgbClr val="4361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683597" y="3121223"/>
            <a:ext cx="715152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buNone/>
            </a:pPr>
            <a:r>
              <a:rPr lang="en-US" sz="700" b="1" dirty="0">
                <a:solidFill>
                  <a:srgbClr val="B8B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进度同步 · 仪表盘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5556796" y="3262015"/>
            <a:ext cx="3027593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B8B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三段式极简汇报推送Slack</a:t>
            </a:r>
            <a:endParaRPr lang="en-US" sz="700" dirty="0"/>
          </a:p>
          <a:p>
            <a:pPr algn="l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B8B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progress-dashboard.html可视化</a:t>
            </a:r>
            <a:endParaRPr lang="en-US" sz="700" dirty="0"/>
          </a:p>
          <a:p>
            <a:pPr algn="l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B8B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/side指令不打断主线程探查进度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0750" cy="5143500"/>
          </a:xfrm>
          <a:prstGeom prst="rect">
            <a:avLst/>
          </a:prstGeom>
          <a:solidFill>
            <a:srgbClr val="4361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330101"/>
            <a:ext cx="355550" cy="355550"/>
          </a:xfrm>
          <a:prstGeom prst="roundRect">
            <a:avLst>
              <a:gd name="adj" fmla="val 21432"/>
            </a:avLst>
          </a:prstGeom>
          <a:solidFill>
            <a:srgbClr val="4361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0968" y="422225"/>
            <a:ext cx="17290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90451" y="304800"/>
            <a:ext cx="311989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4361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HABIT 01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990451" y="444401"/>
            <a:ext cx="311989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让Codex自主规划并动态维护路线图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7950" y="812602"/>
            <a:ext cx="4770239" cy="736402"/>
          </a:xfrm>
          <a:prstGeom prst="roundRect">
            <a:avLst>
              <a:gd name="adj" fmla="val 10348"/>
            </a:avLst>
          </a:prstGeom>
          <a:solidFill>
            <a:srgbClr val="141428"/>
          </a:solidFill>
          <a:ln w="9525">
            <a:solidFill>
              <a:srgbClr val="2A2A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18976" y="1076027"/>
            <a:ext cx="20721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4361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23627" y="898327"/>
            <a:ext cx="36976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口述项目想法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923627" y="1066502"/>
            <a:ext cx="369765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B8B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跳过/plan模式，直接开启对话，口述项目想法与约束，引导Codex持续提问补全上下文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507950" y="1612404"/>
            <a:ext cx="4770239" cy="736402"/>
          </a:xfrm>
          <a:prstGeom prst="roundRect">
            <a:avLst>
              <a:gd name="adj" fmla="val 10348"/>
            </a:avLst>
          </a:prstGeom>
          <a:solidFill>
            <a:srgbClr val="141428"/>
          </a:solidFill>
          <a:ln w="9525">
            <a:solidFill>
              <a:srgbClr val="2A2A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18976" y="1875830"/>
            <a:ext cx="20721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4361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23627" y="1698129"/>
            <a:ext cx="29840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生成初版落地计划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923627" y="1866305"/>
            <a:ext cx="298402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B8B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Codex综合对话上下文设定持久Goal，自动定义"完成所需的验证证据"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507950" y="2412206"/>
            <a:ext cx="4770239" cy="736402"/>
          </a:xfrm>
          <a:prstGeom prst="roundRect">
            <a:avLst>
              <a:gd name="adj" fmla="val 10348"/>
            </a:avLst>
          </a:prstGeom>
          <a:solidFill>
            <a:srgbClr val="141428"/>
          </a:solidFill>
          <a:ln w="9525">
            <a:solidFill>
              <a:srgbClr val="2A2A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18976" y="2675632"/>
            <a:ext cx="20721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4361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23627" y="2497931"/>
            <a:ext cx="399443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写入GOALS.md锚点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23627" y="2666107"/>
            <a:ext cx="399443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B8B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大项目将路线图写入GOALS.md，按里程碑结构化记录产出、工作范围、重要决策、已知阻塞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5455890" y="812602"/>
            <a:ext cx="3180159" cy="1936700"/>
          </a:xfrm>
          <a:prstGeom prst="roundRect">
            <a:avLst>
              <a:gd name="adj" fmla="val 3935"/>
            </a:avLst>
          </a:prstGeom>
          <a:solidFill>
            <a:srgbClr val="1A0A18"/>
          </a:solidFill>
          <a:ln w="9525">
            <a:solidFill>
              <a:srgbClr val="3A15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566916" y="923627"/>
            <a:ext cx="301727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72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核心价值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566916" y="1117253"/>
            <a:ext cx="301727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400"/>
              </a:spcBef>
              <a:buNone/>
            </a:pPr>
            <a:r>
              <a:rPr lang="en-US" sz="750" dirty="0">
                <a:solidFill>
                  <a:srgbClr val="B8B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早期阶段保持需求灵活性，无需提前撰写正式规格文档，用结构化文件作为锚点避免项目随对话漂移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5455890" y="2812703"/>
            <a:ext cx="3180159" cy="1936849"/>
          </a:xfrm>
          <a:prstGeom prst="roundRect">
            <a:avLst>
              <a:gd name="adj" fmla="val 3934"/>
            </a:avLst>
          </a:prstGeom>
          <a:solidFill>
            <a:srgbClr val="1A0A18"/>
          </a:solidFill>
          <a:ln w="9525">
            <a:solidFill>
              <a:srgbClr val="3A15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566916" y="2923729"/>
            <a:ext cx="301727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72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实操要点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566916" y="3117354"/>
            <a:ext cx="301727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400"/>
              </a:spcBef>
              <a:buNone/>
            </a:pPr>
            <a:r>
              <a:rPr lang="en-US" sz="750" dirty="0">
                <a:solidFill>
                  <a:srgbClr val="B8B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GOALS.md需随项目推进持续迭代更新，记录下一步所需证据，形成可追溯的决策链路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0750" cy="5143500"/>
          </a:xfrm>
          <a:prstGeom prst="rect">
            <a:avLst/>
          </a:prstGeom>
          <a:solidFill>
            <a:srgbClr val="7209B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330101"/>
            <a:ext cx="355550" cy="355550"/>
          </a:xfrm>
          <a:prstGeom prst="roundRect">
            <a:avLst>
              <a:gd name="adj" fmla="val 21432"/>
            </a:avLst>
          </a:prstGeom>
          <a:solidFill>
            <a:srgbClr val="7209B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0968" y="422225"/>
            <a:ext cx="17290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90451" y="304800"/>
            <a:ext cx="349758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7209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HABIT 02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990451" y="444401"/>
            <a:ext cx="34975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主线程仅负责全局协调，不陷入实现细节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7950" y="812602"/>
            <a:ext cx="3975199" cy="3936950"/>
          </a:xfrm>
          <a:prstGeom prst="roundRect">
            <a:avLst>
              <a:gd name="adj" fmla="val 1936"/>
            </a:avLst>
          </a:prstGeom>
          <a:solidFill>
            <a:srgbClr val="140A20"/>
          </a:solidFill>
          <a:ln w="9525">
            <a:solidFill>
              <a:srgbClr val="2A154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18976" y="923627"/>
            <a:ext cx="382821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7209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主线程只聚焦4件事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18976" y="1163241"/>
            <a:ext cx="50750" cy="50750"/>
          </a:xfrm>
          <a:prstGeom prst="roundRect">
            <a:avLst>
              <a:gd name="adj" fmla="val 1801773"/>
            </a:avLst>
          </a:prstGeom>
          <a:solidFill>
            <a:srgbClr val="7209B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33127" y="1117253"/>
            <a:ext cx="109329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 — 项目要达成什么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18976" y="1344216"/>
            <a:ext cx="50750" cy="50750"/>
          </a:xfrm>
          <a:prstGeom prst="roundRect">
            <a:avLst>
              <a:gd name="adj" fmla="val 1801773"/>
            </a:avLst>
          </a:prstGeom>
          <a:solidFill>
            <a:srgbClr val="7209B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33127" y="1298228"/>
            <a:ext cx="109329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约束 — 有哪些边界条件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18976" y="1525191"/>
            <a:ext cx="50750" cy="50750"/>
          </a:xfrm>
          <a:prstGeom prst="roundRect">
            <a:avLst>
              <a:gd name="adj" fmla="val 1801773"/>
            </a:avLst>
          </a:prstGeom>
          <a:solidFill>
            <a:srgbClr val="7209B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33127" y="1479203"/>
            <a:ext cx="119682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决策 — 做了哪些关键取舍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18976" y="1706166"/>
            <a:ext cx="50750" cy="50750"/>
          </a:xfrm>
          <a:prstGeom prst="roundRect">
            <a:avLst>
              <a:gd name="adj" fmla="val 1801773"/>
            </a:avLst>
          </a:prstGeom>
          <a:solidFill>
            <a:srgbClr val="7209B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33127" y="1660178"/>
            <a:ext cx="119682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状态 — 项目当前进展如何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660850" y="812602"/>
            <a:ext cx="3975199" cy="1735038"/>
          </a:xfrm>
          <a:prstGeom prst="roundRect">
            <a:avLst>
              <a:gd name="adj" fmla="val 4392"/>
            </a:avLst>
          </a:prstGeom>
          <a:solidFill>
            <a:srgbClr val="141428"/>
          </a:solidFill>
          <a:ln w="9525">
            <a:solidFill>
              <a:srgbClr val="2A2A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771876" y="898327"/>
            <a:ext cx="3828211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可回溯任务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771876" y="1055638"/>
            <a:ext cx="382821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B8B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使用独立thread存储完整历史，保证每块工作可独立追溯，支持多任务并行推进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660850" y="2623840"/>
            <a:ext cx="3975199" cy="1735187"/>
          </a:xfrm>
          <a:prstGeom prst="roundRect">
            <a:avLst>
              <a:gd name="adj" fmla="val 4391"/>
            </a:avLst>
          </a:prstGeom>
          <a:solidFill>
            <a:srgbClr val="141428"/>
          </a:solidFill>
          <a:ln w="9525">
            <a:solidFill>
              <a:srgbClr val="2A2A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771876" y="2709565"/>
            <a:ext cx="3828211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临时任务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771876" y="2866876"/>
            <a:ext cx="382821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B8B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直接委派给subagent，不占用主线程上下文，执行完毕后仅汇报结论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660850" y="4435227"/>
            <a:ext cx="3975199" cy="314325"/>
          </a:xfrm>
          <a:prstGeom prst="roundRect">
            <a:avLst>
              <a:gd name="adj" fmla="val 24242"/>
            </a:avLst>
          </a:prstGeom>
          <a:solidFill>
            <a:srgbClr val="0A1A18"/>
          </a:solidFill>
          <a:ln w="9525">
            <a:solidFill>
              <a:srgbClr val="1A3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771876" y="4520952"/>
            <a:ext cx="382821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06D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主线程无需承载所有实现细节，统筹全局的同时保持上下文清晰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0750" cy="5143500"/>
          </a:xfrm>
          <a:prstGeom prst="rect">
            <a:avLst/>
          </a:prstGeom>
          <a:solidFill>
            <a:srgbClr val="F725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330101"/>
            <a:ext cx="355550" cy="355550"/>
          </a:xfrm>
          <a:prstGeom prst="roundRect">
            <a:avLst>
              <a:gd name="adj" fmla="val 21432"/>
            </a:avLst>
          </a:prstGeom>
          <a:solidFill>
            <a:srgbClr val="F725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0968" y="422225"/>
            <a:ext cx="17290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90451" y="304800"/>
            <a:ext cx="371390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F72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HABIT 03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990451" y="444401"/>
            <a:ext cx="371390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里程碑完成后先审计路线图，再review代码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7950" y="812602"/>
            <a:ext cx="3975199" cy="244376"/>
          </a:xfrm>
          <a:prstGeom prst="roundRect">
            <a:avLst>
              <a:gd name="adj" fmla="val 31181"/>
            </a:avLst>
          </a:prstGeom>
          <a:solidFill>
            <a:srgbClr val="1A0A1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451" y="863352"/>
            <a:ext cx="384764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72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路线图审计（5项检查）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7950" y="1107728"/>
            <a:ext cx="3975199" cy="244376"/>
          </a:xfrm>
          <a:prstGeom prst="roundRect">
            <a:avLst>
              <a:gd name="adj" fmla="val 31181"/>
            </a:avLst>
          </a:prstGeom>
          <a:solidFill>
            <a:srgbClr val="141428"/>
          </a:solidFill>
          <a:ln w="9525">
            <a:solidFill>
              <a:srgbClr val="2A2A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18976" y="1168003"/>
            <a:ext cx="12948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750" b="1" dirty="0">
                <a:solidFill>
                  <a:srgbClr val="B8B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809327" y="1168003"/>
            <a:ext cx="9715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B8B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验证里程碑是否真完成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507950" y="1402854"/>
            <a:ext cx="3975199" cy="244376"/>
          </a:xfrm>
          <a:prstGeom prst="roundRect">
            <a:avLst>
              <a:gd name="adj" fmla="val 31181"/>
            </a:avLst>
          </a:prstGeom>
          <a:solidFill>
            <a:srgbClr val="141428"/>
          </a:solidFill>
          <a:ln w="9525">
            <a:solidFill>
              <a:srgbClr val="2A2A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18976" y="1463129"/>
            <a:ext cx="12948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750" b="1" dirty="0">
                <a:solidFill>
                  <a:srgbClr val="B8B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809327" y="1463129"/>
            <a:ext cx="87439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B8B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下一个目标是否合理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507950" y="1697980"/>
            <a:ext cx="3975199" cy="244376"/>
          </a:xfrm>
          <a:prstGeom prst="roundRect">
            <a:avLst>
              <a:gd name="adj" fmla="val 31181"/>
            </a:avLst>
          </a:prstGeom>
          <a:solidFill>
            <a:srgbClr val="141428"/>
          </a:solidFill>
          <a:ln w="9525">
            <a:solidFill>
              <a:srgbClr val="2A2A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18976" y="1758255"/>
            <a:ext cx="12948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750" b="1" dirty="0">
                <a:solidFill>
                  <a:srgbClr val="B8B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809327" y="1758255"/>
            <a:ext cx="68008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B8B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是否遗漏里程碑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07950" y="1993106"/>
            <a:ext cx="3975199" cy="244376"/>
          </a:xfrm>
          <a:prstGeom prst="roundRect">
            <a:avLst>
              <a:gd name="adj" fmla="val 31181"/>
            </a:avLst>
          </a:prstGeom>
          <a:solidFill>
            <a:srgbClr val="141428"/>
          </a:solidFill>
          <a:ln w="9525">
            <a:solidFill>
              <a:srgbClr val="2A2A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18976" y="2053382"/>
            <a:ext cx="12948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750" b="1" dirty="0">
                <a:solidFill>
                  <a:srgbClr val="B8B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09327" y="2053382"/>
            <a:ext cx="106870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B8B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新证据是否调整工作顺序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07950" y="2288232"/>
            <a:ext cx="3975199" cy="244376"/>
          </a:xfrm>
          <a:prstGeom prst="roundRect">
            <a:avLst>
              <a:gd name="adj" fmla="val 31181"/>
            </a:avLst>
          </a:prstGeom>
          <a:solidFill>
            <a:srgbClr val="141428"/>
          </a:solidFill>
          <a:ln w="9525">
            <a:solidFill>
              <a:srgbClr val="2A2A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18976" y="2348508"/>
            <a:ext cx="12948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750" b="1" dirty="0">
                <a:solidFill>
                  <a:srgbClr val="B8B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809327" y="2348508"/>
            <a:ext cx="94346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B8B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"完成定义"是否仍成立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660850" y="812602"/>
            <a:ext cx="3975199" cy="3441799"/>
          </a:xfrm>
          <a:prstGeom prst="roundRect">
            <a:avLst>
              <a:gd name="adj" fmla="val 2214"/>
            </a:avLst>
          </a:prstGeom>
          <a:solidFill>
            <a:srgbClr val="0D1A2E"/>
          </a:solidFill>
          <a:ln w="9525">
            <a:solidFill>
              <a:srgbClr val="1A3A5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771876" y="923627"/>
            <a:ext cx="382821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4361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代码审查 /review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900315" y="1117253"/>
            <a:ext cx="11658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B8B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对实现代码执行系统性审查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900315" y="1275904"/>
            <a:ext cx="9715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B8B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所有操作留存独立记录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900315" y="1434554"/>
            <a:ext cx="9715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B8B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发现隐性问题提前修复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4660850" y="4305151"/>
            <a:ext cx="3975199" cy="444401"/>
          </a:xfrm>
          <a:prstGeom prst="roundRect">
            <a:avLst>
              <a:gd name="adj" fmla="val 17147"/>
            </a:avLst>
          </a:prstGeom>
          <a:solidFill>
            <a:srgbClr val="1A0A1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762351" y="4381351"/>
            <a:ext cx="384764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F72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核心价值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762351" y="4549527"/>
            <a:ext cx="384764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B8B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提前发现路线图偏差与代码隐性问题，避免小问题累积导致后续大规模返工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0750" cy="5143500"/>
          </a:xfrm>
          <a:prstGeom prst="rect">
            <a:avLst/>
          </a:prstGeom>
          <a:solidFill>
            <a:srgbClr val="06D6A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330101"/>
            <a:ext cx="355550" cy="355550"/>
          </a:xfrm>
          <a:prstGeom prst="roundRect">
            <a:avLst>
              <a:gd name="adj" fmla="val 21432"/>
            </a:avLst>
          </a:prstGeom>
          <a:solidFill>
            <a:srgbClr val="06D6A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0968" y="422225"/>
            <a:ext cx="17290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0F0F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90451" y="304800"/>
            <a:ext cx="329325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06D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HABIT 04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990451" y="444401"/>
            <a:ext cx="329325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需要本机的测试交付给"本地线程"执行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7950" y="812602"/>
            <a:ext cx="1452860" cy="387102"/>
          </a:xfrm>
          <a:prstGeom prst="roundRect">
            <a:avLst>
              <a:gd name="adj" fmla="val 19685"/>
            </a:avLst>
          </a:prstGeom>
          <a:solidFill>
            <a:srgbClr val="141428"/>
          </a:solidFill>
          <a:ln w="9525">
            <a:solidFill>
              <a:srgbClr val="2A2A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80861" y="885527"/>
            <a:ext cx="130703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600" b="1" dirty="0">
                <a:solidFill>
                  <a:srgbClr val="06D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远程worker</a:t>
            </a:r>
            <a:endParaRPr lang="en-US" sz="600" dirty="0"/>
          </a:p>
        </p:txBody>
      </p:sp>
      <p:sp>
        <p:nvSpPr>
          <p:cNvPr id="9" name="Text 7"/>
          <p:cNvSpPr/>
          <p:nvPr/>
        </p:nvSpPr>
        <p:spPr>
          <a:xfrm>
            <a:off x="580861" y="1002953"/>
            <a:ext cx="13070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实现功能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2011561" y="939403"/>
            <a:ext cx="1165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06D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176611" y="812602"/>
            <a:ext cx="1453009" cy="387102"/>
          </a:xfrm>
          <a:prstGeom prst="roundRect">
            <a:avLst>
              <a:gd name="adj" fmla="val 19685"/>
            </a:avLst>
          </a:prstGeom>
          <a:solidFill>
            <a:srgbClr val="141428"/>
          </a:solidFill>
          <a:ln w="9525">
            <a:solidFill>
              <a:srgbClr val="2A2A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249521" y="885527"/>
            <a:ext cx="130719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600" b="1" dirty="0">
                <a:solidFill>
                  <a:srgbClr val="06D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远程测试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2249521" y="1002953"/>
            <a:ext cx="130719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通过基础验证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3680371" y="939403"/>
            <a:ext cx="1165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06D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845421" y="812602"/>
            <a:ext cx="1453009" cy="387102"/>
          </a:xfrm>
          <a:prstGeom prst="roundRect">
            <a:avLst>
              <a:gd name="adj" fmla="val 19685"/>
            </a:avLst>
          </a:prstGeom>
          <a:solidFill>
            <a:srgbClr val="141428"/>
          </a:solidFill>
          <a:ln w="9525">
            <a:solidFill>
              <a:srgbClr val="2A2A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918331" y="885527"/>
            <a:ext cx="130719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600" b="1" dirty="0">
                <a:solidFill>
                  <a:srgbClr val="06D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本地线程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3918331" y="1002953"/>
            <a:ext cx="130719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环境校验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5349180" y="939403"/>
            <a:ext cx="1165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06D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514231" y="812602"/>
            <a:ext cx="1453009" cy="387102"/>
          </a:xfrm>
          <a:prstGeom prst="roundRect">
            <a:avLst>
              <a:gd name="adj" fmla="val 19685"/>
            </a:avLst>
          </a:prstGeom>
          <a:solidFill>
            <a:srgbClr val="141428"/>
          </a:solidFill>
          <a:ln w="9525">
            <a:solidFill>
              <a:srgbClr val="2A2A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587140" y="885527"/>
            <a:ext cx="130719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600" b="1" dirty="0">
                <a:solidFill>
                  <a:srgbClr val="06D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如发现问题</a:t>
            </a: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5587140" y="1002953"/>
            <a:ext cx="130719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回传远程修复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7017990" y="939403"/>
            <a:ext cx="1165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06D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183041" y="812602"/>
            <a:ext cx="1453009" cy="387102"/>
          </a:xfrm>
          <a:prstGeom prst="roundRect">
            <a:avLst>
              <a:gd name="adj" fmla="val 19685"/>
            </a:avLst>
          </a:prstGeom>
          <a:solidFill>
            <a:srgbClr val="141428"/>
          </a:solidFill>
          <a:ln w="9525">
            <a:solidFill>
              <a:srgbClr val="2A2A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7255950" y="885527"/>
            <a:ext cx="130719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600" b="1" dirty="0">
                <a:solidFill>
                  <a:srgbClr val="06D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本地复测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7255950" y="1002953"/>
            <a:ext cx="130719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验证通过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507950" y="1301204"/>
            <a:ext cx="2556867" cy="824061"/>
          </a:xfrm>
          <a:prstGeom prst="roundRect">
            <a:avLst>
              <a:gd name="adj" fmla="val 9247"/>
            </a:avLst>
          </a:prstGeom>
          <a:solidFill>
            <a:srgbClr val="141428"/>
          </a:solidFill>
          <a:ln w="9525">
            <a:solidFill>
              <a:srgbClr val="2A2A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18976" y="1386929"/>
            <a:ext cx="2381512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远程实例承载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18976" y="1544241"/>
            <a:ext cx="238151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B8B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绝大多数开发任务</a:t>
            </a:r>
            <a:endParaRPr lang="en-US" sz="750" dirty="0"/>
          </a:p>
          <a:p>
            <a:pPr algn="l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B8B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持续运行不中断</a:t>
            </a:r>
            <a:endParaRPr lang="en-US" sz="750" dirty="0"/>
          </a:p>
          <a:p>
            <a:pPr algn="l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B8B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代码编写、测试、构建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3191768" y="1301204"/>
            <a:ext cx="2556867" cy="824061"/>
          </a:xfrm>
          <a:prstGeom prst="roundRect">
            <a:avLst>
              <a:gd name="adj" fmla="val 9247"/>
            </a:avLst>
          </a:prstGeom>
          <a:solidFill>
            <a:srgbClr val="141428"/>
          </a:solidFill>
          <a:ln w="9525">
            <a:solidFill>
              <a:srgbClr val="2A2A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302794" y="1386929"/>
            <a:ext cx="2381512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本地线程专属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302794" y="1544241"/>
            <a:ext cx="2381512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B8B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登录态浏览器校验</a:t>
            </a:r>
            <a:endParaRPr lang="en-US" sz="750" dirty="0"/>
          </a:p>
          <a:p>
            <a:pPr algn="l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B8B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本地凭据读取</a:t>
            </a:r>
            <a:endParaRPr lang="en-US" sz="750" dirty="0"/>
          </a:p>
          <a:p>
            <a:pPr algn="l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B8B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Xcode操作 / macOS权限</a:t>
            </a:r>
            <a:endParaRPr lang="en-US" sz="750" dirty="0"/>
          </a:p>
          <a:p>
            <a:pPr algn="l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B8B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iOS模拟器测试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5875586" y="1301204"/>
            <a:ext cx="2760464" cy="824061"/>
          </a:xfrm>
          <a:prstGeom prst="roundRect">
            <a:avLst>
              <a:gd name="adj" fmla="val 9247"/>
            </a:avLst>
          </a:prstGeom>
          <a:solidFill>
            <a:srgbClr val="0A1A18"/>
          </a:solidFill>
          <a:ln w="9525">
            <a:solidFill>
              <a:srgbClr val="1A3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986611" y="1386929"/>
            <a:ext cx="258918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06D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兼顾远程实例的持续运行能力与本地环境的专属校验能力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0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0750" cy="5143500"/>
          </a:xfrm>
          <a:prstGeom prst="rect">
            <a:avLst/>
          </a:prstGeom>
          <a:solidFill>
            <a:srgbClr val="FFB7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330101"/>
            <a:ext cx="355550" cy="355550"/>
          </a:xfrm>
          <a:prstGeom prst="roundRect">
            <a:avLst>
              <a:gd name="adj" fmla="val 21432"/>
            </a:avLst>
          </a:prstGeom>
          <a:solidFill>
            <a:srgbClr val="FFB7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0968" y="422225"/>
            <a:ext cx="17290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0F0F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90451" y="304800"/>
            <a:ext cx="252603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FFB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HABIT 05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990451" y="444401"/>
            <a:ext cx="252603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用简报和仪表盘同步全局进度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7950" y="812602"/>
            <a:ext cx="3987850" cy="3936950"/>
          </a:xfrm>
          <a:prstGeom prst="roundRect">
            <a:avLst>
              <a:gd name="adj" fmla="val 1936"/>
            </a:avLst>
          </a:prstGeom>
          <a:solidFill>
            <a:srgbClr val="1A1510"/>
          </a:solidFill>
          <a:ln w="9525">
            <a:solidFill>
              <a:srgbClr val="3A302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18976" y="923627"/>
            <a:ext cx="384111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FFB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三段式极简汇报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18976" y="1163241"/>
            <a:ext cx="50750" cy="50750"/>
          </a:xfrm>
          <a:prstGeom prst="roundRect">
            <a:avLst>
              <a:gd name="adj" fmla="val 1801773"/>
            </a:avLst>
          </a:prstGeom>
          <a:solidFill>
            <a:srgbClr val="FFB7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33127" y="1117253"/>
            <a:ext cx="108343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done — 已完成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18976" y="1344216"/>
            <a:ext cx="50750" cy="50750"/>
          </a:xfrm>
          <a:prstGeom prst="roundRect">
            <a:avLst>
              <a:gd name="adj" fmla="val 1801773"/>
            </a:avLst>
          </a:prstGeom>
          <a:solidFill>
            <a:srgbClr val="FFB7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33127" y="1298228"/>
            <a:ext cx="104897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next — 下一步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18976" y="1525191"/>
            <a:ext cx="50750" cy="50750"/>
          </a:xfrm>
          <a:prstGeom prst="roundRect">
            <a:avLst>
              <a:gd name="adj" fmla="val 1801773"/>
            </a:avLst>
          </a:prstGeom>
          <a:solidFill>
            <a:srgbClr val="FFB7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33127" y="1479203"/>
            <a:ext cx="122582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blockers — 有无阻塞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648200" y="812602"/>
            <a:ext cx="3987850" cy="1150441"/>
          </a:xfrm>
          <a:prstGeom prst="roundRect">
            <a:avLst>
              <a:gd name="adj" fmla="val 6624"/>
            </a:avLst>
          </a:prstGeom>
          <a:solidFill>
            <a:srgbClr val="141428"/>
          </a:solidFill>
          <a:ln w="9525">
            <a:solidFill>
              <a:srgbClr val="2A2A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759226" y="898327"/>
            <a:ext cx="3841114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/side 指令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759226" y="1055638"/>
            <a:ext cx="384111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B8B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在不打断主线程的前提下探查进度，传递用户新指令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648200" y="2026444"/>
            <a:ext cx="3987850" cy="1150590"/>
          </a:xfrm>
          <a:prstGeom prst="roundRect">
            <a:avLst>
              <a:gd name="adj" fmla="val 6623"/>
            </a:avLst>
          </a:prstGeom>
          <a:solidFill>
            <a:srgbClr val="141428"/>
          </a:solidFill>
          <a:ln w="9525">
            <a:solidFill>
              <a:srgbClr val="2A2A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759226" y="2112169"/>
            <a:ext cx="3841114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Slack 同步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759226" y="2269480"/>
            <a:ext cx="384111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B8B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项目状态更新时自动推送至Slack，团队成员实时掌握进展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648200" y="3240435"/>
            <a:ext cx="3987850" cy="1150441"/>
          </a:xfrm>
          <a:prstGeom prst="roundRect">
            <a:avLst>
              <a:gd name="adj" fmla="val 6624"/>
            </a:avLst>
          </a:prstGeom>
          <a:solidFill>
            <a:srgbClr val="141428"/>
          </a:solidFill>
          <a:ln w="9525">
            <a:solidFill>
              <a:srgbClr val="2A2A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759226" y="3326160"/>
            <a:ext cx="3841114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progress-dashboard.html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759226" y="3483471"/>
            <a:ext cx="384111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B8B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跨里程碑并行项目维护可视化仪表盘，部署为可远程访问的站点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648200" y="4454277"/>
            <a:ext cx="3987850" cy="295275"/>
          </a:xfrm>
          <a:prstGeom prst="roundRect">
            <a:avLst>
              <a:gd name="adj" fmla="val 25806"/>
            </a:avLst>
          </a:prstGeom>
          <a:solidFill>
            <a:srgbClr val="1A151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749701" y="4530477"/>
            <a:ext cx="386054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B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用户无需回溯所有worker线程上下文，随时查看全局项目状态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0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0750" cy="5143500"/>
          </a:xfrm>
          <a:prstGeom prst="rect">
            <a:avLst/>
          </a:prstGeom>
          <a:solidFill>
            <a:srgbClr val="4361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304800"/>
            <a:ext cx="829066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4361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7950" y="457200"/>
            <a:ext cx="8290661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适用场景与落地实操指南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7950" y="873026"/>
            <a:ext cx="3975199" cy="3936950"/>
          </a:xfrm>
          <a:prstGeom prst="roundRect">
            <a:avLst>
              <a:gd name="adj" fmla="val 1936"/>
            </a:avLst>
          </a:prstGeom>
          <a:solidFill>
            <a:srgbClr val="1A0A18"/>
          </a:solidFill>
          <a:ln w="9525">
            <a:solidFill>
              <a:srgbClr val="3A15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18976" y="984052"/>
            <a:ext cx="382821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F72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适用边界（满足时投入产出比最高）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83878" y="1177677"/>
            <a:ext cx="145732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750" b="1" dirty="0">
                <a:solidFill>
                  <a:srgbClr val="B8B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项目推进过程中会持续涌现新信息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783878" y="1339602"/>
            <a:ext cx="9715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750" b="1" dirty="0">
                <a:solidFill>
                  <a:srgbClr val="B8B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涉及多块独立并行工作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783878" y="1501527"/>
            <a:ext cx="126301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750" b="1" dirty="0">
                <a:solidFill>
                  <a:srgbClr val="B8B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需要多个不同环境的验证证据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660850" y="873026"/>
            <a:ext cx="3975199" cy="3936950"/>
          </a:xfrm>
          <a:prstGeom prst="roundRect">
            <a:avLst>
              <a:gd name="adj" fmla="val 1936"/>
            </a:avLst>
          </a:prstGeom>
          <a:solidFill>
            <a:srgbClr val="0D1A2E"/>
          </a:solidFill>
          <a:ln w="9525">
            <a:solidFill>
              <a:srgbClr val="1A3A5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771876" y="984052"/>
            <a:ext cx="382821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4361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开箱即用落地方法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771876" y="1177677"/>
            <a:ext cx="3753148" cy="453628"/>
          </a:xfrm>
          <a:prstGeom prst="roundRect">
            <a:avLst>
              <a:gd name="adj" fmla="val 16798"/>
            </a:avLst>
          </a:prstGeom>
          <a:solidFill>
            <a:srgbClr val="1414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873377" y="1241078"/>
            <a:ext cx="36211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一键复用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873377" y="1409254"/>
            <a:ext cx="36211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B8B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将完整协作规则粘贴进新的Codex会话，直接启动长周期项目协同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771876" y="1682055"/>
            <a:ext cx="3753148" cy="453628"/>
          </a:xfrm>
          <a:prstGeom prst="roundRect">
            <a:avLst>
              <a:gd name="adj" fmla="val 16798"/>
            </a:avLst>
          </a:prstGeom>
          <a:solidFill>
            <a:srgbClr val="1414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873377" y="1745456"/>
            <a:ext cx="36211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固化为技能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873377" y="1913632"/>
            <a:ext cx="36211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B8B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将实践内容截图上传给Codex，生成orchestrate-projects自定义skill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0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0750" cy="5143500"/>
          </a:xfrm>
          <a:prstGeom prst="rect">
            <a:avLst/>
          </a:prstGeom>
          <a:solidFill>
            <a:srgbClr val="4361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304800"/>
            <a:ext cx="829066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4361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7950" y="457200"/>
            <a:ext cx="8290661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关键洞察与注意事项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7950" y="873026"/>
            <a:ext cx="3987850" cy="1936700"/>
          </a:xfrm>
          <a:prstGeom prst="roundRect">
            <a:avLst>
              <a:gd name="adj" fmla="val 3935"/>
            </a:avLst>
          </a:prstGeom>
          <a:solidFill>
            <a:srgbClr val="141428"/>
          </a:solidFill>
          <a:ln w="9525">
            <a:solidFill>
              <a:srgbClr val="2A2A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18976" y="984052"/>
            <a:ext cx="384111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范式升级本质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18976" y="1177677"/>
            <a:ext cx="384111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B8B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核心并非特定工具的使用技巧，而是AI时代的新型项目管理模式。开发者从"亲自写代码的执行者"转变为"带领AI团队的技术负责人"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07950" y="2873127"/>
            <a:ext cx="3987850" cy="1936849"/>
          </a:xfrm>
          <a:prstGeom prst="roundRect">
            <a:avLst>
              <a:gd name="adj" fmla="val 3934"/>
            </a:avLst>
          </a:prstGeom>
          <a:solidFill>
            <a:srgbClr val="140A20"/>
          </a:solidFill>
          <a:ln w="9525">
            <a:solidFill>
              <a:srgbClr val="2A154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18976" y="2984153"/>
            <a:ext cx="384111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7209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底层核心三要素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18976" y="3203079"/>
            <a:ext cx="50750" cy="50750"/>
          </a:xfrm>
          <a:prstGeom prst="roundRect">
            <a:avLst>
              <a:gd name="adj" fmla="val 1801773"/>
            </a:avLst>
          </a:prstGeom>
          <a:solidFill>
            <a:srgbClr val="7209B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33127" y="3177778"/>
            <a:ext cx="209429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持久Goal与GOALS.md为AI提供不会漂移的锚点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618976" y="3365004"/>
            <a:ext cx="50750" cy="50750"/>
          </a:xfrm>
          <a:prstGeom prst="roundRect">
            <a:avLst>
              <a:gd name="adj" fmla="val 1801773"/>
            </a:avLst>
          </a:prstGeom>
          <a:solidFill>
            <a:srgbClr val="7209B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33127" y="3339703"/>
            <a:ext cx="198120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里程碑审计与/review为项目设置多层验收关卡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618976" y="3526929"/>
            <a:ext cx="50750" cy="50750"/>
          </a:xfrm>
          <a:prstGeom prst="roundRect">
            <a:avLst>
              <a:gd name="adj" fmla="val 1801773"/>
            </a:avLst>
          </a:prstGeom>
          <a:solidFill>
            <a:srgbClr val="7209B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33127" y="3501628"/>
            <a:ext cx="262318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简报与仪表盘将项目状态外置，避免信息仅存在于线程上下文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648200" y="873026"/>
            <a:ext cx="3987850" cy="3330625"/>
          </a:xfrm>
          <a:prstGeom prst="roundRect">
            <a:avLst>
              <a:gd name="adj" fmla="val 2288"/>
            </a:avLst>
          </a:prstGeom>
          <a:solidFill>
            <a:srgbClr val="141428"/>
          </a:solidFill>
          <a:ln w="9525">
            <a:solidFill>
              <a:srgbClr val="2A2A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759226" y="984052"/>
            <a:ext cx="384111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核心能力聚焦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759226" y="1177677"/>
            <a:ext cx="384111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B8B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定目标、拆里程碑、委派任务、验收结果、把控全局状态——这是AI时代技术负责人的核心技能栈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648200" y="4267051"/>
            <a:ext cx="3987850" cy="542925"/>
          </a:xfrm>
          <a:prstGeom prst="roundRect">
            <a:avLst>
              <a:gd name="adj" fmla="val 14035"/>
            </a:avLst>
          </a:prstGeom>
          <a:solidFill>
            <a:srgbClr val="1A1510"/>
          </a:solidFill>
          <a:ln w="9525">
            <a:solidFill>
              <a:srgbClr val="3A302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759226" y="4352776"/>
            <a:ext cx="3841114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FFB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迁移适配提示：Gabriel的实践为个人经验，并非OpenAI官方定论。/goal、/side等指令为Codex专属能力，迁移至Claude Code、Cursor等工具时需找到对应功能替代项。但"路线图锚定+里程碑验收+远程本地分工+状态外置"的核心骨架完全通用。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0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9423" y="1461343"/>
            <a:ext cx="4565005" cy="1420713"/>
          </a:xfrm>
          <a:prstGeom prst="roundRect">
            <a:avLst>
              <a:gd name="adj" fmla="val 10727"/>
            </a:avLst>
          </a:prstGeom>
          <a:solidFill>
            <a:srgbClr val="141428"/>
          </a:solidFill>
          <a:ln w="9525">
            <a:solidFill>
              <a:srgbClr val="2A2A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719832" y="1775668"/>
            <a:ext cx="3704186" cy="792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模型负责发挥智能能力，</a:t>
            </a:r>
            <a:endParaRPr lang="en-US" sz="1300" dirty="0"/>
          </a:p>
          <a:p>
            <a:pPr algn="ctr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而开发者的核心作用是</a:t>
            </a:r>
            <a:endParaRPr lang="en-US" sz="1300" dirty="0"/>
          </a:p>
          <a:p>
            <a:pPr algn="ctr" indent="0" marL="0">
              <a:lnSpc>
                <a:spcPts val="2080"/>
              </a:lnSpc>
              <a:buNone/>
            </a:pPr>
            <a:r>
              <a:rPr lang="en-US" sz="1300" b="1" dirty="0">
                <a:solidFill>
                  <a:srgbClr val="F72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引导这份智能</a:t>
            </a:r>
            <a:pPr algn="ctr" indent="0" marL="0">
              <a:lnSpc>
                <a:spcPts val="2080"/>
              </a:lnSpc>
              <a:buNone/>
            </a:pPr>
            <a:endParaRPr lang="en-US" sz="1300" dirty="0"/>
          </a:p>
          <a:p>
            <a:pPr algn="ctr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始终锚定同一目标，沿着验证证据的路径稳步推进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254550" y="3135957"/>
            <a:ext cx="634901" cy="38100"/>
          </a:xfrm>
          <a:prstGeom prst="roundRect">
            <a:avLst>
              <a:gd name="adj" fmla="val 66667"/>
            </a:avLst>
          </a:prstGeom>
          <a:solidFill>
            <a:srgbClr val="4361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529862" y="3377208"/>
            <a:ext cx="208412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B8B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Gabriel Chua · OpenAI Codex DX Engineer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529862" y="3529608"/>
            <a:ext cx="208412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B8B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x.com/gabrielchua · github.com/openai/codex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让Codex长周期大项目不跑偏 — 5个AI协作习惯深度解析</dc:title>
  <dc:subject>PptxGenJS Presentation</dc:subject>
  <dc:creator>DimCode</dc:creator>
  <cp:lastModifiedBy>DimCode</cp:lastModifiedBy>
  <cp:revision>1</cp:revision>
  <dcterms:created xsi:type="dcterms:W3CDTF">2026-07-21T02:02:10Z</dcterms:created>
  <dcterms:modified xsi:type="dcterms:W3CDTF">2026-07-21T02:02:10Z</dcterms:modified>
</cp:coreProperties>
</file>
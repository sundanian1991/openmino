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6984825" y="1523961"/>
            <a:ext cx="4317892" cy="4190896"/>
          </a:xfrm>
          <a:custGeom>
            <a:avLst/>
            <a:gdLst/>
            <a:ahLst/>
            <a:cxnLst/>
            <a:rect l="l" t="t" r="r" b="b"/>
            <a:pathLst>
              <a:path w="4317892" h="4190896">
                <a:moveTo>
                  <a:pt x="0" y="4190896"/>
                </a:moveTo>
                <a:lnTo>
                  <a:pt x="698482" y="3986290"/>
                </a:lnTo>
                <a:lnTo>
                  <a:pt x="1312300" y="3711130"/>
                </a:lnTo>
                <a:lnTo>
                  <a:pt x="1841454" y="3365416"/>
                </a:lnTo>
                <a:lnTo>
                  <a:pt x="2285943" y="2949149"/>
                </a:lnTo>
                <a:lnTo>
                  <a:pt x="2645767" y="2462328"/>
                </a:lnTo>
                <a:lnTo>
                  <a:pt x="2920927" y="1904953"/>
                </a:lnTo>
                <a:lnTo>
                  <a:pt x="3153754" y="1358161"/>
                </a:lnTo>
                <a:lnTo>
                  <a:pt x="3386582" y="903089"/>
                </a:lnTo>
                <a:lnTo>
                  <a:pt x="3619409" y="539737"/>
                </a:lnTo>
                <a:lnTo>
                  <a:pt x="3852237" y="268105"/>
                </a:lnTo>
                <a:lnTo>
                  <a:pt x="4085064" y="88193"/>
                </a:lnTo>
                <a:lnTo>
                  <a:pt x="4317892" y="0"/>
                </a:lnTo>
              </a:path>
            </a:pathLst>
          </a:custGeom>
          <a:noFill/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8819" y="1523961"/>
            <a:ext cx="4317892" cy="4190896"/>
          </a:xfrm>
          <a:custGeom>
            <a:avLst/>
            <a:gdLst/>
            <a:ahLst/>
            <a:cxnLst/>
            <a:rect l="l" t="t" r="r" b="b"/>
            <a:pathLst>
              <a:path w="4317892" h="4190896">
                <a:moveTo>
                  <a:pt x="0" y="4190896"/>
                </a:moveTo>
                <a:lnTo>
                  <a:pt x="698482" y="3986290"/>
                </a:lnTo>
                <a:lnTo>
                  <a:pt x="1312300" y="3711130"/>
                </a:lnTo>
                <a:lnTo>
                  <a:pt x="1841453" y="3365416"/>
                </a:lnTo>
                <a:lnTo>
                  <a:pt x="2285942" y="2949149"/>
                </a:lnTo>
                <a:lnTo>
                  <a:pt x="2645767" y="2462328"/>
                </a:lnTo>
                <a:lnTo>
                  <a:pt x="2920927" y="1904953"/>
                </a:lnTo>
                <a:lnTo>
                  <a:pt x="3153754" y="1358161"/>
                </a:lnTo>
                <a:lnTo>
                  <a:pt x="3386582" y="903089"/>
                </a:lnTo>
                <a:lnTo>
                  <a:pt x="3619409" y="539737"/>
                </a:lnTo>
                <a:lnTo>
                  <a:pt x="3852237" y="268105"/>
                </a:lnTo>
                <a:lnTo>
                  <a:pt x="4085064" y="88193"/>
                </a:lnTo>
                <a:lnTo>
                  <a:pt x="4317892" y="0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30831" y="1523961"/>
            <a:ext cx="4317892" cy="4190896"/>
          </a:xfrm>
          <a:custGeom>
            <a:avLst/>
            <a:gdLst/>
            <a:ahLst/>
            <a:cxnLst/>
            <a:rect l="l" t="t" r="r" b="b"/>
            <a:pathLst>
              <a:path w="4317892" h="4190896">
                <a:moveTo>
                  <a:pt x="0" y="4190896"/>
                </a:moveTo>
                <a:lnTo>
                  <a:pt x="698483" y="3986290"/>
                </a:lnTo>
                <a:lnTo>
                  <a:pt x="1312301" y="3711130"/>
                </a:lnTo>
                <a:lnTo>
                  <a:pt x="1841454" y="3365416"/>
                </a:lnTo>
                <a:lnTo>
                  <a:pt x="2285943" y="2949149"/>
                </a:lnTo>
                <a:lnTo>
                  <a:pt x="2645767" y="2462328"/>
                </a:lnTo>
                <a:lnTo>
                  <a:pt x="2920927" y="1904953"/>
                </a:lnTo>
                <a:lnTo>
                  <a:pt x="3153755" y="1358161"/>
                </a:lnTo>
                <a:lnTo>
                  <a:pt x="3386582" y="903089"/>
                </a:lnTo>
                <a:lnTo>
                  <a:pt x="3619410" y="539737"/>
                </a:lnTo>
                <a:lnTo>
                  <a:pt x="3852237" y="268105"/>
                </a:lnTo>
                <a:lnTo>
                  <a:pt x="4085065" y="88193"/>
                </a:lnTo>
                <a:lnTo>
                  <a:pt x="4317892" y="0"/>
                </a:lnTo>
              </a:path>
            </a:pathLst>
          </a:custGeom>
          <a:noFill/>
          <a:ln w="380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1239219" y="1473163"/>
            <a:ext cx="158746" cy="146046"/>
          </a:xfrm>
          <a:custGeom>
            <a:avLst/>
            <a:gdLst/>
            <a:ahLst/>
            <a:cxnLst/>
            <a:rect l="l" t="t" r="r" b="b"/>
            <a:pathLst>
              <a:path w="158746" h="146046">
                <a:moveTo>
                  <a:pt x="31749" y="0"/>
                </a:moveTo>
                <a:lnTo>
                  <a:pt x="158746" y="114297"/>
                </a:lnTo>
                <a:lnTo>
                  <a:pt x="0" y="146046"/>
                </a:lnTo>
                <a:lnTo>
                  <a:pt x="31749" y="0"/>
                </a:lnTo>
                <a:close/>
              </a:path>
            </a:pathLst>
          </a:cu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34026" y="5664058"/>
            <a:ext cx="101597" cy="101597"/>
          </a:xfrm>
          <a:prstGeom prst="ellipse">
            <a:avLst/>
          </a:prstGeom>
          <a:solidFill>
            <a:srgbClr val="C62828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30991" y="4140096"/>
            <a:ext cx="101597" cy="101597"/>
          </a:xfrm>
          <a:prstGeom prst="ellipse">
            <a:avLst/>
          </a:prstGeom>
          <a:solidFill>
            <a:srgbClr val="C628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54953" y="2870128"/>
            <a:ext cx="101597" cy="101597"/>
          </a:xfrm>
          <a:prstGeom prst="ellipse">
            <a:avLst/>
          </a:prstGeom>
          <a:solidFill>
            <a:srgbClr val="C628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39219" y="1460463"/>
            <a:ext cx="126996" cy="1269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8787" y="4135651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0" y="2738686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730" y="1341721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判断模型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8977" y="761980"/>
            <a:ext cx="634984" cy="0"/>
          </a:xfrm>
          <a:prstGeom prst="line">
            <a:avLst/>
          </a:prstGeom>
          <a:ln w="1142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8977" y="960730"/>
            <a:ext cx="3927948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 spc="300">
                <a:solidFill>
                  <a:srgbClr val="999999"/>
                </a:solidFill>
                <a:latin typeface="Microsoft YaHei"/>
              </a:rPr>
              <a:t>A METHOD FOR CAPABILITY COMPOUNDING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977" y="2594545"/>
            <a:ext cx="4907157" cy="853418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4199" b="1">
                <a:solidFill>
                  <a:srgbClr val="333333"/>
                </a:solidFill>
                <a:latin typeface="Microsoft YaHei"/>
              </a:rPr>
              <a:t>职场能力跃升指南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77" y="3445423"/>
            <a:ext cx="5462133" cy="447028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2199" b="0">
                <a:solidFill>
                  <a:srgbClr val="555555"/>
                </a:solidFill>
                <a:latin typeface="Microsoft YaHei"/>
              </a:rPr>
              <a:t>从经验积累，到构建可复用的判断模型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977" y="4431554"/>
            <a:ext cx="3417484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最值得长期积累的不是零散的具体经验，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977" y="4717297"/>
            <a:ext cx="2658043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而是经过</a:t>
            </a:r>
            <a:r>
              <a:rPr sz="1299" b="1">
                <a:solidFill>
                  <a:srgbClr val="C62828"/>
                </a:solidFill>
                <a:latin typeface="Microsoft YaHei"/>
              </a:rPr>
              <a:t>提炼校准的判断模型</a:t>
            </a:r>
            <a:r>
              <a:rPr sz="1299" b="0">
                <a:solidFill>
                  <a:srgbClr val="555555"/>
                </a:solidFill>
                <a:latin typeface="Microsoft YaHei"/>
              </a:rPr>
              <a:t>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8977" y="6159346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8977" y="6326346"/>
            <a:ext cx="52005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 spc="200">
                <a:solidFill>
                  <a:srgbClr val="999999"/>
                </a:solidFill>
                <a:latin typeface="Microsoft YaHei"/>
              </a:rPr>
              <a:t>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958" y="6326346"/>
            <a:ext cx="731806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 spc="200">
                <a:solidFill>
                  <a:srgbClr val="C62828"/>
                </a:solidFill>
                <a:latin typeface="Microsoft YaHei"/>
              </a:rPr>
              <a:t>→ 架构层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723881"/>
            <a:ext cx="7886502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经验回答「以前怎么做」，判断模型回答「这类事如何运转」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064233"/>
            <a:ext cx="157730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两类能力的核心差异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888977" y="1650958"/>
            <a:ext cx="10413739" cy="444488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466" y="1807164"/>
            <a:ext cx="70102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555555"/>
                </a:solidFill>
                <a:latin typeface="Microsoft YaHei"/>
              </a:rPr>
              <a:t>能力类型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4920" y="1807164"/>
            <a:ext cx="70102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555555"/>
                </a:solidFill>
                <a:latin typeface="Microsoft YaHei"/>
              </a:rPr>
              <a:t>核心指向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8355" y="1807164"/>
            <a:ext cx="70102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555555"/>
                </a:solidFill>
                <a:latin typeface="Microsoft YaHei"/>
              </a:rPr>
              <a:t>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777" y="1807164"/>
            <a:ext cx="70102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555555"/>
                </a:solidFill>
                <a:latin typeface="Microsoft YaHei"/>
              </a:rPr>
              <a:t>核心价值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8977" y="2095447"/>
            <a:ext cx="10413739" cy="1269968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3466" y="2599625"/>
            <a:ext cx="525766" cy="365750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799" b="1">
                <a:solidFill>
                  <a:srgbClr val="555555"/>
                </a:solidFill>
                <a:latin typeface="Microsoft YaHei"/>
              </a:rPr>
              <a:t>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4920" y="2600894"/>
            <a:ext cx="8762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以前是怎么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4920" y="2804089"/>
            <a:ext cx="525766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做的？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8355" y="2600894"/>
            <a:ext cx="8762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高度相似的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8355" y="2804089"/>
            <a:ext cx="70102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已知问题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777" y="2600894"/>
            <a:ext cx="12267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历史案例积累，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9777" y="2804089"/>
            <a:ext cx="12267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提升操作熟练度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977" y="3365415"/>
            <a:ext cx="10413739" cy="1269968"/>
          </a:xfrm>
          <a:prstGeom prst="rect">
            <a:avLst/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977" y="3365415"/>
            <a:ext cx="50798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3466" y="3869593"/>
            <a:ext cx="1051533" cy="365750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判断模型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4920" y="3807364"/>
            <a:ext cx="1402044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这类事如何运转？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4920" y="4070248"/>
            <a:ext cx="1460463" cy="20319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结果由哪些变量决定？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355" y="3807364"/>
            <a:ext cx="1051533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不完全相同的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8355" y="4048658"/>
            <a:ext cx="8762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未知新问题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777" y="3807364"/>
            <a:ext cx="1752556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底层共性规律，跨场景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9777" y="4048658"/>
            <a:ext cx="157730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C62828"/>
                </a:solidFill>
                <a:latin typeface="Microsoft YaHei"/>
              </a:rPr>
              <a:t>复用并产生能力复利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8977" y="507987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8977" y="5373235"/>
            <a:ext cx="1431254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0">
                <a:solidFill>
                  <a:srgbClr val="555555"/>
                </a:solidFill>
                <a:latin typeface="Microsoft YaHei"/>
              </a:rPr>
              <a:t>二者并非对立：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977" y="5639928"/>
            <a:ext cx="5316087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经验是判断模型的提炼基础</a:t>
            </a:r>
            <a:r>
              <a:rPr sz="1399" b="0">
                <a:solidFill>
                  <a:srgbClr val="555555"/>
                </a:solidFill>
                <a:latin typeface="Microsoft YaHei"/>
              </a:rPr>
              <a:t>，</a:t>
            </a:r>
            <a:r>
              <a:rPr sz="1399" b="1">
                <a:solidFill>
                  <a:srgbClr val="C62828"/>
                </a:solidFill>
                <a:latin typeface="Microsoft YaHei"/>
              </a:rPr>
              <a:t>判断模型是经验的高阶升级</a:t>
            </a:r>
            <a:r>
              <a:rPr sz="1399" b="0">
                <a:solidFill>
                  <a:srgbClr val="555555"/>
                </a:solidFill>
                <a:latin typeface="Microsoft YaHei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787380"/>
            <a:ext cx="2920926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具体经验在快速失效，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117572"/>
            <a:ext cx="4673483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但「</a:t>
            </a:r>
            <a:r>
              <a:rPr sz="1999" b="1">
                <a:solidFill>
                  <a:srgbClr val="C62828"/>
                </a:solidFill>
                <a:latin typeface="Microsoft YaHei"/>
              </a:rPr>
              <a:t>判断价值的结构</a:t>
            </a:r>
            <a:r>
              <a:rPr sz="1999" b="1">
                <a:solidFill>
                  <a:srgbClr val="333333"/>
                </a:solidFill>
                <a:latin typeface="Microsoft YaHei"/>
              </a:rPr>
              <a:t>」不会同步过时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849708"/>
            <a:ext cx="897816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WHY ·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373" y="2219904"/>
            <a:ext cx="321068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在 AI 工具链、系统架构、硬件开发这类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373" y="2448498"/>
            <a:ext cx="28040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高速迭代领域，数年前的代码经验、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373" y="2677093"/>
            <a:ext cx="2628834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工具用法、调试手法很容易失效。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1373" y="3111422"/>
            <a:ext cx="736582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1373" y="3362875"/>
            <a:ext cx="2306363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但判断模型的生命周期更长——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373" y="3591470"/>
            <a:ext cx="2278323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评估稳定性、判断投入价值、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373" y="3820064"/>
            <a:ext cx="24535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设计低成本验证、区分短期问题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373" y="4048658"/>
            <a:ext cx="3154601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与系统性风险，这类标准不随工具过时。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1373" y="4508387"/>
            <a:ext cx="736582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41373" y="4759841"/>
            <a:ext cx="1752556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仅追求「会用什么」，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373" y="4988435"/>
            <a:ext cx="210306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陷入持续追赶的被动局面。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373" y="5267828"/>
            <a:ext cx="24535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掌握「判断事物价值」的能力，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373" y="5496422"/>
            <a:ext cx="157730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才具备长期竞争力。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14457"/>
            <a:ext cx="3174920" cy="444488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790" y="1976705"/>
            <a:ext cx="78558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300">
                <a:solidFill>
                  <a:srgbClr val="999999"/>
                </a:solidFill>
                <a:latin typeface="Microsoft YaHei"/>
              </a:rPr>
              <a:t>EXPIRES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0" y="2219269"/>
            <a:ext cx="1476528" cy="30479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499" b="1">
                <a:solidFill>
                  <a:srgbClr val="555555"/>
                </a:solidFill>
                <a:latin typeface="Microsoft YaHei"/>
              </a:rPr>
              <a:t>易过期 · 经验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81790" y="2508187"/>
            <a:ext cx="2666933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1790" y="2727891"/>
            <a:ext cx="125483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· 具体代码实现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0" y="3045383"/>
            <a:ext cx="125483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· 工具版本用法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790" y="3362875"/>
            <a:ext cx="125483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· 调试手法细节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0" y="3680367"/>
            <a:ext cx="141256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· 框架 API 调用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15257" y="4063898"/>
            <a:ext cx="0" cy="380990"/>
          </a:xfrm>
          <a:prstGeom prst="line">
            <a:avLst/>
          </a:prstGeom>
          <a:ln w="1142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9651758" y="4381390"/>
            <a:ext cx="126997" cy="158746"/>
          </a:xfrm>
          <a:custGeom>
            <a:avLst/>
            <a:gdLst/>
            <a:ahLst/>
            <a:cxnLst/>
            <a:rect l="l" t="t" r="r" b="b"/>
            <a:pathLst>
              <a:path w="126997" h="158746">
                <a:moveTo>
                  <a:pt x="0" y="0"/>
                </a:moveTo>
                <a:lnTo>
                  <a:pt x="126997" y="0"/>
                </a:lnTo>
                <a:lnTo>
                  <a:pt x="63499" y="15874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1790" y="4707137"/>
            <a:ext cx="78558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ENDURES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790" y="4949701"/>
            <a:ext cx="1476528" cy="30479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499" b="1">
                <a:solidFill>
                  <a:srgbClr val="C62828"/>
                </a:solidFill>
                <a:latin typeface="Microsoft YaHei"/>
              </a:rPr>
              <a:t>不过期 · 判断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81790" y="5238619"/>
            <a:ext cx="266693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81790" y="5458323"/>
            <a:ext cx="1079574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· 评估稳定性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1790" y="5775815"/>
            <a:ext cx="125483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· 判断投入价值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800079"/>
            <a:ext cx="6426039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经验提升效率省下</a:t>
            </a:r>
            <a:r>
              <a:rPr sz="1999" b="1">
                <a:solidFill>
                  <a:srgbClr val="555555"/>
                </a:solidFill>
                <a:latin typeface="Microsoft YaHei"/>
              </a:rPr>
              <a:t>数小时</a:t>
            </a:r>
            <a:r>
              <a:rPr sz="1999" b="1">
                <a:solidFill>
                  <a:srgbClr val="333333"/>
                </a:solidFill>
                <a:latin typeface="Microsoft YaHei"/>
              </a:rPr>
              <a:t>，关键判断避免</a:t>
            </a:r>
            <a:r>
              <a:rPr sz="1999" b="1">
                <a:solidFill>
                  <a:srgbClr val="C62828"/>
                </a:solidFill>
                <a:latin typeface="Microsoft YaHei"/>
              </a:rPr>
              <a:t>数周返工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140431"/>
            <a:ext cx="210306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决策的杠杆率存在量级差异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961" y="2283402"/>
            <a:ext cx="120697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 spc="300">
                <a:solidFill>
                  <a:srgbClr val="999999"/>
                </a:solidFill>
                <a:latin typeface="Microsoft YaHei"/>
              </a:rPr>
              <a:t>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961" y="2557716"/>
            <a:ext cx="1883413" cy="325111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599" b="0">
                <a:solidFill>
                  <a:srgbClr val="555555"/>
                </a:solidFill>
                <a:latin typeface="Microsoft YaHei"/>
              </a:rPr>
              <a:t>经验 · 聚焦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961" y="3111422"/>
            <a:ext cx="4381390" cy="203194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9999" b="1">
                <a:solidFill>
                  <a:srgbClr val="999999"/>
                </a:solidFill>
                <a:latin typeface="Microsoft YaHei"/>
              </a:rPr>
              <a:t>数小时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61" y="4569345"/>
            <a:ext cx="12267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把执行动作加快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961" y="4797940"/>
            <a:ext cx="157730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仅提升局部执行效率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8668" y="2110687"/>
            <a:ext cx="474358" cy="568945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2799" b="1">
                <a:solidFill>
                  <a:srgbClr val="C62828"/>
                </a:solidFill>
                <a:latin typeface="Microsoft YaHei"/>
              </a:rPr>
              <a:t>VS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2666933"/>
            <a:ext cx="0" cy="2285943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38819" y="2283402"/>
            <a:ext cx="96558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 spc="300">
                <a:solidFill>
                  <a:srgbClr val="C62828"/>
                </a:solidFill>
                <a:latin typeface="Microsoft YaHei"/>
              </a:rPr>
              <a:t>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8819" y="2557716"/>
            <a:ext cx="2561068" cy="325111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599" b="1">
                <a:solidFill>
                  <a:srgbClr val="C62828"/>
                </a:solidFill>
                <a:latin typeface="Microsoft YaHei"/>
              </a:rPr>
              <a:t>判断 · 聚焦 What/Why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19" y="3111422"/>
            <a:ext cx="2920926" cy="203194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9999" b="1">
                <a:solidFill>
                  <a:srgbClr val="C62828"/>
                </a:solidFill>
                <a:latin typeface="Microsoft YaHei"/>
              </a:rPr>
              <a:t>数周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19" y="4569345"/>
            <a:ext cx="1051533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避免项目返工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19" y="4797940"/>
            <a:ext cx="1402044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减少错误方向投入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8977" y="5397365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8977" y="5625324"/>
            <a:ext cx="1898602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一个正确的关键判断，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977" y="5853918"/>
            <a:ext cx="3037764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299" b="1">
                <a:solidFill>
                  <a:srgbClr val="C62828"/>
                </a:solidFill>
                <a:latin typeface="Microsoft YaHei"/>
              </a:rPr>
              <a:t>大幅减少在错误方向上的资源投入。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800079"/>
            <a:ext cx="438139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把复杂场景压缩成稳定的判断框架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140431"/>
            <a:ext cx="4206134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从「凭感觉」转向「靠变量、证据、反馈做理性判断」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88977" y="1777955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8977" y="2029409"/>
            <a:ext cx="560817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人脑的认知处理能力存在明确上限，无法承载所有细碎的业务场景细节。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2270703"/>
            <a:ext cx="5664261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判断模型是信息压缩机制 —— 面对复杂任务，可直接调用以下极简框架：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2971" y="2857428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71" y="2857428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6965" y="2927276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8450" y="2992045"/>
            <a:ext cx="457200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6965" y="3405419"/>
            <a:ext cx="963905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目标是什么？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90895" y="3301917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4413139" y="3238419"/>
            <a:ext cx="126997" cy="126996"/>
          </a:xfrm>
          <a:custGeom>
            <a:avLst/>
            <a:gdLst/>
            <a:ahLst/>
            <a:cxnLst/>
            <a:rect l="l" t="t" r="r" b="b"/>
            <a:pathLst>
              <a:path w="126997" h="126996">
                <a:moveTo>
                  <a:pt x="0" y="0"/>
                </a:moveTo>
                <a:lnTo>
                  <a:pt x="126997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1885" y="2857428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1885" y="2857428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5879" y="2927276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7365" y="2992045"/>
            <a:ext cx="457200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5879" y="3405419"/>
            <a:ext cx="128520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当前约束是什么？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9809" y="3301917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842053" y="3238419"/>
            <a:ext cx="126997" cy="126996"/>
          </a:xfrm>
          <a:custGeom>
            <a:avLst/>
            <a:gdLst/>
            <a:ahLst/>
            <a:cxnLst/>
            <a:rect l="l" t="t" r="r" b="b"/>
            <a:pathLst>
              <a:path w="126997" h="126996">
                <a:moveTo>
                  <a:pt x="0" y="0"/>
                </a:moveTo>
                <a:lnTo>
                  <a:pt x="126997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0799" y="2857428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0799" y="2857428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4793" y="2927276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6279" y="2992045"/>
            <a:ext cx="457200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4793" y="3405419"/>
            <a:ext cx="160650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核心影响变量有哪些？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2971" y="4000399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2971" y="4000399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6965" y="4070248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8450" y="4135016"/>
            <a:ext cx="457200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6965" y="4548391"/>
            <a:ext cx="1445858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优先验证哪个变量？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90895" y="4444888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4413139" y="4381390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63498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1885" y="4000399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1885" y="4000399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5879" y="4070248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7365" y="4135016"/>
            <a:ext cx="457200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代价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5879" y="4548391"/>
            <a:ext cx="176716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判断错误的代价是什么？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19809" y="4444888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7842053" y="4381390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63498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00799" y="4000399"/>
            <a:ext cx="304792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0799" y="4000399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4793" y="4070248"/>
            <a:ext cx="457200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C62828"/>
                </a:solidFill>
                <a:latin typeface="Microsoft YaHe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6279" y="4135016"/>
            <a:ext cx="817859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最小验证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4793" y="4548391"/>
            <a:ext cx="160650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最小验证动作是什么？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8977" y="5270368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88977" y="5500232"/>
            <a:ext cx="3831672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0">
                <a:solidFill>
                  <a:srgbClr val="555555"/>
                </a:solidFill>
                <a:latin typeface="Microsoft YaHei"/>
              </a:rPr>
              <a:t>快速缩小问题范围，降低盲目试错成本 ——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977" y="5754226"/>
            <a:ext cx="4207887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决策从</a:t>
            </a:r>
            <a:r>
              <a:rPr sz="1399" b="1">
                <a:solidFill>
                  <a:srgbClr val="999999"/>
                </a:solidFill>
                <a:latin typeface="Microsoft YaHei"/>
              </a:rPr>
              <a:t>「凭感觉」</a:t>
            </a:r>
            <a:r>
              <a:rPr sz="1399" b="1">
                <a:solidFill>
                  <a:srgbClr val="333333"/>
                </a:solidFill>
                <a:latin typeface="Microsoft YaHei"/>
              </a:rPr>
              <a:t>→</a:t>
            </a:r>
            <a:r>
              <a:rPr sz="1399" b="1">
                <a:solidFill>
                  <a:srgbClr val="C62828"/>
                </a:solidFill>
                <a:latin typeface="Microsoft YaHei"/>
              </a:rPr>
              <a:t>「靠变量、证据、反馈」</a:t>
            </a:r>
            <a:r>
              <a:rPr sz="1399" b="1">
                <a:solidFill>
                  <a:srgbClr val="333333"/>
                </a:solidFill>
                <a:latin typeface="Microsoft YaHei"/>
              </a:rPr>
              <a:t>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800079"/>
            <a:ext cx="5181724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四步框架（上）：复盘解构 + 提炼变量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140431"/>
            <a:ext cx="438139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从「谁没做好」转向机制，从「记住操作」转向通用逻辑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777955"/>
            <a:ext cx="5079873" cy="3682907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971" y="1813514"/>
            <a:ext cx="457200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3199" b="1">
                <a:solidFill>
                  <a:srgbClr val="C62828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7955" y="1964640"/>
            <a:ext cx="1051533" cy="365750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799" b="1">
                <a:solidFill>
                  <a:srgbClr val="333333"/>
                </a:solidFill>
                <a:latin typeface="Microsoft YaHei"/>
              </a:rPr>
              <a:t>复盘解构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2971" y="2349441"/>
            <a:ext cx="4571886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2971" y="2537396"/>
            <a:ext cx="350511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跳出表层行动提醒（如「下次盯紧进度」），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778690"/>
            <a:ext cx="210306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追问前置判断的底层逻辑。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183175"/>
            <a:ext cx="143454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CASE · 项目延期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437169"/>
            <a:ext cx="2409764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根源：缺少统一的单一事实来源。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971" y="3665763"/>
            <a:ext cx="48195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梳理：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9968" y="3894357"/>
            <a:ext cx="115026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信息产生链路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9968" y="4122951"/>
            <a:ext cx="98961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维护责任人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9968" y="4351546"/>
            <a:ext cx="115026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版本生效规则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9968" y="4580140"/>
            <a:ext cx="115026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冲突判定标准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9968" y="4808734"/>
            <a:ext cx="82895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同步机制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71" y="5138926"/>
            <a:ext cx="227481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从「谁没做好」→ 梳理核心机制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2844" y="1777955"/>
            <a:ext cx="5079873" cy="3682907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6838" y="1813514"/>
            <a:ext cx="457200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3199" b="1">
                <a:solidFill>
                  <a:srgbClr val="C62828"/>
                </a:solidFill>
                <a:latin typeface="Microsoft YaHei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1822" y="1964640"/>
            <a:ext cx="1051533" cy="365750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799" b="1">
                <a:solidFill>
                  <a:srgbClr val="333333"/>
                </a:solidFill>
                <a:latin typeface="Microsoft YaHei"/>
              </a:rPr>
              <a:t>提炼变量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76838" y="2349441"/>
            <a:ext cx="4571885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76838" y="2537396"/>
            <a:ext cx="28040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跳出「记住具体操作动作」的局限，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2778690"/>
            <a:ext cx="210306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追问动作生效的核心原因。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838" y="3183175"/>
            <a:ext cx="143454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CASE · 故障排查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3834" y="3437169"/>
            <a:ext cx="176716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先确认问题是否稳定复现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3834" y="3665763"/>
            <a:ext cx="147156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→ 区分问题所属维度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3834" y="3894357"/>
            <a:ext cx="230052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  （环境/链路/设备/配置/操作）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3834" y="4122951"/>
            <a:ext cx="227481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→ 优先验证低成本高区分度假设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4453143"/>
            <a:ext cx="2301296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CASE · 项目延期（六变量）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3834" y="4707137"/>
            <a:ext cx="2647528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目标清晰度 · 完成标准 · 依赖关系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3834" y="4935731"/>
            <a:ext cx="2647528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责任边界 · 信息同步 · 决策及时性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5202424"/>
            <a:ext cx="1953515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从「记住操作」→ 通用逻辑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8977" y="5651358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93802" y="5839314"/>
            <a:ext cx="28040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199" b="0">
                <a:solidFill>
                  <a:srgbClr val="555555"/>
                </a:solidFill>
                <a:latin typeface="Microsoft YaHei"/>
              </a:rPr>
              <a:t>共同点：把</a:t>
            </a:r>
            <a:r>
              <a:rPr sz="1199" b="1">
                <a:solidFill>
                  <a:srgbClr val="333333"/>
                </a:solidFill>
                <a:latin typeface="Microsoft YaHei"/>
              </a:rPr>
              <a:t>表层信息</a:t>
            </a:r>
            <a:r>
              <a:rPr sz="1199" b="0">
                <a:solidFill>
                  <a:srgbClr val="555555"/>
                </a:solidFill>
                <a:latin typeface="Microsoft YaHei"/>
              </a:rPr>
              <a:t>抽象为</a:t>
            </a:r>
            <a:r>
              <a:rPr sz="1199" b="1">
                <a:solidFill>
                  <a:srgbClr val="C62828"/>
                </a:solidFill>
                <a:latin typeface="Microsoft YaHei"/>
              </a:rPr>
              <a:t>底层结构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8977" y="761980"/>
            <a:ext cx="25399" cy="40638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1373" y="800079"/>
            <a:ext cx="5181724" cy="406389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999" b="1">
                <a:solidFill>
                  <a:srgbClr val="333333"/>
                </a:solidFill>
                <a:latin typeface="Microsoft YaHei"/>
              </a:rPr>
              <a:t>四步框架（下）：显性沉淀 + 验证迭代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140431"/>
            <a:ext cx="3284290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用 6 模块文档固化，用三层校验确认边界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496022"/>
            <a:ext cx="457200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3199" b="1">
                <a:solidFill>
                  <a:srgbClr val="C62828"/>
                </a:solidFill>
                <a:latin typeface="Microsoft YaHei"/>
              </a:rPr>
              <a:t>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958" y="1668738"/>
            <a:ext cx="934696" cy="325111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显性沉淀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373" y="2061158"/>
            <a:ext cx="245357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避免认知结论随时间模糊流失，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373" y="2289752"/>
            <a:ext cx="2278323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通过文档将模型结构化记录。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373" y="2579940"/>
            <a:ext cx="2233048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999999"/>
                </a:solidFill>
                <a:latin typeface="Microsoft YaHei"/>
              </a:rPr>
              <a:t>→ 一份标准文档覆盖 6 个模块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1373" y="3111422"/>
            <a:ext cx="403850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1373" y="3210479"/>
            <a:ext cx="457200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3199" b="1">
                <a:solidFill>
                  <a:srgbClr val="C62828"/>
                </a:solidFill>
                <a:latin typeface="Microsoft YaHe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958" y="3383195"/>
            <a:ext cx="934696" cy="325111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验证迭代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373" y="3775615"/>
            <a:ext cx="2103067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先在同类场景验证稳定性，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373" y="4004209"/>
            <a:ext cx="1927811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再逐步探索跨领域迁移。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1373" y="4508387"/>
            <a:ext cx="4038500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1373" y="4812544"/>
            <a:ext cx="759441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299" b="1">
                <a:solidFill>
                  <a:srgbClr val="333333"/>
                </a:solidFill>
                <a:latin typeface="Microsoft YaHei"/>
              </a:rPr>
              <a:t>核心前提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373" y="5102732"/>
            <a:ext cx="1927811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模型无需追求绝对通用，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373" y="5331326"/>
            <a:ext cx="1927811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>
                <a:solidFill>
                  <a:srgbClr val="C62828"/>
                </a:solidFill>
                <a:latin typeface="Microsoft YaHei"/>
              </a:rPr>
              <a:t>明确适用边界才是关键。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857" y="1584920"/>
            <a:ext cx="3500235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 spc="300">
                <a:solidFill>
                  <a:srgbClr val="999999"/>
                </a:solidFill>
                <a:latin typeface="Microsoft YaHei"/>
              </a:rPr>
              <a:t>DOCUMENT TEMPLATE · 6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4857" y="1841453"/>
            <a:ext cx="5587860" cy="38099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5352" y="1976705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FFFFFF"/>
                </a:solidFill>
                <a:latin typeface="Microsoft YaHei"/>
              </a:rPr>
              <a:t>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828" y="1976705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FFFFFF"/>
                </a:solidFill>
                <a:latin typeface="Microsoft YaHei"/>
              </a:rPr>
              <a:t>记录内容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4857" y="2222444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5352" y="2344996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适用场景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828" y="2344996"/>
            <a:ext cx="160650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该模型适配的问题类型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4857" y="2603434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5352" y="2725986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关键变量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828" y="2725986"/>
            <a:ext cx="176716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直接影响结果的核心因素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4857" y="2984425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5352" y="3106977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判断顺序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7828" y="3106977"/>
            <a:ext cx="1606509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分析问题的先后优先级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4857" y="3365415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5352" y="3487967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常见误判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7828" y="3487967"/>
            <a:ext cx="176716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过往高频出错的判断盲区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4857" y="3746406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5352" y="3868958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最小验证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7828" y="3868958"/>
            <a:ext cx="192781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遇到问题的第一步落地动作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4857" y="4127396"/>
            <a:ext cx="5587860" cy="380990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5352" y="4249948"/>
            <a:ext cx="642603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校准记录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828" y="4249948"/>
            <a:ext cx="1927811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每次使用后的效果修正记录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14857" y="4730631"/>
            <a:ext cx="558786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14857" y="4886837"/>
            <a:ext cx="3138142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1" spc="300">
                <a:solidFill>
                  <a:srgbClr val="999999"/>
                </a:solidFill>
                <a:latin typeface="Microsoft YaHei"/>
              </a:rPr>
              <a:t>MIGRATION CHECK · 3 LAYERS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4857" y="5202424"/>
            <a:ext cx="128520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迁移时三层校验：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1853" y="5494517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2349" y="5494517"/>
            <a:ext cx="128520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能否解释当前问题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7796" y="5494517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8292" y="5494517"/>
            <a:ext cx="1285207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能否指导具体动作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9746" y="5494517"/>
            <a:ext cx="457200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0241" y="5494517"/>
            <a:ext cx="963905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结果是否改善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32349" y="5841853"/>
            <a:ext cx="1396965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18292" y="5841853"/>
            <a:ext cx="1396965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350241" y="5841853"/>
            <a:ext cx="952476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0990" y="1269968"/>
            <a:ext cx="0" cy="4317892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88977" y="1140431"/>
            <a:ext cx="2466989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 spc="300">
                <a:solidFill>
                  <a:srgbClr val="999999"/>
                </a:solidFill>
                <a:latin typeface="Microsoft YaHei"/>
              </a:rPr>
              <a:t>KEY INSIGHT · 关键洞察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108" y="1922731"/>
            <a:ext cx="2841477" cy="325111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599" b="0">
                <a:solidFill>
                  <a:srgbClr val="555555"/>
                </a:solidFill>
                <a:latin typeface="Microsoft YaHei"/>
              </a:rPr>
              <a:t>判断模型完全不排斥经验——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5431" y="2763450"/>
            <a:ext cx="5140831" cy="894057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4399" b="1">
                <a:solidFill>
                  <a:srgbClr val="333333"/>
                </a:solidFill>
                <a:latin typeface="Microsoft YaHei"/>
              </a:rPr>
              <a:t>经验锚定已知场景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2827" y="3461933"/>
            <a:ext cx="6426039" cy="894057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4399" b="1">
                <a:solidFill>
                  <a:srgbClr val="C62828"/>
                </a:solidFill>
                <a:latin typeface="Microsoft YaHei"/>
              </a:rPr>
              <a:t>判断模型让你应对未知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52876" y="4571885"/>
            <a:ext cx="2285943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57896" y="4865248"/>
            <a:ext cx="3475903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399" b="0">
                <a:solidFill>
                  <a:srgbClr val="555555"/>
                </a:solidFill>
                <a:latin typeface="Microsoft YaHei"/>
              </a:rPr>
              <a:t>长期成长的核心资产，不是经历堆砌，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6825" y="5131941"/>
            <a:ext cx="2658043" cy="28447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399" b="0">
                <a:solidFill>
                  <a:srgbClr val="555555"/>
                </a:solidFill>
                <a:latin typeface="Microsoft YaHei"/>
              </a:rPr>
              <a:t>而是</a:t>
            </a:r>
            <a:r>
              <a:rPr sz="1399" b="1">
                <a:solidFill>
                  <a:srgbClr val="333333"/>
                </a:solidFill>
                <a:latin typeface="Microsoft YaHei"/>
              </a:rPr>
              <a:t>可反复调用的判断结构</a:t>
            </a:r>
            <a:r>
              <a:rPr sz="1399" b="0">
                <a:solidFill>
                  <a:srgbClr val="555555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5820" y="5723111"/>
            <a:ext cx="2580054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099" b="0">
                <a:solidFill>
                  <a:srgbClr val="999999"/>
                </a:solidFill>
                <a:latin typeface="Microsoft YaHei"/>
              </a:rPr>
              <a:t>经验 = 原料　·　判断模型 = 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88977" y="1269968"/>
            <a:ext cx="634984" cy="0"/>
          </a:xfrm>
          <a:prstGeom prst="line">
            <a:avLst/>
          </a:prstGeom>
          <a:ln w="1142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88977" y="1457923"/>
            <a:ext cx="1984198" cy="24383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199" b="0" spc="300">
                <a:solidFill>
                  <a:srgbClr val="999999"/>
                </a:solidFill>
                <a:latin typeface="Microsoft YaHei"/>
              </a:rPr>
              <a:t>CLOSING · 行动召唤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27476" y="2258003"/>
            <a:ext cx="2336741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3199" b="1">
                <a:solidFill>
                  <a:srgbClr val="333333"/>
                </a:solidFill>
                <a:latin typeface="Microsoft YaHei"/>
              </a:rPr>
              <a:t>从经验堆砌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7476" y="2829489"/>
            <a:ext cx="2336741" cy="65022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3199" b="1">
                <a:solidFill>
                  <a:srgbClr val="C62828"/>
                </a:solidFill>
                <a:latin typeface="Microsoft YaHei"/>
              </a:rPr>
              <a:t>到判断复利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52876" y="3555911"/>
            <a:ext cx="2285943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41476" y="3733071"/>
            <a:ext cx="1708742" cy="264153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299" b="0">
                <a:solidFill>
                  <a:srgbClr val="999999"/>
                </a:solidFill>
                <a:latin typeface="Microsoft YaHei"/>
              </a:rPr>
              <a:t>一次明确的资产转型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6231" y="4473463"/>
            <a:ext cx="3759233" cy="304792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1499" b="0">
                <a:solidFill>
                  <a:srgbClr val="555555"/>
                </a:solidFill>
                <a:latin typeface="Microsoft YaHei"/>
              </a:rPr>
              <a:t>起点：今天复盘一件事时，多问一句——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6733" y="4969385"/>
            <a:ext cx="4498227" cy="447028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ctr"/>
            <a:r>
              <a:rPr sz="2199" b="1">
                <a:solidFill>
                  <a:srgbClr val="333333"/>
                </a:solidFill>
                <a:latin typeface="Microsoft YaHei"/>
              </a:rPr>
              <a:t>这件事背后的</a:t>
            </a:r>
            <a:r>
              <a:rPr sz="2199" b="1">
                <a:solidFill>
                  <a:srgbClr val="C62828"/>
                </a:solidFill>
                <a:latin typeface="Microsoft YaHei"/>
              </a:rPr>
              <a:t>判断模型</a:t>
            </a:r>
            <a:r>
              <a:rPr sz="2199" b="1">
                <a:solidFill>
                  <a:srgbClr val="333333"/>
                </a:solidFill>
                <a:latin typeface="Microsoft YaHei"/>
              </a:rPr>
              <a:t>是什么？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8977" y="6032349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8977" y="6326346"/>
            <a:ext cx="1386805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l"/>
            <a:r>
              <a:rPr sz="1099" b="0" spc="200">
                <a:solidFill>
                  <a:srgbClr val="999999"/>
                </a:solidFill>
                <a:latin typeface="Microsoft YaHei"/>
              </a:rPr>
              <a:t>职场能力跃升指南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6480" y="6326346"/>
            <a:ext cx="652242" cy="223514"/>
          </a:xfrm>
          <a:prstGeom prst="rect">
            <a:avLst/>
          </a:prstGeom>
          <a:noFill/>
          <a:effectLst/>
        </p:spPr>
        <p:txBody>
          <a:bodyPr wrap="none" lIns="0" rIns="0" tIns="0" bIns="0"/>
          <a:lstStyle/>
          <a:p>
            <a:pPr algn="r"/>
            <a:r>
              <a:rPr sz="1099" b="0">
                <a:solidFill>
                  <a:srgbClr val="999999"/>
                </a:solidFill>
                <a:latin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
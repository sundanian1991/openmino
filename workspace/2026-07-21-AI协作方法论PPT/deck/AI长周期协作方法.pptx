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46806" y="1650958"/>
            <a:ext cx="3555911" cy="3555911"/>
          </a:xfrm>
          <a:prstGeom prst="ellipse">
            <a:avLst/>
          </a:prstGeom>
          <a:noFill/>
          <a:ln w="1142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127796" y="2031949"/>
            <a:ext cx="2793930" cy="2793930"/>
          </a:xfrm>
          <a:prstGeom prst="ellipse">
            <a:avLst/>
          </a:prstGeom>
          <a:noFill/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8787" y="2412939"/>
            <a:ext cx="2031949" cy="2031949"/>
          </a:xfrm>
          <a:prstGeom prst="ellipse">
            <a:avLst/>
          </a:prstGeom>
          <a:noFill/>
          <a:ln w="380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48563" y="1574760"/>
            <a:ext cx="152396" cy="152396"/>
          </a:xfrm>
          <a:prstGeom prst="ellipse">
            <a:avLst/>
          </a:prstGeom>
          <a:solidFill>
            <a:srgbClr val="C6282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12222" y="2603434"/>
            <a:ext cx="126996" cy="126996"/>
          </a:xfrm>
          <a:prstGeom prst="ellipse">
            <a:avLst/>
          </a:prstGeom>
          <a:solidFill>
            <a:srgbClr val="C6282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112222" y="4127396"/>
            <a:ext cx="126996" cy="126996"/>
          </a:xfrm>
          <a:prstGeom prst="ellipse">
            <a:avLst/>
          </a:prstGeom>
          <a:solidFill>
            <a:srgbClr val="C6282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48563" y="5130671"/>
            <a:ext cx="152396" cy="152396"/>
          </a:xfrm>
          <a:prstGeom prst="ellipse">
            <a:avLst/>
          </a:prstGeom>
          <a:solidFill>
            <a:srgbClr val="C6282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810304" y="4127396"/>
            <a:ext cx="126996" cy="126996"/>
          </a:xfrm>
          <a:prstGeom prst="ellipse">
            <a:avLst/>
          </a:prstGeom>
          <a:solidFill>
            <a:srgbClr val="C6282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10304" y="2603434"/>
            <a:ext cx="126996" cy="126996"/>
          </a:xfrm>
          <a:prstGeom prst="ellipse">
            <a:avLst/>
          </a:prstGeom>
          <a:solidFill>
            <a:srgbClr val="C6282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888977" y="761980"/>
            <a:ext cx="634984" cy="0"/>
          </a:xfrm>
          <a:prstGeom prst="line">
            <a:avLst/>
          </a:prstGeom>
          <a:ln w="1142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8977" y="960730"/>
            <a:ext cx="527467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 spc="300">
                <a:solidFill>
                  <a:srgbClr val="999999"/>
                </a:solidFill>
                <a:latin typeface="Microsoft YaHei"/>
              </a:rPr>
              <a:t>A METHODOLOGY FOR LONG-HORIZON AI COLLABORATION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977" y="2425639"/>
            <a:ext cx="3937409" cy="812779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3999" b="1">
                <a:solidFill>
                  <a:srgbClr val="333333"/>
                </a:solidFill>
                <a:latin typeface="Microsoft YaHei"/>
              </a:rPr>
              <a:t>AI 长周期任务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977" y="3047923"/>
            <a:ext cx="2920926" cy="812779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3999" b="1">
                <a:solidFill>
                  <a:srgbClr val="333333"/>
                </a:solidFill>
                <a:latin typeface="Microsoft YaHei"/>
              </a:rPr>
              <a:t>协作方法论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977" y="3782600"/>
            <a:ext cx="2774880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0">
                <a:solidFill>
                  <a:srgbClr val="555555"/>
                </a:solidFill>
                <a:latin typeface="Microsoft YaHei"/>
              </a:rPr>
              <a:t>从实验验证到实操框架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977" y="4685547"/>
            <a:ext cx="2658043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0">
                <a:solidFill>
                  <a:srgbClr val="555555"/>
                </a:solidFill>
                <a:latin typeface="Microsoft YaHei"/>
              </a:rPr>
              <a:t>真正的问题不是</a:t>
            </a:r>
            <a:r>
              <a:rPr sz="1299" b="0">
                <a:solidFill>
                  <a:srgbClr val="999999"/>
                </a:solidFill>
                <a:latin typeface="Microsoft YaHei"/>
              </a:rPr>
              <a:t>「能跑多久」</a:t>
            </a:r>
            <a:r>
              <a:rPr sz="1299" b="0">
                <a:solidFill>
                  <a:srgbClr val="555555"/>
                </a:solidFill>
                <a:latin typeface="Microsoft YaHei"/>
              </a:rPr>
              <a:t>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977" y="4971290"/>
            <a:ext cx="2278323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0">
                <a:solidFill>
                  <a:srgbClr val="555555"/>
                </a:solidFill>
                <a:latin typeface="Microsoft YaHei"/>
              </a:rPr>
              <a:t>而是</a:t>
            </a:r>
            <a:r>
              <a:rPr sz="1299" b="1">
                <a:solidFill>
                  <a:srgbClr val="C62828"/>
                </a:solidFill>
                <a:latin typeface="Microsoft YaHei"/>
              </a:rPr>
              <a:t>「怎么让它不跑偏」</a:t>
            </a:r>
            <a:r>
              <a:rPr sz="1299" b="0">
                <a:solidFill>
                  <a:srgbClr val="555555"/>
                </a:solidFill>
                <a:latin typeface="Microsoft YaHei"/>
              </a:rPr>
              <a:t>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8977" y="6159346"/>
            <a:ext cx="10159746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8977" y="6337141"/>
            <a:ext cx="371834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OpenAI 内部实践 · Derrick Choi × Gabriel Chua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6865054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25 小时连续运行，从空仓库构建真实可测试的设计工具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455606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Derrick Choi · GPT-5.3-Codex · Extra High 推理级别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977" y="1841453"/>
            <a:ext cx="2539936" cy="1523961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8977" y="1841453"/>
            <a:ext cx="38099" cy="1523961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9056" y="2085287"/>
            <a:ext cx="1219779" cy="975335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4799" b="1">
                <a:solidFill>
                  <a:srgbClr val="C62828"/>
                </a:solidFill>
                <a:latin typeface="Microsoft YaHei"/>
              </a:rPr>
              <a:t>25h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993" y="2897432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0">
                <a:solidFill>
                  <a:srgbClr val="555555"/>
                </a:solidFill>
                <a:latin typeface="Microsoft YaHei"/>
              </a:rPr>
              <a:t>连续运行时间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5911" y="1841453"/>
            <a:ext cx="2539936" cy="1523961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55911" y="1841453"/>
            <a:ext cx="38099" cy="1523961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15989" y="2085287"/>
            <a:ext cx="1219779" cy="975335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4799" b="1">
                <a:solidFill>
                  <a:srgbClr val="C62828"/>
                </a:solidFill>
                <a:latin typeface="Microsoft YaHei"/>
              </a:rPr>
              <a:t>13M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9106" y="2897432"/>
            <a:ext cx="97354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0">
                <a:solidFill>
                  <a:srgbClr val="555555"/>
                </a:solidFill>
                <a:latin typeface="Microsoft YaHei"/>
              </a:rPr>
              <a:t>消耗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844" y="1841453"/>
            <a:ext cx="2539936" cy="1523961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2844" y="1841453"/>
            <a:ext cx="38099" cy="1523961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82923" y="2085287"/>
            <a:ext cx="1219779" cy="975335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4799" b="1">
                <a:solidFill>
                  <a:srgbClr val="C62828"/>
                </a:solidFill>
                <a:latin typeface="Microsoft YaHei"/>
              </a:rPr>
              <a:t>30k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859" y="2897432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0">
                <a:solidFill>
                  <a:srgbClr val="555555"/>
                </a:solidFill>
                <a:latin typeface="Microsoft YaHei"/>
              </a:rPr>
              <a:t>生成代码行数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9777" y="1841453"/>
            <a:ext cx="2412939" cy="1523961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89777" y="1841453"/>
            <a:ext cx="38099" cy="1523961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89654" y="2085287"/>
            <a:ext cx="813186" cy="975335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4799" b="1">
                <a:solidFill>
                  <a:srgbClr val="C62828"/>
                </a:solidFill>
                <a:latin typeface="Microsoft YaHe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4294" y="2897432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0">
                <a:solidFill>
                  <a:srgbClr val="555555"/>
                </a:solidFill>
                <a:latin typeface="Microsoft YaHei"/>
              </a:rPr>
              <a:t>核心功能模块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8977" y="3809904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8977" y="4061358"/>
            <a:ext cx="2467040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 spc="200">
                <a:solidFill>
                  <a:srgbClr val="C62828"/>
                </a:solidFill>
                <a:latin typeface="Microsoft YaHei"/>
              </a:rPr>
              <a:t>CORE FINDING · 核心发现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977" y="4473463"/>
            <a:ext cx="3724181" cy="304792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499" b="1">
                <a:solidFill>
                  <a:srgbClr val="333333"/>
                </a:solidFill>
                <a:latin typeface="Microsoft YaHei"/>
              </a:rPr>
              <a:t>这不是「模型变聪明了」的简单升级。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977" y="4939541"/>
            <a:ext cx="4268058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0">
                <a:solidFill>
                  <a:srgbClr val="555555"/>
                </a:solidFill>
                <a:latin typeface="Microsoft YaHei"/>
              </a:rPr>
              <a:t>真正的变化是：Agent 能保持更长时间的连贯性，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977" y="5218934"/>
            <a:ext cx="2278323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0">
                <a:solidFill>
                  <a:srgbClr val="555555"/>
                </a:solidFill>
                <a:latin typeface="Microsoft YaHei"/>
              </a:rPr>
              <a:t>端到端完成更大的工作块，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977" y="5498327"/>
            <a:ext cx="3037764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0">
                <a:solidFill>
                  <a:srgbClr val="555555"/>
                </a:solidFill>
                <a:latin typeface="Microsoft YaHei"/>
              </a:rPr>
              <a:t>并且在</a:t>
            </a:r>
            <a:r>
              <a:rPr sz="1299" b="1">
                <a:solidFill>
                  <a:srgbClr val="C62828"/>
                </a:solidFill>
                <a:latin typeface="Microsoft YaHei"/>
              </a:rPr>
              <a:t>出错时能恢复而不丢失主线</a:t>
            </a:r>
            <a:r>
              <a:rPr sz="1299" b="0">
                <a:solidFill>
                  <a:srgbClr val="555555"/>
                </a:solidFill>
                <a:latin typeface="Microsoft YaHei"/>
              </a:rPr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5827249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真实案例：用这套方法论构建出「语音工作站」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350219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桌面端语音工具 · 围绕练 / 写 / 记 三大能力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977" y="1841453"/>
            <a:ext cx="3301917" cy="31749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8977" y="1841453"/>
            <a:ext cx="3301917" cy="634984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8977" y="2222444"/>
            <a:ext cx="3301917" cy="253993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2971" y="1963370"/>
            <a:ext cx="457200" cy="487667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2399" b="1">
                <a:solidFill>
                  <a:srgbClr val="FFFFFF"/>
                </a:solidFill>
                <a:latin typeface="Microsoft YaHei"/>
              </a:rPr>
              <a:t>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0958" y="2092907"/>
            <a:ext cx="1079574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FFFFFF"/>
                </a:solidFill>
                <a:latin typeface="Microsoft YaHei"/>
              </a:rPr>
              <a:t>8 种场景训练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71" y="2738686"/>
            <a:ext cx="156474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自由训练 · 材料讲解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3043478"/>
            <a:ext cx="156474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汇报演练 · 话题展开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3348271"/>
            <a:ext cx="156474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会议发言 · 沟通说服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2971" y="3653063"/>
            <a:ext cx="156474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面试模拟 · 即兴表达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42971" y="4063898"/>
            <a:ext cx="279393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2971" y="4273443"/>
            <a:ext cx="102232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场景化表达训练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2971" y="4527436"/>
            <a:ext cx="102232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从即兴到结构化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4888" y="1841453"/>
            <a:ext cx="3301917" cy="31749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44888" y="1841453"/>
            <a:ext cx="3301917" cy="634984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44888" y="2222444"/>
            <a:ext cx="3301917" cy="253993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98882" y="1963370"/>
            <a:ext cx="457200" cy="487667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2399" b="1">
                <a:solidFill>
                  <a:srgbClr val="FFFFFF"/>
                </a:solidFill>
                <a:latin typeface="Microsoft YaHei"/>
              </a:rPr>
              <a:t>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6869" y="2092907"/>
            <a:ext cx="1079574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FFFFFF"/>
                </a:solidFill>
                <a:latin typeface="Microsoft YaHei"/>
              </a:rPr>
              <a:t>5 种成文类型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8882" y="2738686"/>
            <a:ext cx="128520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报告：结构化分析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8882" y="3043478"/>
            <a:ext cx="200492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方案：目标 + 路径 + 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8882" y="3348271"/>
            <a:ext cx="128520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邮件：可直接发送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8882" y="3653063"/>
            <a:ext cx="108278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汇报稿 · 日志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98882" y="4063898"/>
            <a:ext cx="279393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98882" y="4273443"/>
            <a:ext cx="113039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口述 → 确认转写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8882" y="4527436"/>
            <a:ext cx="1299812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→ AI 生成正式文档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0799" y="1841453"/>
            <a:ext cx="3301917" cy="31749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00799" y="1841453"/>
            <a:ext cx="3301917" cy="634984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00799" y="2222444"/>
            <a:ext cx="3301917" cy="253993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54793" y="1963370"/>
            <a:ext cx="457200" cy="487667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2399" b="1">
                <a:solidFill>
                  <a:srgbClr val="FFFFFF"/>
                </a:solidFill>
                <a:latin typeface="Microsoft YaHei"/>
              </a:rPr>
              <a:t>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2780" y="2092907"/>
            <a:ext cx="701022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FFFFFF"/>
                </a:solidFill>
                <a:latin typeface="Microsoft YaHei"/>
              </a:rPr>
              <a:t>会议纪要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4793" y="2738686"/>
            <a:ext cx="156474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议题拆分 · 讨论要点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4793" y="3043478"/>
            <a:ext cx="124343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决议 · 待办事项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4793" y="3348271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未决问题追踪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54793" y="4063898"/>
            <a:ext cx="279393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54793" y="4273443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录制会议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4793" y="4527436"/>
            <a:ext cx="1007719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→ AI 自动提取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8977" y="5270368"/>
            <a:ext cx="10413739" cy="634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42971" y="5416414"/>
            <a:ext cx="2388302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 spc="200">
                <a:solidFill>
                  <a:srgbClr val="C62828"/>
                </a:solidFill>
                <a:latin typeface="Microsoft YaHei"/>
              </a:rPr>
              <a:t>TRAINING OUTPUT · 训练产出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2971" y="5646913"/>
            <a:ext cx="632643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词库分析（填充词/犹豫词/笼统词/情绪词）· 表达力报告 · 逐句改写建议 · 教练观察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6676362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长时间运行的关键不是巨大的 prompt，而是</a:t>
            </a:r>
            <a:r>
              <a:rPr sz="1899" b="1">
                <a:solidFill>
                  <a:srgbClr val="C62828"/>
                </a:solidFill>
                <a:latin typeface="Microsoft YaHei"/>
              </a:rPr>
              <a:t>循环结构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247081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Agent Loop 六步循环（顺时针）</a:t>
            </a:r>
          </a:p>
        </p:txBody>
      </p:sp>
      <p:sp>
        <p:nvSpPr>
          <p:cNvPr id="5" name="Oval 4"/>
          <p:cNvSpPr/>
          <p:nvPr/>
        </p:nvSpPr>
        <p:spPr>
          <a:xfrm>
            <a:off x="4698882" y="2285942"/>
            <a:ext cx="2793930" cy="2793930"/>
          </a:xfrm>
          <a:prstGeom prst="ellipse">
            <a:avLst/>
          </a:prstGeom>
          <a:noFill/>
          <a:ln w="1142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698882" y="2285942"/>
            <a:ext cx="2793930" cy="2793930"/>
          </a:xfrm>
          <a:prstGeom prst="ellipse">
            <a:avLst/>
          </a:prstGeom>
          <a:noFill/>
          <a:ln w="3809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87860" y="1777955"/>
            <a:ext cx="1015974" cy="1015974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67247" y="2089097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1">
                <a:solidFill>
                  <a:srgbClr val="C6282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247" y="2270703"/>
            <a:ext cx="457200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247" y="2444688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规划</a:t>
            </a:r>
          </a:p>
        </p:txBody>
      </p:sp>
      <p:sp>
        <p:nvSpPr>
          <p:cNvPr id="11" name="Oval 10"/>
          <p:cNvSpPr/>
          <p:nvPr/>
        </p:nvSpPr>
        <p:spPr>
          <a:xfrm>
            <a:off x="6800679" y="2476438"/>
            <a:ext cx="1015974" cy="1015974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0067" y="2787580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1">
                <a:solidFill>
                  <a:srgbClr val="C6282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0067" y="2969185"/>
            <a:ext cx="457200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0067" y="3143171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编辑</a:t>
            </a:r>
          </a:p>
        </p:txBody>
      </p:sp>
      <p:sp>
        <p:nvSpPr>
          <p:cNvPr id="15" name="Oval 14"/>
          <p:cNvSpPr/>
          <p:nvPr/>
        </p:nvSpPr>
        <p:spPr>
          <a:xfrm>
            <a:off x="6800679" y="3873403"/>
            <a:ext cx="1015974" cy="1015974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0067" y="4146446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1">
                <a:solidFill>
                  <a:srgbClr val="C6282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9368" y="4326146"/>
            <a:ext cx="83859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333333"/>
                </a:solidFill>
                <a:latin typeface="Microsoft YaHei"/>
              </a:rPr>
              <a:t>Run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6574" y="4495687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运行测试</a:t>
            </a:r>
          </a:p>
        </p:txBody>
      </p:sp>
      <p:sp>
        <p:nvSpPr>
          <p:cNvPr id="19" name="Oval 18"/>
          <p:cNvSpPr/>
          <p:nvPr/>
        </p:nvSpPr>
        <p:spPr>
          <a:xfrm>
            <a:off x="5587860" y="4571885"/>
            <a:ext cx="1015974" cy="1015974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67247" y="4844928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1">
                <a:solidFill>
                  <a:srgbClr val="C62828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9726" y="5024629"/>
            <a:ext cx="65224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333333"/>
                </a:solidFill>
                <a:latin typeface="Microsoft YaHei"/>
              </a:rPr>
              <a:t>Observe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247" y="5194170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观察</a:t>
            </a:r>
          </a:p>
        </p:txBody>
      </p:sp>
      <p:sp>
        <p:nvSpPr>
          <p:cNvPr id="23" name="Oval 22"/>
          <p:cNvSpPr/>
          <p:nvPr/>
        </p:nvSpPr>
        <p:spPr>
          <a:xfrm>
            <a:off x="4375040" y="3873403"/>
            <a:ext cx="1015974" cy="1015974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54427" y="4146446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1">
                <a:solidFill>
                  <a:srgbClr val="C62828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8083" y="4315352"/>
            <a:ext cx="609889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Repair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427" y="4495687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修复</a:t>
            </a:r>
          </a:p>
        </p:txBody>
      </p:sp>
      <p:sp>
        <p:nvSpPr>
          <p:cNvPr id="27" name="Oval 26"/>
          <p:cNvSpPr/>
          <p:nvPr/>
        </p:nvSpPr>
        <p:spPr>
          <a:xfrm>
            <a:off x="4375040" y="2476438"/>
            <a:ext cx="1015974" cy="1015974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54427" y="2787580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1">
                <a:solidFill>
                  <a:srgbClr val="C62828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8083" y="2969185"/>
            <a:ext cx="609889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427" y="3143171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更新</a:t>
            </a:r>
          </a:p>
        </p:txBody>
      </p:sp>
      <p:sp>
        <p:nvSpPr>
          <p:cNvPr id="31" name="Freeform 30"/>
          <p:cNvSpPr/>
          <p:nvPr/>
        </p:nvSpPr>
        <p:spPr>
          <a:xfrm>
            <a:off x="6584785" y="2329918"/>
            <a:ext cx="534915" cy="476711"/>
          </a:xfrm>
          <a:custGeom>
            <a:avLst/>
            <a:gdLst/>
            <a:ahLst/>
            <a:cxnLst/>
            <a:rect l="l" t="t" r="r" b="b"/>
            <a:pathLst>
              <a:path w="534915" h="476711">
                <a:moveTo>
                  <a:pt x="0" y="159219"/>
                </a:moveTo>
                <a:lnTo>
                  <a:pt x="98946" y="94566"/>
                </a:lnTo>
                <a:lnTo>
                  <a:pt x="187791" y="46479"/>
                </a:lnTo>
                <a:lnTo>
                  <a:pt x="266535" y="14957"/>
                </a:lnTo>
                <a:lnTo>
                  <a:pt x="335178" y="0"/>
                </a:lnTo>
                <a:lnTo>
                  <a:pt x="393720" y="1610"/>
                </a:lnTo>
                <a:lnTo>
                  <a:pt x="442161" y="19784"/>
                </a:lnTo>
                <a:lnTo>
                  <a:pt x="480501" y="54525"/>
                </a:lnTo>
                <a:lnTo>
                  <a:pt x="508740" y="105831"/>
                </a:lnTo>
                <a:lnTo>
                  <a:pt x="526878" y="173703"/>
                </a:lnTo>
                <a:lnTo>
                  <a:pt x="534915" y="258140"/>
                </a:lnTo>
                <a:lnTo>
                  <a:pt x="532852" y="359143"/>
                </a:lnTo>
                <a:lnTo>
                  <a:pt x="520687" y="476711"/>
                </a:lnTo>
              </a:path>
            </a:pathLst>
          </a:custGeom>
          <a:noFill/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7067373" y="2774880"/>
            <a:ext cx="114297" cy="114297"/>
          </a:xfrm>
          <a:custGeom>
            <a:avLst/>
            <a:gdLst/>
            <a:ahLst/>
            <a:cxnLst/>
            <a:rect l="l" t="t" r="r" b="b"/>
            <a:pathLst>
              <a:path w="114297" h="114297">
                <a:moveTo>
                  <a:pt x="12699" y="0"/>
                </a:moveTo>
                <a:lnTo>
                  <a:pt x="114297" y="95248"/>
                </a:lnTo>
                <a:lnTo>
                  <a:pt x="0" y="114297"/>
                </a:lnTo>
                <a:lnTo>
                  <a:pt x="12699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7569010" y="3479713"/>
            <a:ext cx="349242" cy="406389"/>
          </a:xfrm>
          <a:custGeom>
            <a:avLst/>
            <a:gdLst/>
            <a:ahLst/>
            <a:cxnLst/>
            <a:rect l="l" t="t" r="r" b="b"/>
            <a:pathLst>
              <a:path w="349242" h="406389">
                <a:moveTo>
                  <a:pt x="0" y="0"/>
                </a:moveTo>
                <a:lnTo>
                  <a:pt x="106713" y="33865"/>
                </a:lnTo>
                <a:lnTo>
                  <a:pt x="194023" y="67731"/>
                </a:lnTo>
                <a:lnTo>
                  <a:pt x="261931" y="101597"/>
                </a:lnTo>
                <a:lnTo>
                  <a:pt x="310437" y="135463"/>
                </a:lnTo>
                <a:lnTo>
                  <a:pt x="339540" y="169329"/>
                </a:lnTo>
                <a:lnTo>
                  <a:pt x="349242" y="203194"/>
                </a:lnTo>
                <a:lnTo>
                  <a:pt x="339540" y="237060"/>
                </a:lnTo>
                <a:lnTo>
                  <a:pt x="310437" y="270926"/>
                </a:lnTo>
                <a:lnTo>
                  <a:pt x="261931" y="304792"/>
                </a:lnTo>
                <a:lnTo>
                  <a:pt x="194023" y="338658"/>
                </a:lnTo>
                <a:lnTo>
                  <a:pt x="106713" y="372524"/>
                </a:lnTo>
                <a:lnTo>
                  <a:pt x="0" y="406389"/>
                </a:lnTo>
              </a:path>
            </a:pathLst>
          </a:custGeom>
          <a:noFill/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7530911" y="3860703"/>
            <a:ext cx="120647" cy="95248"/>
          </a:xfrm>
          <a:custGeom>
            <a:avLst/>
            <a:gdLst/>
            <a:ahLst/>
            <a:cxnLst/>
            <a:rect l="l" t="t" r="r" b="b"/>
            <a:pathLst>
              <a:path w="120647" h="95248">
                <a:moveTo>
                  <a:pt x="12700" y="0"/>
                </a:moveTo>
                <a:lnTo>
                  <a:pt x="120647" y="88898"/>
                </a:lnTo>
                <a:lnTo>
                  <a:pt x="0" y="95248"/>
                </a:lnTo>
                <a:lnTo>
                  <a:pt x="1270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6584785" y="4559186"/>
            <a:ext cx="534915" cy="476711"/>
          </a:xfrm>
          <a:custGeom>
            <a:avLst/>
            <a:gdLst/>
            <a:ahLst/>
            <a:cxnLst/>
            <a:rect l="l" t="t" r="r" b="b"/>
            <a:pathLst>
              <a:path w="534915" h="476711">
                <a:moveTo>
                  <a:pt x="520687" y="0"/>
                </a:moveTo>
                <a:lnTo>
                  <a:pt x="532852" y="117568"/>
                </a:lnTo>
                <a:lnTo>
                  <a:pt x="534915" y="218571"/>
                </a:lnTo>
                <a:lnTo>
                  <a:pt x="526878" y="303008"/>
                </a:lnTo>
                <a:lnTo>
                  <a:pt x="508740" y="370880"/>
                </a:lnTo>
                <a:lnTo>
                  <a:pt x="480501" y="422186"/>
                </a:lnTo>
                <a:lnTo>
                  <a:pt x="442161" y="456926"/>
                </a:lnTo>
                <a:lnTo>
                  <a:pt x="393720" y="475101"/>
                </a:lnTo>
                <a:lnTo>
                  <a:pt x="335178" y="476711"/>
                </a:lnTo>
                <a:lnTo>
                  <a:pt x="266535" y="461754"/>
                </a:lnTo>
                <a:lnTo>
                  <a:pt x="187791" y="430232"/>
                </a:lnTo>
                <a:lnTo>
                  <a:pt x="98946" y="382145"/>
                </a:lnTo>
                <a:lnTo>
                  <a:pt x="0" y="317492"/>
                </a:lnTo>
              </a:path>
            </a:pathLst>
          </a:custGeom>
          <a:noFill/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6540336" y="4844928"/>
            <a:ext cx="114297" cy="107948"/>
          </a:xfrm>
          <a:custGeom>
            <a:avLst/>
            <a:gdLst/>
            <a:ahLst/>
            <a:cxnLst/>
            <a:rect l="l" t="t" r="r" b="b"/>
            <a:pathLst>
              <a:path w="114297" h="107948">
                <a:moveTo>
                  <a:pt x="6350" y="0"/>
                </a:moveTo>
                <a:lnTo>
                  <a:pt x="114297" y="101598"/>
                </a:lnTo>
                <a:lnTo>
                  <a:pt x="0" y="107948"/>
                </a:lnTo>
                <a:lnTo>
                  <a:pt x="635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5071994" y="4559186"/>
            <a:ext cx="534915" cy="476711"/>
          </a:xfrm>
          <a:custGeom>
            <a:avLst/>
            <a:gdLst/>
            <a:ahLst/>
            <a:cxnLst/>
            <a:rect l="l" t="t" r="r" b="b"/>
            <a:pathLst>
              <a:path w="534915" h="476711">
                <a:moveTo>
                  <a:pt x="534915" y="317492"/>
                </a:moveTo>
                <a:lnTo>
                  <a:pt x="435969" y="382145"/>
                </a:lnTo>
                <a:lnTo>
                  <a:pt x="347124" y="430232"/>
                </a:lnTo>
                <a:lnTo>
                  <a:pt x="268380" y="461754"/>
                </a:lnTo>
                <a:lnTo>
                  <a:pt x="199737" y="476711"/>
                </a:lnTo>
                <a:lnTo>
                  <a:pt x="141195" y="475101"/>
                </a:lnTo>
                <a:lnTo>
                  <a:pt x="92754" y="456926"/>
                </a:lnTo>
                <a:lnTo>
                  <a:pt x="54414" y="422186"/>
                </a:lnTo>
                <a:lnTo>
                  <a:pt x="26175" y="370880"/>
                </a:lnTo>
                <a:lnTo>
                  <a:pt x="8037" y="303008"/>
                </a:lnTo>
                <a:lnTo>
                  <a:pt x="0" y="218571"/>
                </a:lnTo>
                <a:lnTo>
                  <a:pt x="2064" y="117568"/>
                </a:lnTo>
                <a:lnTo>
                  <a:pt x="14228" y="0"/>
                </a:lnTo>
              </a:path>
            </a:pathLst>
          </a:custGeom>
          <a:noFill/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5010024" y="4527436"/>
            <a:ext cx="120647" cy="107948"/>
          </a:xfrm>
          <a:custGeom>
            <a:avLst/>
            <a:gdLst/>
            <a:ahLst/>
            <a:cxnLst/>
            <a:rect l="l" t="t" r="r" b="b"/>
            <a:pathLst>
              <a:path w="120647" h="107948">
                <a:moveTo>
                  <a:pt x="107948" y="0"/>
                </a:moveTo>
                <a:lnTo>
                  <a:pt x="0" y="95248"/>
                </a:lnTo>
                <a:lnTo>
                  <a:pt x="120647" y="107948"/>
                </a:lnTo>
                <a:lnTo>
                  <a:pt x="107948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reeform 38"/>
          <p:cNvSpPr/>
          <p:nvPr/>
        </p:nvSpPr>
        <p:spPr>
          <a:xfrm>
            <a:off x="4273443" y="3479713"/>
            <a:ext cx="349241" cy="406389"/>
          </a:xfrm>
          <a:custGeom>
            <a:avLst/>
            <a:gdLst/>
            <a:ahLst/>
            <a:cxnLst/>
            <a:rect l="l" t="t" r="r" b="b"/>
            <a:pathLst>
              <a:path w="349241" h="406389">
                <a:moveTo>
                  <a:pt x="349241" y="406389"/>
                </a:moveTo>
                <a:lnTo>
                  <a:pt x="242528" y="372524"/>
                </a:lnTo>
                <a:lnTo>
                  <a:pt x="155218" y="338658"/>
                </a:lnTo>
                <a:lnTo>
                  <a:pt x="87310" y="304792"/>
                </a:lnTo>
                <a:lnTo>
                  <a:pt x="38804" y="270926"/>
                </a:lnTo>
                <a:lnTo>
                  <a:pt x="9701" y="237060"/>
                </a:lnTo>
                <a:lnTo>
                  <a:pt x="0" y="203194"/>
                </a:lnTo>
                <a:lnTo>
                  <a:pt x="9701" y="169329"/>
                </a:lnTo>
                <a:lnTo>
                  <a:pt x="38804" y="135463"/>
                </a:lnTo>
                <a:lnTo>
                  <a:pt x="87310" y="101597"/>
                </a:lnTo>
                <a:lnTo>
                  <a:pt x="155218" y="67731"/>
                </a:lnTo>
                <a:lnTo>
                  <a:pt x="242528" y="33865"/>
                </a:lnTo>
                <a:lnTo>
                  <a:pt x="349241" y="0"/>
                </a:lnTo>
              </a:path>
            </a:pathLst>
          </a:custGeom>
          <a:noFill/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4540136" y="3409864"/>
            <a:ext cx="120647" cy="95248"/>
          </a:xfrm>
          <a:custGeom>
            <a:avLst/>
            <a:gdLst/>
            <a:ahLst/>
            <a:cxnLst/>
            <a:rect l="l" t="t" r="r" b="b"/>
            <a:pathLst>
              <a:path w="120647" h="95248">
                <a:moveTo>
                  <a:pt x="107947" y="95248"/>
                </a:moveTo>
                <a:lnTo>
                  <a:pt x="0" y="6350"/>
                </a:lnTo>
                <a:lnTo>
                  <a:pt x="120647" y="0"/>
                </a:lnTo>
                <a:lnTo>
                  <a:pt x="107947" y="95248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reeform 40"/>
          <p:cNvSpPr/>
          <p:nvPr/>
        </p:nvSpPr>
        <p:spPr>
          <a:xfrm>
            <a:off x="5071994" y="2329918"/>
            <a:ext cx="534915" cy="476711"/>
          </a:xfrm>
          <a:custGeom>
            <a:avLst/>
            <a:gdLst/>
            <a:ahLst/>
            <a:cxnLst/>
            <a:rect l="l" t="t" r="r" b="b"/>
            <a:pathLst>
              <a:path w="534915" h="476711">
                <a:moveTo>
                  <a:pt x="14228" y="476711"/>
                </a:moveTo>
                <a:lnTo>
                  <a:pt x="2064" y="359143"/>
                </a:lnTo>
                <a:lnTo>
                  <a:pt x="0" y="258140"/>
                </a:lnTo>
                <a:lnTo>
                  <a:pt x="8037" y="173703"/>
                </a:lnTo>
                <a:lnTo>
                  <a:pt x="26175" y="105831"/>
                </a:lnTo>
                <a:lnTo>
                  <a:pt x="54414" y="54525"/>
                </a:lnTo>
                <a:lnTo>
                  <a:pt x="92754" y="19784"/>
                </a:lnTo>
                <a:lnTo>
                  <a:pt x="141195" y="1610"/>
                </a:lnTo>
                <a:lnTo>
                  <a:pt x="199737" y="0"/>
                </a:lnTo>
                <a:lnTo>
                  <a:pt x="268380" y="14957"/>
                </a:lnTo>
                <a:lnTo>
                  <a:pt x="347124" y="46479"/>
                </a:lnTo>
                <a:lnTo>
                  <a:pt x="435969" y="94566"/>
                </a:lnTo>
                <a:lnTo>
                  <a:pt x="534915" y="159219"/>
                </a:lnTo>
              </a:path>
            </a:pathLst>
          </a:custGeom>
          <a:noFill/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reeform 41"/>
          <p:cNvSpPr/>
          <p:nvPr/>
        </p:nvSpPr>
        <p:spPr>
          <a:xfrm>
            <a:off x="5537061" y="2412939"/>
            <a:ext cx="120647" cy="107947"/>
          </a:xfrm>
          <a:custGeom>
            <a:avLst/>
            <a:gdLst/>
            <a:ahLst/>
            <a:cxnLst/>
            <a:rect l="l" t="t" r="r" b="b"/>
            <a:pathLst>
              <a:path w="120647" h="107947">
                <a:moveTo>
                  <a:pt x="107947" y="107947"/>
                </a:moveTo>
                <a:lnTo>
                  <a:pt x="0" y="6350"/>
                </a:lnTo>
                <a:lnTo>
                  <a:pt x="120647" y="0"/>
                </a:lnTo>
                <a:lnTo>
                  <a:pt x="107947" y="107947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62903" y="3500667"/>
            <a:ext cx="46588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C62828"/>
                </a:solidFill>
                <a:latin typeface="Microsoft YaHei"/>
              </a:rPr>
              <a:t>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7247" y="3703862"/>
            <a:ext cx="45720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C62828"/>
                </a:solidFill>
                <a:latin typeface="Microsoft YaHei"/>
              </a:rPr>
              <a:t>Loop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88977" y="5841853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57478" y="6051398"/>
            <a:ext cx="547673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harness 提供结构化上下文（repo / 文件树 / diffs）+ 强制「完成条件」流程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3418652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循环让 AI 像真人一样工作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三个通俗收益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977" y="1904952"/>
            <a:ext cx="3301917" cy="3555911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8977" y="1904952"/>
            <a:ext cx="3301917" cy="761980"/>
          </a:xfrm>
          <a:prstGeom prst="roundRect">
            <a:avLst>
              <a:gd name="adj" fmla="val 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8977" y="2285942"/>
            <a:ext cx="3301917" cy="38099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2971" y="2082747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 spc="30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324676"/>
            <a:ext cx="1489672" cy="34543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699" b="1">
                <a:solidFill>
                  <a:srgbClr val="FFFFFF"/>
                </a:solidFill>
                <a:latin typeface="Microsoft YaHei"/>
              </a:rPr>
              <a:t>看到真实结果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71" y="2981885"/>
            <a:ext cx="1226789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不是猜哪里错了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3223179"/>
            <a:ext cx="1402044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而是看到实际报错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2971" y="3619409"/>
            <a:ext cx="279393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2971" y="3881657"/>
            <a:ext cx="52005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200">
                <a:solidFill>
                  <a:srgbClr val="C62828"/>
                </a:solidFill>
                <a:latin typeface="Microsoft YaHei"/>
              </a:rPr>
              <a:t>举个例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2971" y="4199150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跑完测试，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71" y="4440443"/>
            <a:ext cx="128520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直接看到哪行错了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4888" y="1904952"/>
            <a:ext cx="3301917" cy="3555911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44888" y="1904952"/>
            <a:ext cx="3301917" cy="761980"/>
          </a:xfrm>
          <a:prstGeom prst="roundRect">
            <a:avLst>
              <a:gd name="adj" fmla="val 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44888" y="2285942"/>
            <a:ext cx="3301917" cy="38099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8882" y="2082747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 spc="30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8882" y="2324676"/>
            <a:ext cx="1241393" cy="34543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699" b="1">
                <a:solidFill>
                  <a:srgbClr val="FFFFFF"/>
                </a:solidFill>
                <a:latin typeface="Microsoft YaHei"/>
              </a:rPr>
              <a:t>状态存得久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8882" y="2981885"/>
            <a:ext cx="1226789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不依赖短期记忆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8882" y="3223179"/>
            <a:ext cx="876278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写在文件里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98882" y="3619409"/>
            <a:ext cx="279393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98882" y="3881657"/>
            <a:ext cx="52005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200">
                <a:solidFill>
                  <a:srgbClr val="C62828"/>
                </a:solidFill>
                <a:latin typeface="Microsoft YaHei"/>
              </a:rPr>
              <a:t>举个例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8882" y="4199150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关掉笔记本，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8882" y="4440443"/>
            <a:ext cx="128520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下次打开进度还在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0799" y="1904952"/>
            <a:ext cx="3301917" cy="3555911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00799" y="1904952"/>
            <a:ext cx="3301917" cy="761980"/>
          </a:xfrm>
          <a:prstGeom prst="roundRect">
            <a:avLst>
              <a:gd name="adj" fmla="val 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0799" y="2285942"/>
            <a:ext cx="3301917" cy="38099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4793" y="2082747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 spc="30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4793" y="2324676"/>
            <a:ext cx="1489672" cy="34543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699" b="1">
                <a:solidFill>
                  <a:srgbClr val="FFFFFF"/>
                </a:solidFill>
                <a:latin typeface="Microsoft YaHei"/>
              </a:rPr>
              <a:t>随时能改方向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4793" y="2981885"/>
            <a:ext cx="876278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发现走错了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4793" y="3223179"/>
            <a:ext cx="1226789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333333"/>
                </a:solidFill>
                <a:latin typeface="Microsoft YaHei"/>
              </a:rPr>
              <a:t>能回头不丢进度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54793" y="3619409"/>
            <a:ext cx="279393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54793" y="3881657"/>
            <a:ext cx="52005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200">
                <a:solidFill>
                  <a:srgbClr val="C62828"/>
                </a:solidFill>
                <a:latin typeface="Microsoft YaHei"/>
              </a:rPr>
              <a:t>举个例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4793" y="4199150"/>
            <a:ext cx="128520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某模块实现错了，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4793" y="4440443"/>
            <a:ext cx="1124556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回滚不影响其他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8977" y="5714857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922239" y="5913607"/>
            <a:ext cx="434721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0">
                <a:solidFill>
                  <a:srgbClr val="555555"/>
                </a:solidFill>
                <a:latin typeface="Microsoft YaHei"/>
              </a:rPr>
              <a:t>这套「循环 + 文件存档」让 AI 比在普通聊天窗口里更靠谱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6792907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AI 人机协作的 5 个习惯，构成长周期任务的完整框架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172539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下面 5 页展开每个习惯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977" y="1968450"/>
            <a:ext cx="2031949" cy="31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87460" y="2222444"/>
            <a:ext cx="634984" cy="6349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76352" y="2416749"/>
            <a:ext cx="457200" cy="447028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199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41" y="3108882"/>
            <a:ext cx="701022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自主规划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6711" y="3324776"/>
            <a:ext cx="1016482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+ GOALS.md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69968" y="3809904"/>
            <a:ext cx="1269968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12859" y="4082947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对话启动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9836" y="4336941"/>
            <a:ext cx="73023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路线图锚定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7923" y="1968450"/>
            <a:ext cx="2031949" cy="31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46406" y="2222444"/>
            <a:ext cx="634984" cy="6349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35298" y="2416749"/>
            <a:ext cx="457200" cy="447028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199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1014" y="3108882"/>
            <a:ext cx="525766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主线程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387" y="3324776"/>
            <a:ext cx="701022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只做协调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28914" y="3809904"/>
            <a:ext cx="1269968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44745" y="4082947"/>
            <a:ext cx="838306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委派 + 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8782" y="4336941"/>
            <a:ext cx="73023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不陷入细节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06869" y="1968450"/>
            <a:ext cx="2031949" cy="31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05352" y="2222444"/>
            <a:ext cx="634984" cy="6349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94244" y="2416749"/>
            <a:ext cx="457200" cy="447028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199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4705" y="3108882"/>
            <a:ext cx="876278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里程碑审计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6251" y="3324776"/>
            <a:ext cx="813186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+ review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87860" y="3809904"/>
            <a:ext cx="1269968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84705" y="4082947"/>
            <a:ext cx="8762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计划还对吗？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1682" y="4336941"/>
            <a:ext cx="102232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代码质量够吗？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5815" y="1968450"/>
            <a:ext cx="2031949" cy="31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064298" y="2222444"/>
            <a:ext cx="634984" cy="6349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53190" y="2416749"/>
            <a:ext cx="457200" cy="447028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199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1279" y="3108882"/>
            <a:ext cx="701022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本机测试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3190" y="3324776"/>
            <a:ext cx="457200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分工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46806" y="3809904"/>
            <a:ext cx="1269968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870628" y="4082947"/>
            <a:ext cx="102232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远程跑绝大多数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3651" y="4336941"/>
            <a:ext cx="8762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本机专属校验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24761" y="1968450"/>
            <a:ext cx="1777955" cy="31749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096247" y="2222444"/>
            <a:ext cx="634984" cy="6349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85139" y="2416749"/>
            <a:ext cx="457200" cy="447028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199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6835" y="3108882"/>
            <a:ext cx="553807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简报 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50856" y="3324776"/>
            <a:ext cx="525766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1">
                <a:solidFill>
                  <a:srgbClr val="333333"/>
                </a:solidFill>
                <a:latin typeface="Microsoft YaHei"/>
              </a:rPr>
              <a:t>仪表盘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78755" y="3809904"/>
            <a:ext cx="1269968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048623" y="4082947"/>
            <a:ext cx="73023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三段式汇报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5600" y="4336941"/>
            <a:ext cx="8762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可视化仪表盘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88977" y="5714857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230689" y="5913607"/>
            <a:ext cx="373031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0">
                <a:solidFill>
                  <a:srgbClr val="555555"/>
                </a:solidFill>
                <a:latin typeface="Microsoft YaHei"/>
              </a:rPr>
              <a:t>下面 5 页（P7-P11）每页展开一个习惯的具体做法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7175841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跳过 /plan 模式，先对话；用 GOALS.md 锚定持久目标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292706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习惯 1 · 让 AI 自主规划并维护路线图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373" y="1849708"/>
            <a:ext cx="112227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CORE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373" y="2177360"/>
            <a:ext cx="2088462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1">
                <a:solidFill>
                  <a:srgbClr val="333333"/>
                </a:solidFill>
                <a:latin typeface="Microsoft YaHei"/>
              </a:rPr>
              <a:t>用对话启动，用文件锚定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41373" y="2539936"/>
            <a:ext cx="736582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1373" y="2802184"/>
            <a:ext cx="307807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保持灵活性：早期想法不必写成规格文档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373" y="3056178"/>
            <a:ext cx="323872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让它采访你：识别缺口，转化为可执行计划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373" y="3310172"/>
            <a:ext cx="2901356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设置 Goal：综合上下文设定持久目标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373" y="3564165"/>
            <a:ext cx="291742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持续迭代：新发现可能改变里程碑范围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1373" y="4063898"/>
            <a:ext cx="4673484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41373" y="4317892"/>
            <a:ext cx="4698882" cy="114297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1869" y="4463938"/>
            <a:ext cx="1219423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 spc="200">
                <a:solidFill>
                  <a:srgbClr val="C62828"/>
                </a:solidFill>
                <a:latin typeface="Microsoft YaHei"/>
              </a:rPr>
              <a:t>KEY · 关键约束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1869" y="4728091"/>
            <a:ext cx="2870687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333333"/>
                </a:solidFill>
                <a:latin typeface="Microsoft YaHei"/>
              </a:rPr>
              <a:t>只有一个 Goal-mode 目标同时激活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869" y="5011929"/>
            <a:ext cx="308771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里程碑完成后更新 GOALS.md，激活下一个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1869" y="5215124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继续工作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2844" y="1777955"/>
            <a:ext cx="4825879" cy="3682907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22844" y="1777955"/>
            <a:ext cx="4825879" cy="38099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22844" y="2031949"/>
            <a:ext cx="4825879" cy="12699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6838" y="1902412"/>
            <a:ext cx="1994408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FFFFFF"/>
                </a:solidFill>
                <a:latin typeface="Microsoft YaHei"/>
              </a:rPr>
              <a:t>GOALS.md · 路线图文件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2431989"/>
            <a:ext cx="175331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 spc="200">
                <a:solidFill>
                  <a:srgbClr val="999999"/>
                </a:solidFill>
                <a:latin typeface="Microsoft YaHei"/>
              </a:rPr>
              <a:t>MILESTONE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2738686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里程碑结构：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6838" y="3016174"/>
            <a:ext cx="38099" cy="12699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3834" y="3005379"/>
            <a:ext cx="264752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状态（进行中 / 待开始 / 已完成）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6838" y="3270168"/>
            <a:ext cx="38099" cy="12699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3834" y="3259373"/>
            <a:ext cx="176716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目标产出（具体交付物）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6838" y="3524161"/>
            <a:ext cx="38099" cy="12699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03834" y="3513367"/>
            <a:ext cx="1606509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工作范围（任务清单）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6838" y="3778155"/>
            <a:ext cx="38099" cy="12699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3834" y="3767360"/>
            <a:ext cx="188604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重要决策（描述 + 原因）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6838" y="4032149"/>
            <a:ext cx="38099" cy="12699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03834" y="4021354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已知阻塞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6838" y="4286142"/>
            <a:ext cx="38099" cy="12699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03834" y="4275348"/>
            <a:ext cx="248687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完成证据（测试 / 审查 / 演示）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76838" y="4698882"/>
            <a:ext cx="4317892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76838" y="4908427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 spc="200">
                <a:solidFill>
                  <a:srgbClr val="C62828"/>
                </a:solidFill>
                <a:latin typeface="Microsoft YaHei"/>
              </a:rPr>
              <a:t>PLUS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6838" y="5151626"/>
            <a:ext cx="327406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+ 决策日志（日期 / 决策 / 原因 / 影响）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4162320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主线程只做协调，不陷入实现细节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291099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习惯 2 · 目标 / 约束 / 决策 / 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35384" y="1777955"/>
            <a:ext cx="2920926" cy="634984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25187" y="1924001"/>
            <a:ext cx="114132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1" spc="300">
                <a:solidFill>
                  <a:srgbClr val="FFFFFF"/>
                </a:solidFill>
                <a:latin typeface="Microsoft YaHei"/>
              </a:rPr>
              <a:t>MAIN 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7988" y="2122116"/>
            <a:ext cx="1635719" cy="284472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399" b="1">
                <a:solidFill>
                  <a:srgbClr val="FFFFFF"/>
                </a:solidFill>
                <a:latin typeface="Microsoft YaHei"/>
              </a:rPr>
              <a:t>主线程（协调者）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412939"/>
            <a:ext cx="0" cy="317492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6032349" y="2698682"/>
            <a:ext cx="126997" cy="126997"/>
          </a:xfrm>
          <a:custGeom>
            <a:avLst/>
            <a:gdLst/>
            <a:ahLst/>
            <a:cxnLst/>
            <a:rect l="l" t="t" r="r" b="b"/>
            <a:pathLst>
              <a:path w="126997" h="126997">
                <a:moveTo>
                  <a:pt x="0" y="0"/>
                </a:moveTo>
                <a:lnTo>
                  <a:pt x="126997" y="0"/>
                </a:lnTo>
                <a:lnTo>
                  <a:pt x="63498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6342" y="2508187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C62828"/>
                </a:solidFill>
                <a:latin typeface="Microsoft YaHei"/>
              </a:rPr>
              <a:t>委派任务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9968" y="2857428"/>
            <a:ext cx="2920926" cy="1269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69968" y="2857428"/>
            <a:ext cx="2920926" cy="38099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31949" y="3018079"/>
            <a:ext cx="166755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Worker A · 功能实现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3961" y="3500667"/>
            <a:ext cx="144585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读代码、尝试方法、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3961" y="3729261"/>
            <a:ext cx="1124556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追踪失败的测试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5384" y="2857428"/>
            <a:ext cx="2920926" cy="1269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35384" y="2857428"/>
            <a:ext cx="2920926" cy="38099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7365" y="3018079"/>
            <a:ext cx="166755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Worker B · 代码审查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9377" y="3500667"/>
            <a:ext cx="1124556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检查实现质量、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9377" y="3729261"/>
            <a:ext cx="161614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发现 token 存储问题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0799" y="2857428"/>
            <a:ext cx="2920926" cy="1269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00799" y="2857428"/>
            <a:ext cx="2920926" cy="38099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62780" y="3018079"/>
            <a:ext cx="166755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Worker C · 测试验证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4793" y="3500667"/>
            <a:ext cx="168362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跑 tests、代码审查、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4793" y="3729261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环境校验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30431" y="4127396"/>
            <a:ext cx="0" cy="317492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2666933" y="4413139"/>
            <a:ext cx="126997" cy="126997"/>
          </a:xfrm>
          <a:custGeom>
            <a:avLst/>
            <a:gdLst/>
            <a:ahLst/>
            <a:cxnLst/>
            <a:rect l="l" t="t" r="r" b="b"/>
            <a:pathLst>
              <a:path w="126997" h="126997">
                <a:moveTo>
                  <a:pt x="0" y="0"/>
                </a:moveTo>
                <a:lnTo>
                  <a:pt x="126997" y="0"/>
                </a:lnTo>
                <a:lnTo>
                  <a:pt x="63498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6095847" y="4127396"/>
            <a:ext cx="0" cy="317492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6032349" y="4413139"/>
            <a:ext cx="126997" cy="126997"/>
          </a:xfrm>
          <a:custGeom>
            <a:avLst/>
            <a:gdLst/>
            <a:ahLst/>
            <a:cxnLst/>
            <a:rect l="l" t="t" r="r" b="b"/>
            <a:pathLst>
              <a:path w="126997" h="126997">
                <a:moveTo>
                  <a:pt x="0" y="0"/>
                </a:moveTo>
                <a:lnTo>
                  <a:pt x="126997" y="0"/>
                </a:lnTo>
                <a:lnTo>
                  <a:pt x="63498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9461263" y="4127396"/>
            <a:ext cx="0" cy="317492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9397765" y="4413139"/>
            <a:ext cx="126996" cy="126997"/>
          </a:xfrm>
          <a:custGeom>
            <a:avLst/>
            <a:gdLst/>
            <a:ahLst/>
            <a:cxnLst/>
            <a:rect l="l" t="t" r="r" b="b"/>
            <a:pathLst>
              <a:path w="126996" h="126997">
                <a:moveTo>
                  <a:pt x="0" y="0"/>
                </a:moveTo>
                <a:lnTo>
                  <a:pt x="126996" y="0"/>
                </a:lnTo>
                <a:lnTo>
                  <a:pt x="63498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730431" y="4571885"/>
            <a:ext cx="3174920" cy="7619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45181" y="4707137"/>
            <a:ext cx="74542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333333"/>
                </a:solidFill>
                <a:latin typeface="Microsoft YaHei"/>
              </a:rPr>
              <a:t>GOALS.md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52776" y="4940176"/>
            <a:ext cx="73023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路线图更新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2692" y="5130671"/>
            <a:ext cx="113039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决策 + 阻塞记录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6342" y="4571885"/>
            <a:ext cx="3174920" cy="7619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28382" y="4707137"/>
            <a:ext cx="149084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333333"/>
                </a:solidFill>
                <a:latin typeface="Microsoft YaHei"/>
              </a:rPr>
              <a:t>Documentation.md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1710" y="4940176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状态日志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1710" y="5130671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证据归档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8977" y="5460863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61964" y="5627864"/>
            <a:ext cx="5667766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0">
                <a:solidFill>
                  <a:srgbClr val="555555"/>
                </a:solidFill>
                <a:latin typeface="Microsoft YaHei"/>
              </a:rPr>
              <a:t>主线程只需：worker 学到了什么 / 什么变了 / 证据是什么 / 下一步做什么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8304" y="5850108"/>
            <a:ext cx="431508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C62828"/>
                </a:solidFill>
                <a:latin typeface="Microsoft YaHei"/>
              </a:rPr>
              <a:t>委派可用 subagent 或独立 thread（有完整历史可回溯）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5172377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里程碑后先审计路线图，再 review 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367890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习惯 3 · 双重验证：计划还对吗？代码质量够吗？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373" y="1722711"/>
            <a:ext cx="141488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路线图审计 5 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977" y="2031949"/>
            <a:ext cx="1904952" cy="1269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8977" y="2031949"/>
            <a:ext cx="38099" cy="12699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9473" y="2123386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473" y="2611689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里程碑真的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473" y="2814884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完成了吗？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93930" y="2666933"/>
            <a:ext cx="253993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3016174" y="2603434"/>
            <a:ext cx="126997" cy="126997"/>
          </a:xfrm>
          <a:custGeom>
            <a:avLst/>
            <a:gdLst/>
            <a:ahLst/>
            <a:cxnLst/>
            <a:rect l="l" t="t" r="r" b="b"/>
            <a:pathLst>
              <a:path w="126997" h="126997">
                <a:moveTo>
                  <a:pt x="0" y="0"/>
                </a:moveTo>
                <a:lnTo>
                  <a:pt x="126997" y="63499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74920" y="2031949"/>
            <a:ext cx="1904952" cy="1269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74920" y="2031949"/>
            <a:ext cx="38099" cy="12699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5415" y="2123386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5415" y="2611689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下一个目标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5415" y="2814884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还是对的吗？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79873" y="2666933"/>
            <a:ext cx="253993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5302117" y="2603434"/>
            <a:ext cx="126997" cy="126997"/>
          </a:xfrm>
          <a:custGeom>
            <a:avLst/>
            <a:gdLst/>
            <a:ahLst/>
            <a:cxnLst/>
            <a:rect l="l" t="t" r="r" b="b"/>
            <a:pathLst>
              <a:path w="126997" h="126997">
                <a:moveTo>
                  <a:pt x="0" y="0"/>
                </a:moveTo>
                <a:lnTo>
                  <a:pt x="126997" y="63499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60863" y="2031949"/>
            <a:ext cx="1904952" cy="1269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60863" y="2031949"/>
            <a:ext cx="38099" cy="12699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51358" y="2123386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1358" y="2611689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有遗漏的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1358" y="2814884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里程碑吗？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65815" y="2666933"/>
            <a:ext cx="253994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7588060" y="2603434"/>
            <a:ext cx="126997" cy="126997"/>
          </a:xfrm>
          <a:custGeom>
            <a:avLst/>
            <a:gdLst/>
            <a:ahLst/>
            <a:cxnLst/>
            <a:rect l="l" t="t" r="r" b="b"/>
            <a:pathLst>
              <a:path w="126997" h="126997">
                <a:moveTo>
                  <a:pt x="0" y="0"/>
                </a:moveTo>
                <a:lnTo>
                  <a:pt x="126997" y="63499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46806" y="2031949"/>
            <a:ext cx="1904952" cy="1269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46806" y="2031949"/>
            <a:ext cx="38099" cy="12699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37301" y="2123386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7301" y="2611689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新证据是否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7301" y="2814884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调整了顺序？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51758" y="2666933"/>
            <a:ext cx="253994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9874003" y="2603434"/>
            <a:ext cx="126996" cy="126997"/>
          </a:xfrm>
          <a:custGeom>
            <a:avLst/>
            <a:gdLst/>
            <a:ahLst/>
            <a:cxnLst/>
            <a:rect l="l" t="t" r="r" b="b"/>
            <a:pathLst>
              <a:path w="126996" h="126997">
                <a:moveTo>
                  <a:pt x="0" y="0"/>
                </a:moveTo>
                <a:lnTo>
                  <a:pt x="126996" y="63499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032749" y="2031949"/>
            <a:ext cx="1269968" cy="1269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032749" y="2031949"/>
            <a:ext cx="38099" cy="12699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23244" y="2123386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Q5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3244" y="2611689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完成定义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3244" y="2814884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还成立吗？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88977" y="3809904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373" y="4008654"/>
            <a:ext cx="330002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双轨验证 · TWO-TRACK VALIDATION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8977" y="4381390"/>
            <a:ext cx="4952876" cy="1079473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88977" y="4381390"/>
            <a:ext cx="38099" cy="1079473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79473" y="4505847"/>
            <a:ext cx="876278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C62828"/>
                </a:solidFill>
                <a:latin typeface="Microsoft YaHei"/>
              </a:rPr>
              <a:t>路线图审计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9473" y="4834134"/>
            <a:ext cx="240976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发现：没人用真实登录浏览器测过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9473" y="5088127"/>
            <a:ext cx="147156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→ 缺失的浏览器验证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68850" y="4381390"/>
            <a:ext cx="5333866" cy="1079473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68850" y="4381390"/>
            <a:ext cx="38099" cy="1079473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59346" y="4505847"/>
            <a:ext cx="1163697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C62828"/>
                </a:solidFill>
                <a:latin typeface="Microsoft YaHei"/>
              </a:rPr>
              <a:t>同步 /review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59346" y="4834134"/>
            <a:ext cx="200492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发现：token 存储方式不对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9346" y="5088127"/>
            <a:ext cx="147156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→ 即使远程测试通过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8977" y="5714857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922990" y="5913607"/>
            <a:ext cx="634571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333333"/>
                </a:solidFill>
                <a:latin typeface="Microsoft YaHei"/>
              </a:rPr>
              <a:t>更新 GOALS.md → 委派 token 修复 → 添加缺失的浏览器验证 → 才激活下一个里程碑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6704111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远程（UU）跑绝大多数，本机只做环境依赖的专属校验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295276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习惯 4 · UU 远程优先 + 本地专属校验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977" y="1841453"/>
            <a:ext cx="1904952" cy="139696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8977" y="1841453"/>
            <a:ext cx="38099" cy="1396965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9473" y="1932891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473" y="2357696"/>
            <a:ext cx="125307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UU 远程 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473" y="2579940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实现功能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473" y="2908227"/>
            <a:ext cx="8762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跑在远程实例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93930" y="2539936"/>
            <a:ext cx="253993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3016174" y="2476438"/>
            <a:ext cx="126997" cy="126996"/>
          </a:xfrm>
          <a:custGeom>
            <a:avLst/>
            <a:gdLst/>
            <a:ahLst/>
            <a:cxnLst/>
            <a:rect l="l" t="t" r="r" b="b"/>
            <a:pathLst>
              <a:path w="126997" h="126996">
                <a:moveTo>
                  <a:pt x="0" y="0"/>
                </a:moveTo>
                <a:lnTo>
                  <a:pt x="126997" y="63498"/>
                </a:lnTo>
                <a:lnTo>
                  <a:pt x="0" y="126996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74920" y="1841453"/>
            <a:ext cx="1904952" cy="139696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74920" y="1841453"/>
            <a:ext cx="38099" cy="1396965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5415" y="1932891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5415" y="2357696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远程测试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5415" y="2579940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测试通过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5415" y="2908227"/>
            <a:ext cx="96098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单元/集成测试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79873" y="2539936"/>
            <a:ext cx="253993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5302117" y="2476438"/>
            <a:ext cx="126997" cy="126996"/>
          </a:xfrm>
          <a:custGeom>
            <a:avLst/>
            <a:gdLst/>
            <a:ahLst/>
            <a:cxnLst/>
            <a:rect l="l" t="t" r="r" b="b"/>
            <a:pathLst>
              <a:path w="126997" h="126996">
                <a:moveTo>
                  <a:pt x="0" y="0"/>
                </a:moveTo>
                <a:lnTo>
                  <a:pt x="126997" y="63498"/>
                </a:lnTo>
                <a:lnTo>
                  <a:pt x="0" y="126996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60863" y="1841453"/>
            <a:ext cx="1904952" cy="139696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60863" y="1841453"/>
            <a:ext cx="38099" cy="1396965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1358" y="1932891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1358" y="2357696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本地线程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1358" y="2579940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环境校验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1358" y="2908227"/>
            <a:ext cx="8762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专属环境验证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65815" y="2539936"/>
            <a:ext cx="253994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7588060" y="2476438"/>
            <a:ext cx="126997" cy="126996"/>
          </a:xfrm>
          <a:custGeom>
            <a:avLst/>
            <a:gdLst/>
            <a:ahLst/>
            <a:cxnLst/>
            <a:rect l="l" t="t" r="r" b="b"/>
            <a:pathLst>
              <a:path w="126997" h="126996">
                <a:moveTo>
                  <a:pt x="0" y="0"/>
                </a:moveTo>
                <a:lnTo>
                  <a:pt x="126997" y="63498"/>
                </a:lnTo>
                <a:lnTo>
                  <a:pt x="0" y="126996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46806" y="1841453"/>
            <a:ext cx="1904952" cy="139696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46806" y="1841453"/>
            <a:ext cx="38099" cy="1396965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37301" y="1932891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7301" y="2357696"/>
            <a:ext cx="69401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发现 Bug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7301" y="2579940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回传远程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7301" y="2908227"/>
            <a:ext cx="8762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环境相关问题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51758" y="2539936"/>
            <a:ext cx="253994" cy="0"/>
          </a:xfrm>
          <a:prstGeom prst="line">
            <a:avLst/>
          </a:prstGeom>
          <a:ln w="7619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874003" y="2476438"/>
            <a:ext cx="126996" cy="126996"/>
          </a:xfrm>
          <a:custGeom>
            <a:avLst/>
            <a:gdLst/>
            <a:ahLst/>
            <a:cxnLst/>
            <a:rect l="l" t="t" r="r" b="b"/>
            <a:pathLst>
              <a:path w="126996" h="126996">
                <a:moveTo>
                  <a:pt x="0" y="0"/>
                </a:moveTo>
                <a:lnTo>
                  <a:pt x="126996" y="63498"/>
                </a:lnTo>
                <a:lnTo>
                  <a:pt x="0" y="126996"/>
                </a:lnTo>
                <a:lnTo>
                  <a:pt x="0" y="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032749" y="1841453"/>
            <a:ext cx="1269968" cy="139696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032749" y="1841453"/>
            <a:ext cx="38099" cy="1396965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23244" y="1932891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3244" y="2357696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远程修复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3244" y="2579940"/>
            <a:ext cx="60083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UU 远程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3244" y="2908227"/>
            <a:ext cx="838306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回到步骤 01</a:t>
            </a:r>
          </a:p>
        </p:txBody>
      </p:sp>
      <p:sp>
        <p:nvSpPr>
          <p:cNvPr id="43" name="Freeform 42"/>
          <p:cNvSpPr/>
          <p:nvPr/>
        </p:nvSpPr>
        <p:spPr>
          <a:xfrm>
            <a:off x="1841453" y="3428914"/>
            <a:ext cx="8826280" cy="380990"/>
          </a:xfrm>
          <a:custGeom>
            <a:avLst/>
            <a:gdLst/>
            <a:ahLst/>
            <a:cxnLst/>
            <a:rect l="l" t="t" r="r" b="b"/>
            <a:pathLst>
              <a:path w="8826280" h="380990">
                <a:moveTo>
                  <a:pt x="8826280" y="0"/>
                </a:moveTo>
                <a:lnTo>
                  <a:pt x="8723977" y="116414"/>
                </a:lnTo>
                <a:lnTo>
                  <a:pt x="8417068" y="211661"/>
                </a:lnTo>
                <a:lnTo>
                  <a:pt x="7905553" y="285743"/>
                </a:lnTo>
                <a:lnTo>
                  <a:pt x="7189432" y="338658"/>
                </a:lnTo>
                <a:lnTo>
                  <a:pt x="6268705" y="370407"/>
                </a:lnTo>
                <a:lnTo>
                  <a:pt x="5143372" y="380990"/>
                </a:lnTo>
                <a:lnTo>
                  <a:pt x="3977470" y="370407"/>
                </a:lnTo>
                <a:lnTo>
                  <a:pt x="2935038" y="338658"/>
                </a:lnTo>
                <a:lnTo>
                  <a:pt x="2016075" y="285743"/>
                </a:lnTo>
                <a:lnTo>
                  <a:pt x="1220581" y="211661"/>
                </a:lnTo>
                <a:lnTo>
                  <a:pt x="548556" y="116414"/>
                </a:lnTo>
                <a:lnTo>
                  <a:pt x="0" y="0"/>
                </a:lnTo>
              </a:path>
            </a:pathLst>
          </a:custGeom>
          <a:noFill/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1841453" y="3343192"/>
            <a:ext cx="95248" cy="200020"/>
          </a:xfrm>
          <a:custGeom>
            <a:avLst/>
            <a:gdLst/>
            <a:ahLst/>
            <a:cxnLst/>
            <a:rect l="l" t="t" r="r" b="b"/>
            <a:pathLst>
              <a:path w="126997" h="114297">
                <a:moveTo>
                  <a:pt x="0" y="50799"/>
                </a:moveTo>
                <a:lnTo>
                  <a:pt x="126997" y="0"/>
                </a:lnTo>
                <a:lnTo>
                  <a:pt x="126997" y="114297"/>
                </a:lnTo>
                <a:lnTo>
                  <a:pt x="0" y="50799"/>
                </a:lnTo>
                <a:close/>
              </a:path>
            </a:pathLst>
          </a:custGeom>
          <a:solidFill>
            <a:srgbClr val="C6282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8294" y="3828954"/>
            <a:ext cx="121510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C62828"/>
                </a:solidFill>
                <a:latin typeface="Microsoft YaHei"/>
              </a:rPr>
              <a:t>循环回到 UU 远程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8977" y="4444888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1373" y="4643638"/>
            <a:ext cx="327799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LOCAL SCENARIOS · 需要本机的场景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1373" y="4961130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登录态浏览器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22444" y="4961130"/>
            <a:ext cx="828959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本地凭据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8914" y="4961130"/>
            <a:ext cx="65224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Xcode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1390" y="4961130"/>
            <a:ext cx="106672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macOS 权限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4857" y="4961130"/>
            <a:ext cx="104101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iOS 模拟器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88977" y="5460863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396160" y="5659613"/>
            <a:ext cx="339937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333333"/>
                </a:solidFill>
                <a:latin typeface="Microsoft YaHei"/>
              </a:rPr>
              <a:t>项目保持远程优先（UU），电脑只在需要时加入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46546" y="5892652"/>
            <a:ext cx="1898602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0">
                <a:solidFill>
                  <a:srgbClr val="555555"/>
                </a:solidFill>
                <a:latin typeface="Microsoft YaHei"/>
              </a:rPr>
              <a:t>远程线程可检查本地是否可用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3535197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三段式汇报 + 可视化仪表盘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287565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习惯 5 · 用简报和仪表盘同步全局进度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373" y="1690962"/>
            <a:ext cx="347972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THREE-SEGMENT REPORT · 三段式汇报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977" y="1968450"/>
            <a:ext cx="3428914" cy="1015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8977" y="1968450"/>
            <a:ext cx="38099" cy="101597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9473" y="2059888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7955" y="2103067"/>
            <a:ext cx="1304485" cy="284472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What's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473" y="2484692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已完成什么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473" y="2717732"/>
            <a:ext cx="1314417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每次状态变化时输出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4888" y="1968450"/>
            <a:ext cx="3428914" cy="1015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4888" y="1968450"/>
            <a:ext cx="38099" cy="101597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5384" y="2059888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6" y="2103067"/>
            <a:ext cx="1304485" cy="284472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What's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384" y="2484692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下一步是什么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384" y="2717732"/>
            <a:ext cx="1314417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像每小时一次的站会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799" y="1968450"/>
            <a:ext cx="3301917" cy="1015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00799" y="1968450"/>
            <a:ext cx="38099" cy="101597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91295" y="2059888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9777" y="2103067"/>
            <a:ext cx="1423075" cy="284472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399" b="1">
                <a:solidFill>
                  <a:srgbClr val="333333"/>
                </a:solidFill>
                <a:latin typeface="Microsoft YaHei"/>
              </a:rPr>
              <a:t>Any blockers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295" y="2484692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有无阻塞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295" y="2717732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或「无」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1373" y="3310172"/>
            <a:ext cx="536555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DASHBOARD · 可视化仪表盘（progress-dashboard.html）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977" y="3587660"/>
            <a:ext cx="3301917" cy="1015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8977" y="3587660"/>
            <a:ext cx="38099" cy="101597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9473" y="3679098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7955" y="3743866"/>
            <a:ext cx="1051533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333333"/>
                </a:solidFill>
                <a:latin typeface="Microsoft YaHei"/>
              </a:rPr>
              <a:t>当前活跃目标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9473" y="4103902"/>
            <a:ext cx="128520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正在推进的里程碑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9473" y="4336941"/>
            <a:ext cx="104569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+ 已完成里程碑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7892" y="3587660"/>
            <a:ext cx="3301917" cy="1015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17892" y="3587660"/>
            <a:ext cx="38099" cy="101597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08387" y="3679098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6869" y="3743866"/>
            <a:ext cx="701022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333333"/>
                </a:solidFill>
                <a:latin typeface="Microsoft YaHei"/>
              </a:rPr>
              <a:t>证据状态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8387" y="4103902"/>
            <a:ext cx="152297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测试 / 审查 / 演示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8387" y="4336941"/>
            <a:ext cx="73023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验证完成度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46806" y="3587660"/>
            <a:ext cx="3555911" cy="1015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46806" y="3587660"/>
            <a:ext cx="38099" cy="101597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37301" y="3679098"/>
            <a:ext cx="457200" cy="36575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799" b="1">
                <a:solidFill>
                  <a:srgbClr val="C62828"/>
                </a:solidFill>
                <a:latin typeface="Microsoft YaHe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5784" y="3743866"/>
            <a:ext cx="525766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333333"/>
                </a:solidFill>
                <a:latin typeface="Microsoft YaHei"/>
              </a:rPr>
              <a:t>阻塞项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7301" y="4103902"/>
            <a:ext cx="156474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当前阻塞 + 决策记录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7301" y="4336941"/>
            <a:ext cx="8762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最近更新时间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8977" y="5079873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298163" y="5278623"/>
            <a:ext cx="3595369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1">
                <a:solidFill>
                  <a:srgbClr val="333333"/>
                </a:solidFill>
                <a:latin typeface="Microsoft YaHei"/>
              </a:rPr>
              <a:t>Codex 可将仪表盘部署为 Site，保持远程可访问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10180" y="5500867"/>
            <a:ext cx="477133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099" b="0">
                <a:solidFill>
                  <a:srgbClr val="555555"/>
                </a:solidFill>
                <a:latin typeface="Microsoft YaHei"/>
              </a:rPr>
              <a:t>几小时后回来，无需读取每个 worker thread 就能理解项目状态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3329856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 dirty="0" err="1">
                <a:solidFill>
                  <a:srgbClr val="333333"/>
                </a:solidFill>
                <a:latin typeface="Microsoft YaHei"/>
              </a:rPr>
              <a:t>方法论的四个核心共识</a:t>
            </a:r>
            <a:endParaRPr sz="1899" b="1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264752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 dirty="0" err="1">
                <a:solidFill>
                  <a:srgbClr val="555555"/>
                </a:solidFill>
                <a:latin typeface="Microsoft YaHei"/>
              </a:rPr>
              <a:t>能力基础</a:t>
            </a:r>
            <a:r>
              <a:rPr sz="1099" b="0" dirty="0">
                <a:solidFill>
                  <a:srgbClr val="555555"/>
                </a:solidFill>
                <a:latin typeface="Microsoft YaHei"/>
              </a:rPr>
              <a:t> + </a:t>
            </a:r>
            <a:r>
              <a:rPr sz="1099" b="0" dirty="0" err="1">
                <a:solidFill>
                  <a:srgbClr val="555555"/>
                </a:solidFill>
                <a:latin typeface="Microsoft YaHei"/>
              </a:rPr>
              <a:t>协作流程</a:t>
            </a:r>
            <a:r>
              <a:rPr sz="1099" b="0" dirty="0">
                <a:solidFill>
                  <a:srgbClr val="555555"/>
                </a:solidFill>
                <a:latin typeface="Microsoft YaHei"/>
              </a:rPr>
              <a:t> = </a:t>
            </a:r>
            <a:r>
              <a:rPr lang="zh-CN" altLang="en-US" sz="1099" dirty="0">
                <a:solidFill>
                  <a:srgbClr val="555555"/>
                </a:solidFill>
                <a:latin typeface="Microsoft YaHei"/>
              </a:rPr>
              <a:t>人机协同</a:t>
            </a:r>
            <a:r>
              <a:rPr sz="1099" b="0" dirty="0" err="1">
                <a:solidFill>
                  <a:srgbClr val="555555"/>
                </a:solidFill>
                <a:latin typeface="Microsoft YaHei"/>
              </a:rPr>
              <a:t>方法论</a:t>
            </a:r>
            <a:endParaRPr sz="1099" b="0" dirty="0">
              <a:solidFill>
                <a:srgbClr val="555555"/>
              </a:solidFill>
              <a:latin typeface="Microsoft Ya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8977" y="1841453"/>
            <a:ext cx="5079873" cy="177795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8977" y="1841453"/>
            <a:ext cx="38099" cy="1777955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2971" y="1920191"/>
            <a:ext cx="474358" cy="568945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2799" b="1">
                <a:solidFill>
                  <a:srgbClr val="C6282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1453" y="2049728"/>
            <a:ext cx="1145003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599" b="1">
                <a:solidFill>
                  <a:srgbClr val="333333"/>
                </a:solidFill>
                <a:latin typeface="Microsoft YaHei"/>
              </a:rPr>
              <a:t>持久 Goal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2971" y="2476438"/>
            <a:ext cx="4571886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42971" y="2696142"/>
            <a:ext cx="932359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为 AI 提供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2939341"/>
            <a:ext cx="1329021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1">
                <a:solidFill>
                  <a:srgbClr val="C62828"/>
                </a:solidFill>
                <a:latin typeface="Microsoft YaHei"/>
              </a:rPr>
              <a:t>不会漂移的锚点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3278423"/>
            <a:ext cx="139766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999999"/>
                </a:solidFill>
                <a:latin typeface="Microsoft YaHei"/>
              </a:rPr>
              <a:t>Goal + GOALS.md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844" y="1841453"/>
            <a:ext cx="5079873" cy="177795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2844" y="1841453"/>
            <a:ext cx="38099" cy="1777955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6838" y="1920191"/>
            <a:ext cx="474358" cy="568945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2799" b="1">
                <a:solidFill>
                  <a:srgbClr val="C62828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5320" y="2049728"/>
            <a:ext cx="1168370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599" b="1">
                <a:solidFill>
                  <a:srgbClr val="333333"/>
                </a:solidFill>
                <a:latin typeface="Microsoft YaHei"/>
              </a:rPr>
              <a:t>里程碑审计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76838" y="2476438"/>
            <a:ext cx="4571885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76838" y="2696142"/>
            <a:ext cx="876278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为项目设置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838" y="2939341"/>
            <a:ext cx="1139161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1">
                <a:solidFill>
                  <a:srgbClr val="C62828"/>
                </a:solidFill>
                <a:latin typeface="Microsoft YaHei"/>
              </a:rPr>
              <a:t>多层验收关卡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38" y="3278423"/>
            <a:ext cx="173503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999999"/>
                </a:solidFill>
                <a:latin typeface="Microsoft YaHei"/>
              </a:rPr>
              <a:t>里程碑审计 + /review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977" y="3809904"/>
            <a:ext cx="5079873" cy="177795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8977" y="3809904"/>
            <a:ext cx="38099" cy="1777955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2971" y="3888642"/>
            <a:ext cx="474358" cy="568945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2799" b="1">
                <a:solidFill>
                  <a:srgbClr val="C62828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1453" y="4018179"/>
            <a:ext cx="934696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599" b="1">
                <a:solidFill>
                  <a:srgbClr val="333333"/>
                </a:solidFill>
                <a:latin typeface="Microsoft YaHei"/>
              </a:rPr>
              <a:t>状态外置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42971" y="4444888"/>
            <a:ext cx="4571886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42971" y="4664593"/>
            <a:ext cx="1402044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避免信息仅存在于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2971" y="4907792"/>
            <a:ext cx="949301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1">
                <a:solidFill>
                  <a:srgbClr val="C62828"/>
                </a:solidFill>
                <a:latin typeface="Microsoft YaHei"/>
              </a:rPr>
              <a:t>线程上下文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2971" y="5246873"/>
            <a:ext cx="108278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999999"/>
                </a:solidFill>
                <a:latin typeface="Microsoft YaHei"/>
              </a:rPr>
              <a:t>文件 + 仪表盘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2844" y="3809904"/>
            <a:ext cx="5079873" cy="177795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22844" y="3809904"/>
            <a:ext cx="38099" cy="1777955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6838" y="3888642"/>
            <a:ext cx="474358" cy="568945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2799" b="1">
                <a:solidFill>
                  <a:srgbClr val="C62828"/>
                </a:solidFill>
                <a:latin typeface="Microsoft Ya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5320" y="4018179"/>
            <a:ext cx="934696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599" b="1">
                <a:solidFill>
                  <a:srgbClr val="333333"/>
                </a:solidFill>
                <a:latin typeface="Microsoft YaHei"/>
              </a:rPr>
              <a:t>持续验证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76838" y="4444888"/>
            <a:ext cx="4571885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76838" y="4664593"/>
            <a:ext cx="1402044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0">
                <a:solidFill>
                  <a:srgbClr val="555555"/>
                </a:solidFill>
                <a:latin typeface="Microsoft YaHei"/>
              </a:rPr>
              <a:t>每个里程碑都检查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6838" y="4907792"/>
            <a:ext cx="1329021" cy="26415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299" b="1">
                <a:solidFill>
                  <a:srgbClr val="C62828"/>
                </a:solidFill>
                <a:latin typeface="Microsoft YaHei"/>
              </a:rPr>
              <a:t>不是最后才检查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838" y="5246873"/>
            <a:ext cx="130448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999999"/>
                </a:solidFill>
                <a:latin typeface="Microsoft YaHei"/>
              </a:rPr>
              <a:t>tests + review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8977" y="5778355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614228" y="5902812"/>
            <a:ext cx="4963239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199" b="0">
                <a:solidFill>
                  <a:srgbClr val="555555"/>
                </a:solidFill>
                <a:latin typeface="Microsoft YaHei"/>
              </a:rPr>
              <a:t>能力是</a:t>
            </a:r>
            <a:r>
              <a:rPr sz="1199" b="1">
                <a:solidFill>
                  <a:srgbClr val="333333"/>
                </a:solidFill>
                <a:latin typeface="Microsoft YaHei"/>
              </a:rPr>
              <a:t>地基</a:t>
            </a:r>
            <a:r>
              <a:rPr sz="1199" b="0">
                <a:solidFill>
                  <a:srgbClr val="555555"/>
                </a:solidFill>
                <a:latin typeface="Microsoft YaHei"/>
              </a:rPr>
              <a:t>（能跑 25 小时），协作流程是</a:t>
            </a:r>
            <a:r>
              <a:rPr sz="1199" b="1">
                <a:solidFill>
                  <a:srgbClr val="C62828"/>
                </a:solidFill>
                <a:latin typeface="Microsoft YaHei"/>
              </a:rPr>
              <a:t>建筑</a:t>
            </a:r>
            <a:r>
              <a:rPr sz="1199" b="0">
                <a:solidFill>
                  <a:srgbClr val="555555"/>
                </a:solidFill>
                <a:latin typeface="Microsoft YaHei"/>
              </a:rPr>
              <a:t>（怎么不翻车）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7303485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核心骨架不依赖特定工具，是 AI 时代的新型项目管理模式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跨工具通用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373" y="1659213"/>
            <a:ext cx="2851116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4 CORE SKELETONS · 核心骨架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977" y="1904952"/>
            <a:ext cx="2539936" cy="50798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8977" y="1904952"/>
            <a:ext cx="38099" cy="5079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9473" y="2082747"/>
            <a:ext cx="73023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333333"/>
                </a:solidFill>
                <a:latin typeface="Microsoft YaHei"/>
              </a:rPr>
              <a:t>路线图锚定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473" y="2254193"/>
            <a:ext cx="67765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GOALS.md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5911" y="1904952"/>
            <a:ext cx="2539936" cy="50798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55911" y="1904952"/>
            <a:ext cx="38099" cy="5079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6406" y="2082747"/>
            <a:ext cx="73023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333333"/>
                </a:solidFill>
                <a:latin typeface="Microsoft YaHei"/>
              </a:rPr>
              <a:t>里程碑验收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6406" y="2254193"/>
            <a:ext cx="105445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审计 +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844" y="1904952"/>
            <a:ext cx="2539936" cy="50798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22844" y="1904952"/>
            <a:ext cx="38099" cy="5079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3339" y="2082747"/>
            <a:ext cx="8762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333333"/>
                </a:solidFill>
                <a:latin typeface="Microsoft YaHei"/>
              </a:rPr>
              <a:t>远程本地分工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3339" y="2254193"/>
            <a:ext cx="12005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多 session 支持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9777" y="1904952"/>
            <a:ext cx="2412939" cy="50798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89777" y="1904952"/>
            <a:ext cx="38099" cy="5079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0272" y="2082747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333333"/>
                </a:solidFill>
                <a:latin typeface="Microsoft YaHei"/>
              </a:rPr>
              <a:t>状态外置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0272" y="2254193"/>
            <a:ext cx="984352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简报 + 仪表盘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8977" y="2920926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1373" y="3119677"/>
            <a:ext cx="240220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TOOL MAPPING · 工具对应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8977" y="3365415"/>
            <a:ext cx="10413739" cy="38099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9473" y="3498762"/>
            <a:ext cx="800333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FFFFFF"/>
                </a:solidFill>
                <a:latin typeface="Microsoft YaHei"/>
              </a:rPr>
              <a:t>Codex 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6901" y="3498762"/>
            <a:ext cx="130857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FFFFFF"/>
                </a:solidFill>
                <a:latin typeface="Microsoft YaHei"/>
              </a:rPr>
              <a:t>Claude Code 对应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1822" y="3498762"/>
            <a:ext cx="88504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FFFFFF"/>
                </a:solidFill>
                <a:latin typeface="Microsoft YaHei"/>
              </a:rPr>
              <a:t>Cursor 对应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977" y="3746406"/>
            <a:ext cx="10413739" cy="317492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9473" y="3828954"/>
            <a:ext cx="1299812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333333"/>
                </a:solidFill>
                <a:latin typeface="Microsoft YaHei"/>
              </a:rPr>
              <a:t>/goal（持久目标）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6901" y="3828954"/>
            <a:ext cx="1524723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CLAUDE.md +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1822" y="3828954"/>
            <a:ext cx="1016482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.cursorrules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8977" y="4063898"/>
            <a:ext cx="10413739" cy="317492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9473" y="4146446"/>
            <a:ext cx="126184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333333"/>
                </a:solidFill>
                <a:latin typeface="Microsoft YaHei"/>
              </a:rPr>
              <a:t>Subagent（委派）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6901" y="4146446"/>
            <a:ext cx="84706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Agent tool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1822" y="4146446"/>
            <a:ext cx="136991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多文件 + terminal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8977" y="4381390"/>
            <a:ext cx="10413739" cy="317492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9473" y="4463938"/>
            <a:ext cx="1469226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333333"/>
                </a:solidFill>
                <a:latin typeface="Microsoft YaHei"/>
              </a:rPr>
              <a:t>/review（代码审查）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6901" y="4463938"/>
            <a:ext cx="1346547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独立对话 +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1822" y="4463938"/>
            <a:ext cx="113039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独立对话 + 审查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977" y="4698882"/>
            <a:ext cx="10413739" cy="317492"/>
          </a:xfrm>
          <a:prstGeom prst="rect">
            <a:avLst/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9473" y="4781430"/>
            <a:ext cx="1600667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333333"/>
                </a:solidFill>
                <a:latin typeface="Microsoft YaHei"/>
              </a:rPr>
              <a:t>Computer Use（本机）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6901" y="4781430"/>
            <a:ext cx="105445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本地 terminal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1822" y="4781430"/>
            <a:ext cx="105445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本地 terminal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4178970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可复制的长周期项目启动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255435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6 段核心指令（左原文 / 右解读）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977" y="1777954"/>
            <a:ext cx="5079873" cy="3701955"/>
          </a:xfrm>
          <a:prstGeom prst="roundRect">
            <a:avLst>
              <a:gd name="adj" fmla="val 1481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8977" y="1777955"/>
            <a:ext cx="5079873" cy="253993"/>
          </a:xfrm>
          <a:prstGeom prst="roundRect">
            <a:avLst>
              <a:gd name="adj" fmla="val 20000"/>
            </a:avLst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8977" y="1904952"/>
            <a:ext cx="5079873" cy="1269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9473" y="1828754"/>
            <a:ext cx="15773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8A8A8A"/>
                </a:solidFill>
                <a:latin typeface="Microsoft YaHei"/>
              </a:rPr>
              <a:t>启动 Prompt · 中文版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473" y="2241493"/>
            <a:ext cx="1460463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这是一个长周期项目。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473" y="2495487"/>
            <a:ext cx="219069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先采访我，让我口述想法和约束，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473" y="2749481"/>
            <a:ext cx="1460463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然后转化为初步计划。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473" y="3066973"/>
            <a:ext cx="2307532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创建 GOALS.md 作为共享路线图，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473" y="3320966"/>
            <a:ext cx="102232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按里程碑组织。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473" y="3638459"/>
            <a:ext cx="1752556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同时只维护一个活跃目标。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473" y="3955951"/>
            <a:ext cx="24535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把实现委派给 subagent 或新线程。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473" y="4273443"/>
            <a:ext cx="1752556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每个里程碑后审计路线图，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473" y="4527436"/>
            <a:ext cx="102232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审查代码实现。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473" y="4844928"/>
            <a:ext cx="2406843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D4D4D4"/>
                </a:solidFill>
                <a:latin typeface="Microsoft YaHei"/>
              </a:rPr>
              <a:t>只汇报：已完成 / 下一步 / 阻塞。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473" y="5162420"/>
            <a:ext cx="1606509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C62828"/>
                </a:solidFill>
                <a:latin typeface="Microsoft YaHei"/>
              </a:rPr>
              <a:t>没有证据，不宣布完成。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2844" y="1944956"/>
            <a:ext cx="251443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WHAT IT MEANS · 中文解读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2844" y="2357696"/>
            <a:ext cx="261539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01</a:t>
            </a:r>
            <a:r>
              <a:rPr sz="1099" b="0">
                <a:solidFill>
                  <a:srgbClr val="333333"/>
                </a:solidFill>
                <a:latin typeface="Microsoft YaHei"/>
              </a:rPr>
              <a:t> Coordinate → 声明长周期项目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2844" y="2611689"/>
            <a:ext cx="332547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02</a:t>
            </a:r>
            <a:r>
              <a:rPr sz="1099" b="0">
                <a:solidFill>
                  <a:srgbClr val="333333"/>
                </a:solidFill>
                <a:latin typeface="Microsoft YaHei"/>
              </a:rPr>
              <a:t> Interview → 先采访后计划，别直接动手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2844" y="2865683"/>
            <a:ext cx="242904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03</a:t>
            </a:r>
            <a:r>
              <a:rPr sz="1099" b="0">
                <a:solidFill>
                  <a:srgbClr val="333333"/>
                </a:solidFill>
                <a:latin typeface="Microsoft YaHei"/>
              </a:rPr>
              <a:t> GOALS.md → 创建共享路线图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2844" y="3119677"/>
            <a:ext cx="289493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04</a:t>
            </a:r>
            <a:r>
              <a:rPr sz="1099" b="0">
                <a:solidFill>
                  <a:srgbClr val="333333"/>
                </a:solidFill>
                <a:latin typeface="Microsoft YaHei"/>
              </a:rPr>
              <a:t> One objective → 单目标同时激活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2844" y="3373670"/>
            <a:ext cx="262503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05</a:t>
            </a:r>
            <a:r>
              <a:rPr sz="1099" b="0">
                <a:solidFill>
                  <a:srgbClr val="333333"/>
                </a:solidFill>
                <a:latin typeface="Microsoft YaHei"/>
              </a:rPr>
              <a:t> Delegate → 委派给 subagent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2844" y="3627664"/>
            <a:ext cx="214951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06</a:t>
            </a:r>
            <a:r>
              <a:rPr sz="1099" b="0">
                <a:solidFill>
                  <a:srgbClr val="333333"/>
                </a:solidFill>
                <a:latin typeface="Microsoft YaHei"/>
              </a:rPr>
              <a:t> Audit → 每里程碑后审计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2844" y="3881657"/>
            <a:ext cx="337045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07</a:t>
            </a:r>
            <a:r>
              <a:rPr sz="1099" b="0">
                <a:solidFill>
                  <a:srgbClr val="333333"/>
                </a:solidFill>
                <a:latin typeface="Microsoft YaHei"/>
              </a:rPr>
              <a:t> Report → 只汇报 done/next/blockers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2844" y="4135651"/>
            <a:ext cx="2869226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08</a:t>
            </a:r>
            <a:r>
              <a:rPr sz="1099" b="0">
                <a:solidFill>
                  <a:srgbClr val="333333"/>
                </a:solidFill>
                <a:latin typeface="Microsoft YaHei"/>
              </a:rPr>
              <a:t> No evidence → 没证据不宣布完成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22844" y="4635384"/>
            <a:ext cx="4571886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22844" y="4844928"/>
            <a:ext cx="1511643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 spc="200">
                <a:solidFill>
                  <a:srgbClr val="C62828"/>
                </a:solidFill>
                <a:latin typeface="Microsoft YaHei"/>
              </a:rPr>
              <a:t>USE IT · 使用方式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844" y="5088127"/>
            <a:ext cx="1445858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复制到新对话开头，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2844" y="5310372"/>
            <a:ext cx="204669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AI 自动进入「协调者」模式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5816149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GOALS.md 路线图模板 + 三段式进度汇报模板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208846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两个可直接复制的结构化模板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373" y="1690962"/>
            <a:ext cx="267210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GOALS.md · 每个里程碑需记录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977" y="1968450"/>
            <a:ext cx="5079873" cy="50798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8977" y="1968450"/>
            <a:ext cx="38099" cy="5079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9473" y="2146246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333333"/>
                </a:solidFill>
                <a:latin typeface="Microsoft YaHei"/>
              </a:rPr>
              <a:t>项目目标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473" y="2304992"/>
            <a:ext cx="2298769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一句话描述最终交付物 · 当前状态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977" y="2539936"/>
            <a:ext cx="5079873" cy="197797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8977" y="2539936"/>
            <a:ext cx="45719" cy="18700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9473" y="2717732"/>
            <a:ext cx="121510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333333"/>
                </a:solidFill>
                <a:latin typeface="Microsoft YaHei"/>
              </a:rPr>
              <a:t>M1：[里程碑名称]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473" y="3066973"/>
            <a:ext cx="87627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状态：进行中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473" y="3295567"/>
            <a:ext cx="1629877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目标产出：[具体交付物]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473" y="3524161"/>
            <a:ext cx="148383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工作范围：[任务清单]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473" y="3752756"/>
            <a:ext cx="173795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重要决策：[描述 + 原因]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473" y="3981350"/>
            <a:ext cx="148383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已知阻塞：[阻塞描述]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473" y="4209944"/>
            <a:ext cx="228416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555555"/>
                </a:solidFill>
                <a:latin typeface="Microsoft YaHei"/>
              </a:rPr>
              <a:t>完成证据：[测试 / 审查 / 演示]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844" y="1690962"/>
            <a:ext cx="309829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PROGRESS REPORT · 进度汇报模板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2844" y="1968450"/>
            <a:ext cx="5079873" cy="888977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2844" y="1968450"/>
            <a:ext cx="38099" cy="88897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6838" y="2146246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C62828"/>
                </a:solidFill>
                <a:latin typeface="Microsoft Ya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4330" y="2124656"/>
            <a:ext cx="1118130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333333"/>
                </a:solidFill>
                <a:latin typeface="Microsoft YaHei"/>
              </a:rPr>
              <a:t>What's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838" y="2421194"/>
            <a:ext cx="80325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已完成什么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38" y="2654233"/>
            <a:ext cx="1314417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每次状态变化时输出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2844" y="2920926"/>
            <a:ext cx="5079873" cy="888977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2844" y="2920926"/>
            <a:ext cx="38099" cy="88897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6838" y="3098722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C62828"/>
                </a:solidFill>
                <a:latin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4330" y="3077133"/>
            <a:ext cx="1118130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333333"/>
                </a:solidFill>
                <a:latin typeface="Microsoft YaHei"/>
              </a:rPr>
              <a:t>What's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6838" y="3373670"/>
            <a:ext cx="96390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下一步是什么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838" y="3606709"/>
            <a:ext cx="1314417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像每小时一次的站会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2844" y="3873403"/>
            <a:ext cx="5079873" cy="888977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22844" y="3873403"/>
            <a:ext cx="38099" cy="88897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6838" y="4051198"/>
            <a:ext cx="457200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1">
                <a:solidFill>
                  <a:srgbClr val="C62828"/>
                </a:solidFill>
                <a:latin typeface="Microsoft Ya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4330" y="4029609"/>
            <a:ext cx="1219779" cy="24383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199" b="1">
                <a:solidFill>
                  <a:srgbClr val="333333"/>
                </a:solidFill>
                <a:latin typeface="Microsoft YaHei"/>
              </a:rPr>
              <a:t>Any blockers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838" y="4326146"/>
            <a:ext cx="64260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有无阻塞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6838" y="4559186"/>
            <a:ext cx="584185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或「无」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8977" y="5079873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88649" y="5289417"/>
            <a:ext cx="3014396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999" b="1">
                <a:solidFill>
                  <a:srgbClr val="333333"/>
                </a:solidFill>
                <a:latin typeface="Microsoft YaHei"/>
              </a:rPr>
              <a:t>+ 证据区：测试结果 / 审查结论 / 演示截图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3607344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不会带团队，你就自己干到死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367890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 dirty="0" err="1">
                <a:solidFill>
                  <a:srgbClr val="555555"/>
                </a:solidFill>
                <a:latin typeface="Microsoft YaHei"/>
              </a:rPr>
              <a:t>管理学金句</a:t>
            </a:r>
            <a:r>
              <a:rPr sz="1099" b="0" dirty="0">
                <a:solidFill>
                  <a:srgbClr val="555555"/>
                </a:solidFill>
                <a:latin typeface="Microsoft YaHei"/>
              </a:rPr>
              <a:t>· AI </a:t>
            </a:r>
            <a:r>
              <a:rPr sz="1099" b="0" dirty="0" err="1">
                <a:solidFill>
                  <a:srgbClr val="555555"/>
                </a:solidFill>
                <a:latin typeface="Microsoft YaHei"/>
              </a:rPr>
              <a:t>时代同样成立</a:t>
            </a:r>
            <a:endParaRPr sz="1099" b="0" dirty="0">
              <a:solidFill>
                <a:srgbClr val="555555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3961" y="1986230"/>
            <a:ext cx="2804089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599" b="0">
                <a:solidFill>
                  <a:srgbClr val="555555"/>
                </a:solidFill>
                <a:latin typeface="Microsoft YaHei"/>
              </a:rPr>
              <a:t>当开发者从「亲自写代码」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3961" y="2291022"/>
            <a:ext cx="2177843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599" b="0">
                <a:solidFill>
                  <a:srgbClr val="555555"/>
                </a:solidFill>
                <a:latin typeface="Microsoft YaHei"/>
              </a:rPr>
              <a:t>转向「带 AI 团队」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3961" y="2659313"/>
            <a:ext cx="3848613" cy="73150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3599" b="1">
                <a:solidFill>
                  <a:srgbClr val="C62828"/>
                </a:solidFill>
                <a:latin typeface="Microsoft YaHei"/>
              </a:rPr>
              <a:t>不会带 AI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961" y="3337476"/>
            <a:ext cx="4206134" cy="650223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3199" b="1">
                <a:solidFill>
                  <a:srgbClr val="C62828"/>
                </a:solidFill>
                <a:latin typeface="Microsoft YaHei"/>
              </a:rPr>
              <a:t>只能自己写代码到死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8977" y="4063898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88977" y="4317892"/>
            <a:ext cx="4825879" cy="38099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9473" y="4453143"/>
            <a:ext cx="192781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333333"/>
                </a:solidFill>
                <a:latin typeface="Microsoft YaHei"/>
              </a:rPr>
              <a:t>过去：亲自写代码的执行者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2844" y="4317892"/>
            <a:ext cx="5079873" cy="38099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19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3339" y="4453143"/>
            <a:ext cx="246117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>
                <a:solidFill>
                  <a:srgbClr val="C62828"/>
                </a:solidFill>
                <a:latin typeface="Microsoft YaHei"/>
              </a:rPr>
              <a:t>现在：带领 AI 团队的技术负责人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3961" y="4961130"/>
            <a:ext cx="2088462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关注目标、里程碑、验收标准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3961" y="5202424"/>
            <a:ext cx="213987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设计验证流程让 AI 自动执行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3961" y="5443718"/>
            <a:ext cx="1548675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多 worker 并行协调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4295515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持久锚点 + 验收关卡 + 状态外置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1606509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长周期协作底层三要素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977" y="1777955"/>
            <a:ext cx="3301917" cy="2222444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8977" y="1777955"/>
            <a:ext cx="3301917" cy="761980"/>
          </a:xfrm>
          <a:prstGeom prst="roundRect">
            <a:avLst>
              <a:gd name="adj" fmla="val 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8977" y="2285942"/>
            <a:ext cx="3301917" cy="253993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2971" y="2040203"/>
            <a:ext cx="45720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303722"/>
            <a:ext cx="934696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599" b="1">
                <a:solidFill>
                  <a:srgbClr val="FFFFFF"/>
                </a:solidFill>
                <a:latin typeface="Microsoft YaHei"/>
              </a:rPr>
              <a:t>持久锚点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71" y="2929181"/>
            <a:ext cx="139766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Goal + GOALS.md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3170475"/>
            <a:ext cx="197922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为 AI 提供不会漂移的目标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3511462"/>
            <a:ext cx="1930732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里程碑完成后更新 GOALS.md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4888" y="1777955"/>
            <a:ext cx="3301917" cy="2222444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44888" y="1777955"/>
            <a:ext cx="3301917" cy="761980"/>
          </a:xfrm>
          <a:prstGeom prst="roundRect">
            <a:avLst>
              <a:gd name="adj" fmla="val 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44888" y="2285942"/>
            <a:ext cx="3301917" cy="253993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98882" y="2040203"/>
            <a:ext cx="45720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8882" y="2303722"/>
            <a:ext cx="934696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599" b="1">
                <a:solidFill>
                  <a:srgbClr val="FFFFFF"/>
                </a:solidFill>
                <a:latin typeface="Microsoft YaHei"/>
              </a:rPr>
              <a:t>验收关卡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8882" y="2929181"/>
            <a:ext cx="164185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里程碑审计 +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8882" y="3170475"/>
            <a:ext cx="1606509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多层验证防止偏差累积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8882" y="3511462"/>
            <a:ext cx="2336741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每个里程碑都检查，不是最后才检查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0799" y="1777955"/>
            <a:ext cx="3301917" cy="2222444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3809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00799" y="1777955"/>
            <a:ext cx="3301917" cy="761980"/>
          </a:xfrm>
          <a:prstGeom prst="roundRect">
            <a:avLst>
              <a:gd name="adj" fmla="val 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00799" y="2285942"/>
            <a:ext cx="3301917" cy="253993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4793" y="2040203"/>
            <a:ext cx="457200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4793" y="2303722"/>
            <a:ext cx="934696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599" b="1">
                <a:solidFill>
                  <a:srgbClr val="FFFFFF"/>
                </a:solidFill>
                <a:latin typeface="Microsoft YaHei"/>
              </a:rPr>
              <a:t>状态外置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4793" y="2929181"/>
            <a:ext cx="108278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简报 + 仪表盘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4793" y="3170475"/>
            <a:ext cx="1927811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333333"/>
                </a:solidFill>
                <a:latin typeface="Microsoft YaHei"/>
              </a:rPr>
              <a:t>项目状态不依赖线程上下文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4793" y="3511462"/>
            <a:ext cx="2345504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999" b="0">
                <a:solidFill>
                  <a:srgbClr val="999999"/>
                </a:solidFill>
                <a:latin typeface="Microsoft YaHei"/>
              </a:rPr>
              <a:t>几小时后回来，无需读每个 thread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8977" y="4444888"/>
            <a:ext cx="10413740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41373" y="4643638"/>
            <a:ext cx="2738889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1" spc="300">
                <a:solidFill>
                  <a:srgbClr val="C62828"/>
                </a:solidFill>
                <a:latin typeface="Microsoft YaHei"/>
              </a:rPr>
              <a:t>APPLICABLE WHEN · 适用边界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373" y="4961130"/>
            <a:ext cx="2731066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仅当满足以下特征时投入产出比最高：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1373" y="5278623"/>
            <a:ext cx="2114166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项目推进会持续涌现新信息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373" y="5532616"/>
            <a:ext cx="1792864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涉及多块独立并行工作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373" y="5786610"/>
            <a:ext cx="2274817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· 需要多个不同环境的验证证据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977" y="761980"/>
            <a:ext cx="25399" cy="48258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1373" y="874373"/>
            <a:ext cx="3884832" cy="386070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899" b="1">
                <a:solidFill>
                  <a:srgbClr val="333333"/>
                </a:solidFill>
                <a:latin typeface="Microsoft YaHei"/>
              </a:rPr>
              <a:t>模型负责智能，开发者负责引导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73" y="1240123"/>
            <a:ext cx="2046693" cy="22351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l"/>
            <a:r>
              <a:rPr sz="1099" b="0">
                <a:solidFill>
                  <a:srgbClr val="555555"/>
                </a:solidFill>
                <a:latin typeface="Microsoft YaHei"/>
              </a:rPr>
              <a:t>AI 时代的新型项目管理模式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152" y="2025599"/>
            <a:ext cx="4381390" cy="60958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999" b="1">
                <a:solidFill>
                  <a:srgbClr val="333333"/>
                </a:solidFill>
                <a:latin typeface="Microsoft YaHei"/>
              </a:rPr>
              <a:t>模型负责发挥智能能力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8686" y="2619944"/>
            <a:ext cx="3534321" cy="447028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199" b="0">
                <a:solidFill>
                  <a:srgbClr val="555555"/>
                </a:solidFill>
                <a:latin typeface="Microsoft YaHei"/>
              </a:rPr>
              <a:t>开发者负责引导这份智能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0639" y="3064433"/>
            <a:ext cx="2570415" cy="447028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199" b="0">
                <a:solidFill>
                  <a:srgbClr val="C62828"/>
                </a:solidFill>
                <a:latin typeface="Microsoft YaHei"/>
              </a:rPr>
              <a:t>始终锚定同一目标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9988" y="3445423"/>
            <a:ext cx="2891717" cy="447028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199" b="0">
                <a:solidFill>
                  <a:srgbClr val="C62828"/>
                </a:solidFill>
                <a:latin typeface="Microsoft YaHei"/>
              </a:rPr>
              <a:t>沿着验证证据的路径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52876" y="4000399"/>
            <a:ext cx="2285943" cy="0"/>
          </a:xfrm>
          <a:prstGeom prst="line">
            <a:avLst/>
          </a:prstGeom>
          <a:ln w="3809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6965" y="4399170"/>
            <a:ext cx="3037764" cy="325111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1599" b="0">
                <a:solidFill>
                  <a:srgbClr val="555555"/>
                </a:solidFill>
                <a:latin typeface="Microsoft YaHei"/>
              </a:rPr>
              <a:t>起点：下次启动长周期任务时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9990" y="4947796"/>
            <a:ext cx="3231713" cy="487667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399" b="1">
                <a:solidFill>
                  <a:srgbClr val="333333"/>
                </a:solidFill>
                <a:latin typeface="Microsoft YaHei"/>
              </a:rPr>
              <a:t>先写一份 GOALS.md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2976" y="5392285"/>
            <a:ext cx="2565742" cy="487667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ctr"/>
            <a:r>
              <a:rPr sz="2399" b="1">
                <a:solidFill>
                  <a:srgbClr val="333333"/>
                </a:solidFill>
                <a:latin typeface="Microsoft YaHei"/>
              </a:rPr>
              <a:t>再让 AI 采访你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5775" y="6337141"/>
            <a:ext cx="592948" cy="203194"/>
          </a:xfrm>
          <a:prstGeom prst="rect">
            <a:avLst/>
          </a:prstGeom>
          <a:noFill/>
          <a:effectLst/>
        </p:spPr>
        <p:txBody>
          <a:bodyPr wrap="none" lIns="0" tIns="0" rIns="0" bIns="0"/>
          <a:lstStyle/>
          <a:p>
            <a:pPr algn="r"/>
            <a:r>
              <a:rPr sz="999" b="0">
                <a:solidFill>
                  <a:srgbClr val="999999"/>
                </a:solidFill>
                <a:latin typeface="Microsoft YaHe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1156</Words>
  <Application>Microsoft Macintosh PowerPoint</Application>
  <PresentationFormat>宽屏</PresentationFormat>
  <Paragraphs>418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sundanian</cp:lastModifiedBy>
  <cp:revision>3</cp:revision>
  <dcterms:created xsi:type="dcterms:W3CDTF">2013-01-27T09:14:16Z</dcterms:created>
  <dcterms:modified xsi:type="dcterms:W3CDTF">2026-07-21T10:14:24Z</dcterms:modified>
  <cp:category/>
</cp:coreProperties>
</file>
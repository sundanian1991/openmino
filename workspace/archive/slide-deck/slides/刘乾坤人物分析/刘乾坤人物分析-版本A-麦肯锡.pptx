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这是一份关于刘乾坤的人物深度分析。</a:t>
            </a:r>
          </a:p>
          <a:p>
            <a:endParaRPr lang="zh-CN" dirty="0"/>
          </a:p>
          <a:p>
            <a:r>
              <a:rPr lang="zh-CN" dirty="0"/>
              <a:t>基于档案 v10.2，整合了从 2026-03-19 以来的所有观察记录，覆盖他的权力框架、18 种行为模式、关系网络、供应商管理手法，以及年老师的应对策略。</a:t>
            </a:r>
          </a:p>
          <a:p>
            <a:endParaRPr lang="zh-CN" dirty="0"/>
          </a:p>
          <a:p>
            <a:r>
              <a:rPr lang="zh-CN" dirty="0"/>
              <a:t>这份材料的目的是三个：看懂他、应对他、学习他。</a:t>
            </a:r>
          </a:p>
          <a:p>
            <a:endParaRPr lang="zh-CN" dirty="0"/>
          </a:p>
          <a:p>
            <a:r>
              <a:rPr lang="zh-CN" dirty="0"/>
              <a:t>要点：① 基于 v10.2 档案 ② 覆盖权力框架和行为模式 ③ 三个目标</a:t>
            </a:r>
          </a:p>
          <a:p>
            <a:r>
              <a:rPr lang="zh-CN" dirty="0"/>
              <a:t>时长：1 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先看最核心的定位。</a:t>
            </a:r>
          </a:p>
          <a:p>
            <a:endParaRPr lang="zh-CN" dirty="0"/>
          </a:p>
          <a:p>
            <a:r>
              <a:rPr lang="zh-CN" dirty="0"/>
              <a:t>刘乾坤是高压管理型业管。他最擅长的就两件事：立规矩和三要素法。</a:t>
            </a:r>
          </a:p>
          <a:p>
            <a:endParaRPr lang="zh-CN" dirty="0"/>
          </a:p>
          <a:p>
            <a:r>
              <a:rPr lang="zh-CN" dirty="0"/>
              <a:t>他的行为有三个特征：对上表演、对下施压、信息管控。</a:t>
            </a:r>
          </a:p>
          <a:p>
            <a:endParaRPr lang="zh-CN" dirty="0"/>
          </a:p>
          <a:p>
            <a:r>
              <a:rPr lang="zh-CN" dirty="0"/>
              <a:t>理解这一点很重要——他的所有行为，都围绕三个诉求展开：控制权、展示权、安全感。不理解这三个诉求，就会被他带着走。</a:t>
            </a:r>
          </a:p>
          <a:p>
            <a:endParaRPr lang="zh-CN" dirty="0"/>
          </a:p>
          <a:p>
            <a:r>
              <a:rPr lang="zh-CN" dirty="0"/>
              <a:t>要点：① 高压管理型 ② 立规矩+三要素法 ③ 三个核心诉求</a:t>
            </a:r>
          </a:p>
          <a:p>
            <a:r>
              <a:rPr lang="zh-CN" dirty="0"/>
              <a:t>时长：1.5 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接下来拆解这三个诉求。</a:t>
            </a:r>
          </a:p>
          <a:p>
            <a:endParaRPr lang="zh-CN" dirty="0"/>
          </a:p>
          <a:p>
            <a:r>
              <a:rPr lang="zh-CN" dirty="0"/>
              <a:t>控制权——他刚接手任何业务，第一件事就是立规矩。为什么？因为他需要发出"我在管"的信号。刚接管的人最需要秩序。</a:t>
            </a:r>
          </a:p>
          <a:p>
            <a:endParaRPr lang="zh-CN" dirty="0"/>
          </a:p>
          <a:p>
            <a:r>
              <a:rPr lang="zh-CN" dirty="0"/>
              <a:t>展示权——这是他自己最在意的。群内表演、打鸡血、CC上级，核心目的只有一个：让老板知道他在解决问题。不是做给平级看，是做给上级看。</a:t>
            </a:r>
          </a:p>
          <a:p>
            <a:endParaRPr lang="zh-CN" dirty="0"/>
          </a:p>
          <a:p>
            <a:r>
              <a:rPr lang="zh-CN" dirty="0"/>
              <a:t>安全感——他怕被替代。所以做信息管控，让别人依赖自己。掌控信息就是掌控不可替代性。</a:t>
            </a:r>
          </a:p>
          <a:p>
            <a:endParaRPr lang="zh-CN" dirty="0"/>
          </a:p>
          <a:p>
            <a:r>
              <a:rPr lang="zh-CN" dirty="0"/>
              <a:t>这三个诉求缺一不可。理解了这个，后续 18 种模式都能用这三个诉求来解释。</a:t>
            </a:r>
          </a:p>
          <a:p>
            <a:endParaRPr lang="zh-CN" dirty="0"/>
          </a:p>
          <a:p>
            <a:r>
              <a:rPr lang="zh-CN" dirty="0"/>
              <a:t>要点：① 控制权=立规矩 ② 展示权=演给上级看 ③ 安全感=信息管控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诉求从哪来？从权力来。他手里有 5 种权力。</a:t>
            </a:r>
          </a:p>
          <a:p>
            <a:endParaRPr lang="zh-CN" dirty="0"/>
          </a:p>
          <a:p>
            <a:r>
              <a:rPr lang="zh-CN" dirty="0"/>
              <a:t>最底层是规则权——立规矩、机制先行。这是他一切动作的合法性来源。</a:t>
            </a:r>
          </a:p>
          <a:p>
            <a:endParaRPr lang="zh-CN" dirty="0"/>
          </a:p>
          <a:p>
            <a:r>
              <a:rPr lang="zh-CN" dirty="0"/>
              <a:t>往上是信息权——两头堵、阻断信息。控制信息流动就是控制话语权。</a:t>
            </a:r>
          </a:p>
          <a:p>
            <a:endParaRPr lang="zh-CN" dirty="0"/>
          </a:p>
          <a:p>
            <a:r>
              <a:rPr lang="zh-CN" dirty="0"/>
              <a:t>中间是关系权——拉拢圈人、人情债。用关系绑定利益。</a:t>
            </a:r>
          </a:p>
          <a:p>
            <a:endParaRPr lang="zh-CN" dirty="0"/>
          </a:p>
          <a:p>
            <a:r>
              <a:rPr lang="zh-CN" dirty="0"/>
              <a:t>再往上是注意权——群内表演、打鸡血。刷存在感，主要是给上级看。</a:t>
            </a:r>
          </a:p>
          <a:p>
            <a:endParaRPr lang="zh-CN" dirty="0"/>
          </a:p>
          <a:p>
            <a:r>
              <a:rPr lang="zh-CN" dirty="0"/>
              <a:t>最表层是施压权——公开锁定、高压管理。这是最直接的手段。</a:t>
            </a:r>
          </a:p>
          <a:p>
            <a:endParaRPr lang="zh-CN" dirty="0"/>
          </a:p>
          <a:p>
            <a:r>
              <a:rPr lang="zh-CN" dirty="0"/>
              <a:t>每种权力都有对应的应对策略。关键是不盲目接受规则，建立独立信息渠道。</a:t>
            </a:r>
          </a:p>
          <a:p>
            <a:endParaRPr lang="zh-CN" dirty="0"/>
          </a:p>
          <a:p>
            <a:r>
              <a:rPr lang="zh-CN" dirty="0"/>
              <a:t>要点：① 5种权力层层递进 ② 规则权是根基 ③ 每种都有应对策略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5 种权力具体展开，就是 18 种行为模式。</a:t>
            </a:r>
          </a:p>
          <a:p>
            <a:endParaRPr lang="zh-CN" dirty="0"/>
          </a:p>
          <a:p>
            <a:r>
              <a:rPr lang="zh-CN" dirty="0"/>
              <a:t>按权力来源分组：规则权有 1 种——立规矩。信息权有 1 种——两头堵。关系权有 2 种——拉拢圈人和人情债管理。注意权有 2 种——群内表演和任务下放加CC展示。施压权有 4 种——公开锁定、高压管理、追责转嫁、加压链。</a:t>
            </a:r>
          </a:p>
          <a:p>
            <a:endParaRPr lang="zh-CN" dirty="0"/>
          </a:p>
          <a:p>
            <a:r>
              <a:rPr lang="zh-CN" dirty="0"/>
              <a:t>另外还有 8 种组合拳，包括抛问题、正面对冲、借力打力、群聊闹事、选择性攻击、质疑数据降温、挖人试探、镜像过敏。</a:t>
            </a:r>
          </a:p>
          <a:p>
            <a:endParaRPr lang="zh-CN" dirty="0"/>
          </a:p>
          <a:p>
            <a:r>
              <a:rPr lang="zh-CN" dirty="0"/>
              <a:t>红色标记的是风险动作，需要特别警惕。</a:t>
            </a:r>
          </a:p>
          <a:p>
            <a:endParaRPr lang="zh-CN" dirty="0"/>
          </a:p>
          <a:p>
            <a:r>
              <a:rPr lang="zh-CN" dirty="0"/>
              <a:t>要点：① 18种模式分组清晰 ② 施压权最多 ③ 红色为风险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18 种模式不是随机使用的，是有组合逻辑的。</a:t>
            </a:r>
          </a:p>
          <a:p>
            <a:endParaRPr lang="zh-CN" dirty="0"/>
          </a:p>
          <a:p>
            <a:r>
              <a:rPr lang="zh-CN" dirty="0"/>
              <a:t>刚接手时——立规矩加数据切入。先宣布规则，再用数据找抓手。</a:t>
            </a:r>
          </a:p>
          <a:p>
            <a:endParaRPr lang="zh-CN" dirty="0"/>
          </a:p>
          <a:p>
            <a:r>
              <a:rPr lang="zh-CN" dirty="0"/>
              <a:t>日常运营时——群内表演加三要素法。表演给上级看，让供应商自己承诺。</a:t>
            </a:r>
          </a:p>
          <a:p>
            <a:endParaRPr lang="zh-CN" dirty="0"/>
          </a:p>
          <a:p>
            <a:r>
              <a:rPr lang="zh-CN" dirty="0"/>
              <a:t>遇到阻力时——高压管理加公开锁定。群里@具体人，制造回复压力。</a:t>
            </a:r>
          </a:p>
          <a:p>
            <a:endParaRPr lang="zh-CN" dirty="0"/>
          </a:p>
          <a:p>
            <a:r>
              <a:rPr lang="zh-CN" dirty="0"/>
              <a:t>需要上级支持时——打鸡血加道德绑架。展示"我在全力推动"，获取资源。</a:t>
            </a:r>
          </a:p>
          <a:p>
            <a:endParaRPr lang="zh-CN" dirty="0"/>
          </a:p>
          <a:p>
            <a:r>
              <a:rPr lang="zh-CN" dirty="0"/>
              <a:t>每一种组合都有明确的触发场景和预期效果。他不是随机出手的。</a:t>
            </a:r>
          </a:p>
          <a:p>
            <a:endParaRPr lang="zh-CN" dirty="0"/>
          </a:p>
          <a:p>
            <a:r>
              <a:rPr lang="zh-CN" dirty="0"/>
              <a:t>要点：① 4种场景组合 ② 每种有明确触发条件 ③ 不是随机使用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他对不同人的策略完全不同。</a:t>
            </a:r>
          </a:p>
          <a:p>
            <a:endParaRPr lang="zh-CN" dirty="0"/>
          </a:p>
          <a:p>
            <a:r>
              <a:rPr lang="zh-CN" dirty="0"/>
              <a:t>对郭鑫——前同事，叫"鑫鑫"，"用你的嘴出我的力"。这是利用关系。</a:t>
            </a:r>
          </a:p>
          <a:p>
            <a:endParaRPr lang="zh-CN" dirty="0"/>
          </a:p>
          <a:p>
            <a:r>
              <a:rPr lang="zh-CN" dirty="0"/>
              <a:t>对马贵贤——"你的工作我的成果"。这是工具化。</a:t>
            </a:r>
          </a:p>
          <a:p>
            <a:endParaRPr lang="zh-CN" dirty="0"/>
          </a:p>
          <a:p>
            <a:r>
              <a:rPr lang="zh-CN" dirty="0"/>
              <a:t>对年老师——配合关系，叫"兄弟"，主动帮忙拉拢。这是拉拢。</a:t>
            </a:r>
          </a:p>
          <a:p>
            <a:endParaRPr lang="zh-CN" dirty="0"/>
          </a:p>
          <a:p>
            <a:r>
              <a:rPr lang="zh-CN" dirty="0"/>
              <a:t>对张世跃——实习生，任务下放加功劳上报。这是施压加利用。</a:t>
            </a:r>
          </a:p>
          <a:p>
            <a:endParaRPr lang="zh-CN" dirty="0"/>
          </a:p>
          <a:p>
            <a:r>
              <a:rPr lang="zh-CN" dirty="0"/>
              <a:t>对供应商——外部，利益驱动加责任下放。这是施压。</a:t>
            </a:r>
          </a:p>
          <a:p>
            <a:endParaRPr lang="zh-CN" dirty="0"/>
          </a:p>
          <a:p>
            <a:r>
              <a:rPr lang="zh-CN" dirty="0"/>
              <a:t>对刘伟佳——师承关系，高级版对初级版。这是师承。</a:t>
            </a:r>
          </a:p>
          <a:p>
            <a:endParaRPr lang="zh-CN" dirty="0"/>
          </a:p>
          <a:p>
            <a:r>
              <a:rPr lang="zh-CN" dirty="0"/>
              <a:t>他对每个人的策略，都服务于那三个诉求。</a:t>
            </a:r>
          </a:p>
          <a:p>
            <a:endParaRPr lang="zh-CN" dirty="0"/>
          </a:p>
          <a:p>
            <a:r>
              <a:rPr lang="zh-CN" dirty="0"/>
              <a:t>要点：① 对6类人策略不同 ② 核心逻辑一致 ③ 都服务三个诉求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看他对供应商的四招。施压强度递增。</a:t>
            </a:r>
          </a:p>
          <a:p>
            <a:endParaRPr lang="zh-CN" dirty="0"/>
          </a:p>
          <a:p>
            <a:r>
              <a:rPr lang="zh-CN" dirty="0"/>
              <a:t>质问式——"汰换机制是什么？"让供应商解释问题，暴露管理短板。</a:t>
            </a:r>
          </a:p>
          <a:p>
            <a:endParaRPr lang="zh-CN" dirty="0"/>
          </a:p>
          <a:p>
            <a:r>
              <a:rPr lang="zh-CN" dirty="0"/>
              <a:t>驱动式——"3.4亿才有奖金"。用利益驱动供应商自己急，不用他催。</a:t>
            </a:r>
          </a:p>
          <a:p>
            <a:endParaRPr lang="zh-CN" dirty="0"/>
          </a:p>
          <a:p>
            <a:r>
              <a:rPr lang="zh-CN" dirty="0"/>
              <a:t>要求式——"本月人力计划、周度计划"。要求具体计划，有明确交付物。</a:t>
            </a:r>
          </a:p>
          <a:p>
            <a:endParaRPr lang="zh-CN" dirty="0"/>
          </a:p>
          <a:p>
            <a:r>
              <a:rPr lang="zh-CN" dirty="0"/>
              <a:t>改进式——三要素法。原因、提升目标、举措。让供应商自己承诺，承诺即约束。</a:t>
            </a:r>
          </a:p>
          <a:p>
            <a:endParaRPr lang="zh-CN" dirty="0"/>
          </a:p>
          <a:p>
            <a:r>
              <a:rPr lang="zh-CN" dirty="0"/>
              <a:t>三要素法是最值得学的——让供应商自己说，比你告诉他更有效。年老师也用了这个方法，但加了"给支持"。</a:t>
            </a:r>
          </a:p>
          <a:p>
            <a:endParaRPr lang="zh-CN" dirty="0"/>
          </a:p>
          <a:p>
            <a:r>
              <a:rPr lang="zh-CN" dirty="0"/>
              <a:t>要点：① 四招递进 ② 三要素法最核心 ③ 承诺即约束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他接手新业务的四步棋，是最值得拆解的。</a:t>
            </a:r>
          </a:p>
          <a:p>
            <a:endParaRPr lang="zh-CN" dirty="0"/>
          </a:p>
          <a:p>
            <a:r>
              <a:rPr lang="zh-CN" dirty="0"/>
              <a:t>第一步，立规矩。宣布规则，确立"按规则办事"的基调。</a:t>
            </a:r>
          </a:p>
          <a:p>
            <a:endParaRPr lang="zh-CN" dirty="0"/>
          </a:p>
          <a:p>
            <a:r>
              <a:rPr lang="zh-CN" dirty="0"/>
              <a:t>第二步，数据切入。摆数据不出结论。责任分散，自己居功。</a:t>
            </a:r>
          </a:p>
          <a:p>
            <a:endParaRPr lang="zh-CN" dirty="0"/>
          </a:p>
          <a:p>
            <a:r>
              <a:rPr lang="zh-CN" dirty="0"/>
              <a:t>第三步，公开锁定。群里@具体人，制造回复压力。不回复就是默认。</a:t>
            </a:r>
          </a:p>
          <a:p>
            <a:endParaRPr lang="zh-CN" dirty="0"/>
          </a:p>
          <a:p>
            <a:r>
              <a:rPr lang="zh-CN" dirty="0"/>
              <a:t>第四步，建立预期。塑造"按规则办事"的公共形象。后续一切动作都可以引用初始规则。</a:t>
            </a:r>
          </a:p>
          <a:p>
            <a:endParaRPr lang="zh-CN" dirty="0"/>
          </a:p>
          <a:p>
            <a:r>
              <a:rPr lang="zh-CN" dirty="0"/>
              <a:t>最核心的是第四步——初始规则一旦确立，后续引用就是"合法"的。不是他在针对你，是规则如此。</a:t>
            </a:r>
          </a:p>
          <a:p>
            <a:endParaRPr lang="zh-CN" dirty="0"/>
          </a:p>
          <a:p>
            <a:r>
              <a:rPr lang="zh-CN" dirty="0"/>
              <a:t>要点：① 四步递进 ② 初始规则最关键 ③ 后续动作都有据可依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年老师怎么应对？四条核心原则。</a:t>
            </a:r>
          </a:p>
          <a:p>
            <a:endParaRPr lang="zh-CN" dirty="0"/>
          </a:p>
          <a:p>
            <a:r>
              <a:rPr lang="zh-CN" dirty="0"/>
              <a:t>不主动背锅——刘乾坤的问题直接传递，不接"帮我看下"。他的问题不是你的问题。</a:t>
            </a:r>
          </a:p>
          <a:p>
            <a:endParaRPr lang="zh-CN" dirty="0"/>
          </a:p>
          <a:p>
            <a:r>
              <a:rPr lang="zh-CN" dirty="0"/>
              <a:t>边界清晰——周末不接@，工作日按流程。不被他的节奏带偏。</a:t>
            </a:r>
          </a:p>
          <a:p>
            <a:endParaRPr lang="zh-CN" dirty="0"/>
          </a:p>
          <a:p>
            <a:r>
              <a:rPr lang="zh-CN" dirty="0"/>
              <a:t>信息独立——建立独立渠道，不依赖他拿数据。不听"别找供应商"。</a:t>
            </a:r>
          </a:p>
          <a:p>
            <a:endParaRPr lang="zh-CN" dirty="0"/>
          </a:p>
          <a:p>
            <a:r>
              <a:rPr lang="zh-CN" dirty="0"/>
              <a:t>学习技巧——立规矩、三要素法、数据说话。学他的手法，改良为自己的方式。</a:t>
            </a:r>
          </a:p>
          <a:p>
            <a:endParaRPr lang="zh-CN" dirty="0"/>
          </a:p>
          <a:p>
            <a:r>
              <a:rPr lang="zh-CN" dirty="0"/>
              <a:t>话术上，"帮我看下"回应"你的想法是什么"；周末@回应"收到，周一处理"。</a:t>
            </a:r>
          </a:p>
          <a:p>
            <a:endParaRPr lang="zh-CN" dirty="0"/>
          </a:p>
          <a:p>
            <a:r>
              <a:rPr lang="zh-CN" dirty="0"/>
              <a:t>要点：① 四条原则 ② 话术已备好 ③ 学手法改风格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刘乾坤的手法哪些可学，年老师又改进了什么？</a:t>
            </a:r>
          </a:p>
          <a:p>
            <a:endParaRPr lang="zh-CN" dirty="0"/>
          </a:p>
          <a:p>
            <a:r>
              <a:rPr lang="zh-CN" dirty="0"/>
              <a:t>刘乾坤六步法：定边界、查病灶、谈到位——这三个做得好。强执行、树标杆——施压过度，短期有效但长期损害信任。建机制——机制先行是对的。</a:t>
            </a:r>
          </a:p>
          <a:p>
            <a:endParaRPr lang="zh-CN" dirty="0"/>
          </a:p>
          <a:p>
            <a:r>
              <a:rPr lang="zh-CN" dirty="0"/>
              <a:t>年老师的改进：加了"给支持"。不是只提要求，还告诉供应商"我这边可以给你什么支持"。温和但坚决，长期伙伴关系而非高压驱动。</a:t>
            </a:r>
          </a:p>
          <a:p>
            <a:endParaRPr lang="zh-CN" dirty="0"/>
          </a:p>
          <a:p>
            <a:r>
              <a:rPr lang="zh-CN" dirty="0"/>
              <a:t>核心差异：刘乾坤是摆问题→施压→让供应商自己想。年老师是摆问题→提要求→给支持→让供应商自己想→长期合作。</a:t>
            </a:r>
          </a:p>
          <a:p>
            <a:endParaRPr lang="zh-CN" dirty="0"/>
          </a:p>
          <a:p>
            <a:r>
              <a:rPr lang="zh-CN" dirty="0"/>
              <a:t>可学的：立规矩、三要素法、数据说话、机制先行。需要改的：施压方式，从高压改为温和但坚决。</a:t>
            </a:r>
          </a:p>
          <a:p>
            <a:endParaRPr lang="zh-CN" dirty="0"/>
          </a:p>
          <a:p>
            <a:r>
              <a:rPr lang="zh-CN" dirty="0"/>
              <a:t>要点：① 三步值得学 ② 年老师加了"给支持" ③ 学手法改风格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最后三条行动要点。</a:t>
            </a:r>
          </a:p>
          <a:p>
            <a:endParaRPr lang="zh-CN" dirty="0"/>
          </a:p>
          <a:p>
            <a:r>
              <a:rPr lang="zh-CN" dirty="0"/>
              <a:t>看懂他——控制权、展示权、安全感。一切行为从这三个诉求出发。不理解诉求，就会被他的动作带着走。</a:t>
            </a:r>
          </a:p>
          <a:p>
            <a:endParaRPr lang="zh-CN" dirty="0"/>
          </a:p>
          <a:p>
            <a:r>
              <a:rPr lang="zh-CN" dirty="0"/>
              <a:t>应对他——不背锅、守边界、信息独立、学技巧。不接他的问题，不回他的节奏，不依赖他的信息。</a:t>
            </a:r>
          </a:p>
          <a:p>
            <a:endParaRPr lang="zh-CN" dirty="0"/>
          </a:p>
          <a:p>
            <a:r>
              <a:rPr lang="zh-CN" dirty="0"/>
              <a:t>学习他——规则先行、三要素法、数据说话、机制先行。学其手法，改其风格。温和但坚决，长期而非短期。</a:t>
            </a:r>
          </a:p>
          <a:p>
            <a:endParaRPr lang="zh-CN" dirty="0"/>
          </a:p>
          <a:p>
            <a:r>
              <a:rPr lang="zh-CN" dirty="0"/>
              <a:t>最后提醒他的三个破绽：表演型管理说明真实能力可能不足；信息管控导致长期合作困难；施压过度容易引发抵触。</a:t>
            </a:r>
          </a:p>
          <a:p>
            <a:endParaRPr lang="zh-CN" dirty="0"/>
          </a:p>
          <a:p>
            <a:r>
              <a:rPr lang="zh-CN" dirty="0"/>
              <a:t>理解破绽，才能不被他牵着走。</a:t>
            </a:r>
          </a:p>
          <a:p>
            <a:endParaRPr lang="zh-CN" dirty="0"/>
          </a:p>
          <a:p>
            <a:r>
              <a:rPr lang="zh-CN" dirty="0"/>
              <a:t>要点：① 三条行动要点 ② 三个破绽 ③ 理解是第一步</a:t>
            </a:r>
          </a:p>
          <a:p>
            <a:r>
              <a:rPr lang="zh-CN" dirty="0"/>
              <a:t>时长：2 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114300" y="0"/>
            <a:ext cx="28575" cy="68580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71500" y="523875"/>
            <a:ext cx="1714500" cy="47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619125"/>
            <a:ext cx="952500" cy="28575"/>
          </a:xfrm>
          <a:prstGeom prst="rect">
            <a:avLst/>
          </a:prstGeom>
          <a:solidFill>
            <a:srgbClr val="C41E3A">
              <a:alpha val="50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429500" y="0"/>
            <a:ext cx="4762500" cy="6858000"/>
          </a:xfrm>
          <a:prstGeom prst="rect">
            <a:avLst/>
          </a:prstGeom>
          <a:gradFill>
            <a:gsLst>
              <a:gs pos="0">
                <a:srgbClr val="C41E3A">
                  <a:alpha val="10000"/>
                </a:srgbClr>
              </a:gs>
              <a:gs pos="100000">
                <a:srgbClr val="E2725B">
                  <a:alpha val="3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096250" y="1143000"/>
            <a:ext cx="3429000" cy="3429000"/>
          </a:xfrm>
          <a:prstGeom prst="rect">
            <a:avLst/>
          </a:prstGeom>
          <a:noFill/>
          <a:ln w="9525">
            <a:solidFill>
              <a:srgbClr val="C41E3A">
                <a:alpha val="12000"/>
              </a:srgbClr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72500" y="1619250"/>
            <a:ext cx="2476500" cy="2476500"/>
          </a:xfrm>
          <a:prstGeom prst="rect">
            <a:avLst/>
          </a:prstGeom>
          <a:noFill/>
          <a:ln w="9525">
            <a:solidFill>
              <a:srgbClr val="C41E3A">
                <a:alpha val="8000"/>
              </a:srgbClr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9048750" y="2095500"/>
            <a:ext cx="1524000" cy="1524000"/>
          </a:xfrm>
          <a:prstGeom prst="rect">
            <a:avLst/>
          </a:prstGeom>
          <a:solidFill>
            <a:srgbClr val="C41E3A">
              <a:alpha val="3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0001250" y="1333500"/>
            <a:ext cx="1619250" cy="1714500"/>
          </a:xfrm>
          <a:custGeom>
            <a:avLst/>
            <a:gdLst/>
            <a:ahLst/>
            <a:cxnLst/>
            <a:rect l="l" t="t" r="r" b="b"/>
            <a:pathLst>
              <a:path w="1619250" h="1714500">
                <a:moveTo>
                  <a:pt x="0" y="0"/>
                </a:moveTo>
                <a:lnTo>
                  <a:pt x="1619250" y="0"/>
                </a:lnTo>
                <a:lnTo>
                  <a:pt x="809625" y="1714500"/>
                </a:lnTo>
                <a:close/>
              </a:path>
            </a:pathLst>
          </a:custGeom>
          <a:solidFill>
            <a:srgbClr val="C41E3A">
              <a:alpha val="5000"/>
            </a:srgbClr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8382000" y="3810000"/>
            <a:ext cx="1143000" cy="1143000"/>
          </a:xfrm>
          <a:custGeom>
            <a:avLst/>
            <a:gdLst/>
            <a:ahLst/>
            <a:cxnLst/>
            <a:rect l="l" t="t" r="r" b="b"/>
            <a:pathLst>
              <a:path w="1143000" h="1143000">
                <a:moveTo>
                  <a:pt x="0" y="0"/>
                </a:moveTo>
                <a:lnTo>
                  <a:pt x="1143000" y="0"/>
                </a:lnTo>
                <a:lnTo>
                  <a:pt x="571500" y="1143000"/>
                </a:lnTo>
                <a:close/>
              </a:path>
            </a:pathLst>
          </a:custGeom>
          <a:solidFill>
            <a:srgbClr val="E2725B">
              <a:alpha val="4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21970" y="1864995"/>
            <a:ext cx="548173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刘乾坤人物深度分析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571750"/>
            <a:ext cx="2857500" cy="38100"/>
          </a:xfrm>
          <a:prstGeom prst="rect">
            <a:avLst/>
          </a:prstGeom>
          <a:gradFill>
            <a:gsLst>
              <a:gs pos="0">
                <a:srgbClr val="C41E3A"/>
              </a:gs>
              <a:gs pos="100000">
                <a:srgbClr val="E2725B"/>
              </a:gs>
            </a:gsLst>
            <a:lin ang="0" scaled="1"/>
          </a:gra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48640" y="2948940"/>
            <a:ext cx="54218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权力框架 · 行为模式 · 应对策略 · 可学习内容</a:t>
            </a:r>
          </a:p>
        </p:txBody>
      </p:sp>
      <p:sp>
        <p:nvSpPr>
          <p:cNvPr id="16" name="Line 16"/>
          <p:cNvSpPr/>
          <p:nvPr/>
        </p:nvSpPr>
        <p:spPr>
          <a:xfrm>
            <a:off x="571500" y="3619500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E5E5E5"/>
            </a:solidFill>
          </a:ln>
        </p:spPr>
      </p:sp>
      <p:sp>
        <p:nvSpPr>
          <p:cNvPr id="17" name="Line 17"/>
          <p:cNvSpPr/>
          <p:nvPr/>
        </p:nvSpPr>
        <p:spPr>
          <a:xfrm>
            <a:off x="571500" y="3676650"/>
            <a:ext cx="1333500" cy="9525"/>
          </a:xfrm>
          <a:custGeom>
            <a:avLst/>
            <a:gdLst/>
            <a:ahLst/>
            <a:cxnLst/>
            <a:rect l="l" t="t" r="r" b="b"/>
            <a:pathLst>
              <a:path w="1333500" h="9525">
                <a:moveTo>
                  <a:pt x="0" y="0"/>
                </a:moveTo>
                <a:lnTo>
                  <a:pt x="133350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4095750"/>
            <a:ext cx="3810000" cy="95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71500" y="4095750"/>
            <a:ext cx="38100" cy="952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86765" y="4315778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建档人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2955" y="452151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  <p:sp>
        <p:nvSpPr>
          <p:cNvPr id="22" name="Line 22"/>
          <p:cNvSpPr/>
          <p:nvPr/>
        </p:nvSpPr>
        <p:spPr>
          <a:xfrm>
            <a:off x="2476500" y="4238625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691765" y="43157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版本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87955" y="4521518"/>
            <a:ext cx="18768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v10.2 · 2026-03-19</a:t>
            </a:r>
          </a:p>
        </p:txBody>
      </p:sp>
      <p:sp>
        <p:nvSpPr>
          <p:cNvPr id="25" name="Line 25"/>
          <p:cNvSpPr/>
          <p:nvPr/>
        </p:nvSpPr>
        <p:spPr>
          <a:xfrm>
            <a:off x="571500" y="6477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10287000" y="6238875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28600"/>
                </a:lnTo>
                <a:cubicBezTo>
                  <a:pt x="1333500" y="249642"/>
                  <a:pt x="1316442" y="266700"/>
                  <a:pt x="1295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41E3A">
              <a:alpha val="8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507566" y="6332220"/>
            <a:ext cx="8923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8165" y="655415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0991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166354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一句话定位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76250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76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010" y="112776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核心洞察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9760" y="1127760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他的所有行为，都围绕三个诉求展开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000250" y="2381250"/>
            <a:ext cx="1238250" cy="1238250"/>
            <a:chOff x="2000250" y="2381250"/>
            <a:chExt cx="1238250" cy="1238250"/>
          </a:xfrm>
        </p:grpSpPr>
        <p:sp>
          <p:nvSpPr>
            <p:cNvPr id="14" name="Ellipse 14"/>
            <p:cNvSpPr/>
            <p:nvPr/>
          </p:nvSpPr>
          <p:spPr>
            <a:xfrm>
              <a:off x="2000250" y="2381250"/>
              <a:ext cx="952500" cy="952500"/>
            </a:xfrm>
            <a:prstGeom prst="ellipse">
              <a:avLst/>
            </a:prstGeom>
            <a:noFill/>
            <a:ln w="28575">
              <a:solidFill>
                <a:srgbClr val="C41E3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038350" y="2419350"/>
              <a:ext cx="876300" cy="876300"/>
            </a:xfrm>
            <a:prstGeom prst="ellipse">
              <a:avLst/>
            </a:prstGeom>
            <a:noFill/>
            <a:ln w="9525">
              <a:solidFill>
                <a:srgbClr val="C41E3A">
                  <a:alpha val="3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809875" y="3190875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0" y="0"/>
                  </a:moveTo>
                  <a:lnTo>
                    <a:pt x="428625" y="428625"/>
                  </a:lnTo>
                </a:path>
              </a:pathLst>
            </a:custGeom>
            <a:noFill/>
            <a:ln w="57150" cap="rnd">
              <a:solidFill>
                <a:srgbClr val="C41E3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809875" y="3190875"/>
              <a:ext cx="428625" cy="428625"/>
            </a:xfrm>
            <a:custGeom>
              <a:avLst/>
              <a:gdLst/>
              <a:ahLst/>
              <a:cxnLst/>
              <a:rect l="l" t="t" r="r" b="b"/>
              <a:pathLst>
                <a:path w="428625" h="428625">
                  <a:moveTo>
                    <a:pt x="0" y="0"/>
                  </a:moveTo>
                  <a:lnTo>
                    <a:pt x="428625" y="428625"/>
                  </a:lnTo>
                </a:path>
              </a:pathLst>
            </a:custGeom>
            <a:noFill/>
            <a:ln w="28575" cap="rnd">
              <a:solidFill>
                <a:srgbClr val="E2725B">
                  <a:alpha val="5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88810" y="2726055"/>
              <a:ext cx="3753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C41E3A"/>
                  </a:solidFill>
                  <a:latin typeface="Arial"/>
                  <a:ea typeface="Microsoft YaHei"/>
                  <a:cs typeface="Arial"/>
                </a:rPr>
                <a:t>人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537710" y="2185035"/>
            <a:ext cx="29669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高压管理型业管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49140" y="2853690"/>
            <a:ext cx="2714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擅长</a:t>
            </a:r>
            <a:r>
              <a:rPr lang="zh-CN" sz="18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立规矩 + 三要素法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49140" y="3329940"/>
            <a:ext cx="37261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对上表演、对下施压、信息管控</a:t>
            </a:r>
          </a:p>
        </p:txBody>
      </p:sp>
      <p:sp>
        <p:nvSpPr>
          <p:cNvPr id="23" name="Freeform 23"/>
          <p:cNvSpPr/>
          <p:nvPr/>
        </p:nvSpPr>
        <p:spPr>
          <a:xfrm>
            <a:off x="4572000" y="4000500"/>
            <a:ext cx="1524000" cy="419100"/>
          </a:xfrm>
          <a:custGeom>
            <a:avLst/>
            <a:gdLst/>
            <a:ahLst/>
            <a:cxnLst/>
            <a:rect l="l" t="t" r="r" b="b"/>
            <a:pathLst>
              <a:path w="1524000" h="4191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81000"/>
                </a:lnTo>
                <a:cubicBezTo>
                  <a:pt x="1524000" y="402042"/>
                  <a:pt x="1506942" y="419100"/>
                  <a:pt x="1485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41E3A">
              <a:alpha val="8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572000" y="4000500"/>
            <a:ext cx="38100" cy="4191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4745355" y="41214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4000500"/>
            <a:ext cx="1524000" cy="419100"/>
          </a:xfrm>
          <a:custGeom>
            <a:avLst/>
            <a:gdLst/>
            <a:ahLst/>
            <a:cxnLst/>
            <a:rect l="l" t="t" r="r" b="b"/>
            <a:pathLst>
              <a:path w="1524000" h="4191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81000"/>
                </a:lnTo>
                <a:cubicBezTo>
                  <a:pt x="1524000" y="402042"/>
                  <a:pt x="1506942" y="419100"/>
                  <a:pt x="1485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25B">
              <a:alpha val="8000"/>
            </a:srgbClr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286500" y="4000500"/>
            <a:ext cx="38100" cy="4191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459855" y="41214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29" name="Freeform 29"/>
          <p:cNvSpPr/>
          <p:nvPr/>
        </p:nvSpPr>
        <p:spPr>
          <a:xfrm>
            <a:off x="8001000" y="4000500"/>
            <a:ext cx="1524000" cy="419100"/>
          </a:xfrm>
          <a:custGeom>
            <a:avLst/>
            <a:gdLst/>
            <a:ahLst/>
            <a:cxnLst/>
            <a:rect l="l" t="t" r="r" b="b"/>
            <a:pathLst>
              <a:path w="1524000" h="41910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381000"/>
                </a:lnTo>
                <a:cubicBezTo>
                  <a:pt x="1524000" y="402042"/>
                  <a:pt x="1506942" y="419100"/>
                  <a:pt x="1485900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B91C1C">
              <a:alpha val="8000"/>
            </a:srgbClr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8001000" y="4000500"/>
            <a:ext cx="38100" cy="4191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174355" y="4121468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6260" y="5013960"/>
            <a:ext cx="59893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他的一切行为，都从这三个诉求出发。理解这一点，才能看透他的所有动作。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Line 3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0070" y="6332220"/>
            <a:ext cx="15936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0991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364408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权力内核 — 他想要什么？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5462" y="1097756"/>
            <a:ext cx="38076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刘乾坤的一切行为围绕三个核心诉求展开，缺一不可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19250"/>
            <a:ext cx="3552825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1619250"/>
            <a:ext cx="3552825" cy="571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809625" y="1781175"/>
            <a:ext cx="476250" cy="352425"/>
            <a:chOff x="809625" y="1781175"/>
            <a:chExt cx="476250" cy="352425"/>
          </a:xfrm>
        </p:grpSpPr>
        <p:sp>
          <p:nvSpPr>
            <p:cNvPr id="16" name="Freeform 16"/>
            <p:cNvSpPr/>
            <p:nvPr/>
          </p:nvSpPr>
          <p:spPr>
            <a:xfrm>
              <a:off x="809625" y="1781175"/>
              <a:ext cx="476250" cy="285750"/>
            </a:xfrm>
            <a:custGeom>
              <a:avLst/>
              <a:gdLst/>
              <a:ahLst/>
              <a:cxnLst/>
              <a:rect l="l" t="t" r="r" b="b"/>
              <a:pathLst>
                <a:path w="476250" h="285750">
                  <a:moveTo>
                    <a:pt x="0" y="285750"/>
                  </a:moveTo>
                  <a:lnTo>
                    <a:pt x="47625" y="47625"/>
                  </a:lnTo>
                  <a:lnTo>
                    <a:pt x="142875" y="190500"/>
                  </a:lnTo>
                  <a:lnTo>
                    <a:pt x="238125" y="0"/>
                  </a:lnTo>
                  <a:lnTo>
                    <a:pt x="333375" y="190500"/>
                  </a:lnTo>
                  <a:lnTo>
                    <a:pt x="428625" y="47625"/>
                  </a:lnTo>
                  <a:lnTo>
                    <a:pt x="476250" y="285750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809625" y="2085975"/>
              <a:ext cx="476250" cy="47625"/>
            </a:xfrm>
            <a:prstGeom prst="rect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403985" y="1865948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控制权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62000" y="2381250"/>
            <a:ext cx="28575" cy="2857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5355" y="2521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7260" y="28232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立规矩、阻断信息、责任下放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5355" y="32832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7260" y="3585210"/>
            <a:ext cx="23263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刚接手需要"我在管"的信号，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7260" y="3823335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建立秩序是首要任务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5355" y="4283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7260" y="4585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刚接管业务时频繁宣布新规则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7260" y="4823460"/>
            <a:ext cx="14500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强调"按规则办事"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9165" y="52206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应对：确认合理性，不盲目接受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314825" y="1619250"/>
            <a:ext cx="3562350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4314825" y="1619250"/>
            <a:ext cx="356235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grpSp>
        <p:nvGrpSpPr>
          <p:cNvPr id="34" name="Group 34"/>
          <p:cNvGrpSpPr/>
          <p:nvPr/>
        </p:nvGrpSpPr>
        <p:grpSpPr>
          <a:xfrm>
            <a:off x="4524375" y="1771650"/>
            <a:ext cx="533400" cy="342900"/>
            <a:chOff x="4524375" y="1771650"/>
            <a:chExt cx="533400" cy="342900"/>
          </a:xfrm>
        </p:grpSpPr>
        <p:sp>
          <p:nvSpPr>
            <p:cNvPr id="32" name="Ellipse 32"/>
            <p:cNvSpPr/>
            <p:nvPr/>
          </p:nvSpPr>
          <p:spPr>
            <a:xfrm>
              <a:off x="4524375" y="1771650"/>
              <a:ext cx="533400" cy="3429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714875" y="1866900"/>
              <a:ext cx="152400" cy="152400"/>
            </a:xfrm>
            <a:prstGeom prst="ellipse">
              <a:avLst/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5147310" y="1865948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展示权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505325" y="2381250"/>
            <a:ext cx="28575" cy="2857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678680" y="2521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80585" y="2823210"/>
            <a:ext cx="21511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群内表演、打鸡血、CC上级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678680" y="32832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680585" y="3585210"/>
            <a:ext cx="2501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最在意"老板知不知道我在解决"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680585" y="3823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表演给上级看，不是给平级看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678680" y="4283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680585" y="4585335"/>
            <a:ext cx="24227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群聊中高频@上级，汇报"进展"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80585" y="4823460"/>
            <a:ext cx="19758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语气偏向"我在推动解决"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682490" y="5220652"/>
            <a:ext cx="20202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应对：不抢戏，专注自身边界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067675" y="1619250"/>
            <a:ext cx="3552825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067675" y="1619250"/>
            <a:ext cx="3552825" cy="5715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8305800" y="1752600"/>
            <a:ext cx="476250" cy="533400"/>
          </a:xfrm>
          <a:custGeom>
            <a:avLst/>
            <a:gdLst/>
            <a:ahLst/>
            <a:cxnLst/>
            <a:rect l="l" t="t" r="r" b="b"/>
            <a:pathLst>
              <a:path w="476250" h="533400">
                <a:moveTo>
                  <a:pt x="238125" y="0"/>
                </a:moveTo>
                <a:lnTo>
                  <a:pt x="476250" y="95250"/>
                </a:lnTo>
                <a:lnTo>
                  <a:pt x="476250" y="266700"/>
                </a:lnTo>
                <a:cubicBezTo>
                  <a:pt x="476250" y="381000"/>
                  <a:pt x="352425" y="476250"/>
                  <a:pt x="238125" y="533400"/>
                </a:cubicBezTo>
                <a:cubicBezTo>
                  <a:pt x="123825" y="476250"/>
                  <a:pt x="0" y="381000"/>
                  <a:pt x="0" y="26670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900160" y="1865948"/>
            <a:ext cx="946642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安全感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258175" y="2381250"/>
            <a:ext cx="28575" cy="28575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431530" y="25212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典型动作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33435" y="28232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信息管控、建立依赖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431530" y="3283268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动机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433435" y="3585210"/>
            <a:ext cx="21336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怕被替代，让别人依赖自己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433435" y="3823335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掌控信息就是掌控不可替代性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431530" y="4283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识别信号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433435" y="4585335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阻断他与上级的直接沟通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433435" y="4823460"/>
            <a:ext cx="19758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"别找供应商，我来对接"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435340" y="5220652"/>
            <a:ext cx="217360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应对：建立独立渠道，不依赖他</a:t>
            </a:r>
          </a:p>
        </p:txBody>
      </p:sp>
      <p:sp>
        <p:nvSpPr>
          <p:cNvPr id="60" name="Rectangle 60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1" name="Line 61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0070" y="6332220"/>
            <a:ext cx="2533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权力内核章节</a:t>
            </a:r>
          </a:p>
        </p:txBody>
      </p:sp>
      <p:sp>
        <p:nvSpPr>
          <p:cNvPr id="63" name="Rectangle 63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0991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364408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权力来源 — 权力从哪来？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5462" y="1097756"/>
            <a:ext cx="36186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5 种权力来源，从底层规则到表层施压，层层递进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09625" y="1981200"/>
            <a:ext cx="4714875" cy="2924175"/>
            <a:chOff x="809625" y="1981200"/>
            <a:chExt cx="4714875" cy="2924175"/>
          </a:xfrm>
        </p:grpSpPr>
        <p:sp>
          <p:nvSpPr>
            <p:cNvPr id="14" name="Freeform 14"/>
            <p:cNvSpPr/>
            <p:nvPr/>
          </p:nvSpPr>
          <p:spPr>
            <a:xfrm>
              <a:off x="809625" y="4857750"/>
              <a:ext cx="4714875" cy="47625"/>
            </a:xfrm>
            <a:custGeom>
              <a:avLst/>
              <a:gdLst/>
              <a:ahLst/>
              <a:cxnLst/>
              <a:rect l="l" t="t" r="r" b="b"/>
              <a:pathLst>
                <a:path w="4714875" h="47625">
                  <a:moveTo>
                    <a:pt x="47625" y="0"/>
                  </a:moveTo>
                  <a:lnTo>
                    <a:pt x="4714875" y="0"/>
                  </a:lnTo>
                  <a:lnTo>
                    <a:pt x="46672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B91C1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63191" y="45691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施压权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57250" y="4143375"/>
              <a:ext cx="4667250" cy="695325"/>
            </a:xfrm>
            <a:custGeom>
              <a:avLst/>
              <a:gdLst/>
              <a:ahLst/>
              <a:cxnLst/>
              <a:rect l="l" t="t" r="r" b="b"/>
              <a:pathLst>
                <a:path w="4667250" h="695325">
                  <a:moveTo>
                    <a:pt x="476250" y="0"/>
                  </a:moveTo>
                  <a:lnTo>
                    <a:pt x="4191000" y="0"/>
                  </a:lnTo>
                  <a:lnTo>
                    <a:pt x="4667250" y="695325"/>
                  </a:lnTo>
                  <a:lnTo>
                    <a:pt x="0" y="695325"/>
                  </a:lnTo>
                  <a:close/>
                </a:path>
              </a:pathLst>
            </a:custGeom>
            <a:solidFill>
              <a:srgbClr val="C41E3A">
                <a:alpha val="85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863191" y="437864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注意权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333500" y="3429000"/>
              <a:ext cx="3714750" cy="695325"/>
            </a:xfrm>
            <a:custGeom>
              <a:avLst/>
              <a:gdLst/>
              <a:ahLst/>
              <a:cxnLst/>
              <a:rect l="l" t="t" r="r" b="b"/>
              <a:pathLst>
                <a:path w="3714750" h="695325">
                  <a:moveTo>
                    <a:pt x="476250" y="0"/>
                  </a:moveTo>
                  <a:lnTo>
                    <a:pt x="3238500" y="0"/>
                  </a:lnTo>
                  <a:lnTo>
                    <a:pt x="3714750" y="695325"/>
                  </a:lnTo>
                  <a:lnTo>
                    <a:pt x="0" y="695325"/>
                  </a:lnTo>
                  <a:close/>
                </a:path>
              </a:pathLst>
            </a:custGeom>
            <a:solidFill>
              <a:srgbClr val="C41E3A">
                <a:alpha val="7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63191" y="3664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关系权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809750" y="2714625"/>
              <a:ext cx="2762250" cy="695325"/>
            </a:xfrm>
            <a:custGeom>
              <a:avLst/>
              <a:gdLst/>
              <a:ahLst/>
              <a:cxnLst/>
              <a:rect l="l" t="t" r="r" b="b"/>
              <a:pathLst>
                <a:path w="2762250" h="695325">
                  <a:moveTo>
                    <a:pt x="476250" y="0"/>
                  </a:moveTo>
                  <a:lnTo>
                    <a:pt x="2286000" y="0"/>
                  </a:lnTo>
                  <a:lnTo>
                    <a:pt x="2762250" y="695325"/>
                  </a:lnTo>
                  <a:lnTo>
                    <a:pt x="0" y="695325"/>
                  </a:lnTo>
                  <a:close/>
                </a:path>
              </a:pathLst>
            </a:custGeom>
            <a:solidFill>
              <a:srgbClr val="E2725B">
                <a:alpha val="8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63191" y="2949892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信息权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86000" y="2000250"/>
              <a:ext cx="1809750" cy="695325"/>
            </a:xfrm>
            <a:custGeom>
              <a:avLst/>
              <a:gdLst/>
              <a:ahLst/>
              <a:cxnLst/>
              <a:rect l="l" t="t" r="r" b="b"/>
              <a:pathLst>
                <a:path w="1809750" h="695325">
                  <a:moveTo>
                    <a:pt x="476250" y="0"/>
                  </a:moveTo>
                  <a:lnTo>
                    <a:pt x="1333500" y="0"/>
                  </a:lnTo>
                  <a:lnTo>
                    <a:pt x="1809750" y="695325"/>
                  </a:lnTo>
                  <a:lnTo>
                    <a:pt x="0" y="695325"/>
                  </a:lnTo>
                  <a:close/>
                </a:path>
              </a:pathLst>
            </a:custGeom>
            <a:solidFill>
              <a:srgbClr val="E2725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63191" y="22355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规则权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2743200" y="198120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9050" y="0"/>
                  </a:moveTo>
                  <a:lnTo>
                    <a:pt x="0" y="38100"/>
                  </a:lnTo>
                  <a:lnTo>
                    <a:pt x="38100" y="19050"/>
                  </a:lnTo>
                  <a:lnTo>
                    <a:pt x="19050" y="0"/>
                  </a:lnTo>
                </a:path>
              </a:pathLst>
            </a:custGeom>
            <a:solidFill>
              <a:srgbClr val="C41E3A">
                <a:alpha val="40000"/>
              </a:srgbClr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600450" y="1981200"/>
              <a:ext cx="38100" cy="38100"/>
            </a:xfrm>
            <a:custGeom>
              <a:avLst/>
              <a:gdLst/>
              <a:ahLst/>
              <a:cxnLst/>
              <a:rect l="l" t="t" r="r" b="b"/>
              <a:pathLst>
                <a:path w="38100" h="38100">
                  <a:moveTo>
                    <a:pt x="19050" y="0"/>
                  </a:moveTo>
                  <a:lnTo>
                    <a:pt x="38100" y="38100"/>
                  </a:lnTo>
                  <a:lnTo>
                    <a:pt x="0" y="19050"/>
                  </a:lnTo>
                  <a:lnTo>
                    <a:pt x="19050" y="0"/>
                  </a:lnTo>
                </a:path>
              </a:pathLst>
            </a:custGeom>
            <a:solidFill>
              <a:srgbClr val="C41E3A">
                <a:alpha val="40000"/>
              </a:srgbClr>
            </a:solidFill>
            <a:ln>
              <a:noFill/>
            </a:ln>
          </p:spPr>
        </p:sp>
      </p:grpSp>
      <p:sp>
        <p:nvSpPr>
          <p:cNvPr id="27" name="Rectangle 27"/>
          <p:cNvSpPr/>
          <p:nvPr/>
        </p:nvSpPr>
        <p:spPr>
          <a:xfrm>
            <a:off x="5143500" y="1524000"/>
            <a:ext cx="6477000" cy="419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143500" y="1524000"/>
            <a:ext cx="1905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712714" y="16421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权力类型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048500" y="1524000"/>
            <a:ext cx="2286000" cy="381000"/>
          </a:xfrm>
          <a:prstGeom prst="rect">
            <a:avLst/>
          </a:prstGeom>
          <a:solidFill>
            <a:srgbClr val="C41E3A">
              <a:alpha val="80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808214" y="16421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典型手法</a:t>
            </a:r>
          </a:p>
        </p:txBody>
      </p:sp>
      <p:sp>
        <p:nvSpPr>
          <p:cNvPr id="32" name="Rectangle 32"/>
          <p:cNvSpPr/>
          <p:nvPr/>
        </p:nvSpPr>
        <p:spPr>
          <a:xfrm>
            <a:off x="9334500" y="1524000"/>
            <a:ext cx="2286000" cy="381000"/>
          </a:xfrm>
          <a:prstGeom prst="rect">
            <a:avLst/>
          </a:prstGeom>
          <a:solidFill>
            <a:srgbClr val="C41E3A">
              <a:alpha val="6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094214" y="16421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143500" y="1905000"/>
            <a:ext cx="6477000" cy="68580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143500" y="1905000"/>
            <a:ext cx="38100" cy="6858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804726" y="20135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798820" y="22569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（顶层）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19988" y="20216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立规矩、机制先行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531203" y="225694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"按规则办事"的底气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052447" y="2021681"/>
            <a:ext cx="8501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确认合理性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24323" y="22569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不盲目接受所有规则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143500" y="2590800"/>
            <a:ext cx="6477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804726" y="26993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信息权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19988" y="27074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两头堵、阻断信息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51921" y="2942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控制信息流动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70294" y="2707481"/>
            <a:ext cx="10144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建立独立渠道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966722" y="29427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不依赖他拿数据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43500" y="3276600"/>
            <a:ext cx="6477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804726" y="33851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关系权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19988" y="33932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拉拢圈人、人情债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680722" y="36285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用关系绑定利益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888141" y="3393281"/>
            <a:ext cx="11787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接受但不欠人情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966722" y="36285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区分工作与私交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143500" y="3962400"/>
            <a:ext cx="6477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5804726" y="40709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注意权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519988" y="4079081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群内表演、打鸡血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609523" y="43143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刷存在感给上级看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216753" y="4079081"/>
            <a:ext cx="521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不抢戏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37921" y="43143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专注自身边界</a:t>
            </a:r>
          </a:p>
        </p:txBody>
      </p:sp>
      <p:sp>
        <p:nvSpPr>
          <p:cNvPr id="60" name="Rectangle 60"/>
          <p:cNvSpPr/>
          <p:nvPr/>
        </p:nvSpPr>
        <p:spPr>
          <a:xfrm>
            <a:off x="5143500" y="4648200"/>
            <a:ext cx="6477000" cy="68580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5143500" y="4648200"/>
            <a:ext cx="38100" cy="6858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5804726" y="4756785"/>
            <a:ext cx="5825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施压权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798820" y="50001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（底层）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437834" y="47648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公开锁定、高压管理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751921" y="50001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制造回复压力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134600" y="4764881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反问回去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0180320" y="5000149"/>
            <a:ext cx="5943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不接任务</a:t>
            </a:r>
          </a:p>
        </p:txBody>
      </p:sp>
      <p:sp>
        <p:nvSpPr>
          <p:cNvPr id="68" name="Rectangle 68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" name="Line 69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70" name="TextBox 70"/>
          <p:cNvSpPr txBox="1"/>
          <p:nvPr/>
        </p:nvSpPr>
        <p:spPr>
          <a:xfrm>
            <a:off x="560070" y="6332220"/>
            <a:ext cx="2533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权力框架章节</a:t>
            </a:r>
          </a:p>
        </p:txBody>
      </p:sp>
      <p:sp>
        <p:nvSpPr>
          <p:cNvPr id="71" name="Rectangle 71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0991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433647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核心行为模式 — 18 种战术动作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全景概览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5462" y="1097756"/>
            <a:ext cx="3503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18 种模式按权力来源分组，风险等级用颜色区分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048750" y="952500"/>
            <a:ext cx="114300" cy="1143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188768" y="961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风险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620250" y="952500"/>
            <a:ext cx="114300" cy="1143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60268" y="961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施压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0191750" y="952500"/>
            <a:ext cx="114300" cy="1143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331768" y="961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中性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0763250" y="952500"/>
            <a:ext cx="114300" cy="1143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903268" y="9615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可学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1524000"/>
            <a:ext cx="2714625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571500" y="1524000"/>
            <a:ext cx="2714625" cy="3810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596366" y="16354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规则权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14375" y="2047875"/>
            <a:ext cx="2428875" cy="333375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14375" y="2047875"/>
            <a:ext cx="28575" cy="33337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42010" y="2137410"/>
            <a:ext cx="8016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7. 立规矩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476625" y="1524000"/>
            <a:ext cx="2714625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3476625" y="1524000"/>
            <a:ext cx="2714625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071912" y="1635442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信息权 · 关系权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619500" y="204787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3619500" y="2047875"/>
            <a:ext cx="28575" cy="3333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3747135" y="2137410"/>
            <a:ext cx="8542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13. 两头堵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619500" y="252412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3619500" y="2524125"/>
            <a:ext cx="28575" cy="33337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747135" y="261366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8. 拉拢圈人</a:t>
            </a:r>
          </a:p>
        </p:txBody>
      </p:sp>
      <p:sp>
        <p:nvSpPr>
          <p:cNvPr id="37" name="Rectangle 37"/>
          <p:cNvSpPr/>
          <p:nvPr/>
        </p:nvSpPr>
        <p:spPr>
          <a:xfrm>
            <a:off x="3619500" y="300037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619500" y="3000375"/>
            <a:ext cx="28575" cy="33337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747135" y="3089910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12. 人情债管理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381750" y="1524000"/>
            <a:ext cx="2714625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6381750" y="1524000"/>
            <a:ext cx="2714625" cy="3810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977037" y="1635442"/>
            <a:ext cx="1514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注意权 · 施压权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524625" y="204787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524625" y="2047875"/>
            <a:ext cx="28575" cy="33337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652260" y="213741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2. 群内表演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524625" y="252412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6524625" y="2524125"/>
            <a:ext cx="28575" cy="33337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2260" y="2613660"/>
            <a:ext cx="161658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6. 任务下放+CC展示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524625" y="300037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524625" y="3000375"/>
            <a:ext cx="28575" cy="3333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652260" y="308991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3. 公开锁定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524625" y="347662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6524625" y="3476625"/>
            <a:ext cx="28575" cy="3333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52260" y="356616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4. 高压管理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524625" y="395287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6524625" y="3952875"/>
            <a:ext cx="28575" cy="3333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652260" y="404241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9. 追责转嫁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524625" y="4429125"/>
            <a:ext cx="2428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6524625" y="4429125"/>
            <a:ext cx="28575" cy="3333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652260" y="4518660"/>
            <a:ext cx="8542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10. 加压链</a:t>
            </a:r>
          </a:p>
        </p:txBody>
      </p:sp>
      <p:sp>
        <p:nvSpPr>
          <p:cNvPr id="61" name="Rectangle 61"/>
          <p:cNvSpPr/>
          <p:nvPr/>
        </p:nvSpPr>
        <p:spPr>
          <a:xfrm>
            <a:off x="9286875" y="1524000"/>
            <a:ext cx="2333625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9286875" y="1524000"/>
            <a:ext cx="2333625" cy="3810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0121241" y="16354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组合拳</a:t>
            </a:r>
          </a:p>
        </p:txBody>
      </p:sp>
      <p:sp>
        <p:nvSpPr>
          <p:cNvPr id="64" name="Rectangle 64"/>
          <p:cNvSpPr/>
          <p:nvPr/>
        </p:nvSpPr>
        <p:spPr>
          <a:xfrm>
            <a:off x="9429750" y="2047875"/>
            <a:ext cx="2047875" cy="33337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9429750" y="2047875"/>
            <a:ext cx="28575" cy="33337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9557385" y="2137410"/>
            <a:ext cx="7578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1. 抛问题</a:t>
            </a:r>
          </a:p>
        </p:txBody>
      </p:sp>
      <p:sp>
        <p:nvSpPr>
          <p:cNvPr id="67" name="Rectangle 67"/>
          <p:cNvSpPr/>
          <p:nvPr/>
        </p:nvSpPr>
        <p:spPr>
          <a:xfrm>
            <a:off x="9429750" y="2524125"/>
            <a:ext cx="2047875" cy="33337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9429750" y="2524125"/>
            <a:ext cx="28575" cy="33337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9557385" y="2613660"/>
            <a:ext cx="9768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5. 正面对冲</a:t>
            </a:r>
          </a:p>
        </p:txBody>
      </p:sp>
      <p:sp>
        <p:nvSpPr>
          <p:cNvPr id="70" name="Rectangle 70"/>
          <p:cNvSpPr/>
          <p:nvPr/>
        </p:nvSpPr>
        <p:spPr>
          <a:xfrm>
            <a:off x="9429750" y="3000375"/>
            <a:ext cx="2047875" cy="33337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71" name="Rectangle 71"/>
          <p:cNvSpPr/>
          <p:nvPr/>
        </p:nvSpPr>
        <p:spPr>
          <a:xfrm>
            <a:off x="9429750" y="3000375"/>
            <a:ext cx="28575" cy="33337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9557385" y="3089910"/>
            <a:ext cx="9856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11. 借力打力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429750" y="3476625"/>
            <a:ext cx="2047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74" name="Rectangle 74"/>
          <p:cNvSpPr/>
          <p:nvPr/>
        </p:nvSpPr>
        <p:spPr>
          <a:xfrm>
            <a:off x="9429750" y="3476625"/>
            <a:ext cx="28575" cy="3333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75" name="TextBox 75"/>
          <p:cNvSpPr txBox="1"/>
          <p:nvPr/>
        </p:nvSpPr>
        <p:spPr>
          <a:xfrm>
            <a:off x="9557385" y="3566160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14. 群聊闹事</a:t>
            </a:r>
          </a:p>
        </p:txBody>
      </p:sp>
      <p:sp>
        <p:nvSpPr>
          <p:cNvPr id="76" name="Rectangle 76"/>
          <p:cNvSpPr/>
          <p:nvPr/>
        </p:nvSpPr>
        <p:spPr>
          <a:xfrm>
            <a:off x="9429750" y="3952875"/>
            <a:ext cx="2047875" cy="3333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9429750" y="3952875"/>
            <a:ext cx="28575" cy="3333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9557385" y="4042410"/>
            <a:ext cx="12047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15. 选择性攻击</a:t>
            </a:r>
          </a:p>
        </p:txBody>
      </p:sp>
      <p:sp>
        <p:nvSpPr>
          <p:cNvPr id="79" name="Rectangle 79"/>
          <p:cNvSpPr/>
          <p:nvPr/>
        </p:nvSpPr>
        <p:spPr>
          <a:xfrm>
            <a:off x="9429750" y="4429125"/>
            <a:ext cx="2047875" cy="33337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80" name="Rectangle 80"/>
          <p:cNvSpPr/>
          <p:nvPr/>
        </p:nvSpPr>
        <p:spPr>
          <a:xfrm>
            <a:off x="9429750" y="4429125"/>
            <a:ext cx="28575" cy="33337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9557385" y="4518660"/>
            <a:ext cx="137998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16. 质疑数据降温</a:t>
            </a:r>
          </a:p>
        </p:txBody>
      </p:sp>
      <p:sp>
        <p:nvSpPr>
          <p:cNvPr id="82" name="Rectangle 82"/>
          <p:cNvSpPr/>
          <p:nvPr/>
        </p:nvSpPr>
        <p:spPr>
          <a:xfrm>
            <a:off x="9429750" y="4905375"/>
            <a:ext cx="2047875" cy="33337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83" name="Rectangle 83"/>
          <p:cNvSpPr/>
          <p:nvPr/>
        </p:nvSpPr>
        <p:spPr>
          <a:xfrm>
            <a:off x="9429750" y="4905375"/>
            <a:ext cx="28575" cy="33337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9557385" y="4994910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17. 挖人试探</a:t>
            </a:r>
          </a:p>
        </p:txBody>
      </p:sp>
      <p:sp>
        <p:nvSpPr>
          <p:cNvPr id="85" name="Rectangle 85"/>
          <p:cNvSpPr/>
          <p:nvPr/>
        </p:nvSpPr>
        <p:spPr>
          <a:xfrm>
            <a:off x="9429750" y="5381625"/>
            <a:ext cx="2047875" cy="333375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86" name="Rectangle 86"/>
          <p:cNvSpPr/>
          <p:nvPr/>
        </p:nvSpPr>
        <p:spPr>
          <a:xfrm>
            <a:off x="9429750" y="5381625"/>
            <a:ext cx="28575" cy="33337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87" name="TextBox 87"/>
          <p:cNvSpPr txBox="1"/>
          <p:nvPr/>
        </p:nvSpPr>
        <p:spPr>
          <a:xfrm>
            <a:off x="9557385" y="5471160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18. 镜像过敏</a:t>
            </a:r>
          </a:p>
        </p:txBody>
      </p:sp>
      <p:sp>
        <p:nvSpPr>
          <p:cNvPr id="88" name="Rectangle 88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9" name="Line 89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560070" y="6332220"/>
            <a:ext cx="25531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18 种行为模式</a:t>
            </a:r>
          </a:p>
        </p:txBody>
      </p:sp>
      <p:sp>
        <p:nvSpPr>
          <p:cNvPr id="91" name="Rectangle 91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0991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493225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模式组合拳 — 什么时候用什么招？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核心逻辑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5462" y="1097756"/>
            <a:ext cx="36433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不同阶段触发不同模式组合，目标明确、手法连贯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19250"/>
            <a:ext cx="11049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1619250"/>
            <a:ext cx="47625" cy="952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62000" y="1762125"/>
            <a:ext cx="9525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3385" y="18488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刚接手</a:t>
            </a:r>
          </a:p>
        </p:txBody>
      </p:sp>
      <p:sp>
        <p:nvSpPr>
          <p:cNvPr id="18" name="Polygon 18"/>
          <p:cNvSpPr/>
          <p:nvPr/>
        </p:nvSpPr>
        <p:spPr>
          <a:xfrm>
            <a:off x="1857375" y="1828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lnTo>
                  <a:pt x="190500" y="0"/>
                </a:lnTo>
                <a:lnTo>
                  <a:pt x="190500" y="152400"/>
                </a:lnTo>
                <a:close/>
              </a:path>
            </a:pathLst>
          </a:custGeom>
          <a:solidFill>
            <a:srgbClr val="C41E3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2190750" y="1762125"/>
            <a:ext cx="1238250" cy="2857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2555010" y="18488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552825" y="18002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+</a:t>
            </a:r>
          </a:p>
        </p:txBody>
      </p:sp>
      <p:sp>
        <p:nvSpPr>
          <p:cNvPr id="22" name="Rectangle 22"/>
          <p:cNvSpPr/>
          <p:nvPr/>
        </p:nvSpPr>
        <p:spPr>
          <a:xfrm>
            <a:off x="3810000" y="1762125"/>
            <a:ext cx="1238250" cy="2857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093750" y="18488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数据切入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25415" y="18488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预期效果：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87415" y="1848802"/>
            <a:ext cx="28023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建立"按规则办事"形象，数据切入找抓手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9618" y="2275999"/>
            <a:ext cx="34423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高明之处：先立规矩再动手，后续一切动作都有据可依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2762250"/>
            <a:ext cx="11049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2762250"/>
            <a:ext cx="47625" cy="952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62000" y="2905125"/>
            <a:ext cx="952500" cy="2857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2875" y="29918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日常运营</a:t>
            </a:r>
          </a:p>
        </p:txBody>
      </p:sp>
      <p:sp>
        <p:nvSpPr>
          <p:cNvPr id="31" name="Polygon 31"/>
          <p:cNvSpPr/>
          <p:nvPr/>
        </p:nvSpPr>
        <p:spPr>
          <a:xfrm>
            <a:off x="1857375" y="2971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lnTo>
                  <a:pt x="190500" y="0"/>
                </a:lnTo>
                <a:lnTo>
                  <a:pt x="190500" y="152400"/>
                </a:lnTo>
                <a:close/>
              </a:path>
            </a:pathLst>
          </a:custGeom>
          <a:solidFill>
            <a:srgbClr val="E2725B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2190750" y="2905125"/>
            <a:ext cx="1238250" cy="285750"/>
          </a:xfrm>
          <a:prstGeom prst="rect">
            <a:avLst/>
          </a:prstGeom>
          <a:solidFill>
            <a:srgbClr val="C41E3A">
              <a:alpha val="80000"/>
            </a:srgbClr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474500" y="29918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群内表演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552825" y="29432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+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810000" y="2905125"/>
            <a:ext cx="1238250" cy="285750"/>
          </a:xfrm>
          <a:prstGeom prst="rect">
            <a:avLst/>
          </a:prstGeom>
          <a:solidFill>
            <a:srgbClr val="C41E3A">
              <a:alpha val="8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093750" y="29918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三要素法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225415" y="29918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预期效果：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987415" y="29918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让供应商自己承诺原因、目标、举措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9618" y="3418999"/>
            <a:ext cx="329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高明之处：不自己说，让供应商自己说，承诺即约束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3905250"/>
            <a:ext cx="11049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571500" y="3905250"/>
            <a:ext cx="47625" cy="9525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762000" y="4048125"/>
            <a:ext cx="952500" cy="2857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02875" y="41348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遇到阻力</a:t>
            </a:r>
          </a:p>
        </p:txBody>
      </p:sp>
      <p:sp>
        <p:nvSpPr>
          <p:cNvPr id="44" name="Polygon 44"/>
          <p:cNvSpPr/>
          <p:nvPr/>
        </p:nvSpPr>
        <p:spPr>
          <a:xfrm>
            <a:off x="1857375" y="4114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lnTo>
                  <a:pt x="190500" y="0"/>
                </a:lnTo>
                <a:lnTo>
                  <a:pt x="190500" y="1524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2190750" y="4048125"/>
            <a:ext cx="1238250" cy="2857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474500" y="41348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高压管理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552825" y="40862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+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4048125"/>
            <a:ext cx="1238250" cy="2857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93750" y="41348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公开锁定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225415" y="41348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预期效果：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987415" y="4134802"/>
            <a:ext cx="27180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群里@具体人，制造回复压力，逼人表态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49618" y="4561999"/>
            <a:ext cx="34423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高明之处：公开施压，不回复就是默认，回复就被锁定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5048250"/>
            <a:ext cx="110490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571500" y="5048250"/>
            <a:ext cx="47625" cy="85725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62000" y="5191125"/>
            <a:ext cx="1333500" cy="28575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932355" y="52778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需要上级支持</a:t>
            </a:r>
          </a:p>
        </p:txBody>
      </p:sp>
      <p:sp>
        <p:nvSpPr>
          <p:cNvPr id="57" name="Polygon 57"/>
          <p:cNvSpPr/>
          <p:nvPr/>
        </p:nvSpPr>
        <p:spPr>
          <a:xfrm>
            <a:off x="2238375" y="5257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lnTo>
                  <a:pt x="190500" y="0"/>
                </a:lnTo>
                <a:lnTo>
                  <a:pt x="190500" y="152400"/>
                </a:lnTo>
                <a:close/>
              </a:path>
            </a:pathLst>
          </a:custGeom>
          <a:solidFill>
            <a:srgbClr val="6B7280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2571750" y="5191125"/>
            <a:ext cx="1238250" cy="285750"/>
          </a:xfrm>
          <a:prstGeom prst="rect">
            <a:avLst/>
          </a:prstGeom>
          <a:solidFill>
            <a:srgbClr val="C41E3A">
              <a:alpha val="70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2936010" y="5277802"/>
            <a:ext cx="50973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打鸡血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933825" y="5229225"/>
            <a:ext cx="1585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+</a:t>
            </a:r>
          </a:p>
        </p:txBody>
      </p:sp>
      <p:sp>
        <p:nvSpPr>
          <p:cNvPr id="61" name="Rectangle 61"/>
          <p:cNvSpPr/>
          <p:nvPr/>
        </p:nvSpPr>
        <p:spPr>
          <a:xfrm>
            <a:off x="4191000" y="5191125"/>
            <a:ext cx="1238250" cy="285750"/>
          </a:xfrm>
          <a:prstGeom prst="rect">
            <a:avLst/>
          </a:prstGeom>
          <a:solidFill>
            <a:srgbClr val="C41E3A">
              <a:alpha val="70000"/>
            </a:srgbClr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4474750" y="52778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道德绑架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606415" y="52778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预期效果：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68415" y="5277802"/>
            <a:ext cx="29557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向上级展示"我在全力推动"，获取资源倾斜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49618" y="5609749"/>
            <a:ext cx="37413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高明之处：表演给上级看，"我在解决问题，需要更多支持"</a:t>
            </a:r>
          </a:p>
        </p:txBody>
      </p:sp>
      <p:sp>
        <p:nvSpPr>
          <p:cNvPr id="66" name="Rectangle 66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" name="Line 67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560070" y="6332220"/>
            <a:ext cx="2533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行为模式分析</a:t>
            </a:r>
          </a:p>
        </p:txBody>
      </p:sp>
      <p:sp>
        <p:nvSpPr>
          <p:cNvPr id="69" name="Rectangle 69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0991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39661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关系网络 — 他在和谁互动？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核心洞察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5462" y="1097756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他对不同人的互动策略完全不同，但核心逻辑一致：用最小的成本换取最大的价值</a:t>
            </a:r>
          </a:p>
        </p:txBody>
      </p:sp>
      <p:sp>
        <p:nvSpPr>
          <p:cNvPr id="14" name="Ellipse 14"/>
          <p:cNvSpPr/>
          <p:nvPr/>
        </p:nvSpPr>
        <p:spPr>
          <a:xfrm>
            <a:off x="5572125" y="2714625"/>
            <a:ext cx="1047750" cy="1047750"/>
          </a:xfrm>
          <a:prstGeom prst="ellipse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5600700" y="2743200"/>
            <a:ext cx="990600" cy="990600"/>
          </a:xfrm>
          <a:prstGeom prst="ellipse">
            <a:avLst/>
          </a:prstGeom>
          <a:noFill/>
          <a:ln w="9525">
            <a:solidFill>
              <a:srgbClr val="E2725B">
                <a:alpha val="40000"/>
              </a:srgbClr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731907" y="3028950"/>
            <a:ext cx="7281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53125" y="3284220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>
                    <a:alpha val="80000"/>
                  </a:srgbClr>
                </a:solidFill>
                <a:latin typeface="Arial"/>
                <a:ea typeface="Microsoft YaHei"/>
                <a:cs typeface="Arial"/>
              </a:rPr>
              <a:t>中心</a:t>
            </a:r>
          </a:p>
        </p:txBody>
      </p:sp>
      <p:sp>
        <p:nvSpPr>
          <p:cNvPr id="18" name="Line 18"/>
          <p:cNvSpPr/>
          <p:nvPr/>
        </p:nvSpPr>
        <p:spPr>
          <a:xfrm>
            <a:off x="2476500" y="2190750"/>
            <a:ext cx="3238500" cy="666750"/>
          </a:xfrm>
          <a:custGeom>
            <a:avLst/>
            <a:gdLst/>
            <a:ahLst/>
            <a:cxnLst/>
            <a:rect l="l" t="t" r="r" b="b"/>
            <a:pathLst>
              <a:path w="3238500" h="666750">
                <a:moveTo>
                  <a:pt x="3238500" y="6667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41E3A">
                <a:alpha val="40000"/>
              </a:srgbClr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1428750" y="1905000"/>
            <a:ext cx="17145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41E3A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428750" y="1905000"/>
            <a:ext cx="38100" cy="571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602105" y="1997392"/>
            <a:ext cx="4483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郭鑫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06868" y="2256949"/>
            <a:ext cx="16837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"鑫鑫"·用你的嘴出我的力</a:t>
            </a:r>
          </a:p>
        </p:txBody>
      </p:sp>
      <p:sp>
        <p:nvSpPr>
          <p:cNvPr id="23" name="Line 23"/>
          <p:cNvSpPr/>
          <p:nvPr/>
        </p:nvSpPr>
        <p:spPr>
          <a:xfrm>
            <a:off x="6477000" y="2190750"/>
            <a:ext cx="2667000" cy="666750"/>
          </a:xfrm>
          <a:custGeom>
            <a:avLst/>
            <a:gdLst/>
            <a:ahLst/>
            <a:cxnLst/>
            <a:rect l="l" t="t" r="r" b="b"/>
            <a:pathLst>
              <a:path w="2667000" h="666750">
                <a:moveTo>
                  <a:pt x="0" y="666750"/>
                </a:moveTo>
                <a:lnTo>
                  <a:pt x="2667000" y="0"/>
                </a:lnTo>
              </a:path>
            </a:pathLst>
          </a:custGeom>
          <a:noFill/>
          <a:ln w="19050">
            <a:solidFill>
              <a:srgbClr val="C41E3A">
                <a:alpha val="40000"/>
              </a:srgbClr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8477250" y="1905000"/>
            <a:ext cx="17145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E2725B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477250" y="1905000"/>
            <a:ext cx="3810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650605" y="19973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马贵贤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55368" y="2256949"/>
            <a:ext cx="13205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"你的工作我的成果"</a:t>
            </a:r>
          </a:p>
        </p:txBody>
      </p:sp>
      <p:sp>
        <p:nvSpPr>
          <p:cNvPr id="28" name="Line 28"/>
          <p:cNvSpPr/>
          <p:nvPr/>
        </p:nvSpPr>
        <p:spPr>
          <a:xfrm>
            <a:off x="2476500" y="3238500"/>
            <a:ext cx="3095625" cy="9525"/>
          </a:xfrm>
          <a:custGeom>
            <a:avLst/>
            <a:gdLst/>
            <a:ahLst/>
            <a:cxnLst/>
            <a:rect l="l" t="t" r="r" b="b"/>
            <a:pathLst>
              <a:path w="3095625" h="9525">
                <a:moveTo>
                  <a:pt x="3095625" y="0"/>
                </a:moveTo>
                <a:lnTo>
                  <a:pt x="0" y="0"/>
                </a:lnTo>
              </a:path>
            </a:pathLst>
          </a:custGeom>
          <a:noFill/>
          <a:ln w="23812">
            <a:solidFill>
              <a:srgbClr val="16A34A">
                <a:alpha val="50000"/>
              </a:srgbClr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2952750"/>
            <a:ext cx="17145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16A34A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762000" y="2952750"/>
            <a:ext cx="38100" cy="5715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5355" y="3045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40118" y="3304699"/>
            <a:ext cx="13989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配合关系·"兄弟"称呼</a:t>
            </a:r>
          </a:p>
        </p:txBody>
      </p:sp>
      <p:sp>
        <p:nvSpPr>
          <p:cNvPr id="33" name="Line 33"/>
          <p:cNvSpPr/>
          <p:nvPr/>
        </p:nvSpPr>
        <p:spPr>
          <a:xfrm>
            <a:off x="6619875" y="3238500"/>
            <a:ext cx="3000375" cy="9525"/>
          </a:xfrm>
          <a:custGeom>
            <a:avLst/>
            <a:gdLst/>
            <a:ahLst/>
            <a:cxnLst/>
            <a:rect l="l" t="t" r="r" b="b"/>
            <a:pathLst>
              <a:path w="3000375" h="9525">
                <a:moveTo>
                  <a:pt x="0" y="0"/>
                </a:moveTo>
                <a:lnTo>
                  <a:pt x="3000375" y="0"/>
                </a:lnTo>
              </a:path>
            </a:pathLst>
          </a:custGeom>
          <a:noFill/>
          <a:ln w="19050">
            <a:solidFill>
              <a:srgbClr val="E2725B">
                <a:alpha val="40000"/>
              </a:srgbClr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9715500" y="2952750"/>
            <a:ext cx="17145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E2725B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9715500" y="2952750"/>
            <a:ext cx="3810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888855" y="304514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张世跃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93618" y="3304699"/>
            <a:ext cx="17477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实习生·任务下放+功劳上报</a:t>
            </a:r>
          </a:p>
        </p:txBody>
      </p:sp>
      <p:sp>
        <p:nvSpPr>
          <p:cNvPr id="38" name="Line 38"/>
          <p:cNvSpPr/>
          <p:nvPr/>
        </p:nvSpPr>
        <p:spPr>
          <a:xfrm>
            <a:off x="2476500" y="3619500"/>
            <a:ext cx="3238500" cy="762000"/>
          </a:xfrm>
          <a:custGeom>
            <a:avLst/>
            <a:gdLst/>
            <a:ahLst/>
            <a:cxnLst/>
            <a:rect l="l" t="t" r="r" b="b"/>
            <a:pathLst>
              <a:path w="3238500" h="762000">
                <a:moveTo>
                  <a:pt x="3238500" y="0"/>
                </a:moveTo>
                <a:lnTo>
                  <a:pt x="0" y="762000"/>
                </a:lnTo>
              </a:path>
            </a:pathLst>
          </a:custGeom>
          <a:noFill/>
          <a:ln w="19050">
            <a:solidFill>
              <a:srgbClr val="B91C1C">
                <a:alpha val="40000"/>
              </a:srgbClr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1428750" y="4191000"/>
            <a:ext cx="17145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B91C1C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1428750" y="4191000"/>
            <a:ext cx="38100" cy="5715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602105" y="42833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供应商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606868" y="4542949"/>
            <a:ext cx="1242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利益驱动+责任下放</a:t>
            </a:r>
          </a:p>
        </p:txBody>
      </p:sp>
      <p:sp>
        <p:nvSpPr>
          <p:cNvPr id="43" name="Line 43"/>
          <p:cNvSpPr/>
          <p:nvPr/>
        </p:nvSpPr>
        <p:spPr>
          <a:xfrm>
            <a:off x="6477000" y="3619500"/>
            <a:ext cx="2667000" cy="762000"/>
          </a:xfrm>
          <a:custGeom>
            <a:avLst/>
            <a:gdLst/>
            <a:ahLst/>
            <a:cxnLst/>
            <a:rect l="l" t="t" r="r" b="b"/>
            <a:pathLst>
              <a:path w="2667000" h="762000">
                <a:moveTo>
                  <a:pt x="0" y="0"/>
                </a:moveTo>
                <a:lnTo>
                  <a:pt x="2667000" y="762000"/>
                </a:lnTo>
              </a:path>
            </a:pathLst>
          </a:custGeom>
          <a:noFill/>
          <a:ln w="19050">
            <a:solidFill>
              <a:srgbClr val="6B7280">
                <a:alpha val="40000"/>
              </a:srgbClr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8477250" y="4191000"/>
            <a:ext cx="1714500" cy="571500"/>
          </a:xfrm>
          <a:prstGeom prst="rect">
            <a:avLst/>
          </a:prstGeom>
          <a:solidFill>
            <a:srgbClr val="FFFFFF"/>
          </a:solidFill>
          <a:ln w="14288">
            <a:solidFill>
              <a:srgbClr val="6B7280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8477250" y="4191000"/>
            <a:ext cx="38100" cy="57150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650605" y="4283392"/>
            <a:ext cx="6553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刘伟佳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655368" y="4542949"/>
            <a:ext cx="17691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师承关系·高级版 vs 初级版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116830" y="52044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连线颜色表示关系性质：</a:t>
            </a:r>
          </a:p>
        </p:txBody>
      </p:sp>
      <p:sp>
        <p:nvSpPr>
          <p:cNvPr id="49" name="Line 49"/>
          <p:cNvSpPr/>
          <p:nvPr/>
        </p:nvSpPr>
        <p:spPr>
          <a:xfrm>
            <a:off x="2381250" y="5572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23812">
            <a:solidFill>
              <a:srgbClr val="16A34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2748915" y="55064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配合</a:t>
            </a:r>
          </a:p>
        </p:txBody>
      </p:sp>
      <p:sp>
        <p:nvSpPr>
          <p:cNvPr id="51" name="Line 51"/>
          <p:cNvSpPr/>
          <p:nvPr/>
        </p:nvSpPr>
        <p:spPr>
          <a:xfrm>
            <a:off x="3429000" y="5572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C41E3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3796665" y="55064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利用</a:t>
            </a:r>
          </a:p>
        </p:txBody>
      </p:sp>
      <p:sp>
        <p:nvSpPr>
          <p:cNvPr id="53" name="Line 53"/>
          <p:cNvSpPr/>
          <p:nvPr/>
        </p:nvSpPr>
        <p:spPr>
          <a:xfrm>
            <a:off x="4381500" y="5572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E2725B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4749165" y="5506402"/>
            <a:ext cx="4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工具化</a:t>
            </a:r>
          </a:p>
        </p:txBody>
      </p:sp>
      <p:sp>
        <p:nvSpPr>
          <p:cNvPr id="55" name="Line 55"/>
          <p:cNvSpPr/>
          <p:nvPr/>
        </p:nvSpPr>
        <p:spPr>
          <a:xfrm>
            <a:off x="5619750" y="5572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B91C1C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5987415" y="55064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施压</a:t>
            </a:r>
          </a:p>
        </p:txBody>
      </p:sp>
      <p:sp>
        <p:nvSpPr>
          <p:cNvPr id="57" name="Line 57"/>
          <p:cNvSpPr/>
          <p:nvPr/>
        </p:nvSpPr>
        <p:spPr>
          <a:xfrm>
            <a:off x="6667500" y="5572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6B7280"/>
            </a:solidFill>
          </a:ln>
        </p:spPr>
      </p:sp>
      <p:sp>
        <p:nvSpPr>
          <p:cNvPr id="58" name="TextBox 58"/>
          <p:cNvSpPr txBox="1"/>
          <p:nvPr/>
        </p:nvSpPr>
        <p:spPr>
          <a:xfrm>
            <a:off x="7035165" y="550640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师承</a:t>
            </a:r>
          </a:p>
        </p:txBody>
      </p:sp>
      <p:sp>
        <p:nvSpPr>
          <p:cNvPr id="59" name="Rectangle 59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" name="Line 60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60070" y="6332220"/>
            <a:ext cx="2533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关系网络章节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0991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461021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供应商管理手法 — 刘乾坤的四招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施压强度递增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81212" y="1097756"/>
            <a:ext cx="49741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从质问式到改进式，施压强度逐步递进，核心是让供应商"自己承诺"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64165" y="1105852"/>
            <a:ext cx="1073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施压强度 →→→→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1619250"/>
            <a:ext cx="2714625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571500" y="1619250"/>
            <a:ext cx="2714625" cy="523875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781050" y="1733550"/>
            <a:ext cx="342900" cy="366712"/>
            <a:chOff x="781050" y="1733550"/>
            <a:chExt cx="342900" cy="366712"/>
          </a:xfrm>
        </p:grpSpPr>
        <p:sp>
          <p:nvSpPr>
            <p:cNvPr id="17" name="Freeform 17"/>
            <p:cNvSpPr/>
            <p:nvPr/>
          </p:nvSpPr>
          <p:spPr>
            <a:xfrm>
              <a:off x="781050" y="1733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0" y="342900"/>
                  </a:lnTo>
                  <a:lnTo>
                    <a:pt x="342900" y="342900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5012" y="188690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6B7280"/>
                  </a:solidFill>
                  <a:latin typeface="Arial"/>
                  <a:ea typeface="Microsoft YaHei"/>
                  <a:cs typeface="Arial"/>
                </a:rPr>
                <a:t>!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15390" y="1758315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质问式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2333625"/>
            <a:ext cx="2333625" cy="666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90588" y="24503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原话示例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91540" y="2696528"/>
            <a:ext cx="142217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"汰换机制是什么？"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7712" y="31170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核心手法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8665" y="336327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让供应商解释问题，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8665" y="3553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暴露管理短板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7712" y="39266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施压强度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4191000"/>
            <a:ext cx="381000" cy="95250"/>
          </a:xfrm>
          <a:prstGeom prst="rect">
            <a:avLst/>
          </a:prstGeom>
          <a:solidFill>
            <a:srgbClr val="6B728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190625" y="4191000"/>
            <a:ext cx="381000" cy="9525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1619250" y="4191000"/>
            <a:ext cx="381000" cy="9525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2047875" y="4191000"/>
            <a:ext cx="381000" cy="9525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47712" y="45458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8665" y="4792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测试供应商反应能力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8665" y="49825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和准备充分度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476625" y="1619250"/>
            <a:ext cx="2714625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3476625" y="1619250"/>
            <a:ext cx="2714625" cy="52387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7" name="Polygon 37"/>
          <p:cNvSpPr/>
          <p:nvPr/>
        </p:nvSpPr>
        <p:spPr>
          <a:xfrm>
            <a:off x="3686175" y="1733550"/>
            <a:ext cx="342900" cy="381000"/>
          </a:xfrm>
          <a:custGeom>
            <a:avLst/>
            <a:gdLst/>
            <a:ahLst/>
            <a:cxnLst/>
            <a:rect l="l" t="t" r="r" b="b"/>
            <a:pathLst>
              <a:path w="342900" h="381000">
                <a:moveTo>
                  <a:pt x="171450" y="0"/>
                </a:moveTo>
                <a:lnTo>
                  <a:pt x="342900" y="95250"/>
                </a:lnTo>
                <a:lnTo>
                  <a:pt x="342900" y="285750"/>
                </a:lnTo>
                <a:lnTo>
                  <a:pt x="171450" y="38100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120515" y="1758315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驱动式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667125" y="2333625"/>
            <a:ext cx="2333625" cy="66675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795712" y="24503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原话示例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96665" y="2696528"/>
            <a:ext cx="12151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"3.4亿才有奖金"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52838" y="31170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核心手法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653790" y="33632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用利益驱动供应商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653790" y="35537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自己急，不用他催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52838" y="39266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施压强度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667125" y="4191000"/>
            <a:ext cx="381000" cy="952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4095750" y="4191000"/>
            <a:ext cx="381000" cy="952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4524375" y="4191000"/>
            <a:ext cx="381000" cy="9525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4953000" y="4191000"/>
            <a:ext cx="381000" cy="9525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3652838" y="45458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53790" y="4792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让供应商为目标主动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653790" y="4982528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投入资源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381750" y="1619250"/>
            <a:ext cx="2714625" cy="3905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6381750" y="1619250"/>
            <a:ext cx="2714625" cy="52387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grpSp>
        <p:nvGrpSpPr>
          <p:cNvPr id="57" name="Group 57"/>
          <p:cNvGrpSpPr/>
          <p:nvPr/>
        </p:nvGrpSpPr>
        <p:grpSpPr>
          <a:xfrm>
            <a:off x="6619875" y="1762125"/>
            <a:ext cx="285750" cy="285750"/>
            <a:chOff x="6619875" y="1762125"/>
            <a:chExt cx="285750" cy="285750"/>
          </a:xfrm>
        </p:grpSpPr>
        <p:sp>
          <p:nvSpPr>
            <p:cNvPr id="55" name="Rectangle 55"/>
            <p:cNvSpPr/>
            <p:nvPr/>
          </p:nvSpPr>
          <p:spPr>
            <a:xfrm>
              <a:off x="6619875" y="1762125"/>
              <a:ext cx="285750" cy="285750"/>
            </a:xfrm>
            <a:prstGeom prst="rect">
              <a:avLst/>
            </a:prstGeom>
            <a:noFill/>
            <a:ln w="28575">
              <a:solidFill>
                <a:srgbClr val="FFFFFF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6715125" y="18573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0"/>
                  </a:moveTo>
                  <a:lnTo>
                    <a:pt x="95250" y="95250"/>
                  </a:lnTo>
                </a:path>
              </a:pathLst>
            </a:custGeom>
            <a:noFill/>
            <a:ln w="28575">
              <a:solidFill>
                <a:srgbClr val="FFFFFF"/>
              </a:solidFill>
            </a:ln>
          </p:spPr>
        </p:sp>
      </p:grpSp>
      <p:sp>
        <p:nvSpPr>
          <p:cNvPr id="58" name="TextBox 58"/>
          <p:cNvSpPr txBox="1"/>
          <p:nvPr/>
        </p:nvSpPr>
        <p:spPr>
          <a:xfrm>
            <a:off x="7025640" y="1758315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要求式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572250" y="2333625"/>
            <a:ext cx="2333625" cy="66675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700838" y="24503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原话示例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701790" y="2696528"/>
            <a:ext cx="18822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"本月人力计划、周度计划"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57962" y="31170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核心手法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58915" y="336327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要求具体计划和产出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558915" y="355377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有明确交付物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57962" y="39266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施压强度</a:t>
            </a:r>
          </a:p>
        </p:txBody>
      </p:sp>
      <p:sp>
        <p:nvSpPr>
          <p:cNvPr id="66" name="Rectangle 66"/>
          <p:cNvSpPr/>
          <p:nvPr/>
        </p:nvSpPr>
        <p:spPr>
          <a:xfrm>
            <a:off x="6572250" y="4191000"/>
            <a:ext cx="381000" cy="95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7000875" y="4191000"/>
            <a:ext cx="381000" cy="95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7429500" y="4191000"/>
            <a:ext cx="381000" cy="952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7858125" y="4191000"/>
            <a:ext cx="381000" cy="9525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6557962" y="45458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558915" y="4792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建立节奏感，按节点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558915" y="4982528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检查执行情况</a:t>
            </a:r>
          </a:p>
        </p:txBody>
      </p:sp>
      <p:sp>
        <p:nvSpPr>
          <p:cNvPr id="73" name="Rectangle 73"/>
          <p:cNvSpPr/>
          <p:nvPr/>
        </p:nvSpPr>
        <p:spPr>
          <a:xfrm>
            <a:off x="9286875" y="1619250"/>
            <a:ext cx="2333625" cy="3905250"/>
          </a:xfrm>
          <a:prstGeom prst="rect">
            <a:avLst/>
          </a:prstGeom>
          <a:solidFill>
            <a:srgbClr val="FFFFFF"/>
          </a:solidFill>
          <a:ln w="14288">
            <a:solidFill>
              <a:srgbClr val="B91C1C"/>
            </a:solidFill>
          </a:ln>
        </p:spPr>
      </p:sp>
      <p:sp>
        <p:nvSpPr>
          <p:cNvPr id="74" name="Rectangle 74"/>
          <p:cNvSpPr/>
          <p:nvPr/>
        </p:nvSpPr>
        <p:spPr>
          <a:xfrm>
            <a:off x="9286875" y="1619250"/>
            <a:ext cx="2333625" cy="5238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grpSp>
        <p:nvGrpSpPr>
          <p:cNvPr id="77" name="Group 77"/>
          <p:cNvGrpSpPr/>
          <p:nvPr/>
        </p:nvGrpSpPr>
        <p:grpSpPr>
          <a:xfrm>
            <a:off x="9496425" y="1733550"/>
            <a:ext cx="342900" cy="385762"/>
            <a:chOff x="9496425" y="1733550"/>
            <a:chExt cx="342900" cy="385762"/>
          </a:xfrm>
        </p:grpSpPr>
        <p:sp>
          <p:nvSpPr>
            <p:cNvPr id="75" name="Polygon 75"/>
            <p:cNvSpPr/>
            <p:nvPr/>
          </p:nvSpPr>
          <p:spPr>
            <a:xfrm>
              <a:off x="9496425" y="17335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342900" y="34290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630387" y="19059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!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9930765" y="1758315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改进式</a:t>
            </a:r>
          </a:p>
        </p:txBody>
      </p:sp>
      <p:sp>
        <p:nvSpPr>
          <p:cNvPr id="79" name="Rectangle 79"/>
          <p:cNvSpPr/>
          <p:nvPr/>
        </p:nvSpPr>
        <p:spPr>
          <a:xfrm>
            <a:off x="9477375" y="2333625"/>
            <a:ext cx="1952625" cy="66675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9605962" y="245030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三要素法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606915" y="269652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原因、目标、举措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463088" y="31170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核心手法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464040" y="3363278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让供应商自己承诺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464040" y="3553778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承诺即约束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463088" y="392668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施压强度</a:t>
            </a:r>
          </a:p>
        </p:txBody>
      </p:sp>
      <p:sp>
        <p:nvSpPr>
          <p:cNvPr id="86" name="Rectangle 86"/>
          <p:cNvSpPr/>
          <p:nvPr/>
        </p:nvSpPr>
        <p:spPr>
          <a:xfrm>
            <a:off x="9477375" y="4191000"/>
            <a:ext cx="381000" cy="95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87" name="Rectangle 87"/>
          <p:cNvSpPr/>
          <p:nvPr/>
        </p:nvSpPr>
        <p:spPr>
          <a:xfrm>
            <a:off x="9906000" y="4191000"/>
            <a:ext cx="381000" cy="95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88" name="Rectangle 88"/>
          <p:cNvSpPr/>
          <p:nvPr/>
        </p:nvSpPr>
        <p:spPr>
          <a:xfrm>
            <a:off x="10334625" y="4191000"/>
            <a:ext cx="381000" cy="95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89" name="Rectangle 89"/>
          <p:cNvSpPr/>
          <p:nvPr/>
        </p:nvSpPr>
        <p:spPr>
          <a:xfrm>
            <a:off x="10763250" y="4191000"/>
            <a:ext cx="381000" cy="9525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9463088" y="4545806"/>
            <a:ext cx="3736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可学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464040" y="4792028"/>
            <a:ext cx="14068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让供应商自己说，比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464040" y="4982528"/>
            <a:ext cx="11001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你告诉他更有效</a:t>
            </a:r>
          </a:p>
        </p:txBody>
      </p:sp>
      <p:sp>
        <p:nvSpPr>
          <p:cNvPr id="93" name="Rectangle 93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4" name="Line 94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560070" y="6332220"/>
            <a:ext cx="2664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供应商管理手法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30991" y="3305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接手新业务的四步棋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核心洞察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5462" y="1097756"/>
            <a:ext cx="51384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每一步都在为后续动作铺垫，四步走完，"按规则办事"的形象就立住了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19250"/>
            <a:ext cx="2667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1619250"/>
            <a:ext cx="2667000" cy="571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27710" y="1565910"/>
            <a:ext cx="19279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140" y="1786890"/>
            <a:ext cx="87382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立规矩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2381250"/>
            <a:ext cx="2286000" cy="85725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90588" y="24979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具体动作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1540" y="2744152"/>
            <a:ext cx="14298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宣布 7 条规则，确立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540" y="293465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"按规则办事"基调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48665" y="3506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高明之处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9618" y="3752374"/>
            <a:ext cx="14629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后续是"按规则办事"，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618" y="3942874"/>
            <a:ext cx="11781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不是"我在针对你"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8665" y="41729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9618" y="43714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建立秩序，后续引用</a:t>
            </a:r>
          </a:p>
        </p:txBody>
      </p:sp>
      <p:sp>
        <p:nvSpPr>
          <p:cNvPr id="27" name="Polygon 27"/>
          <p:cNvSpPr/>
          <p:nvPr/>
        </p:nvSpPr>
        <p:spPr>
          <a:xfrm>
            <a:off x="3286125" y="2971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lnTo>
                  <a:pt x="190500" y="0"/>
                </a:lnTo>
                <a:lnTo>
                  <a:pt x="190500" y="152400"/>
                </a:lnTo>
                <a:close/>
              </a:path>
            </a:pathLst>
          </a:custGeom>
          <a:solidFill>
            <a:srgbClr val="C41E3A"/>
          </a:solidFill>
          <a:ln>
            <a:noFill/>
          </a:ln>
        </p:spPr>
      </p:sp>
      <p:sp>
        <p:nvSpPr>
          <p:cNvPr id="28" name="Polygon 28"/>
          <p:cNvSpPr/>
          <p:nvPr/>
        </p:nvSpPr>
        <p:spPr>
          <a:xfrm>
            <a:off x="3286125" y="2952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95250"/>
                </a:moveTo>
                <a:lnTo>
                  <a:pt x="142875" y="0"/>
                </a:lnTo>
                <a:lnTo>
                  <a:pt x="142875" y="190500"/>
                </a:lnTo>
                <a:close/>
              </a:path>
            </a:pathLst>
          </a:custGeom>
          <a:solidFill>
            <a:srgbClr val="C41E3A">
              <a:alpha val="50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524250" y="1619250"/>
            <a:ext cx="2667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3524250" y="1619250"/>
            <a:ext cx="2667000" cy="57150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680460" y="1565910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072890" y="17868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数据切入</a:t>
            </a:r>
          </a:p>
        </p:txBody>
      </p:sp>
      <p:sp>
        <p:nvSpPr>
          <p:cNvPr id="33" name="Rectangle 33"/>
          <p:cNvSpPr/>
          <p:nvPr/>
        </p:nvSpPr>
        <p:spPr>
          <a:xfrm>
            <a:off x="3714750" y="2381250"/>
            <a:ext cx="2286000" cy="857250"/>
          </a:xfrm>
          <a:prstGeom prst="rect">
            <a:avLst/>
          </a:prstGeom>
          <a:solidFill>
            <a:srgbClr val="FFF8F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843338" y="24979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具体动作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844290" y="27441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摆数据不出结论，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44290" y="2934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用数据说话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701415" y="3506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高明之处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02368" y="3752374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责任分散，自己居功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02368" y="39428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数据客观，不背锅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701415" y="41729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02368" y="43714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找到问题，但不定责</a:t>
            </a:r>
          </a:p>
        </p:txBody>
      </p:sp>
      <p:sp>
        <p:nvSpPr>
          <p:cNvPr id="42" name="Polygon 42"/>
          <p:cNvSpPr/>
          <p:nvPr/>
        </p:nvSpPr>
        <p:spPr>
          <a:xfrm>
            <a:off x="6238875" y="2971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lnTo>
                  <a:pt x="190500" y="0"/>
                </a:lnTo>
                <a:lnTo>
                  <a:pt x="190500" y="152400"/>
                </a:lnTo>
                <a:close/>
              </a:path>
            </a:pathLst>
          </a:custGeom>
          <a:solidFill>
            <a:srgbClr val="E2725B"/>
          </a:solidFill>
          <a:ln>
            <a:noFill/>
          </a:ln>
        </p:spPr>
      </p:sp>
      <p:sp>
        <p:nvSpPr>
          <p:cNvPr id="43" name="Polygon 43"/>
          <p:cNvSpPr/>
          <p:nvPr/>
        </p:nvSpPr>
        <p:spPr>
          <a:xfrm>
            <a:off x="6238875" y="2952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95250"/>
                </a:moveTo>
                <a:lnTo>
                  <a:pt x="142875" y="0"/>
                </a:lnTo>
                <a:lnTo>
                  <a:pt x="142875" y="190500"/>
                </a:lnTo>
                <a:close/>
              </a:path>
            </a:pathLst>
          </a:custGeom>
          <a:solidFill>
            <a:srgbClr val="E2725B">
              <a:alpha val="5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477000" y="1619250"/>
            <a:ext cx="2667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0" y="1619250"/>
            <a:ext cx="2667000" cy="5715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33210" y="1565910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025640" y="17868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公开锁定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0" y="2381250"/>
            <a:ext cx="2286000" cy="85725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796088" y="24979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具体动作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797040" y="2744152"/>
            <a:ext cx="10311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群里@具体人，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797040" y="2934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点名要回复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54165" y="3506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高明之处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55118" y="375237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制造回复压力，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655118" y="3942874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不回复就是默认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54165" y="41729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55118" y="43714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逼人表态，锁定责任</a:t>
            </a:r>
          </a:p>
        </p:txBody>
      </p:sp>
      <p:sp>
        <p:nvSpPr>
          <p:cNvPr id="57" name="Polygon 57"/>
          <p:cNvSpPr/>
          <p:nvPr/>
        </p:nvSpPr>
        <p:spPr>
          <a:xfrm>
            <a:off x="9191625" y="2971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0" y="76200"/>
                </a:moveTo>
                <a:lnTo>
                  <a:pt x="190500" y="0"/>
                </a:lnTo>
                <a:lnTo>
                  <a:pt x="190500" y="1524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</p:sp>
      <p:sp>
        <p:nvSpPr>
          <p:cNvPr id="58" name="Polygon 58"/>
          <p:cNvSpPr/>
          <p:nvPr/>
        </p:nvSpPr>
        <p:spPr>
          <a:xfrm>
            <a:off x="9191625" y="29527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95250"/>
                </a:moveTo>
                <a:lnTo>
                  <a:pt x="142875" y="0"/>
                </a:lnTo>
                <a:lnTo>
                  <a:pt x="142875" y="190500"/>
                </a:lnTo>
                <a:close/>
              </a:path>
            </a:pathLst>
          </a:custGeom>
          <a:solidFill>
            <a:srgbClr val="B91C1C">
              <a:alpha val="50000"/>
            </a:srgbClr>
          </a:solidFill>
          <a:ln>
            <a:noFill/>
          </a:ln>
        </p:spPr>
      </p:sp>
      <p:sp>
        <p:nvSpPr>
          <p:cNvPr id="59" name="Rectangle 59"/>
          <p:cNvSpPr/>
          <p:nvPr/>
        </p:nvSpPr>
        <p:spPr>
          <a:xfrm>
            <a:off x="9429750" y="1619250"/>
            <a:ext cx="2190750" cy="2857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41E3A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9429750" y="1619250"/>
            <a:ext cx="2190750" cy="571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9585960" y="1565910"/>
            <a:ext cx="2963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978390" y="178689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建立预期</a:t>
            </a:r>
          </a:p>
        </p:txBody>
      </p:sp>
      <p:sp>
        <p:nvSpPr>
          <p:cNvPr id="63" name="Rectangle 63"/>
          <p:cNvSpPr/>
          <p:nvPr/>
        </p:nvSpPr>
        <p:spPr>
          <a:xfrm>
            <a:off x="9620250" y="2381250"/>
            <a:ext cx="1809750" cy="857250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9748838" y="2497931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具体动作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749790" y="2744152"/>
            <a:ext cx="12688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塑造"按规则办事"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749790" y="29346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的公共形象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606915" y="35061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高明之处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607868" y="3752374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后续一切动作都能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9607868" y="3942874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引用初始规则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606915" y="4172902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目的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9607868" y="437149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长期引用，持续合法</a:t>
            </a:r>
          </a:p>
        </p:txBody>
      </p:sp>
      <p:sp>
        <p:nvSpPr>
          <p:cNvPr id="72" name="Rectangle 72"/>
          <p:cNvSpPr/>
          <p:nvPr/>
        </p:nvSpPr>
        <p:spPr>
          <a:xfrm>
            <a:off x="571500" y="4857750"/>
            <a:ext cx="11049000" cy="952500"/>
          </a:xfrm>
          <a:prstGeom prst="rect">
            <a:avLst/>
          </a:prstGeom>
          <a:solidFill>
            <a:srgbClr val="FFFFFF"/>
          </a:solidFill>
          <a:ln w="14288">
            <a:solidFill>
              <a:srgbClr val="C41E3A"/>
            </a:solidFill>
          </a:ln>
        </p:spPr>
      </p:sp>
      <p:sp>
        <p:nvSpPr>
          <p:cNvPr id="73" name="Rectangle 73"/>
          <p:cNvSpPr/>
          <p:nvPr/>
        </p:nvSpPr>
        <p:spPr>
          <a:xfrm>
            <a:off x="571500" y="4857750"/>
            <a:ext cx="47625" cy="9525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92480" y="504539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整体逻辑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94385" y="5347335"/>
            <a:ext cx="95470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四步走完，"按规则办事"的形象就立住了。后续一切动作都可以说"这是按初始规则来的"——不是我在针对你，是规则如此。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94385" y="5585460"/>
            <a:ext cx="65501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这就是为什么刚接手时的动作最重要——初始规则一旦确立，后续引用就是"合法"的。</a:t>
            </a:r>
          </a:p>
        </p:txBody>
      </p:sp>
      <p:sp>
        <p:nvSpPr>
          <p:cNvPr id="77" name="Rectangle 77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8" name="Line 78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560070" y="6332220"/>
            <a:ext cx="2533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工作手法全景</a:t>
            </a:r>
          </a:p>
        </p:txBody>
      </p:sp>
      <p:sp>
        <p:nvSpPr>
          <p:cNvPr id="80" name="Rectangle 80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11137604" y="63255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56869" y="330518"/>
            <a:ext cx="2102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396612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年老师应对策略 — 核心原则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核心原则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5462" y="1097756"/>
            <a:ext cx="416087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不背锅、守边界、信息独立、学技巧 — 四条原则缺一不可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19250"/>
            <a:ext cx="5524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1619250"/>
            <a:ext cx="5524500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90575" y="17240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不主动背锅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2156460"/>
            <a:ext cx="3202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刘乾坤的问题直接传递，不接"帮我看下"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6760" y="2394585"/>
            <a:ext cx="3009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他的问题不是我的问题，不替他扛责任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8665" y="2839402"/>
            <a:ext cx="34387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话术："你的想法是什么？" — 反问回去，不接任务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286500" y="1619250"/>
            <a:ext cx="5334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86500" y="1619250"/>
            <a:ext cx="5334000" cy="428625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05575" y="17240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边界清晰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61760" y="2156460"/>
            <a:ext cx="205473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周末不接@，工作日按流程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61760" y="239458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不被他的节奏带偏，守住自己的节奏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463665" y="2839402"/>
            <a:ext cx="32164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话术："收到，周一处理" — 不因周末@打乱节奏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810000"/>
            <a:ext cx="5524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3810000"/>
            <a:ext cx="5524500" cy="42862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0575" y="39147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信息独立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760" y="432816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建立独立渠道，不依赖他拿数据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6760" y="4566285"/>
            <a:ext cx="320268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不听"别找供应商"，直接要一线真实反馈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8665" y="5030152"/>
            <a:ext cx="34387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话术："我需要一线真实反馈" — 绕过他的信息管控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286500" y="3810000"/>
            <a:ext cx="533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286500" y="3810000"/>
            <a:ext cx="5334000" cy="42862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05575" y="391477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学习技巧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61760" y="432816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立规矩、三要素法、数据说话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1760" y="4566285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学他的手法，改良为自己的方式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463665" y="5030152"/>
            <a:ext cx="26336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目标：温和但坚决，长期伙伴而非高压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5715000"/>
            <a:ext cx="11049000" cy="142875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Line 40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560070" y="6332220"/>
            <a:ext cx="253345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应对策略章节</a:t>
            </a:r>
          </a:p>
        </p:txBody>
      </p:sp>
      <p:sp>
        <p:nvSpPr>
          <p:cNvPr id="42" name="Rectangle 42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11157731" y="632555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2747" y="330518"/>
            <a:ext cx="1585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45619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能学什么？年老师改进了什么？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71866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核心差异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95462" y="1097756"/>
            <a:ext cx="36679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学其手法，改其风格 — 技巧可学，但风格需要改良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19250"/>
            <a:ext cx="55245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1619250"/>
            <a:ext cx="5524500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90575" y="172402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刘乾坤六步法评价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21564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定边界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905000" y="2171700"/>
            <a:ext cx="3619500" cy="15240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1905000" y="2171700"/>
            <a:ext cx="3333750" cy="1524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606415" y="21726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6760" y="2489835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查病灶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905000" y="2505075"/>
            <a:ext cx="3619500" cy="15240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1905000" y="2505075"/>
            <a:ext cx="3238500" cy="1524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606415" y="25060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6760" y="282321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谈到位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905000" y="2838450"/>
            <a:ext cx="3619500" cy="15240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1905000" y="2838450"/>
            <a:ext cx="3048000" cy="1524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606415" y="28394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760" y="3156585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强执行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905000" y="3171825"/>
            <a:ext cx="3619500" cy="15240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1905000" y="3171825"/>
            <a:ext cx="2476500" cy="1524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606415" y="31727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⚠️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6760" y="34899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树标杆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905000" y="3505200"/>
            <a:ext cx="3619500" cy="152400"/>
          </a:xfrm>
          <a:prstGeom prst="rect">
            <a:avLst/>
          </a:prstGeom>
          <a:solidFill>
            <a:srgbClr val="E5E5E5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1905000" y="3505200"/>
            <a:ext cx="2286000" cy="152400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5606415" y="350615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⚠️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8665" y="3791902"/>
            <a:ext cx="26950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⚠️ 施压过度，短期有效但长期损害信任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286500" y="1619250"/>
            <a:ext cx="5334000" cy="2381250"/>
          </a:xfrm>
          <a:prstGeom prst="rect">
            <a:avLst/>
          </a:prstGeom>
          <a:solidFill>
            <a:srgbClr val="FFFFFF"/>
          </a:solidFill>
          <a:ln w="14288">
            <a:solidFill>
              <a:srgbClr val="16A34A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6286500" y="1619250"/>
            <a:ext cx="5334000" cy="428625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505575" y="17240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年老师的改进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461760" y="21564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加一步：给支持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62712" y="2402681"/>
            <a:ext cx="21645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不是只提要求，还告诉供应商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462712" y="2593181"/>
            <a:ext cx="2016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"我这边可以给你什么支持"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61760" y="29184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温和但坚决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62712" y="3164681"/>
            <a:ext cx="150733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边界清晰但不生硬，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462712" y="3355181"/>
            <a:ext cx="16716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态度温和但原则不妥协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61760" y="368046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长期伙伴关系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62712" y="3926681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不是高压驱动，是长期合作</a:t>
            </a:r>
          </a:p>
        </p:txBody>
      </p:sp>
      <p:sp>
        <p:nvSpPr>
          <p:cNvPr id="49" name="Rectangle 49"/>
          <p:cNvSpPr/>
          <p:nvPr/>
        </p:nvSpPr>
        <p:spPr>
          <a:xfrm>
            <a:off x="571500" y="4191000"/>
            <a:ext cx="11049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5457777" y="4378642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核心差异对比</a:t>
            </a:r>
          </a:p>
        </p:txBody>
      </p:sp>
      <p:sp>
        <p:nvSpPr>
          <p:cNvPr id="51" name="Line 51"/>
          <p:cNvSpPr/>
          <p:nvPr/>
        </p:nvSpPr>
        <p:spPr>
          <a:xfrm>
            <a:off x="571500" y="4667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47712" y="48315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刘乾坤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890712" y="4831556"/>
            <a:ext cx="23781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摆问题 → 施压 → 让供应商自己想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7712" y="5212556"/>
            <a:ext cx="546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年老师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890712" y="5212556"/>
            <a:ext cx="39226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摆问题 → 提要求 →</a:t>
            </a:r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给支持</a:t>
            </a:r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→ 让供应商自己想 →</a:t>
            </a:r>
            <a:r>
              <a:rPr lang="zh-CN" sz="11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长期合作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8665" y="5582602"/>
            <a:ext cx="5140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关键差异在"给支持"和"长期合作" — 刘乾坤是短期驱动，年老师是长期驱动</a:t>
            </a:r>
          </a:p>
        </p:txBody>
      </p:sp>
      <p:sp>
        <p:nvSpPr>
          <p:cNvPr id="57" name="Rectangle 57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Line 58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560070" y="6332220"/>
            <a:ext cx="2402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可学习内容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1177859" y="6325552"/>
            <a:ext cx="1232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F2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gradFill>
            <a:gsLst>
              <a:gs pos="0">
                <a:srgbClr val="C41E3A"/>
              </a:gs>
              <a:gs pos="50000">
                <a:srgbClr val="E2725B"/>
              </a:gs>
              <a:gs pos="100000">
                <a:srgbClr val="F8F5F2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47625"/>
            <a:ext cx="12192000" cy="7143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Line 5"/>
          <p:cNvSpPr/>
          <p:nvPr/>
        </p:nvSpPr>
        <p:spPr>
          <a:xfrm>
            <a:off x="0" y="762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209550"/>
            <a:ext cx="381000" cy="38100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56869" y="330518"/>
            <a:ext cx="2102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6330" y="268605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核心结论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0" y="3819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人物深度分析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71500" y="952500"/>
            <a:ext cx="11049000" cy="428625"/>
          </a:xfrm>
          <a:prstGeom prst="rect">
            <a:avLst/>
          </a:prstGeom>
          <a:solidFill>
            <a:srgbClr val="FFF5F5"/>
          </a:solidFill>
          <a:ln w="9525">
            <a:solidFill>
              <a:srgbClr val="C41E3A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71500" y="952500"/>
            <a:ext cx="47625" cy="428625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42962" y="10977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三条行动要点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71712" y="1097756"/>
            <a:ext cx="18852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看懂他 · 应对他 · 学习他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19250"/>
            <a:ext cx="11049000" cy="1047750"/>
          </a:xfrm>
          <a:prstGeom prst="rect">
            <a:avLst/>
          </a:prstGeom>
          <a:solidFill>
            <a:srgbClr val="FFFFFF"/>
          </a:solidFill>
          <a:ln w="14288">
            <a:solidFill>
              <a:srgbClr val="C41E3A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571500" y="1619250"/>
            <a:ext cx="76200" cy="1047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30580" y="1773555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看懂他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0105" y="2235518"/>
            <a:ext cx="48550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控制权 + 展示权 + 安全感 — 一切行为从这三个诉求出发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2010" y="2489835"/>
            <a:ext cx="28346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不理解诉求，就会被他的动作带着走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857500"/>
            <a:ext cx="11049000" cy="1047750"/>
          </a:xfrm>
          <a:prstGeom prst="rect">
            <a:avLst/>
          </a:prstGeom>
          <a:solidFill>
            <a:srgbClr val="FFFFFF"/>
          </a:solidFill>
          <a:ln w="14288">
            <a:solidFill>
              <a:srgbClr val="E2725B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571500" y="2857500"/>
            <a:ext cx="76200" cy="1047750"/>
          </a:xfrm>
          <a:prstGeom prst="rect">
            <a:avLst/>
          </a:prstGeom>
          <a:solidFill>
            <a:srgbClr val="E2725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30580" y="3011805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2725B"/>
                </a:solidFill>
                <a:latin typeface="Arial"/>
                <a:ea typeface="Microsoft YaHei"/>
                <a:cs typeface="Arial"/>
              </a:rPr>
              <a:t>应对他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0105" y="3473768"/>
            <a:ext cx="3386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不背锅、守边界、信息独立、学习技巧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2010" y="3728085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不接他的问题，不回他的节奏，不依赖他的信息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095750"/>
            <a:ext cx="11049000" cy="1047750"/>
          </a:xfrm>
          <a:prstGeom prst="rect">
            <a:avLst/>
          </a:prstGeom>
          <a:solidFill>
            <a:srgbClr val="FFFFFF"/>
          </a:solidFill>
          <a:ln w="14288">
            <a:solidFill>
              <a:srgbClr val="16A34A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71500" y="4095750"/>
            <a:ext cx="76200" cy="1047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0580" y="4250055"/>
            <a:ext cx="101946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学习他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0105" y="4712018"/>
            <a:ext cx="37804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规则先行、三要素法、数据说话、机制先行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010" y="4966335"/>
            <a:ext cx="39124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学其手法，改其风格 — 温和但坚决，长期而非短期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5334000"/>
            <a:ext cx="11049000" cy="523875"/>
          </a:xfrm>
          <a:prstGeom prst="rect">
            <a:avLst/>
          </a:prstGeom>
          <a:solidFill>
            <a:srgbClr val="FFF5F5"/>
          </a:solidFill>
          <a:ln w="9525">
            <a:solidFill>
              <a:srgbClr val="B91C1C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571500" y="5334000"/>
            <a:ext cx="47625" cy="523875"/>
          </a:xfrm>
          <a:prstGeom prst="rect">
            <a:avLst/>
          </a:prstGeom>
          <a:solidFill>
            <a:srgbClr val="B91C1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96290" y="5458778"/>
            <a:ext cx="3487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91C1C"/>
                </a:solidFill>
                <a:latin typeface="Arial"/>
                <a:ea typeface="Microsoft YaHei"/>
                <a:cs typeface="Arial"/>
              </a:rPr>
              <a:t>破绽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2540" y="5458778"/>
            <a:ext cx="589240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2D2D"/>
                </a:solidFill>
                <a:latin typeface="Arial"/>
                <a:ea typeface="Microsoft YaHei"/>
                <a:cs typeface="Arial"/>
              </a:rPr>
              <a:t>表演型管理 → 真实能力可能不足 | 信息管控 → 长期合作困难 | 施压过度 → 容易引发抵触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73492" y="5657374"/>
            <a:ext cx="20183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理解破绽，才能不被他牵着走。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" name="Line 35"/>
          <p:cNvSpPr/>
          <p:nvPr/>
        </p:nvSpPr>
        <p:spPr>
          <a:xfrm>
            <a:off x="0" y="6096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E5E5E5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60070" y="6332220"/>
            <a:ext cx="2664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刘乾坤档案 v10.2 · 年老师内部参考</a:t>
            </a:r>
          </a:p>
        </p:txBody>
      </p:sp>
      <p:sp>
        <p:nvSpPr>
          <p:cNvPr id="37" name="Freeform 37"/>
          <p:cNvSpPr/>
          <p:nvPr/>
        </p:nvSpPr>
        <p:spPr>
          <a:xfrm>
            <a:off x="10287000" y="6238875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38100" y="0"/>
                </a:moveTo>
                <a:lnTo>
                  <a:pt x="1295400" y="0"/>
                </a:lnTo>
                <a:cubicBezTo>
                  <a:pt x="1316442" y="0"/>
                  <a:pt x="1333500" y="17058"/>
                  <a:pt x="1333500" y="38100"/>
                </a:cubicBezTo>
                <a:lnTo>
                  <a:pt x="1333500" y="228600"/>
                </a:lnTo>
                <a:cubicBezTo>
                  <a:pt x="1333500" y="249642"/>
                  <a:pt x="1316442" y="266700"/>
                  <a:pt x="1295400" y="266700"/>
                </a:cubicBezTo>
                <a:lnTo>
                  <a:pt x="38100" y="266700"/>
                </a:lnTo>
                <a:cubicBezTo>
                  <a:pt x="17058" y="266700"/>
                  <a:pt x="0" y="249642"/>
                  <a:pt x="0" y="2286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C41E3A">
              <a:alpha val="8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10507566" y="6332220"/>
            <a:ext cx="8923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C41E3A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0858500" y="6238875"/>
            <a:ext cx="762000" cy="285750"/>
          </a:xfrm>
          <a:prstGeom prst="rect">
            <a:avLst/>
          </a:prstGeom>
          <a:solidFill>
            <a:srgbClr val="C41E3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157731" y="632555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
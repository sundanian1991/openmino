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刘乾坤人物深度分析报告，v10.2版本，年老师于2026年3月19日建档。本报告从权力框架、行为模式、应对策略三个维度进行系统分析，帮助理解他的行为逻辑并找到有效的应对方式。</a:t>
            </a:r>
          </a:p>
          <a:p>
            <a:endParaRPr lang="zh-CN" dirty="0"/>
          </a:p>
          <a:p>
            <a:r>
              <a:rPr lang="zh-CN" dirty="0"/>
              <a:t>这份档案不是简单的观察记录，而是经过一个多月持续追踪、24条案例验证的系统性分析。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刘乾坤的核心定位：高压管理型业管，擅长立规矩加三要素法，对上表演、对下施压、信息管控。</a:t>
            </a:r>
          </a:p>
          <a:p>
            <a:endParaRPr lang="zh-CN" dirty="0"/>
          </a:p>
          <a:p>
            <a:r>
              <a:rPr lang="zh-CN" dirty="0"/>
              <a:t>他的所有行为都围绕三个核心诉求展开：</a:t>
            </a:r>
          </a:p>
          <a:p>
            <a:r>
              <a:rPr lang="zh-CN" dirty="0"/>
              <a:t>• 控制权：刚接手新业务时，通过立规矩、阻断信息、责任下放来建立"我在管"的信号。这是他首要的需求，秩序是他安全感的基础。</a:t>
            </a:r>
          </a:p>
          <a:p>
            <a:r>
              <a:rPr lang="zh-CN" dirty="0"/>
              <a:t>• 展示权：最在意的是"老板知不知道我在解决"。群内表演、打鸡血、CC上级，观众从来不是平级而是上级。</a:t>
            </a:r>
          </a:p>
          <a:p>
            <a:r>
              <a:rPr lang="zh-CN" dirty="0"/>
              <a:t>• 安全感：怕被替代，所以要让别人依赖自己。信息管控就是掌控不可替代性。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三个核心诉求缺一不可：</a:t>
            </a:r>
          </a:p>
          <a:p>
            <a:endParaRPr lang="zh-CN" dirty="0"/>
          </a:p>
          <a:p>
            <a:r>
              <a:rPr lang="zh-CN" dirty="0"/>
              <a:t>控制权是他的第一需求。刚接管业务时频繁宣布新规则，强调"按规则办事"。典型动作包括立规矩、阻断信息、责任下放。动机是刚接手需要建立"我在管"的信号。应对方式是确认规则的合理性，不盲目接受所有规则。</a:t>
            </a:r>
          </a:p>
          <a:p>
            <a:endParaRPr lang="zh-CN" dirty="0"/>
          </a:p>
          <a:p>
            <a:r>
              <a:rPr lang="zh-CN" dirty="0"/>
              <a:t>展示权是他最在意的部分。群聊中高频@上级，汇报"进展"，语气偏向"我在推动解决"。表演给上级看，不是给平级看。应对方式是不抢戏，专注自身边界。</a:t>
            </a:r>
          </a:p>
          <a:p>
            <a:endParaRPr lang="zh-CN" dirty="0"/>
          </a:p>
          <a:p>
            <a:r>
              <a:rPr lang="zh-CN" dirty="0"/>
              <a:t>安全感是他最底层的恐惧。阻断他与上级的直接沟通时会触发，"别找供应商，我来对接"。应对方式是建立独立渠道，不依赖他拿数据。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五种权力来源，从底层规则到表层施压，层层递进：</a:t>
            </a:r>
          </a:p>
          <a:p>
            <a:endParaRPr lang="zh-CN" dirty="0"/>
          </a:p>
          <a:p>
            <a:r>
              <a:rPr lang="zh-CN" dirty="0"/>
              <a:t>规则权是最顶层的权力。立规矩、机制先行，让后续管理变成"按规则办事"而非"个人施压"。应对方式是确认规则合理性，不盲目接受。</a:t>
            </a:r>
          </a:p>
          <a:p>
            <a:endParaRPr lang="zh-CN" dirty="0"/>
          </a:p>
          <a:p>
            <a:r>
              <a:rPr lang="zh-CN" dirty="0"/>
              <a:t>信息权控制信息流动。两头堵、阻断信息，让对手只能依赖自己获取数据。应对方式是建立独立渠道，"我需要一线真实反馈"。</a:t>
            </a:r>
          </a:p>
          <a:p>
            <a:endParaRPr lang="zh-CN" dirty="0"/>
          </a:p>
          <a:p>
            <a:r>
              <a:rPr lang="zh-CN" dirty="0"/>
              <a:t>关系权用关系绑定利益。拉拢圈人、人情债管理，主动帮助建立人情。应对方式是接受但不欠人情，区分工作与私交。</a:t>
            </a:r>
          </a:p>
          <a:p>
            <a:endParaRPr lang="zh-CN" dirty="0"/>
          </a:p>
          <a:p>
            <a:r>
              <a:rPr lang="zh-CN" dirty="0"/>
              <a:t>注意权刷存在感给上级看。群内表演、打鸡血，消息多发在有上级的群。应对方式是不抢戏，专注自身边界。</a:t>
            </a:r>
          </a:p>
          <a:p>
            <a:endParaRPr lang="zh-CN" dirty="0"/>
          </a:p>
          <a:p>
            <a:r>
              <a:rPr lang="zh-CN" dirty="0"/>
              <a:t>施压权是最底层的权力。公开锁定、高压管理，制造回复压力。应对方式是反问回去，不接任务。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18种模式按权力来源分组，风险等级用颜色区分：</a:t>
            </a:r>
          </a:p>
          <a:p>
            <a:endParaRPr lang="zh-CN" dirty="0"/>
          </a:p>
          <a:p>
            <a:r>
              <a:rPr lang="zh-CN" dirty="0"/>
              <a:t>规则权：立规矩——这是最值得学习的手法，先定规则后办事。</a:t>
            </a:r>
          </a:p>
          <a:p>
            <a:endParaRPr lang="zh-CN" dirty="0"/>
          </a:p>
          <a:p>
            <a:r>
              <a:rPr lang="zh-CN" dirty="0"/>
              <a:t>信息权和关系权：两头堵是高危险手法，阻断信息渠道；拉拢圈人和人情债管理是施压手法，主动让利换取配合。</a:t>
            </a:r>
          </a:p>
          <a:p>
            <a:endParaRPr lang="zh-CN" dirty="0"/>
          </a:p>
          <a:p>
            <a:r>
              <a:rPr lang="zh-CN" dirty="0"/>
              <a:t>注意权和施压权：这是最密集的区域。群内表演、任务下放加CC展示是施压手法；公开锁定、高压管理、追责转嫁、加压链都是高危险手法。</a:t>
            </a:r>
          </a:p>
          <a:p>
            <a:endParaRPr lang="zh-CN" dirty="0"/>
          </a:p>
          <a:p>
            <a:r>
              <a:rPr lang="zh-CN" dirty="0"/>
              <a:t>组合拳：抛问题、正面对冲、借力打力是中性手法；群聊闹事、选择性攻击是高危险手法；质疑数据降温、挖人试探、镜像过敏是中性手法。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刘乾坤的关系网络清晰反映他的权力策略：</a:t>
            </a:r>
          </a:p>
          <a:p>
            <a:endParaRPr lang="zh-CN" dirty="0"/>
          </a:p>
          <a:p>
            <a:r>
              <a:rPr lang="zh-CN" dirty="0"/>
              <a:t>同盟：郭鑫（前同事）——"用你的嘴，出我的力"；马贵贤（前同事）——"你的工作，我的成果"。通过前同事建立同盟网络。</a:t>
            </a:r>
          </a:p>
          <a:p>
            <a:endParaRPr lang="zh-CN" dirty="0"/>
          </a:p>
          <a:p>
            <a:r>
              <a:rPr lang="zh-CN" dirty="0"/>
              <a:t>上级：王易人（服务组负责人）是主要的CC对象，所有表演最终观众是他。刘伟佳（策略组负责人）是师承关系，刘乾坤学的是"形"，刘伟佳掌握的是"神"。</a:t>
            </a:r>
          </a:p>
          <a:p>
            <a:endParaRPr lang="zh-CN" dirty="0"/>
          </a:p>
          <a:p>
            <a:r>
              <a:rPr lang="zh-CN" dirty="0"/>
              <a:t>配合：年老师——"兄弟"称呼加拉拢，试图建立人情债。年老师的策略是接受但不欠人情，合作但不依赖。</a:t>
            </a:r>
          </a:p>
          <a:p>
            <a:endParaRPr lang="zh-CN" dirty="0"/>
          </a:p>
          <a:p>
            <a:r>
              <a:rPr lang="zh-CN" dirty="0"/>
              <a:t>下属：张世跃（实习生）——任务下放加功劳上报；供应商——利益驱动加责任下放。</a:t>
            </a:r>
          </a:p>
          <a:p>
            <a:endParaRPr lang="zh-CN" dirty="0"/>
          </a:p>
          <a:p>
            <a:r>
              <a:rPr lang="zh-CN" dirty="0"/>
              <a:t>对手：李吉斌（前任）——公开质疑加双重标准，刚接手就甩锅。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四种驱动方式，让供应商自己动起来：</a:t>
            </a:r>
          </a:p>
          <a:p>
            <a:endParaRPr lang="zh-CN" dirty="0"/>
          </a:p>
          <a:p>
            <a:r>
              <a:rPr lang="zh-CN" dirty="0"/>
              <a:t>质问式：核心话术"汰换机制是什么？"直接提问，让供应商解释问题，制造"必须回答"的压力。可学之处在于精准提问，不给模糊空间。</a:t>
            </a:r>
          </a:p>
          <a:p>
            <a:endParaRPr lang="zh-CN" dirty="0"/>
          </a:p>
          <a:p>
            <a:r>
              <a:rPr lang="zh-CN" dirty="0"/>
              <a:t>驱动式：核心话术"3.4亿才有奖金"。用利益让供应商自己急，"为自己干"不是"为我干"。利益绑定比命令更有效。</a:t>
            </a:r>
          </a:p>
          <a:p>
            <a:endParaRPr lang="zh-CN" dirty="0"/>
          </a:p>
          <a:p>
            <a:r>
              <a:rPr lang="zh-CN" dirty="0"/>
              <a:t>要求式：核心话术"本月人力计划、周度计划"。要求具体计划，不模糊，明确时间节点和交付物。要求要具体可考核。</a:t>
            </a:r>
          </a:p>
          <a:p>
            <a:endParaRPr lang="zh-CN" dirty="0"/>
          </a:p>
          <a:p>
            <a:r>
              <a:rPr lang="zh-CN" dirty="0"/>
              <a:t>改进式（最值得学习）：三要素法——原因加提升目标加举措。让供应商自己承诺，完不成有把柄。这是刘乾坤最成熟的管理手法。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四步建立管理基础：</a:t>
            </a:r>
          </a:p>
          <a:p>
            <a:endParaRPr lang="zh-CN" dirty="0"/>
          </a:p>
          <a:p>
            <a:r>
              <a:rPr lang="zh-CN" dirty="0"/>
              <a:t>第一步 立规矩：刚接手宣布7条规则——30分钟回复、10点报出勤、昵称格式规范、数据日报格式、群内沟通规范。目的：后续是"按规则办事"。</a:t>
            </a:r>
          </a:p>
          <a:p>
            <a:endParaRPr lang="zh-CN" dirty="0"/>
          </a:p>
          <a:p>
            <a:r>
              <a:rPr lang="zh-CN" dirty="0"/>
              <a:t>第二步 数据切入：摆数据不出结论，让别人背锅。5分钟连发两条数据，精确到小数点，责任完美分散，自己居功。</a:t>
            </a:r>
          </a:p>
          <a:p>
            <a:endParaRPr lang="zh-CN" dirty="0"/>
          </a:p>
          <a:p>
            <a:r>
              <a:rPr lang="zh-CN" dirty="0"/>
              <a:t>第三步 公开锁定：群里@具体人，所有人看着不得不接。不私聊，公开@，制造回复压力，连环追加施压。</a:t>
            </a:r>
          </a:p>
          <a:p>
            <a:endParaRPr lang="zh-CN" dirty="0"/>
          </a:p>
          <a:p>
            <a:r>
              <a:rPr lang="zh-CN" dirty="0"/>
              <a:t>第四步 建立预期：按规则办事的形象确立，后续引用初始规则，持续执行。</a:t>
            </a:r>
          </a:p>
          <a:p>
            <a:endParaRPr lang="zh-CN" dirty="0"/>
          </a:p>
          <a:p>
            <a:r>
              <a:rPr lang="zh-CN" dirty="0"/>
              <a:t>高明之处：后续所有管理行为都是"执行既定规则"，不是"个人施压"。规则一旦建立，管理就变成"按章办事"而非"个人意志"。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核心原则四条：</a:t>
            </a:r>
          </a:p>
          <a:p>
            <a:endParaRPr lang="zh-CN" dirty="0"/>
          </a:p>
          <a:p>
            <a:r>
              <a:rPr lang="zh-CN" dirty="0"/>
              <a:t>1. 不主动背锅：刘乾坤的问题直接传递，不接"帮我看下"</a:t>
            </a:r>
          </a:p>
          <a:p>
            <a:r>
              <a:rPr lang="zh-CN" dirty="0"/>
              <a:t>2. 边界清晰：周末不接@，工作日按流程</a:t>
            </a:r>
          </a:p>
          <a:p>
            <a:r>
              <a:rPr lang="zh-CN" dirty="0"/>
              <a:t>3. 信息独立：建立独立渠道，不依赖他拿数据</a:t>
            </a:r>
          </a:p>
          <a:p>
            <a:r>
              <a:rPr lang="zh-CN" dirty="0"/>
              <a:t>4. 学习技巧：立规矩、三要素法、数据说话</a:t>
            </a:r>
          </a:p>
          <a:p>
            <a:endParaRPr lang="zh-CN" dirty="0"/>
          </a:p>
          <a:p>
            <a:r>
              <a:rPr lang="zh-CN" dirty="0"/>
              <a:t>话术对照：</a:t>
            </a:r>
          </a:p>
          <a:p>
            <a:r>
              <a:rPr lang="zh-CN" dirty="0"/>
              <a:t>• "帮我看下，我该如何解答" → "你的想法是什么？我先听你的"——不接任务，反问回去</a:t>
            </a:r>
          </a:p>
          <a:p>
            <a:r>
              <a:rPr lang="zh-CN" dirty="0"/>
              <a:t>• 周末@处理供应商问题 → "收到，周一处理"——边界清晰，不解释</a:t>
            </a:r>
          </a:p>
          <a:p>
            <a:r>
              <a:rPr lang="zh-CN" dirty="0"/>
              <a:t>• "别找供应商，他们不如我们清楚" → "理解，但我需要一线真实反馈"——建立独立渠道</a:t>
            </a:r>
          </a:p>
          <a:p>
            <a:r>
              <a:rPr lang="zh-CN" dirty="0"/>
              <a:t>• "辛苦兄弟多费心" → "8个供应商，担心盯不细"——示弱加边界，刘乾坤会退让</a:t>
            </a:r>
          </a:p>
          <a:p>
            <a:r>
              <a:rPr lang="zh-CN" dirty="0"/>
              <a:t>• 危机渲染加责任锁定 → 事实压危机、锁定卡点、踢球给方案——用专业语言说话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四种核心技巧值得学习：</a:t>
            </a:r>
          </a:p>
          <a:p>
            <a:endParaRPr lang="zh-CN" dirty="0"/>
          </a:p>
          <a:p>
            <a:r>
              <a:rPr lang="zh-CN" dirty="0"/>
              <a:t>立规矩：先定规则后办事，后续是"执行既定规则"。适用场景是接手新业务、管理新团队。规则越具体越好，可考核可追溯。</a:t>
            </a:r>
          </a:p>
          <a:p>
            <a:endParaRPr lang="zh-CN" dirty="0"/>
          </a:p>
          <a:p>
            <a:r>
              <a:rPr lang="zh-CN" dirty="0"/>
              <a:t>三要素法：问题→原因+目标+举措，让别人承诺。适用场景是供应商管理、推动执行。让对方承诺比直接给方案更有约束力。</a:t>
            </a:r>
          </a:p>
          <a:p>
            <a:endParaRPr lang="zh-CN" dirty="0"/>
          </a:p>
          <a:p>
            <a:r>
              <a:rPr lang="zh-CN" dirty="0"/>
              <a:t>数据说话：精确数据展示加公开施压。适用场景是汇报、驱动、施压。数据是最好的武器，比任何道理都有力。</a:t>
            </a:r>
          </a:p>
          <a:p>
            <a:endParaRPr lang="zh-CN" dirty="0"/>
          </a:p>
          <a:p>
            <a:r>
              <a:rPr lang="zh-CN" dirty="0"/>
              <a:t>机制先行：先建机制再谈业务。适用场景是建立长期管理体系。让供应商自己建系统，干不好有把柄。</a:t>
            </a:r>
          </a:p>
          <a:p>
            <a:endParaRPr lang="zh-CN" dirty="0"/>
          </a:p>
          <a:p>
            <a:r>
              <a:rPr lang="zh-CN" dirty="0"/>
              <a:t>核心差异：</a:t>
            </a:r>
          </a:p>
          <a:p>
            <a:r>
              <a:rPr lang="zh-CN" dirty="0"/>
              <a:t>• 刘乾坤：摆问题→施压→让供应商自己想办法</a:t>
            </a:r>
          </a:p>
          <a:p>
            <a:r>
              <a:rPr lang="zh-CN" dirty="0"/>
              <a:t>• 年老师：摆问题→提要求→给支持→让供应商自己想办法→长期合作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三个争议事件暴露他的真实性格：</a:t>
            </a:r>
          </a:p>
          <a:p>
            <a:endParaRPr lang="zh-CN" dirty="0"/>
          </a:p>
          <a:p>
            <a:r>
              <a:rPr lang="zh-CN" dirty="0"/>
              <a:t>双重标准（03-25）：自己违规推动供应商拿钱被内审查过，反过来质疑李吉斌的激励方案。年老师感受："挺可怕的，真的不可交"。</a:t>
            </a:r>
          </a:p>
          <a:p>
            <a:endParaRPr lang="zh-CN" dirty="0"/>
          </a:p>
          <a:p>
            <a:r>
              <a:rPr lang="zh-CN" dirty="0"/>
              <a:t>公开攻击前任（03-25 深夜）：@李吉斌加CC上级，让前任在所有人面前难堪。刚接手就甩锅。李吉斌反击后刘乾坤软化退让——教训是面对强硬反击他会退让。</a:t>
            </a:r>
          </a:p>
          <a:p>
            <a:endParaRPr lang="zh-CN" dirty="0"/>
          </a:p>
          <a:p>
            <a:r>
              <a:rPr lang="zh-CN" dirty="0"/>
              <a:t>开门红带节奏（03-29）：群内密集同步激励问题，道德绑架"影响1400个制鞋工人"。选择性攻击：只攻击服务组，不攻击策略组。夸大其词：实际"不会出现批量离职"。教训是核实数据，不被情绪带节奏。</a:t>
            </a:r>
          </a:p>
          <a:p>
            <a:endParaRPr lang="zh-CN" dirty="0"/>
          </a:p>
          <a:p>
            <a:r>
              <a:rPr lang="zh-CN" dirty="0"/>
              <a:t>核心洞察：他对别人做的事，自己可能也在做。双重标准是最大破绽。面对事实反击和强硬态度，他会退让。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总结三句话：</a:t>
            </a:r>
          </a:p>
          <a:p>
            <a:endParaRPr lang="zh-CN" dirty="0"/>
          </a:p>
          <a:p>
            <a:r>
              <a:rPr lang="zh-CN" dirty="0"/>
              <a:t>他不是在管理，是在表演管理——最在意的是"老板知不知道我在解决"。</a:t>
            </a:r>
          </a:p>
          <a:p>
            <a:endParaRPr lang="zh-CN" dirty="0"/>
          </a:p>
          <a:p>
            <a:r>
              <a:rPr lang="zh-CN" dirty="0"/>
              <a:t>边界清晰是最好的防御——周末不接@，工作日按流程，信息独立。</a:t>
            </a:r>
          </a:p>
          <a:p>
            <a:endParaRPr lang="zh-CN" dirty="0"/>
          </a:p>
          <a:p>
            <a:r>
              <a:rPr lang="zh-CN" dirty="0"/>
              <a:t>取其精华，做温和但坚定的管理者——学立规矩、三要素法、数据说话；加上给支持、温和但坚决、长期合作的伙伴关系。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482441"/>
            <a:ext cx="8433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CORE PROFILE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5300" y="1257300"/>
            <a:ext cx="291274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刘乾坤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2190750"/>
            <a:ext cx="1143000" cy="381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48640" y="247269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人物深度分析报告</a:t>
            </a:r>
          </a:p>
        </p:txBody>
      </p:sp>
      <p:sp>
        <p:nvSpPr>
          <p:cNvPr id="7" name="Ellipse 7"/>
          <p:cNvSpPr/>
          <p:nvPr/>
        </p:nvSpPr>
        <p:spPr>
          <a:xfrm>
            <a:off x="8286750" y="1619250"/>
            <a:ext cx="3429000" cy="3429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725B">
                <a:alpha val="30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8858250" y="2190750"/>
            <a:ext cx="2286000" cy="2286000"/>
          </a:xfrm>
          <a:prstGeom prst="ellipse">
            <a:avLst/>
          </a:prstGeom>
          <a:noFill/>
          <a:ln w="9525">
            <a:solidFill>
              <a:srgbClr val="E2725B">
                <a:alpha val="2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429750" y="2762250"/>
            <a:ext cx="1143000" cy="1143000"/>
          </a:xfrm>
          <a:prstGeom prst="ellipse">
            <a:avLst/>
          </a:prstGeom>
          <a:noFill/>
          <a:ln w="9525">
            <a:solidFill>
              <a:srgbClr val="E2725B">
                <a:alpha val="15000"/>
              </a:srgbClr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617964" y="31089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权力框架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26930" y="3379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行为模式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26930" y="35699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应对策略</a:t>
            </a:r>
          </a:p>
        </p:txBody>
      </p:sp>
      <p:sp>
        <p:nvSpPr>
          <p:cNvPr id="13" name="Line 13"/>
          <p:cNvSpPr/>
          <p:nvPr/>
        </p:nvSpPr>
        <p:spPr>
          <a:xfrm>
            <a:off x="571500" y="5905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CBD5E1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58165" y="6173152"/>
            <a:ext cx="23346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v10.2 · 年老师建档 · 2026-03-19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05975" y="6197441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726" y="6173152"/>
            <a:ext cx="8701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2026-04-09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4572000"/>
            <a:ext cx="1905000" cy="762000"/>
          </a:xfrm>
          <a:custGeom>
            <a:avLst/>
            <a:gdLst/>
            <a:ahLst/>
            <a:cxnLst/>
            <a:rect l="l" t="t" r="r" b="b"/>
            <a:pathLst>
              <a:path w="1905000" h="762000">
                <a:moveTo>
                  <a:pt x="381000" y="0"/>
                </a:moveTo>
                <a:lnTo>
                  <a:pt x="1524000" y="0"/>
                </a:lnTo>
                <a:cubicBezTo>
                  <a:pt x="1734420" y="0"/>
                  <a:pt x="1905000" y="170580"/>
                  <a:pt x="1905000" y="381000"/>
                </a:cubicBezTo>
                <a:lnTo>
                  <a:pt x="1905000" y="381000"/>
                </a:lnTo>
                <a:cubicBezTo>
                  <a:pt x="1905000" y="591420"/>
                  <a:pt x="1734420" y="762000"/>
                  <a:pt x="1524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725B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1140714" y="47758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权力框架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7951" y="5054441"/>
            <a:ext cx="7920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POWER FRAME</a:t>
            </a:r>
          </a:p>
        </p:txBody>
      </p:sp>
      <p:sp>
        <p:nvSpPr>
          <p:cNvPr id="20" name="Freeform 20"/>
          <p:cNvSpPr/>
          <p:nvPr/>
        </p:nvSpPr>
        <p:spPr>
          <a:xfrm>
            <a:off x="2762250" y="4572000"/>
            <a:ext cx="1905000" cy="762000"/>
          </a:xfrm>
          <a:custGeom>
            <a:avLst/>
            <a:gdLst/>
            <a:ahLst/>
            <a:cxnLst/>
            <a:rect l="l" t="t" r="r" b="b"/>
            <a:pathLst>
              <a:path w="1905000" h="762000">
                <a:moveTo>
                  <a:pt x="381000" y="0"/>
                </a:moveTo>
                <a:lnTo>
                  <a:pt x="1524000" y="0"/>
                </a:lnTo>
                <a:cubicBezTo>
                  <a:pt x="1734420" y="0"/>
                  <a:pt x="1905000" y="170580"/>
                  <a:pt x="1905000" y="381000"/>
                </a:cubicBezTo>
                <a:lnTo>
                  <a:pt x="1905000" y="381000"/>
                </a:lnTo>
                <a:cubicBezTo>
                  <a:pt x="1905000" y="591420"/>
                  <a:pt x="1734420" y="762000"/>
                  <a:pt x="1524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725B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331464" y="47758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行为模式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42204" y="5054441"/>
            <a:ext cx="5450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BEHAVIOR</a:t>
            </a:r>
          </a:p>
        </p:txBody>
      </p:sp>
      <p:sp>
        <p:nvSpPr>
          <p:cNvPr id="23" name="Freeform 23"/>
          <p:cNvSpPr/>
          <p:nvPr/>
        </p:nvSpPr>
        <p:spPr>
          <a:xfrm>
            <a:off x="4953000" y="4572000"/>
            <a:ext cx="1905000" cy="762000"/>
          </a:xfrm>
          <a:custGeom>
            <a:avLst/>
            <a:gdLst/>
            <a:ahLst/>
            <a:cxnLst/>
            <a:rect l="l" t="t" r="r" b="b"/>
            <a:pathLst>
              <a:path w="1905000" h="762000">
                <a:moveTo>
                  <a:pt x="381000" y="0"/>
                </a:moveTo>
                <a:lnTo>
                  <a:pt x="1524000" y="0"/>
                </a:lnTo>
                <a:cubicBezTo>
                  <a:pt x="1734420" y="0"/>
                  <a:pt x="1905000" y="170580"/>
                  <a:pt x="1905000" y="381000"/>
                </a:cubicBezTo>
                <a:lnTo>
                  <a:pt x="1905000" y="381000"/>
                </a:lnTo>
                <a:cubicBezTo>
                  <a:pt x="1905000" y="591420"/>
                  <a:pt x="1734420" y="762000"/>
                  <a:pt x="1524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725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522214" y="47758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应对策略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29942" y="5054441"/>
            <a:ext cx="5511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STRATEGY</a:t>
            </a:r>
          </a:p>
        </p:txBody>
      </p:sp>
      <p:sp>
        <p:nvSpPr>
          <p:cNvPr id="26" name="Freeform 26"/>
          <p:cNvSpPr/>
          <p:nvPr/>
        </p:nvSpPr>
        <p:spPr>
          <a:xfrm>
            <a:off x="7143750" y="4572000"/>
            <a:ext cx="1905000" cy="762000"/>
          </a:xfrm>
          <a:custGeom>
            <a:avLst/>
            <a:gdLst/>
            <a:ahLst/>
            <a:cxnLst/>
            <a:rect l="l" t="t" r="r" b="b"/>
            <a:pathLst>
              <a:path w="1905000" h="762000">
                <a:moveTo>
                  <a:pt x="381000" y="0"/>
                </a:moveTo>
                <a:lnTo>
                  <a:pt x="1524000" y="0"/>
                </a:lnTo>
                <a:cubicBezTo>
                  <a:pt x="1734420" y="0"/>
                  <a:pt x="1905000" y="170580"/>
                  <a:pt x="1905000" y="381000"/>
                </a:cubicBezTo>
                <a:lnTo>
                  <a:pt x="1905000" y="381000"/>
                </a:lnTo>
                <a:cubicBezTo>
                  <a:pt x="1905000" y="591420"/>
                  <a:pt x="1734420" y="762000"/>
                  <a:pt x="1524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725B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7620952" y="477583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可学习内容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87557" y="5054441"/>
            <a:ext cx="6173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LEARNABLE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7420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POSITIONING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7210" y="56578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一句话定位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1238250"/>
            <a:ext cx="4762500" cy="2476500"/>
          </a:xfrm>
          <a:custGeom>
            <a:avLst/>
            <a:gdLst/>
            <a:ahLst/>
            <a:cxnLst/>
            <a:rect l="l" t="t" r="r" b="b"/>
            <a:pathLst>
              <a:path w="4762500" h="2476500">
                <a:moveTo>
                  <a:pt x="114300" y="0"/>
                </a:moveTo>
                <a:lnTo>
                  <a:pt x="4648200" y="0"/>
                </a:lnTo>
                <a:cubicBezTo>
                  <a:pt x="4711326" y="0"/>
                  <a:pt x="4762500" y="51174"/>
                  <a:pt x="4762500" y="114300"/>
                </a:cubicBezTo>
                <a:lnTo>
                  <a:pt x="4762500" y="2362200"/>
                </a:lnTo>
                <a:cubicBezTo>
                  <a:pt x="4762500" y="2425326"/>
                  <a:pt x="4711326" y="2476500"/>
                  <a:pt x="4648200" y="2476500"/>
                </a:cubicBezTo>
                <a:lnTo>
                  <a:pt x="114300" y="2476500"/>
                </a:lnTo>
                <a:cubicBezTo>
                  <a:pt x="51174" y="2476500"/>
                  <a:pt x="0" y="2425326"/>
                  <a:pt x="0" y="2362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E2725B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76300" y="1066800"/>
            <a:ext cx="658463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0" b="1" dirty="0">
                <a:solidFill>
                  <a:srgbClr val="E2725B">
                    <a:alpha val="15000"/>
                  </a:srgbClr>
                </a:solidFill>
                <a:latin typeface="Arial"/>
                <a:ea typeface="Microsoft YaHei"/>
                <a:cs typeface="Arial"/>
              </a:rPr>
              <a:t>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5830" y="2059305"/>
            <a:ext cx="230762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高压管理型业管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3450" y="2552700"/>
            <a:ext cx="22617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擅长</a:t>
            </a:r>
            <a:r>
              <a:rPr lang="zh-CN" sz="15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立规矩 + 三要素法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5355" y="2997518"/>
            <a:ext cx="28537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对上表演 · 对下施压 · 信息管控</a:t>
            </a:r>
          </a:p>
        </p:txBody>
      </p:sp>
      <p:sp>
        <p:nvSpPr>
          <p:cNvPr id="10" name="Ellipse 10"/>
          <p:cNvSpPr/>
          <p:nvPr/>
        </p:nvSpPr>
        <p:spPr>
          <a:xfrm>
            <a:off x="7810500" y="1238250"/>
            <a:ext cx="1143000" cy="1143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2725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017907" y="1600200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控制权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78105" y="1903095"/>
            <a:ext cx="6077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NO.1 需求</a:t>
            </a:r>
          </a:p>
        </p:txBody>
      </p:sp>
      <p:sp>
        <p:nvSpPr>
          <p:cNvPr id="13" name="Ellipse 13"/>
          <p:cNvSpPr/>
          <p:nvPr/>
        </p:nvSpPr>
        <p:spPr>
          <a:xfrm>
            <a:off x="6858000" y="2667000"/>
            <a:ext cx="952500" cy="952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006566" y="294989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展示权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43036" y="322564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最在意</a:t>
            </a:r>
          </a:p>
        </p:txBody>
      </p:sp>
      <p:sp>
        <p:nvSpPr>
          <p:cNvPr id="16" name="Ellipse 16"/>
          <p:cNvSpPr/>
          <p:nvPr/>
        </p:nvSpPr>
        <p:spPr>
          <a:xfrm>
            <a:off x="8953500" y="2667000"/>
            <a:ext cx="952500" cy="952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102066" y="294989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安全感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78290" y="32256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底层恐惧</a:t>
            </a:r>
          </a:p>
        </p:txBody>
      </p:sp>
      <p:sp>
        <p:nvSpPr>
          <p:cNvPr id="19" name="Line 19"/>
          <p:cNvSpPr/>
          <p:nvPr/>
        </p:nvSpPr>
        <p:spPr>
          <a:xfrm>
            <a:off x="7334250" y="2381250"/>
            <a:ext cx="1047750" cy="333375"/>
          </a:xfrm>
          <a:custGeom>
            <a:avLst/>
            <a:gdLst/>
            <a:ahLst/>
            <a:cxnLst/>
            <a:rect l="l" t="t" r="r" b="b"/>
            <a:pathLst>
              <a:path w="1047750" h="333375">
                <a:moveTo>
                  <a:pt x="1047750" y="0"/>
                </a:moveTo>
                <a:lnTo>
                  <a:pt x="0" y="333375"/>
                </a:lnTo>
              </a:path>
            </a:pathLst>
          </a:custGeom>
          <a:noFill/>
          <a:ln w="9525">
            <a:solidFill>
              <a:srgbClr val="E2725B">
                <a:alpha val="30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8382000" y="2381250"/>
            <a:ext cx="1047750" cy="333375"/>
          </a:xfrm>
          <a:custGeom>
            <a:avLst/>
            <a:gdLst/>
            <a:ahLst/>
            <a:cxnLst/>
            <a:rect l="l" t="t" r="r" b="b"/>
            <a:pathLst>
              <a:path w="1047750" h="333375">
                <a:moveTo>
                  <a:pt x="0" y="0"/>
                </a:moveTo>
                <a:lnTo>
                  <a:pt x="1047750" y="333375"/>
                </a:lnTo>
              </a:path>
            </a:pathLst>
          </a:custGeom>
          <a:noFill/>
          <a:ln w="9525">
            <a:solidFill>
              <a:srgbClr val="E2725B">
                <a:alpha val="30000"/>
              </a:srgbClr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571500" y="400050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94385" y="4251960"/>
            <a:ext cx="15302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控制权 · 第一需求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6290" y="4553902"/>
            <a:ext cx="26336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刚接手新业务时，通过立规矩、阻断信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6290" y="4744402"/>
            <a:ext cx="24956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息、责任下放来建立"我在管"的信号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7242" y="513349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秩序是安全感的基础</a:t>
            </a:r>
          </a:p>
        </p:txBody>
      </p:sp>
      <p:sp>
        <p:nvSpPr>
          <p:cNvPr id="26" name="Freeform 26"/>
          <p:cNvSpPr/>
          <p:nvPr/>
        </p:nvSpPr>
        <p:spPr>
          <a:xfrm>
            <a:off x="4286250" y="400050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509135" y="4251960"/>
            <a:ext cx="13462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展示权 · 最在意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1040" y="4553902"/>
            <a:ext cx="26489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群内表演、打鸡血、CC上级，观众从来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11040" y="47444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不是平级而是上级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11992" y="5133499"/>
            <a:ext cx="2174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"老板知不知道"比解决本身更重要</a:t>
            </a:r>
          </a:p>
        </p:txBody>
      </p:sp>
      <p:sp>
        <p:nvSpPr>
          <p:cNvPr id="31" name="Freeform 31"/>
          <p:cNvSpPr/>
          <p:nvPr/>
        </p:nvSpPr>
        <p:spPr>
          <a:xfrm>
            <a:off x="8001000" y="4000500"/>
            <a:ext cx="3619500" cy="1905000"/>
          </a:xfrm>
          <a:custGeom>
            <a:avLst/>
            <a:gdLst/>
            <a:ahLst/>
            <a:cxnLst/>
            <a:rect l="l" t="t" r="r" b="b"/>
            <a:pathLst>
              <a:path w="3619500" h="1905000">
                <a:moveTo>
                  <a:pt x="76200" y="0"/>
                </a:moveTo>
                <a:lnTo>
                  <a:pt x="3543300" y="0"/>
                </a:lnTo>
                <a:cubicBezTo>
                  <a:pt x="3585384" y="0"/>
                  <a:pt x="3619500" y="34116"/>
                  <a:pt x="3619500" y="76200"/>
                </a:cubicBezTo>
                <a:lnTo>
                  <a:pt x="3619500" y="1828800"/>
                </a:lnTo>
                <a:cubicBezTo>
                  <a:pt x="3619500" y="1870884"/>
                  <a:pt x="3585384" y="1905000"/>
                  <a:pt x="35433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223885" y="4251960"/>
            <a:ext cx="15302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安全感 · 底层恐惧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25790" y="4553902"/>
            <a:ext cx="26336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怕被替代，所以要让别人依赖自己。信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225790" y="474440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息管控就是掌控不可替代性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26742" y="5133499"/>
            <a:ext cx="16053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"别找供应商，我来对接"</a:t>
            </a:r>
          </a:p>
        </p:txBody>
      </p:sp>
      <p:sp>
        <p:nvSpPr>
          <p:cNvPr id="36" name="Line 36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BD5E1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371475" y="6491288"/>
            <a:ext cx="13280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Source: 刘乾坤档案 v10.2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774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761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POWER CORE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7210" y="5657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权力内核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1013460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他想要什么？三个核心诉求缺一不可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524000"/>
            <a:ext cx="3810000" cy="2667000"/>
          </a:xfrm>
          <a:custGeom>
            <a:avLst/>
            <a:gdLst/>
            <a:ahLst/>
            <a:cxnLst/>
            <a:rect l="l" t="t" r="r" b="b"/>
            <a:pathLst>
              <a:path w="3810000" h="2667000">
                <a:moveTo>
                  <a:pt x="152400" y="0"/>
                </a:moveTo>
                <a:lnTo>
                  <a:pt x="3657600" y="0"/>
                </a:lnTo>
                <a:cubicBezTo>
                  <a:pt x="3741768" y="0"/>
                  <a:pt x="3810000" y="68232"/>
                  <a:pt x="3810000" y="152400"/>
                </a:cubicBezTo>
                <a:lnTo>
                  <a:pt x="3810000" y="2514600"/>
                </a:lnTo>
                <a:cubicBezTo>
                  <a:pt x="3810000" y="2598768"/>
                  <a:pt x="3741768" y="2667000"/>
                  <a:pt x="3657600" y="2667000"/>
                </a:cubicBezTo>
                <a:lnTo>
                  <a:pt x="152400" y="2667000"/>
                </a:lnTo>
                <a:cubicBezTo>
                  <a:pt x="68232" y="2667000"/>
                  <a:pt x="0" y="2598768"/>
                  <a:pt x="0" y="2514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E2725B"/>
            </a:solidFill>
          </a:ln>
        </p:spPr>
      </p:sp>
      <p:sp>
        <p:nvSpPr>
          <p:cNvPr id="7" name="Ellipse 7"/>
          <p:cNvSpPr/>
          <p:nvPr/>
        </p:nvSpPr>
        <p:spPr>
          <a:xfrm>
            <a:off x="762000" y="1714500"/>
            <a:ext cx="571500" cy="571500"/>
          </a:xfrm>
          <a:prstGeom prst="ellipse">
            <a:avLst/>
          </a:prstGeom>
          <a:solidFill>
            <a:srgbClr val="E2725B">
              <a:alpha val="1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83485" y="1882140"/>
            <a:ext cx="1285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9235" y="1742122"/>
            <a:ext cx="94664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控制权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1618" y="2066449"/>
            <a:ext cx="6584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NO.1 需求</a:t>
            </a:r>
          </a:p>
        </p:txBody>
      </p:sp>
      <p:sp>
        <p:nvSpPr>
          <p:cNvPr id="11" name="Line 11"/>
          <p:cNvSpPr/>
          <p:nvPr/>
        </p:nvSpPr>
        <p:spPr>
          <a:xfrm>
            <a:off x="857250" y="2333625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9525">
            <a:solidFill>
              <a:srgbClr val="F1F5F9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42962" y="254555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刚接手新业务时频繁宣布新规则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2962" y="283130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立规矩、阻断信息、责任下放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3915" y="3125152"/>
            <a:ext cx="14221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建立"我在管"的信号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4868" y="3609499"/>
            <a:ext cx="21180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应对：确认合理性，不盲目接受</a:t>
            </a:r>
          </a:p>
        </p:txBody>
      </p:sp>
      <p:sp>
        <p:nvSpPr>
          <p:cNvPr id="16" name="Freeform 16"/>
          <p:cNvSpPr/>
          <p:nvPr/>
        </p:nvSpPr>
        <p:spPr>
          <a:xfrm>
            <a:off x="4572000" y="1524000"/>
            <a:ext cx="3810000" cy="2667000"/>
          </a:xfrm>
          <a:custGeom>
            <a:avLst/>
            <a:gdLst/>
            <a:ahLst/>
            <a:cxnLst/>
            <a:rect l="l" t="t" r="r" b="b"/>
            <a:pathLst>
              <a:path w="3810000" h="2667000">
                <a:moveTo>
                  <a:pt x="152400" y="0"/>
                </a:moveTo>
                <a:lnTo>
                  <a:pt x="3657600" y="0"/>
                </a:lnTo>
                <a:cubicBezTo>
                  <a:pt x="3741768" y="0"/>
                  <a:pt x="3810000" y="68232"/>
                  <a:pt x="3810000" y="152400"/>
                </a:cubicBezTo>
                <a:lnTo>
                  <a:pt x="3810000" y="2514600"/>
                </a:lnTo>
                <a:cubicBezTo>
                  <a:pt x="3810000" y="2598768"/>
                  <a:pt x="3741768" y="2667000"/>
                  <a:pt x="3657600" y="2667000"/>
                </a:cubicBezTo>
                <a:lnTo>
                  <a:pt x="152400" y="2667000"/>
                </a:lnTo>
                <a:cubicBezTo>
                  <a:pt x="68232" y="2667000"/>
                  <a:pt x="0" y="2598768"/>
                  <a:pt x="0" y="2514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F97316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4762500" y="1714500"/>
            <a:ext cx="571500" cy="571500"/>
          </a:xfrm>
          <a:prstGeom prst="ellipse">
            <a:avLst/>
          </a:prstGeom>
          <a:solidFill>
            <a:srgbClr val="F97316">
              <a:alpha val="1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949481" y="1882140"/>
            <a:ext cx="1975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99735" y="1742122"/>
            <a:ext cx="94664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展示权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12118" y="206644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最在意</a:t>
            </a:r>
          </a:p>
        </p:txBody>
      </p:sp>
      <p:sp>
        <p:nvSpPr>
          <p:cNvPr id="21" name="Line 21"/>
          <p:cNvSpPr/>
          <p:nvPr/>
        </p:nvSpPr>
        <p:spPr>
          <a:xfrm>
            <a:off x="4857750" y="2333625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9525">
            <a:solidFill>
              <a:srgbClr val="F1F5F9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843462" y="2545556"/>
            <a:ext cx="22713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群聊中高频@上级，汇报"进展"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43462" y="2831306"/>
            <a:ext cx="20166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群内表演、打鸡血、CC上级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44415" y="31251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表演给上级看，不是给平级看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45368" y="3609499"/>
            <a:ext cx="19685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应对：不抢戏，专注自身边界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4381500"/>
            <a:ext cx="11049000" cy="1524000"/>
          </a:xfrm>
          <a:custGeom>
            <a:avLst/>
            <a:gdLst/>
            <a:ahLst/>
            <a:cxnLst/>
            <a:rect l="l" t="t" r="r" b="b"/>
            <a:pathLst>
              <a:path w="11049000" h="1524000">
                <a:moveTo>
                  <a:pt x="152400" y="0"/>
                </a:moveTo>
                <a:lnTo>
                  <a:pt x="10896600" y="0"/>
                </a:lnTo>
                <a:cubicBezTo>
                  <a:pt x="10980768" y="0"/>
                  <a:pt x="11049000" y="68232"/>
                  <a:pt x="11049000" y="152400"/>
                </a:cubicBezTo>
                <a:lnTo>
                  <a:pt x="11049000" y="1371600"/>
                </a:lnTo>
                <a:cubicBezTo>
                  <a:pt x="11049000" y="1455768"/>
                  <a:pt x="10980768" y="1524000"/>
                  <a:pt x="10896600" y="1524000"/>
                </a:cubicBezTo>
                <a:lnTo>
                  <a:pt x="152400" y="1524000"/>
                </a:lnTo>
                <a:cubicBezTo>
                  <a:pt x="68232" y="1524000"/>
                  <a:pt x="0" y="1455768"/>
                  <a:pt x="0" y="1371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B91C1C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857250" y="4572000"/>
            <a:ext cx="571500" cy="571500"/>
          </a:xfrm>
          <a:prstGeom prst="ellipse">
            <a:avLst/>
          </a:prstGeom>
          <a:solidFill>
            <a:srgbClr val="B91C1C">
              <a:alpha val="10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44231" y="4739640"/>
            <a:ext cx="1975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94485" y="4599622"/>
            <a:ext cx="94664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安全感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06868" y="49239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底层恐惧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04962" y="5212556"/>
            <a:ext cx="4957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怕被替代，所以要让别人依赖自己。信息管控就是掌控不可替代性。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06868" y="5514499"/>
            <a:ext cx="25665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应对：建立独立渠道，不依赖他拿数据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6096000"/>
            <a:ext cx="5715000" cy="381000"/>
          </a:xfrm>
          <a:custGeom>
            <a:avLst/>
            <a:gdLst/>
            <a:ahLst/>
            <a:cxnLst/>
            <a:rect l="l" t="t" r="r" b="b"/>
            <a:pathLst>
              <a:path w="5715000" h="381000">
                <a:moveTo>
                  <a:pt x="190500" y="0"/>
                </a:moveTo>
                <a:lnTo>
                  <a:pt x="5524500" y="0"/>
                </a:lnTo>
                <a:cubicBezTo>
                  <a:pt x="5629710" y="0"/>
                  <a:pt x="5715000" y="85290"/>
                  <a:pt x="5715000" y="190500"/>
                </a:cubicBezTo>
                <a:lnTo>
                  <a:pt x="5715000" y="190500"/>
                </a:lnTo>
                <a:cubicBezTo>
                  <a:pt x="5715000" y="295710"/>
                  <a:pt x="5629710" y="381000"/>
                  <a:pt x="5524500" y="381000"/>
                </a:cubicBezTo>
                <a:lnTo>
                  <a:pt x="190500" y="381000"/>
                </a:lnTo>
                <a:cubicBezTo>
                  <a:pt x="85290" y="381000"/>
                  <a:pt x="0" y="295710"/>
                  <a:pt x="0" y="190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E2725B">
              <a:alpha val="8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44868" y="6228874"/>
            <a:ext cx="32095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控制权是基础 → 展示权是最在意 → 安全感是底线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774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9698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POWER SOURCES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7210" y="5657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权力来源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1013460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从底层规则到表层施压，层层递进</a:t>
            </a:r>
          </a:p>
        </p:txBody>
      </p:sp>
      <p:sp>
        <p:nvSpPr>
          <p:cNvPr id="6" name="Freeform 6"/>
          <p:cNvSpPr/>
          <p:nvPr/>
        </p:nvSpPr>
        <p:spPr>
          <a:xfrm>
            <a:off x="952500" y="1524000"/>
            <a:ext cx="10287000" cy="762000"/>
          </a:xfrm>
          <a:custGeom>
            <a:avLst/>
            <a:gdLst/>
            <a:ahLst/>
            <a:cxnLst/>
            <a:rect l="l" t="t" r="r" b="b"/>
            <a:pathLst>
              <a:path w="10287000" h="762000">
                <a:moveTo>
                  <a:pt x="76200" y="0"/>
                </a:moveTo>
                <a:lnTo>
                  <a:pt x="10210800" y="0"/>
                </a:lnTo>
                <a:cubicBezTo>
                  <a:pt x="10252884" y="0"/>
                  <a:pt x="10287000" y="34116"/>
                  <a:pt x="10287000" y="76200"/>
                </a:cubicBezTo>
                <a:lnTo>
                  <a:pt x="10287000" y="685800"/>
                </a:lnTo>
                <a:cubicBezTo>
                  <a:pt x="10287000" y="727884"/>
                  <a:pt x="10252884" y="762000"/>
                  <a:pt x="10210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5960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12545" y="1774508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规则权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42260" y="1823085"/>
            <a:ext cx="39475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立规矩、机制先行 → "按规则办事"而非"个人施压"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75778" y="1839278"/>
            <a:ext cx="3245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TOP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24000" y="2428875"/>
            <a:ext cx="9144000" cy="762000"/>
          </a:xfrm>
          <a:custGeom>
            <a:avLst/>
            <a:gdLst/>
            <a:ahLst/>
            <a:cxnLst/>
            <a:rect l="l" t="t" r="r" b="b"/>
            <a:pathLst>
              <a:path w="9144000" h="762000">
                <a:moveTo>
                  <a:pt x="76200" y="0"/>
                </a:moveTo>
                <a:lnTo>
                  <a:pt x="9067800" y="0"/>
                </a:lnTo>
                <a:cubicBezTo>
                  <a:pt x="9109884" y="0"/>
                  <a:pt x="9144000" y="34116"/>
                  <a:pt x="9144000" y="76200"/>
                </a:cubicBezTo>
                <a:lnTo>
                  <a:pt x="9144000" y="685800"/>
                </a:lnTo>
                <a:cubicBezTo>
                  <a:pt x="9144000" y="727884"/>
                  <a:pt x="9109884" y="762000"/>
                  <a:pt x="9067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D4AF3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884045" y="267938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信息权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23260" y="2727960"/>
            <a:ext cx="30361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两头堵、阻断信息 → 对手只能依赖自己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17821" y="27441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↑</a:t>
            </a:r>
          </a:p>
        </p:txBody>
      </p:sp>
      <p:sp>
        <p:nvSpPr>
          <p:cNvPr id="14" name="Freeform 14"/>
          <p:cNvSpPr/>
          <p:nvPr/>
        </p:nvSpPr>
        <p:spPr>
          <a:xfrm>
            <a:off x="2095500" y="3333750"/>
            <a:ext cx="8001000" cy="762000"/>
          </a:xfrm>
          <a:custGeom>
            <a:avLst/>
            <a:gdLst/>
            <a:ahLst/>
            <a:cxnLst/>
            <a:rect l="l" t="t" r="r" b="b"/>
            <a:pathLst>
              <a:path w="8001000" h="762000">
                <a:moveTo>
                  <a:pt x="76200" y="0"/>
                </a:moveTo>
                <a:lnTo>
                  <a:pt x="7924800" y="0"/>
                </a:lnTo>
                <a:cubicBezTo>
                  <a:pt x="7966884" y="0"/>
                  <a:pt x="8001000" y="34116"/>
                  <a:pt x="8001000" y="76200"/>
                </a:cubicBezTo>
                <a:lnTo>
                  <a:pt x="8001000" y="685800"/>
                </a:lnTo>
                <a:cubicBezTo>
                  <a:pt x="8001000" y="727884"/>
                  <a:pt x="7966884" y="762000"/>
                  <a:pt x="7924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725B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2455545" y="3584258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关系权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94760" y="3632835"/>
            <a:ext cx="28609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拉拢圈人、人情债 → 用关系绑定利益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46321" y="3649028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↑</a:t>
            </a:r>
          </a:p>
        </p:txBody>
      </p:sp>
      <p:sp>
        <p:nvSpPr>
          <p:cNvPr id="18" name="Freeform 18"/>
          <p:cNvSpPr/>
          <p:nvPr/>
        </p:nvSpPr>
        <p:spPr>
          <a:xfrm>
            <a:off x="2667000" y="4238625"/>
            <a:ext cx="6858000" cy="762000"/>
          </a:xfrm>
          <a:custGeom>
            <a:avLst/>
            <a:gdLst/>
            <a:ahLst/>
            <a:cxnLst/>
            <a:rect l="l" t="t" r="r" b="b"/>
            <a:pathLst>
              <a:path w="6858000" h="762000">
                <a:moveTo>
                  <a:pt x="76200" y="0"/>
                </a:moveTo>
                <a:lnTo>
                  <a:pt x="6781800" y="0"/>
                </a:lnTo>
                <a:cubicBezTo>
                  <a:pt x="6823884" y="0"/>
                  <a:pt x="6858000" y="34116"/>
                  <a:pt x="6858000" y="76200"/>
                </a:cubicBezTo>
                <a:lnTo>
                  <a:pt x="6858000" y="685800"/>
                </a:lnTo>
                <a:cubicBezTo>
                  <a:pt x="6858000" y="727884"/>
                  <a:pt x="6823884" y="762000"/>
                  <a:pt x="6781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F97316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3027045" y="4489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注意权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66260" y="4537710"/>
            <a:ext cx="30361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群内表演、打鸡血 → 刷存在感给上级看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74821" y="45539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↑</a:t>
            </a:r>
          </a:p>
        </p:txBody>
      </p:sp>
      <p:sp>
        <p:nvSpPr>
          <p:cNvPr id="22" name="Freeform 22"/>
          <p:cNvSpPr/>
          <p:nvPr/>
        </p:nvSpPr>
        <p:spPr>
          <a:xfrm>
            <a:off x="3238500" y="5143500"/>
            <a:ext cx="5715000" cy="762000"/>
          </a:xfrm>
          <a:custGeom>
            <a:avLst/>
            <a:gdLst/>
            <a:ahLst/>
            <a:cxnLst/>
            <a:rect l="l" t="t" r="r" b="b"/>
            <a:pathLst>
              <a:path w="5715000" h="762000">
                <a:moveTo>
                  <a:pt x="76200" y="0"/>
                </a:moveTo>
                <a:lnTo>
                  <a:pt x="5638800" y="0"/>
                </a:lnTo>
                <a:cubicBezTo>
                  <a:pt x="5680884" y="0"/>
                  <a:pt x="5715000" y="34116"/>
                  <a:pt x="5715000" y="76200"/>
                </a:cubicBezTo>
                <a:lnTo>
                  <a:pt x="5715000" y="685800"/>
                </a:lnTo>
                <a:cubicBezTo>
                  <a:pt x="5715000" y="727884"/>
                  <a:pt x="5680884" y="762000"/>
                  <a:pt x="5638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B91C1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3598545" y="5394008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施压权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937760" y="5442585"/>
            <a:ext cx="28609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公开锁定、高压管理 → 制造回复压力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65625" y="54587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底层</a:t>
            </a:r>
          </a:p>
        </p:txBody>
      </p:sp>
      <p:sp>
        <p:nvSpPr>
          <p:cNvPr id="26" name="Line 26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CBD5E1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371475" y="6491288"/>
            <a:ext cx="13280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Source: 刘乾坤档案 v10.2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774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11659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BEHAVIOR PATTERNS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7210" y="5657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行为模式概览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1013460"/>
            <a:ext cx="2457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18种模式，按风险等级热力分布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4287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39165" y="15630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权力来源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20415" y="15630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行为模式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30415" y="156305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风险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35415" y="1563052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一句话</a:t>
            </a:r>
          </a:p>
        </p:txBody>
      </p:sp>
      <p:sp>
        <p:nvSpPr>
          <p:cNvPr id="11" name="Freeform 11"/>
          <p:cNvSpPr/>
          <p:nvPr/>
        </p:nvSpPr>
        <p:spPr>
          <a:xfrm>
            <a:off x="571500" y="1857375"/>
            <a:ext cx="11049000" cy="523875"/>
          </a:xfrm>
          <a:custGeom>
            <a:avLst/>
            <a:gdLst/>
            <a:ahLst/>
            <a:cxnLst/>
            <a:rect l="l" t="t" r="r" b="b"/>
            <a:pathLst>
              <a:path w="11049000" h="523875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85775"/>
                </a:lnTo>
                <a:cubicBezTo>
                  <a:pt x="11049000" y="506817"/>
                  <a:pt x="11031942" y="523875"/>
                  <a:pt x="11010900" y="523875"/>
                </a:cubicBezTo>
                <a:lnTo>
                  <a:pt x="38100" y="523875"/>
                </a:lnTo>
                <a:cubicBezTo>
                  <a:pt x="17058" y="523875"/>
                  <a:pt x="0" y="506817"/>
                  <a:pt x="0" y="4857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762000" y="2019300"/>
            <a:ext cx="190500" cy="190500"/>
          </a:xfrm>
          <a:prstGeom prst="ellipse">
            <a:avLst/>
          </a:prstGeom>
          <a:solidFill>
            <a:srgbClr val="22C55E">
              <a:alpha val="2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96921" y="2089309"/>
            <a:ext cx="12065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8712" y="2021681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规则权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20415" y="2029778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立规矩</a:t>
            </a:r>
          </a:p>
        </p:txBody>
      </p:sp>
      <p:sp>
        <p:nvSpPr>
          <p:cNvPr id="16" name="Freeform 16"/>
          <p:cNvSpPr/>
          <p:nvPr/>
        </p:nvSpPr>
        <p:spPr>
          <a:xfrm>
            <a:off x="7143750" y="2000250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762000" h="228600">
                <a:moveTo>
                  <a:pt x="114300" y="0"/>
                </a:moveTo>
                <a:lnTo>
                  <a:pt x="647700" y="0"/>
                </a:lnTo>
                <a:cubicBezTo>
                  <a:pt x="710826" y="0"/>
                  <a:pt x="762000" y="51174"/>
                  <a:pt x="762000" y="114300"/>
                </a:cubicBezTo>
                <a:lnTo>
                  <a:pt x="762000" y="114300"/>
                </a:lnTo>
                <a:cubicBezTo>
                  <a:pt x="762000" y="177426"/>
                  <a:pt x="710826" y="228600"/>
                  <a:pt x="6477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2C55E">
              <a:alpha val="10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316152" y="2065020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值得学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36368" y="2037874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先定规则后办事</a:t>
            </a:r>
          </a:p>
        </p:txBody>
      </p:sp>
      <p:sp>
        <p:nvSpPr>
          <p:cNvPr id="19" name="Freeform 19"/>
          <p:cNvSpPr/>
          <p:nvPr/>
        </p:nvSpPr>
        <p:spPr>
          <a:xfrm>
            <a:off x="571500" y="2428875"/>
            <a:ext cx="11049000" cy="523875"/>
          </a:xfrm>
          <a:custGeom>
            <a:avLst/>
            <a:gdLst/>
            <a:ahLst/>
            <a:cxnLst/>
            <a:rect l="l" t="t" r="r" b="b"/>
            <a:pathLst>
              <a:path w="11049000" h="523875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85775"/>
                </a:lnTo>
                <a:cubicBezTo>
                  <a:pt x="11049000" y="506817"/>
                  <a:pt x="11031942" y="523875"/>
                  <a:pt x="11010900" y="523875"/>
                </a:cubicBezTo>
                <a:lnTo>
                  <a:pt x="38100" y="523875"/>
                </a:lnTo>
                <a:cubicBezTo>
                  <a:pt x="17058" y="523875"/>
                  <a:pt x="0" y="506817"/>
                  <a:pt x="0" y="4857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762000" y="2590800"/>
            <a:ext cx="190500" cy="190500"/>
          </a:xfrm>
          <a:prstGeom prst="ellipse">
            <a:avLst/>
          </a:prstGeom>
          <a:solidFill>
            <a:srgbClr val="B91C1C">
              <a:alpha val="2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33151" y="2660809"/>
            <a:ext cx="4819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8712" y="2593181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信息权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20415" y="260127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两头堵、阻断信息</a:t>
            </a:r>
          </a:p>
        </p:txBody>
      </p:sp>
      <p:sp>
        <p:nvSpPr>
          <p:cNvPr id="24" name="Freeform 24"/>
          <p:cNvSpPr/>
          <p:nvPr/>
        </p:nvSpPr>
        <p:spPr>
          <a:xfrm>
            <a:off x="7143750" y="2571750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762000" h="228600">
                <a:moveTo>
                  <a:pt x="114300" y="0"/>
                </a:moveTo>
                <a:lnTo>
                  <a:pt x="647700" y="0"/>
                </a:lnTo>
                <a:cubicBezTo>
                  <a:pt x="710826" y="0"/>
                  <a:pt x="762000" y="51174"/>
                  <a:pt x="762000" y="114300"/>
                </a:cubicBezTo>
                <a:lnTo>
                  <a:pt x="762000" y="114300"/>
                </a:lnTo>
                <a:cubicBezTo>
                  <a:pt x="762000" y="177426"/>
                  <a:pt x="710826" y="228600"/>
                  <a:pt x="6477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B91C1C">
              <a:alpha val="10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316152" y="2636520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高危险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36368" y="260937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阻断信息渠道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3000375"/>
            <a:ext cx="11049000" cy="523875"/>
          </a:xfrm>
          <a:custGeom>
            <a:avLst/>
            <a:gdLst/>
            <a:ahLst/>
            <a:cxnLst/>
            <a:rect l="l" t="t" r="r" b="b"/>
            <a:pathLst>
              <a:path w="11049000" h="523875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85775"/>
                </a:lnTo>
                <a:cubicBezTo>
                  <a:pt x="11049000" y="506817"/>
                  <a:pt x="11031942" y="523875"/>
                  <a:pt x="11010900" y="523875"/>
                </a:cubicBezTo>
                <a:lnTo>
                  <a:pt x="38100" y="523875"/>
                </a:lnTo>
                <a:cubicBezTo>
                  <a:pt x="17058" y="523875"/>
                  <a:pt x="0" y="506817"/>
                  <a:pt x="0" y="4857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762000" y="3162300"/>
            <a:ext cx="190500" cy="190500"/>
          </a:xfrm>
          <a:prstGeom prst="ellipse">
            <a:avLst/>
          </a:prstGeom>
          <a:solidFill>
            <a:srgbClr val="D97706">
              <a:alpha val="20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20211" y="3232309"/>
            <a:ext cx="7407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▲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8712" y="3164681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关系权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320415" y="317277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拉拢圈人、人情债</a:t>
            </a:r>
          </a:p>
        </p:txBody>
      </p:sp>
      <p:sp>
        <p:nvSpPr>
          <p:cNvPr id="32" name="Freeform 32"/>
          <p:cNvSpPr/>
          <p:nvPr/>
        </p:nvSpPr>
        <p:spPr>
          <a:xfrm>
            <a:off x="7143750" y="3143250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762000" h="228600">
                <a:moveTo>
                  <a:pt x="114300" y="0"/>
                </a:moveTo>
                <a:lnTo>
                  <a:pt x="647700" y="0"/>
                </a:lnTo>
                <a:cubicBezTo>
                  <a:pt x="710826" y="0"/>
                  <a:pt x="762000" y="51174"/>
                  <a:pt x="762000" y="114300"/>
                </a:cubicBezTo>
                <a:lnTo>
                  <a:pt x="762000" y="114300"/>
                </a:lnTo>
                <a:cubicBezTo>
                  <a:pt x="762000" y="177426"/>
                  <a:pt x="710826" y="228600"/>
                  <a:pt x="6477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97706">
              <a:alpha val="10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381875" y="3208020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施压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36368" y="318087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让利换配合</a:t>
            </a:r>
          </a:p>
        </p:txBody>
      </p:sp>
      <p:sp>
        <p:nvSpPr>
          <p:cNvPr id="35" name="Freeform 35"/>
          <p:cNvSpPr/>
          <p:nvPr/>
        </p:nvSpPr>
        <p:spPr>
          <a:xfrm>
            <a:off x="571500" y="3571875"/>
            <a:ext cx="11049000" cy="523875"/>
          </a:xfrm>
          <a:custGeom>
            <a:avLst/>
            <a:gdLst/>
            <a:ahLst/>
            <a:cxnLst/>
            <a:rect l="l" t="t" r="r" b="b"/>
            <a:pathLst>
              <a:path w="11049000" h="523875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85775"/>
                </a:lnTo>
                <a:cubicBezTo>
                  <a:pt x="11049000" y="506817"/>
                  <a:pt x="11031942" y="523875"/>
                  <a:pt x="11010900" y="523875"/>
                </a:cubicBezTo>
                <a:lnTo>
                  <a:pt x="38100" y="523875"/>
                </a:lnTo>
                <a:cubicBezTo>
                  <a:pt x="17058" y="523875"/>
                  <a:pt x="0" y="506817"/>
                  <a:pt x="0" y="4857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762000" y="3733800"/>
            <a:ext cx="190500" cy="190500"/>
          </a:xfrm>
          <a:prstGeom prst="ellipse">
            <a:avLst/>
          </a:prstGeom>
          <a:solidFill>
            <a:srgbClr val="D97706">
              <a:alpha val="20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20211" y="3803809"/>
            <a:ext cx="7407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▲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8712" y="3736181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注意权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320415" y="3744278"/>
            <a:ext cx="16598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群内表演、任务下放+CC</a:t>
            </a:r>
          </a:p>
        </p:txBody>
      </p:sp>
      <p:sp>
        <p:nvSpPr>
          <p:cNvPr id="40" name="Freeform 40"/>
          <p:cNvSpPr/>
          <p:nvPr/>
        </p:nvSpPr>
        <p:spPr>
          <a:xfrm>
            <a:off x="7143750" y="3714750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762000" h="228600">
                <a:moveTo>
                  <a:pt x="114300" y="0"/>
                </a:moveTo>
                <a:lnTo>
                  <a:pt x="647700" y="0"/>
                </a:lnTo>
                <a:cubicBezTo>
                  <a:pt x="710826" y="0"/>
                  <a:pt x="762000" y="51174"/>
                  <a:pt x="762000" y="114300"/>
                </a:cubicBezTo>
                <a:lnTo>
                  <a:pt x="762000" y="114300"/>
                </a:lnTo>
                <a:cubicBezTo>
                  <a:pt x="762000" y="177426"/>
                  <a:pt x="710826" y="228600"/>
                  <a:pt x="6477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97706">
              <a:alpha val="10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381875" y="3779520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施压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36368" y="37523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刷存在感</a:t>
            </a:r>
          </a:p>
        </p:txBody>
      </p:sp>
      <p:sp>
        <p:nvSpPr>
          <p:cNvPr id="43" name="Freeform 43"/>
          <p:cNvSpPr/>
          <p:nvPr/>
        </p:nvSpPr>
        <p:spPr>
          <a:xfrm>
            <a:off x="571500" y="4143375"/>
            <a:ext cx="11049000" cy="523875"/>
          </a:xfrm>
          <a:custGeom>
            <a:avLst/>
            <a:gdLst/>
            <a:ahLst/>
            <a:cxnLst/>
            <a:rect l="l" t="t" r="r" b="b"/>
            <a:pathLst>
              <a:path w="11049000" h="523875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485775"/>
                </a:lnTo>
                <a:cubicBezTo>
                  <a:pt x="11049000" y="506817"/>
                  <a:pt x="11031942" y="523875"/>
                  <a:pt x="11010900" y="523875"/>
                </a:cubicBezTo>
                <a:lnTo>
                  <a:pt x="38100" y="523875"/>
                </a:lnTo>
                <a:cubicBezTo>
                  <a:pt x="17058" y="523875"/>
                  <a:pt x="0" y="506817"/>
                  <a:pt x="0" y="4857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762000" y="4305300"/>
            <a:ext cx="190500" cy="190500"/>
          </a:xfrm>
          <a:prstGeom prst="ellipse">
            <a:avLst/>
          </a:prstGeom>
          <a:solidFill>
            <a:srgbClr val="B91C1C">
              <a:alpha val="20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33151" y="4375309"/>
            <a:ext cx="4819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28712" y="4307681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施压权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320415" y="4315778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公开锁定、高压管理、追责转嫁</a:t>
            </a:r>
          </a:p>
        </p:txBody>
      </p:sp>
      <p:sp>
        <p:nvSpPr>
          <p:cNvPr id="48" name="Freeform 48"/>
          <p:cNvSpPr/>
          <p:nvPr/>
        </p:nvSpPr>
        <p:spPr>
          <a:xfrm>
            <a:off x="7143750" y="4286250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762000" h="228600">
                <a:moveTo>
                  <a:pt x="114300" y="0"/>
                </a:moveTo>
                <a:lnTo>
                  <a:pt x="647700" y="0"/>
                </a:lnTo>
                <a:cubicBezTo>
                  <a:pt x="710826" y="0"/>
                  <a:pt x="762000" y="51174"/>
                  <a:pt x="762000" y="114300"/>
                </a:cubicBezTo>
                <a:lnTo>
                  <a:pt x="762000" y="114300"/>
                </a:lnTo>
                <a:cubicBezTo>
                  <a:pt x="762000" y="177426"/>
                  <a:pt x="710826" y="228600"/>
                  <a:pt x="6477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B91C1C">
              <a:alpha val="10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316152" y="4351020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高危险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036368" y="432387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密集施压区域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56260" y="49187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组合拳</a:t>
            </a:r>
          </a:p>
        </p:txBody>
      </p:sp>
      <p:sp>
        <p:nvSpPr>
          <p:cNvPr id="52" name="Freeform 52"/>
          <p:cNvSpPr/>
          <p:nvPr/>
        </p:nvSpPr>
        <p:spPr>
          <a:xfrm>
            <a:off x="571500" y="5191125"/>
            <a:ext cx="3524250" cy="523875"/>
          </a:xfrm>
          <a:custGeom>
            <a:avLst/>
            <a:gdLst/>
            <a:ahLst/>
            <a:cxnLst/>
            <a:rect l="l" t="t" r="r" b="b"/>
            <a:pathLst>
              <a:path w="3524250" h="523875">
                <a:moveTo>
                  <a:pt x="57150" y="0"/>
                </a:moveTo>
                <a:lnTo>
                  <a:pt x="3467100" y="0"/>
                </a:lnTo>
                <a:cubicBezTo>
                  <a:pt x="3498663" y="0"/>
                  <a:pt x="3524250" y="25587"/>
                  <a:pt x="3524250" y="57150"/>
                </a:cubicBezTo>
                <a:lnTo>
                  <a:pt x="3524250" y="466725"/>
                </a:lnTo>
                <a:cubicBezTo>
                  <a:pt x="3524250" y="498288"/>
                  <a:pt x="3498663" y="523875"/>
                  <a:pt x="346710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749618" y="540019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抛问题、正面对冲、借力打力</a:t>
            </a:r>
          </a:p>
        </p:txBody>
      </p:sp>
      <p:sp>
        <p:nvSpPr>
          <p:cNvPr id="54" name="Freeform 54"/>
          <p:cNvSpPr/>
          <p:nvPr/>
        </p:nvSpPr>
        <p:spPr>
          <a:xfrm>
            <a:off x="3238500" y="5334000"/>
            <a:ext cx="571500" cy="209550"/>
          </a:xfrm>
          <a:custGeom>
            <a:avLst/>
            <a:gdLst/>
            <a:ahLst/>
            <a:cxnLst/>
            <a:rect l="l" t="t" r="r" b="b"/>
            <a:pathLst>
              <a:path w="571500" h="209550">
                <a:moveTo>
                  <a:pt x="104775" y="0"/>
                </a:moveTo>
                <a:lnTo>
                  <a:pt x="466725" y="0"/>
                </a:lnTo>
                <a:cubicBezTo>
                  <a:pt x="524591" y="0"/>
                  <a:pt x="571500" y="46909"/>
                  <a:pt x="571500" y="104775"/>
                </a:cubicBezTo>
                <a:lnTo>
                  <a:pt x="571500" y="104775"/>
                </a:lnTo>
                <a:cubicBezTo>
                  <a:pt x="571500" y="162641"/>
                  <a:pt x="524591" y="209550"/>
                  <a:pt x="4667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6B7280">
              <a:alpha val="10000"/>
            </a:srgbClr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3405188" y="5395912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中性</a:t>
            </a:r>
          </a:p>
        </p:txBody>
      </p:sp>
      <p:sp>
        <p:nvSpPr>
          <p:cNvPr id="56" name="Freeform 56"/>
          <p:cNvSpPr/>
          <p:nvPr/>
        </p:nvSpPr>
        <p:spPr>
          <a:xfrm>
            <a:off x="4286250" y="5191125"/>
            <a:ext cx="3524250" cy="523875"/>
          </a:xfrm>
          <a:custGeom>
            <a:avLst/>
            <a:gdLst/>
            <a:ahLst/>
            <a:cxnLst/>
            <a:rect l="l" t="t" r="r" b="b"/>
            <a:pathLst>
              <a:path w="3524250" h="523875">
                <a:moveTo>
                  <a:pt x="57150" y="0"/>
                </a:moveTo>
                <a:lnTo>
                  <a:pt x="3467100" y="0"/>
                </a:lnTo>
                <a:cubicBezTo>
                  <a:pt x="3498663" y="0"/>
                  <a:pt x="3524250" y="25587"/>
                  <a:pt x="3524250" y="57150"/>
                </a:cubicBezTo>
                <a:lnTo>
                  <a:pt x="3524250" y="466725"/>
                </a:lnTo>
                <a:cubicBezTo>
                  <a:pt x="3524250" y="498288"/>
                  <a:pt x="3498663" y="523875"/>
                  <a:pt x="346710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4464368" y="540019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群聊闹事、选择性攻击</a:t>
            </a:r>
          </a:p>
        </p:txBody>
      </p:sp>
      <p:sp>
        <p:nvSpPr>
          <p:cNvPr id="58" name="Freeform 58"/>
          <p:cNvSpPr/>
          <p:nvPr/>
        </p:nvSpPr>
        <p:spPr>
          <a:xfrm>
            <a:off x="6953250" y="5334000"/>
            <a:ext cx="571500" cy="209550"/>
          </a:xfrm>
          <a:custGeom>
            <a:avLst/>
            <a:gdLst/>
            <a:ahLst/>
            <a:cxnLst/>
            <a:rect l="l" t="t" r="r" b="b"/>
            <a:pathLst>
              <a:path w="571500" h="209550">
                <a:moveTo>
                  <a:pt x="104775" y="0"/>
                </a:moveTo>
                <a:lnTo>
                  <a:pt x="466725" y="0"/>
                </a:lnTo>
                <a:cubicBezTo>
                  <a:pt x="524591" y="0"/>
                  <a:pt x="571500" y="46909"/>
                  <a:pt x="571500" y="104775"/>
                </a:cubicBezTo>
                <a:lnTo>
                  <a:pt x="571500" y="104775"/>
                </a:lnTo>
                <a:cubicBezTo>
                  <a:pt x="571500" y="162641"/>
                  <a:pt x="524591" y="209550"/>
                  <a:pt x="4667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B91C1C">
              <a:alpha val="10000"/>
            </a:srgbClr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119938" y="5395912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高危</a:t>
            </a:r>
          </a:p>
        </p:txBody>
      </p:sp>
      <p:sp>
        <p:nvSpPr>
          <p:cNvPr id="60" name="Freeform 60"/>
          <p:cNvSpPr/>
          <p:nvPr/>
        </p:nvSpPr>
        <p:spPr>
          <a:xfrm>
            <a:off x="8001000" y="5191125"/>
            <a:ext cx="3619500" cy="523875"/>
          </a:xfrm>
          <a:custGeom>
            <a:avLst/>
            <a:gdLst/>
            <a:ahLst/>
            <a:cxnLst/>
            <a:rect l="l" t="t" r="r" b="b"/>
            <a:pathLst>
              <a:path w="3619500" h="523875">
                <a:moveTo>
                  <a:pt x="57150" y="0"/>
                </a:moveTo>
                <a:lnTo>
                  <a:pt x="3562350" y="0"/>
                </a:lnTo>
                <a:cubicBezTo>
                  <a:pt x="3593913" y="0"/>
                  <a:pt x="3619500" y="25587"/>
                  <a:pt x="3619500" y="57150"/>
                </a:cubicBezTo>
                <a:lnTo>
                  <a:pt x="3619500" y="466725"/>
                </a:lnTo>
                <a:cubicBezTo>
                  <a:pt x="3619500" y="498288"/>
                  <a:pt x="3593913" y="523875"/>
                  <a:pt x="3562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8179118" y="5400199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质疑数据降温、挖人试探、镜像过敏</a:t>
            </a:r>
          </a:p>
        </p:txBody>
      </p:sp>
      <p:sp>
        <p:nvSpPr>
          <p:cNvPr id="62" name="Freeform 62"/>
          <p:cNvSpPr/>
          <p:nvPr/>
        </p:nvSpPr>
        <p:spPr>
          <a:xfrm>
            <a:off x="10668000" y="5334000"/>
            <a:ext cx="571500" cy="209550"/>
          </a:xfrm>
          <a:custGeom>
            <a:avLst/>
            <a:gdLst/>
            <a:ahLst/>
            <a:cxnLst/>
            <a:rect l="l" t="t" r="r" b="b"/>
            <a:pathLst>
              <a:path w="571500" h="209550">
                <a:moveTo>
                  <a:pt x="104775" y="0"/>
                </a:moveTo>
                <a:lnTo>
                  <a:pt x="466725" y="0"/>
                </a:lnTo>
                <a:cubicBezTo>
                  <a:pt x="524591" y="0"/>
                  <a:pt x="571500" y="46909"/>
                  <a:pt x="571500" y="104775"/>
                </a:cubicBezTo>
                <a:lnTo>
                  <a:pt x="571500" y="104775"/>
                </a:lnTo>
                <a:cubicBezTo>
                  <a:pt x="571500" y="162641"/>
                  <a:pt x="524591" y="209550"/>
                  <a:pt x="4667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6B7280">
              <a:alpha val="10000"/>
            </a:srgbClr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10834688" y="5395912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中性</a:t>
            </a:r>
          </a:p>
        </p:txBody>
      </p:sp>
      <p:sp>
        <p:nvSpPr>
          <p:cNvPr id="64" name="Freeform 64"/>
          <p:cNvSpPr/>
          <p:nvPr/>
        </p:nvSpPr>
        <p:spPr>
          <a:xfrm>
            <a:off x="571500" y="6000750"/>
            <a:ext cx="2381250" cy="476250"/>
          </a:xfrm>
          <a:custGeom>
            <a:avLst/>
            <a:gdLst/>
            <a:ahLst/>
            <a:cxnLst/>
            <a:rect l="l" t="t" r="r" b="b"/>
            <a:pathLst>
              <a:path w="2381250" h="476250">
                <a:moveTo>
                  <a:pt x="76200" y="0"/>
                </a:moveTo>
                <a:lnTo>
                  <a:pt x="2305050" y="0"/>
                </a:lnTo>
                <a:cubicBezTo>
                  <a:pt x="2347134" y="0"/>
                  <a:pt x="2381250" y="34116"/>
                  <a:pt x="2381250" y="76200"/>
                </a:cubicBezTo>
                <a:lnTo>
                  <a:pt x="2381250" y="400050"/>
                </a:lnTo>
                <a:cubicBezTo>
                  <a:pt x="2381250" y="442134"/>
                  <a:pt x="2347134" y="476250"/>
                  <a:pt x="230505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739140" y="5996940"/>
            <a:ext cx="47357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6种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25868" y="608599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高危险手法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51522" y="6292691"/>
            <a:ext cx="7378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33% 的总模式</a:t>
            </a:r>
          </a:p>
        </p:txBody>
      </p:sp>
      <p:sp>
        <p:nvSpPr>
          <p:cNvPr id="68" name="Freeform 68"/>
          <p:cNvSpPr/>
          <p:nvPr/>
        </p:nvSpPr>
        <p:spPr>
          <a:xfrm>
            <a:off x="3143250" y="6000750"/>
            <a:ext cx="2381250" cy="476250"/>
          </a:xfrm>
          <a:custGeom>
            <a:avLst/>
            <a:gdLst/>
            <a:ahLst/>
            <a:cxnLst/>
            <a:rect l="l" t="t" r="r" b="b"/>
            <a:pathLst>
              <a:path w="2381250" h="476250">
                <a:moveTo>
                  <a:pt x="76200" y="0"/>
                </a:moveTo>
                <a:lnTo>
                  <a:pt x="2305050" y="0"/>
                </a:lnTo>
                <a:cubicBezTo>
                  <a:pt x="2347134" y="0"/>
                  <a:pt x="2381250" y="34116"/>
                  <a:pt x="2381250" y="76200"/>
                </a:cubicBezTo>
                <a:lnTo>
                  <a:pt x="2381250" y="400050"/>
                </a:lnTo>
                <a:cubicBezTo>
                  <a:pt x="2381250" y="442134"/>
                  <a:pt x="2347134" y="476250"/>
                  <a:pt x="230505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3310890" y="5996940"/>
            <a:ext cx="47357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4种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797618" y="6085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施压手法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323272" y="6292691"/>
            <a:ext cx="7378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22% 的总模式</a:t>
            </a:r>
          </a:p>
        </p:txBody>
      </p:sp>
      <p:sp>
        <p:nvSpPr>
          <p:cNvPr id="72" name="Freeform 72"/>
          <p:cNvSpPr/>
          <p:nvPr/>
        </p:nvSpPr>
        <p:spPr>
          <a:xfrm>
            <a:off x="5715000" y="6000750"/>
            <a:ext cx="2381250" cy="476250"/>
          </a:xfrm>
          <a:custGeom>
            <a:avLst/>
            <a:gdLst/>
            <a:ahLst/>
            <a:cxnLst/>
            <a:rect l="l" t="t" r="r" b="b"/>
            <a:pathLst>
              <a:path w="2381250" h="476250">
                <a:moveTo>
                  <a:pt x="76200" y="0"/>
                </a:moveTo>
                <a:lnTo>
                  <a:pt x="2305050" y="0"/>
                </a:lnTo>
                <a:cubicBezTo>
                  <a:pt x="2347134" y="0"/>
                  <a:pt x="2381250" y="34116"/>
                  <a:pt x="2381250" y="76200"/>
                </a:cubicBezTo>
                <a:lnTo>
                  <a:pt x="2381250" y="400050"/>
                </a:lnTo>
                <a:cubicBezTo>
                  <a:pt x="2381250" y="442134"/>
                  <a:pt x="2347134" y="476250"/>
                  <a:pt x="230505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5882640" y="5996940"/>
            <a:ext cx="47357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3种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369368" y="6085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值得学习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895022" y="6292691"/>
            <a:ext cx="7077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17% 的总模式</a:t>
            </a:r>
          </a:p>
        </p:txBody>
      </p:sp>
      <p:sp>
        <p:nvSpPr>
          <p:cNvPr id="76" name="Freeform 76"/>
          <p:cNvSpPr/>
          <p:nvPr/>
        </p:nvSpPr>
        <p:spPr>
          <a:xfrm>
            <a:off x="8286750" y="6000750"/>
            <a:ext cx="3333750" cy="476250"/>
          </a:xfrm>
          <a:custGeom>
            <a:avLst/>
            <a:gdLst/>
            <a:ahLst/>
            <a:cxnLst/>
            <a:rect l="l" t="t" r="r" b="b"/>
            <a:pathLst>
              <a:path w="3333750" h="476250">
                <a:moveTo>
                  <a:pt x="76200" y="0"/>
                </a:moveTo>
                <a:lnTo>
                  <a:pt x="3257550" y="0"/>
                </a:lnTo>
                <a:cubicBezTo>
                  <a:pt x="3299634" y="0"/>
                  <a:pt x="3333750" y="34116"/>
                  <a:pt x="3333750" y="76200"/>
                </a:cubicBezTo>
                <a:lnTo>
                  <a:pt x="3333750" y="400050"/>
                </a:lnTo>
                <a:cubicBezTo>
                  <a:pt x="3333750" y="442134"/>
                  <a:pt x="3299634" y="476250"/>
                  <a:pt x="325755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8464868" y="6181249"/>
            <a:ext cx="18973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施压密集区：注意权 + 施压权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4774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10900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RELATIONSHIP MAP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7210" y="5657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关系网络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1013460"/>
            <a:ext cx="33604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以他为中心的星系轨道，每段关系都有策略</a:t>
            </a:r>
          </a:p>
        </p:txBody>
      </p:sp>
      <p:sp>
        <p:nvSpPr>
          <p:cNvPr id="6" name="Ellipse 6"/>
          <p:cNvSpPr/>
          <p:nvPr/>
        </p:nvSpPr>
        <p:spPr>
          <a:xfrm>
            <a:off x="5667375" y="2809875"/>
            <a:ext cx="857250" cy="857250"/>
          </a:xfrm>
          <a:prstGeom prst="ellipse">
            <a:avLst/>
          </a:prstGeom>
          <a:solidFill>
            <a:srgbClr val="E2725B">
              <a:alpha val="15000"/>
            </a:srgbClr>
          </a:solidFill>
          <a:ln w="19050">
            <a:solidFill>
              <a:srgbClr val="E2725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768316" y="304514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刘乾坤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44540" y="32923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权力核心</a:t>
            </a:r>
          </a:p>
        </p:txBody>
      </p:sp>
      <p:sp>
        <p:nvSpPr>
          <p:cNvPr id="9" name="Ellipse 9"/>
          <p:cNvSpPr/>
          <p:nvPr/>
        </p:nvSpPr>
        <p:spPr>
          <a:xfrm>
            <a:off x="4572000" y="2190750"/>
            <a:ext cx="3048000" cy="2095500"/>
          </a:xfrm>
          <a:prstGeom prst="ellipse">
            <a:avLst/>
          </a:prstGeom>
          <a:noFill/>
          <a:ln w="4762">
            <a:solidFill>
              <a:srgbClr val="E2725B">
                <a:alpha val="25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3429000" y="1524000"/>
            <a:ext cx="5334000" cy="3429000"/>
          </a:xfrm>
          <a:prstGeom prst="ellipse">
            <a:avLst/>
          </a:prstGeom>
          <a:noFill/>
          <a:ln w="4762">
            <a:solidFill>
              <a:srgbClr val="E2725B">
                <a:alpha val="15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2286000" y="762000"/>
            <a:ext cx="7620000" cy="4953000"/>
          </a:xfrm>
          <a:prstGeom prst="ellipse">
            <a:avLst/>
          </a:prstGeom>
          <a:noFill/>
          <a:ln w="4762">
            <a:solidFill>
              <a:srgbClr val="94A3B8">
                <a:alpha val="12000"/>
              </a:srgbClr>
            </a:solidFill>
          </a:ln>
        </p:spPr>
      </p:sp>
      <p:sp>
        <p:nvSpPr>
          <p:cNvPr id="12" name="Ellipse 12"/>
          <p:cNvSpPr/>
          <p:nvPr/>
        </p:nvSpPr>
        <p:spPr>
          <a:xfrm>
            <a:off x="5791200" y="1362075"/>
            <a:ext cx="609600" cy="609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725B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859339" y="153304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王易人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91676" y="1708309"/>
            <a:ext cx="60864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服务组负责人</a:t>
            </a:r>
          </a:p>
        </p:txBody>
      </p:sp>
      <p:sp>
        <p:nvSpPr>
          <p:cNvPr id="15" name="Line 15"/>
          <p:cNvSpPr/>
          <p:nvPr/>
        </p:nvSpPr>
        <p:spPr>
          <a:xfrm>
            <a:off x="6096000" y="1971675"/>
            <a:ext cx="9525" cy="838200"/>
          </a:xfrm>
          <a:custGeom>
            <a:avLst/>
            <a:gdLst/>
            <a:ahLst/>
            <a:cxnLst/>
            <a:rect l="l" t="t" r="r" b="b"/>
            <a:pathLst>
              <a:path w="9525" h="838200">
                <a:moveTo>
                  <a:pt x="0" y="0"/>
                </a:moveTo>
                <a:lnTo>
                  <a:pt x="0" y="838200"/>
                </a:lnTo>
              </a:path>
            </a:pathLst>
          </a:custGeom>
          <a:noFill/>
          <a:ln w="7620">
            <a:solidFill>
              <a:srgbClr val="E2725B"/>
            </a:solidFill>
            <a:custDash>
              <a:ds d="375000" sp="375000"/>
            </a:custDash>
          </a:ln>
        </p:spPr>
      </p:sp>
      <p:sp>
        <p:nvSpPr>
          <p:cNvPr id="16" name="Ellipse 16"/>
          <p:cNvSpPr/>
          <p:nvPr/>
        </p:nvSpPr>
        <p:spPr>
          <a:xfrm>
            <a:off x="3733800" y="2209800"/>
            <a:ext cx="533400" cy="5334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2C55E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851053" y="23507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郭鑫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44052" y="2517934"/>
            <a:ext cx="31289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前同事</a:t>
            </a:r>
          </a:p>
        </p:txBody>
      </p:sp>
      <p:sp>
        <p:nvSpPr>
          <p:cNvPr id="19" name="Line 19"/>
          <p:cNvSpPr/>
          <p:nvPr/>
        </p:nvSpPr>
        <p:spPr>
          <a:xfrm>
            <a:off x="4267200" y="2619375"/>
            <a:ext cx="1543050" cy="381000"/>
          </a:xfrm>
          <a:custGeom>
            <a:avLst/>
            <a:gdLst/>
            <a:ahLst/>
            <a:cxnLst/>
            <a:rect l="l" t="t" r="r" b="b"/>
            <a:pathLst>
              <a:path w="1543050" h="381000">
                <a:moveTo>
                  <a:pt x="0" y="0"/>
                </a:moveTo>
                <a:lnTo>
                  <a:pt x="1543050" y="381000"/>
                </a:lnTo>
              </a:path>
            </a:pathLst>
          </a:custGeom>
          <a:noFill/>
          <a:ln w="4762">
            <a:solidFill>
              <a:srgbClr val="22C55E">
                <a:alpha val="30000"/>
              </a:srgbClr>
            </a:solidFill>
          </a:ln>
        </p:spPr>
      </p:sp>
      <p:sp>
        <p:nvSpPr>
          <p:cNvPr id="20" name="Ellipse 20"/>
          <p:cNvSpPr/>
          <p:nvPr/>
        </p:nvSpPr>
        <p:spPr>
          <a:xfrm>
            <a:off x="7924800" y="2209800"/>
            <a:ext cx="533400" cy="5334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2C55E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973044" y="2350770"/>
            <a:ext cx="4369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马贵贤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35052" y="2517934"/>
            <a:ext cx="31289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前同事</a:t>
            </a:r>
          </a:p>
        </p:txBody>
      </p:sp>
      <p:sp>
        <p:nvSpPr>
          <p:cNvPr id="23" name="Line 23"/>
          <p:cNvSpPr/>
          <p:nvPr/>
        </p:nvSpPr>
        <p:spPr>
          <a:xfrm>
            <a:off x="6381750" y="2619375"/>
            <a:ext cx="1543050" cy="381000"/>
          </a:xfrm>
          <a:custGeom>
            <a:avLst/>
            <a:gdLst/>
            <a:ahLst/>
            <a:cxnLst/>
            <a:rect l="l" t="t" r="r" b="b"/>
            <a:pathLst>
              <a:path w="1543050" h="381000">
                <a:moveTo>
                  <a:pt x="1543050" y="0"/>
                </a:moveTo>
                <a:lnTo>
                  <a:pt x="0" y="381000"/>
                </a:lnTo>
              </a:path>
            </a:pathLst>
          </a:custGeom>
          <a:noFill/>
          <a:ln w="4762">
            <a:solidFill>
              <a:srgbClr val="22C55E">
                <a:alpha val="30000"/>
              </a:srgbClr>
            </a:solidFill>
          </a:ln>
        </p:spPr>
      </p:sp>
      <p:sp>
        <p:nvSpPr>
          <p:cNvPr id="24" name="Ellipse 24"/>
          <p:cNvSpPr/>
          <p:nvPr/>
        </p:nvSpPr>
        <p:spPr>
          <a:xfrm>
            <a:off x="3257550" y="3829050"/>
            <a:ext cx="533400" cy="533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305794" y="3970020"/>
            <a:ext cx="4369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刘伟佳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67802" y="4137184"/>
            <a:ext cx="31289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策略组</a:t>
            </a:r>
          </a:p>
        </p:txBody>
      </p:sp>
      <p:sp>
        <p:nvSpPr>
          <p:cNvPr id="27" name="Line 27"/>
          <p:cNvSpPr/>
          <p:nvPr/>
        </p:nvSpPr>
        <p:spPr>
          <a:xfrm>
            <a:off x="3790950" y="3524250"/>
            <a:ext cx="2019300" cy="476250"/>
          </a:xfrm>
          <a:custGeom>
            <a:avLst/>
            <a:gdLst/>
            <a:ahLst/>
            <a:cxnLst/>
            <a:rect l="l" t="t" r="r" b="b"/>
            <a:pathLst>
              <a:path w="2019300" h="476250">
                <a:moveTo>
                  <a:pt x="0" y="476250"/>
                </a:moveTo>
                <a:lnTo>
                  <a:pt x="2019300" y="0"/>
                </a:lnTo>
              </a:path>
            </a:pathLst>
          </a:custGeom>
          <a:noFill/>
          <a:ln w="4762">
            <a:solidFill>
              <a:srgbClr val="94A3B8">
                <a:alpha val="20000"/>
              </a:srgbClr>
            </a:solidFill>
          </a:ln>
        </p:spPr>
      </p:sp>
      <p:sp>
        <p:nvSpPr>
          <p:cNvPr id="28" name="Ellipse 28"/>
          <p:cNvSpPr/>
          <p:nvPr/>
        </p:nvSpPr>
        <p:spPr>
          <a:xfrm>
            <a:off x="2000250" y="1905000"/>
            <a:ext cx="571500" cy="5715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5960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067544" y="2065020"/>
            <a:ext cx="4369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年老师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03858" y="2232184"/>
            <a:ext cx="56428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拉拢+人情债</a:t>
            </a:r>
          </a:p>
        </p:txBody>
      </p:sp>
      <p:sp>
        <p:nvSpPr>
          <p:cNvPr id="31" name="Line 31"/>
          <p:cNvSpPr/>
          <p:nvPr/>
        </p:nvSpPr>
        <p:spPr>
          <a:xfrm>
            <a:off x="2571750" y="2286000"/>
            <a:ext cx="3238500" cy="762000"/>
          </a:xfrm>
          <a:custGeom>
            <a:avLst/>
            <a:gdLst/>
            <a:ahLst/>
            <a:cxnLst/>
            <a:rect l="l" t="t" r="r" b="b"/>
            <a:pathLst>
              <a:path w="3238500" h="762000">
                <a:moveTo>
                  <a:pt x="0" y="0"/>
                </a:moveTo>
                <a:lnTo>
                  <a:pt x="3238500" y="762000"/>
                </a:lnTo>
              </a:path>
            </a:pathLst>
          </a:custGeom>
          <a:noFill/>
          <a:ln w="4762">
            <a:solidFill>
              <a:srgbClr val="C5960C">
                <a:alpha val="15000"/>
              </a:srgbClr>
            </a:solidFill>
          </a:ln>
        </p:spPr>
      </p:sp>
      <p:sp>
        <p:nvSpPr>
          <p:cNvPr id="32" name="Ellipse 32"/>
          <p:cNvSpPr/>
          <p:nvPr/>
        </p:nvSpPr>
        <p:spPr>
          <a:xfrm>
            <a:off x="9620250" y="1905000"/>
            <a:ext cx="571500" cy="5715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91C1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687544" y="2065020"/>
            <a:ext cx="4369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李吉斌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798844" y="2232184"/>
            <a:ext cx="21431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前任</a:t>
            </a:r>
          </a:p>
        </p:txBody>
      </p:sp>
      <p:sp>
        <p:nvSpPr>
          <p:cNvPr id="35" name="Line 35"/>
          <p:cNvSpPr/>
          <p:nvPr/>
        </p:nvSpPr>
        <p:spPr>
          <a:xfrm>
            <a:off x="6381750" y="2286000"/>
            <a:ext cx="3238500" cy="762000"/>
          </a:xfrm>
          <a:custGeom>
            <a:avLst/>
            <a:gdLst/>
            <a:ahLst/>
            <a:cxnLst/>
            <a:rect l="l" t="t" r="r" b="b"/>
            <a:pathLst>
              <a:path w="3238500" h="762000">
                <a:moveTo>
                  <a:pt x="3238500" y="0"/>
                </a:moveTo>
                <a:lnTo>
                  <a:pt x="0" y="762000"/>
                </a:lnTo>
              </a:path>
            </a:pathLst>
          </a:custGeom>
          <a:noFill/>
          <a:ln w="4762">
            <a:solidFill>
              <a:srgbClr val="B91C1C">
                <a:alpha val="20000"/>
              </a:srgbClr>
            </a:solidFill>
          </a:ln>
        </p:spPr>
      </p:sp>
      <p:sp>
        <p:nvSpPr>
          <p:cNvPr id="36" name="Ellipse 36"/>
          <p:cNvSpPr/>
          <p:nvPr/>
        </p:nvSpPr>
        <p:spPr>
          <a:xfrm>
            <a:off x="8496300" y="4495800"/>
            <a:ext cx="533400" cy="533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544544" y="4636770"/>
            <a:ext cx="4369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张世跃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606552" y="4803934"/>
            <a:ext cx="31289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实习生</a:t>
            </a:r>
          </a:p>
        </p:txBody>
      </p:sp>
      <p:sp>
        <p:nvSpPr>
          <p:cNvPr id="39" name="Line 39"/>
          <p:cNvSpPr/>
          <p:nvPr/>
        </p:nvSpPr>
        <p:spPr>
          <a:xfrm>
            <a:off x="6381750" y="3524250"/>
            <a:ext cx="2114550" cy="1143000"/>
          </a:xfrm>
          <a:custGeom>
            <a:avLst/>
            <a:gdLst/>
            <a:ahLst/>
            <a:cxnLst/>
            <a:rect l="l" t="t" r="r" b="b"/>
            <a:pathLst>
              <a:path w="2114550" h="1143000">
                <a:moveTo>
                  <a:pt x="2114550" y="1143000"/>
                </a:moveTo>
                <a:lnTo>
                  <a:pt x="0" y="0"/>
                </a:lnTo>
              </a:path>
            </a:pathLst>
          </a:custGeom>
          <a:noFill/>
          <a:ln w="4762">
            <a:solidFill>
              <a:srgbClr val="94A3B8">
                <a:alpha val="15000"/>
              </a:srgbClr>
            </a:solidFill>
          </a:ln>
        </p:spPr>
      </p:sp>
      <p:sp>
        <p:nvSpPr>
          <p:cNvPr id="40" name="Ellipse 40"/>
          <p:cNvSpPr/>
          <p:nvPr/>
        </p:nvSpPr>
        <p:spPr>
          <a:xfrm>
            <a:off x="4457700" y="5124450"/>
            <a:ext cx="609600" cy="60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475036" y="530352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供应商群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556760" y="5470684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利益驱动</a:t>
            </a:r>
          </a:p>
        </p:txBody>
      </p:sp>
      <p:sp>
        <p:nvSpPr>
          <p:cNvPr id="43" name="Line 43"/>
          <p:cNvSpPr/>
          <p:nvPr/>
        </p:nvSpPr>
        <p:spPr>
          <a:xfrm>
            <a:off x="4953000" y="3667125"/>
            <a:ext cx="952500" cy="1571625"/>
          </a:xfrm>
          <a:custGeom>
            <a:avLst/>
            <a:gdLst/>
            <a:ahLst/>
            <a:cxnLst/>
            <a:rect l="l" t="t" r="r" b="b"/>
            <a:pathLst>
              <a:path w="952500" h="1571625">
                <a:moveTo>
                  <a:pt x="0" y="1571625"/>
                </a:moveTo>
                <a:lnTo>
                  <a:pt x="952500" y="0"/>
                </a:lnTo>
              </a:path>
            </a:pathLst>
          </a:custGeom>
          <a:noFill/>
          <a:ln w="4762">
            <a:solidFill>
              <a:srgbClr val="94A3B8">
                <a:alpha val="15000"/>
              </a:srgbClr>
            </a:solidFill>
          </a:ln>
        </p:spPr>
      </p:sp>
      <p:sp>
        <p:nvSpPr>
          <p:cNvPr id="44" name="Freeform 44"/>
          <p:cNvSpPr/>
          <p:nvPr/>
        </p:nvSpPr>
        <p:spPr>
          <a:xfrm>
            <a:off x="571500" y="6000750"/>
            <a:ext cx="285750" cy="114300"/>
          </a:xfrm>
          <a:custGeom>
            <a:avLst/>
            <a:gdLst/>
            <a:ahLst/>
            <a:cxnLst/>
            <a:rect l="l" t="t" r="r" b="b"/>
            <a:pathLst>
              <a:path w="285750" h="114300">
                <a:moveTo>
                  <a:pt x="19050" y="0"/>
                </a:moveTo>
                <a:lnTo>
                  <a:pt x="266700" y="0"/>
                </a:lnTo>
                <a:cubicBezTo>
                  <a:pt x="277221" y="0"/>
                  <a:pt x="285750" y="8529"/>
                  <a:pt x="285750" y="19050"/>
                </a:cubicBezTo>
                <a:lnTo>
                  <a:pt x="285750" y="95250"/>
                </a:lnTo>
                <a:cubicBezTo>
                  <a:pt x="285750" y="105771"/>
                  <a:pt x="277221" y="114300"/>
                  <a:pt x="266700" y="114300"/>
                </a:cubicBezTo>
                <a:lnTo>
                  <a:pt x="19050" y="114300"/>
                </a:lnTo>
                <a:cubicBezTo>
                  <a:pt x="8529" y="114300"/>
                  <a:pt x="0" y="105771"/>
                  <a:pt x="0" y="95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42022" y="600694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同盟</a:t>
            </a:r>
          </a:p>
        </p:txBody>
      </p:sp>
      <p:sp>
        <p:nvSpPr>
          <p:cNvPr id="46" name="Freeform 46"/>
          <p:cNvSpPr/>
          <p:nvPr/>
        </p:nvSpPr>
        <p:spPr>
          <a:xfrm>
            <a:off x="1428750" y="6000750"/>
            <a:ext cx="285750" cy="114300"/>
          </a:xfrm>
          <a:custGeom>
            <a:avLst/>
            <a:gdLst/>
            <a:ahLst/>
            <a:cxnLst/>
            <a:rect l="l" t="t" r="r" b="b"/>
            <a:pathLst>
              <a:path w="285750" h="114300">
                <a:moveTo>
                  <a:pt x="19050" y="0"/>
                </a:moveTo>
                <a:lnTo>
                  <a:pt x="266700" y="0"/>
                </a:lnTo>
                <a:cubicBezTo>
                  <a:pt x="277221" y="0"/>
                  <a:pt x="285750" y="8529"/>
                  <a:pt x="285750" y="19050"/>
                </a:cubicBezTo>
                <a:lnTo>
                  <a:pt x="285750" y="95250"/>
                </a:lnTo>
                <a:cubicBezTo>
                  <a:pt x="285750" y="105771"/>
                  <a:pt x="277221" y="114300"/>
                  <a:pt x="266700" y="114300"/>
                </a:cubicBezTo>
                <a:lnTo>
                  <a:pt x="19050" y="114300"/>
                </a:lnTo>
                <a:cubicBezTo>
                  <a:pt x="8529" y="114300"/>
                  <a:pt x="0" y="105771"/>
                  <a:pt x="0" y="95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2725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799272" y="600694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上级</a:t>
            </a:r>
          </a:p>
        </p:txBody>
      </p:sp>
      <p:sp>
        <p:nvSpPr>
          <p:cNvPr id="48" name="Freeform 48"/>
          <p:cNvSpPr/>
          <p:nvPr/>
        </p:nvSpPr>
        <p:spPr>
          <a:xfrm>
            <a:off x="2286000" y="6000750"/>
            <a:ext cx="285750" cy="114300"/>
          </a:xfrm>
          <a:custGeom>
            <a:avLst/>
            <a:gdLst/>
            <a:ahLst/>
            <a:cxnLst/>
            <a:rect l="l" t="t" r="r" b="b"/>
            <a:pathLst>
              <a:path w="285750" h="114300">
                <a:moveTo>
                  <a:pt x="19050" y="0"/>
                </a:moveTo>
                <a:lnTo>
                  <a:pt x="266700" y="0"/>
                </a:lnTo>
                <a:cubicBezTo>
                  <a:pt x="277221" y="0"/>
                  <a:pt x="285750" y="8529"/>
                  <a:pt x="285750" y="19050"/>
                </a:cubicBezTo>
                <a:lnTo>
                  <a:pt x="285750" y="95250"/>
                </a:lnTo>
                <a:cubicBezTo>
                  <a:pt x="285750" y="105771"/>
                  <a:pt x="277221" y="114300"/>
                  <a:pt x="266700" y="114300"/>
                </a:cubicBezTo>
                <a:lnTo>
                  <a:pt x="19050" y="114300"/>
                </a:lnTo>
                <a:cubicBezTo>
                  <a:pt x="8529" y="114300"/>
                  <a:pt x="0" y="105771"/>
                  <a:pt x="0" y="95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5960C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2656522" y="600694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配合</a:t>
            </a:r>
          </a:p>
        </p:txBody>
      </p:sp>
      <p:sp>
        <p:nvSpPr>
          <p:cNvPr id="50" name="Freeform 50"/>
          <p:cNvSpPr/>
          <p:nvPr/>
        </p:nvSpPr>
        <p:spPr>
          <a:xfrm>
            <a:off x="3143250" y="6000750"/>
            <a:ext cx="285750" cy="114300"/>
          </a:xfrm>
          <a:custGeom>
            <a:avLst/>
            <a:gdLst/>
            <a:ahLst/>
            <a:cxnLst/>
            <a:rect l="l" t="t" r="r" b="b"/>
            <a:pathLst>
              <a:path w="285750" h="114300">
                <a:moveTo>
                  <a:pt x="19050" y="0"/>
                </a:moveTo>
                <a:lnTo>
                  <a:pt x="266700" y="0"/>
                </a:lnTo>
                <a:cubicBezTo>
                  <a:pt x="277221" y="0"/>
                  <a:pt x="285750" y="8529"/>
                  <a:pt x="285750" y="19050"/>
                </a:cubicBezTo>
                <a:lnTo>
                  <a:pt x="285750" y="95250"/>
                </a:lnTo>
                <a:cubicBezTo>
                  <a:pt x="285750" y="105771"/>
                  <a:pt x="277221" y="114300"/>
                  <a:pt x="266700" y="114300"/>
                </a:cubicBezTo>
                <a:lnTo>
                  <a:pt x="19050" y="114300"/>
                </a:lnTo>
                <a:cubicBezTo>
                  <a:pt x="8529" y="114300"/>
                  <a:pt x="0" y="105771"/>
                  <a:pt x="0" y="95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B91C1C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3513772" y="600694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对手</a:t>
            </a:r>
          </a:p>
        </p:txBody>
      </p:sp>
      <p:sp>
        <p:nvSpPr>
          <p:cNvPr id="52" name="Freeform 52"/>
          <p:cNvSpPr/>
          <p:nvPr/>
        </p:nvSpPr>
        <p:spPr>
          <a:xfrm>
            <a:off x="4000500" y="6000750"/>
            <a:ext cx="285750" cy="114300"/>
          </a:xfrm>
          <a:custGeom>
            <a:avLst/>
            <a:gdLst/>
            <a:ahLst/>
            <a:cxnLst/>
            <a:rect l="l" t="t" r="r" b="b"/>
            <a:pathLst>
              <a:path w="285750" h="114300">
                <a:moveTo>
                  <a:pt x="19050" y="0"/>
                </a:moveTo>
                <a:lnTo>
                  <a:pt x="266700" y="0"/>
                </a:lnTo>
                <a:cubicBezTo>
                  <a:pt x="277221" y="0"/>
                  <a:pt x="285750" y="8529"/>
                  <a:pt x="285750" y="19050"/>
                </a:cubicBezTo>
                <a:lnTo>
                  <a:pt x="285750" y="95250"/>
                </a:lnTo>
                <a:cubicBezTo>
                  <a:pt x="285750" y="105771"/>
                  <a:pt x="277221" y="114300"/>
                  <a:pt x="266700" y="114300"/>
                </a:cubicBezTo>
                <a:lnTo>
                  <a:pt x="19050" y="114300"/>
                </a:lnTo>
                <a:cubicBezTo>
                  <a:pt x="8529" y="114300"/>
                  <a:pt x="0" y="105771"/>
                  <a:pt x="0" y="95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4371022" y="600694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下属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4774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1330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SUPPLIER MANAGEMENT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7210" y="56578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供应商管理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1013460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四种驱动方式，让供应商自己动起来</a:t>
            </a:r>
          </a:p>
        </p:txBody>
      </p:sp>
      <p:sp>
        <p:nvSpPr>
          <p:cNvPr id="6" name="Freeform 6"/>
          <p:cNvSpPr/>
          <p:nvPr/>
        </p:nvSpPr>
        <p:spPr>
          <a:xfrm>
            <a:off x="381000" y="1476375"/>
            <a:ext cx="2762250" cy="4095750"/>
          </a:xfrm>
          <a:custGeom>
            <a:avLst/>
            <a:gdLst/>
            <a:ahLst/>
            <a:cxnLst/>
            <a:rect l="l" t="t" r="r" b="b"/>
            <a:pathLst>
              <a:path w="2762250" h="4095750">
                <a:moveTo>
                  <a:pt x="114300" y="0"/>
                </a:moveTo>
                <a:lnTo>
                  <a:pt x="2647950" y="0"/>
                </a:lnTo>
                <a:cubicBezTo>
                  <a:pt x="2711076" y="0"/>
                  <a:pt x="2762250" y="51174"/>
                  <a:pt x="2762250" y="114300"/>
                </a:cubicBezTo>
                <a:lnTo>
                  <a:pt x="2762250" y="3981450"/>
                </a:lnTo>
                <a:cubicBezTo>
                  <a:pt x="2762250" y="4044576"/>
                  <a:pt x="2711076" y="4095750"/>
                  <a:pt x="26479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428750" y="1666875"/>
            <a:ext cx="666750" cy="666750"/>
          </a:xfrm>
          <a:prstGeom prst="ellipse">
            <a:avLst/>
          </a:prstGeom>
          <a:solidFill>
            <a:srgbClr val="B91C1C">
              <a:alpha val="1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646894" y="1849755"/>
            <a:ext cx="2304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5213" y="23774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质问式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6742" y="2847499"/>
            <a:ext cx="13205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i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"汰换机制是什么？"</a:t>
            </a:r>
          </a:p>
        </p:txBody>
      </p:sp>
      <p:sp>
        <p:nvSpPr>
          <p:cNvPr id="11" name="Line 11"/>
          <p:cNvSpPr/>
          <p:nvPr/>
        </p:nvSpPr>
        <p:spPr>
          <a:xfrm>
            <a:off x="619125" y="3095625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9525">
            <a:solidFill>
              <a:srgbClr val="F1F5F9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05790" y="33156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直接提问，制造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5790" y="3525202"/>
            <a:ext cx="1268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"必须回答"的压力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6742" y="399049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可学：精准提问</a:t>
            </a:r>
          </a:p>
        </p:txBody>
      </p:sp>
      <p:sp>
        <p:nvSpPr>
          <p:cNvPr id="15" name="Freeform 15"/>
          <p:cNvSpPr/>
          <p:nvPr/>
        </p:nvSpPr>
        <p:spPr>
          <a:xfrm>
            <a:off x="619125" y="4762500"/>
            <a:ext cx="2286000" cy="523875"/>
          </a:xfrm>
          <a:custGeom>
            <a:avLst/>
            <a:gdLst/>
            <a:ahLst/>
            <a:cxnLst/>
            <a:rect l="l" t="t" r="r" b="b"/>
            <a:pathLst>
              <a:path w="2286000" h="523875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447675"/>
                </a:lnTo>
                <a:cubicBezTo>
                  <a:pt x="2286000" y="489759"/>
                  <a:pt x="2251884" y="523875"/>
                  <a:pt x="2209800" y="523875"/>
                </a:cubicBezTo>
                <a:lnTo>
                  <a:pt x="76200" y="523875"/>
                </a:lnTo>
                <a:cubicBezTo>
                  <a:pt x="34116" y="523875"/>
                  <a:pt x="0" y="489759"/>
                  <a:pt x="0" y="447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50570" y="48558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不给模糊空间</a:t>
            </a:r>
          </a:p>
        </p:txBody>
      </p:sp>
      <p:sp>
        <p:nvSpPr>
          <p:cNvPr id="17" name="Freeform 17"/>
          <p:cNvSpPr/>
          <p:nvPr/>
        </p:nvSpPr>
        <p:spPr>
          <a:xfrm>
            <a:off x="619125" y="5334000"/>
            <a:ext cx="762000" cy="209550"/>
          </a:xfrm>
          <a:custGeom>
            <a:avLst/>
            <a:gdLst/>
            <a:ahLst/>
            <a:cxnLst/>
            <a:rect l="l" t="t" r="r" b="b"/>
            <a:pathLst>
              <a:path w="762000" h="209550">
                <a:moveTo>
                  <a:pt x="104775" y="0"/>
                </a:moveTo>
                <a:lnTo>
                  <a:pt x="657225" y="0"/>
                </a:lnTo>
                <a:cubicBezTo>
                  <a:pt x="715091" y="0"/>
                  <a:pt x="762000" y="46909"/>
                  <a:pt x="762000" y="104775"/>
                </a:cubicBezTo>
                <a:lnTo>
                  <a:pt x="762000" y="104775"/>
                </a:lnTo>
                <a:cubicBezTo>
                  <a:pt x="762000" y="162641"/>
                  <a:pt x="715091" y="209550"/>
                  <a:pt x="6572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B91C1C">
              <a:alpha val="1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48665" y="53878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风险：高</a:t>
            </a:r>
          </a:p>
        </p:txBody>
      </p:sp>
      <p:sp>
        <p:nvSpPr>
          <p:cNvPr id="19" name="Freeform 19"/>
          <p:cNvSpPr/>
          <p:nvPr/>
        </p:nvSpPr>
        <p:spPr>
          <a:xfrm>
            <a:off x="3333750" y="1476375"/>
            <a:ext cx="2762250" cy="4095750"/>
          </a:xfrm>
          <a:custGeom>
            <a:avLst/>
            <a:gdLst/>
            <a:ahLst/>
            <a:cxnLst/>
            <a:rect l="l" t="t" r="r" b="b"/>
            <a:pathLst>
              <a:path w="2762250" h="4095750">
                <a:moveTo>
                  <a:pt x="114300" y="0"/>
                </a:moveTo>
                <a:lnTo>
                  <a:pt x="2647950" y="0"/>
                </a:lnTo>
                <a:cubicBezTo>
                  <a:pt x="2711076" y="0"/>
                  <a:pt x="2762250" y="51174"/>
                  <a:pt x="2762250" y="114300"/>
                </a:cubicBezTo>
                <a:lnTo>
                  <a:pt x="2762250" y="3981450"/>
                </a:lnTo>
                <a:cubicBezTo>
                  <a:pt x="2762250" y="4044576"/>
                  <a:pt x="2711076" y="4095750"/>
                  <a:pt x="26479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4381500" y="1666875"/>
            <a:ext cx="666750" cy="666750"/>
          </a:xfrm>
          <a:prstGeom prst="ellipse">
            <a:avLst/>
          </a:prstGeom>
          <a:solidFill>
            <a:srgbClr val="F97316">
              <a:alpha val="1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599644" y="1849755"/>
            <a:ext cx="2304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277963" y="23774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驱动式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59492" y="2847499"/>
            <a:ext cx="11283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i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"3.4亿才有奖金"</a:t>
            </a:r>
          </a:p>
        </p:txBody>
      </p:sp>
      <p:sp>
        <p:nvSpPr>
          <p:cNvPr id="24" name="Line 24"/>
          <p:cNvSpPr/>
          <p:nvPr/>
        </p:nvSpPr>
        <p:spPr>
          <a:xfrm>
            <a:off x="3571875" y="3095625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9525">
            <a:solidFill>
              <a:srgbClr val="F1F5F9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558540" y="33156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用利益让供应商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58540" y="3525202"/>
            <a:ext cx="14221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自己急，"为自己干"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559492" y="3990499"/>
            <a:ext cx="13704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利益绑定比命令有效</a:t>
            </a:r>
          </a:p>
        </p:txBody>
      </p:sp>
      <p:sp>
        <p:nvSpPr>
          <p:cNvPr id="28" name="Freeform 28"/>
          <p:cNvSpPr/>
          <p:nvPr/>
        </p:nvSpPr>
        <p:spPr>
          <a:xfrm>
            <a:off x="3571875" y="4762500"/>
            <a:ext cx="2286000" cy="523875"/>
          </a:xfrm>
          <a:custGeom>
            <a:avLst/>
            <a:gdLst/>
            <a:ahLst/>
            <a:cxnLst/>
            <a:rect l="l" t="t" r="r" b="b"/>
            <a:pathLst>
              <a:path w="2286000" h="523875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447675"/>
                </a:lnTo>
                <a:cubicBezTo>
                  <a:pt x="2286000" y="489759"/>
                  <a:pt x="2251884" y="523875"/>
                  <a:pt x="2209800" y="523875"/>
                </a:cubicBezTo>
                <a:lnTo>
                  <a:pt x="76200" y="523875"/>
                </a:lnTo>
                <a:cubicBezTo>
                  <a:pt x="34116" y="523875"/>
                  <a:pt x="0" y="489759"/>
                  <a:pt x="0" y="447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703320" y="4855845"/>
            <a:ext cx="10875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不是"为我干"而是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703320" y="5046345"/>
            <a:ext cx="6932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"为自己干"</a:t>
            </a:r>
          </a:p>
        </p:txBody>
      </p:sp>
      <p:sp>
        <p:nvSpPr>
          <p:cNvPr id="31" name="Freeform 31"/>
          <p:cNvSpPr/>
          <p:nvPr/>
        </p:nvSpPr>
        <p:spPr>
          <a:xfrm>
            <a:off x="3571875" y="5334000"/>
            <a:ext cx="762000" cy="209550"/>
          </a:xfrm>
          <a:custGeom>
            <a:avLst/>
            <a:gdLst/>
            <a:ahLst/>
            <a:cxnLst/>
            <a:rect l="l" t="t" r="r" b="b"/>
            <a:pathLst>
              <a:path w="762000" h="209550">
                <a:moveTo>
                  <a:pt x="104775" y="0"/>
                </a:moveTo>
                <a:lnTo>
                  <a:pt x="657225" y="0"/>
                </a:lnTo>
                <a:cubicBezTo>
                  <a:pt x="715091" y="0"/>
                  <a:pt x="762000" y="46909"/>
                  <a:pt x="762000" y="104775"/>
                </a:cubicBezTo>
                <a:lnTo>
                  <a:pt x="762000" y="104775"/>
                </a:lnTo>
                <a:cubicBezTo>
                  <a:pt x="762000" y="162641"/>
                  <a:pt x="715091" y="209550"/>
                  <a:pt x="6572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D97706">
              <a:alpha val="10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3701415" y="53878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风险：中</a:t>
            </a:r>
          </a:p>
        </p:txBody>
      </p:sp>
      <p:sp>
        <p:nvSpPr>
          <p:cNvPr id="33" name="Freeform 33"/>
          <p:cNvSpPr/>
          <p:nvPr/>
        </p:nvSpPr>
        <p:spPr>
          <a:xfrm>
            <a:off x="6286500" y="1476375"/>
            <a:ext cx="2762250" cy="4095750"/>
          </a:xfrm>
          <a:custGeom>
            <a:avLst/>
            <a:gdLst/>
            <a:ahLst/>
            <a:cxnLst/>
            <a:rect l="l" t="t" r="r" b="b"/>
            <a:pathLst>
              <a:path w="2762250" h="4095750">
                <a:moveTo>
                  <a:pt x="114300" y="0"/>
                </a:moveTo>
                <a:lnTo>
                  <a:pt x="2647950" y="0"/>
                </a:lnTo>
                <a:cubicBezTo>
                  <a:pt x="2711076" y="0"/>
                  <a:pt x="2762250" y="51174"/>
                  <a:pt x="2762250" y="114300"/>
                </a:cubicBezTo>
                <a:lnTo>
                  <a:pt x="2762250" y="3981450"/>
                </a:lnTo>
                <a:cubicBezTo>
                  <a:pt x="2762250" y="4044576"/>
                  <a:pt x="2711076" y="4095750"/>
                  <a:pt x="26479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7334250" y="1666875"/>
            <a:ext cx="666750" cy="666750"/>
          </a:xfrm>
          <a:prstGeom prst="ellipse">
            <a:avLst/>
          </a:prstGeom>
          <a:solidFill>
            <a:srgbClr val="C5960C">
              <a:alpha val="10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552394" y="1849755"/>
            <a:ext cx="2304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230713" y="23774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要求式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12242" y="2847499"/>
            <a:ext cx="10357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i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"本月人力计划"</a:t>
            </a:r>
          </a:p>
        </p:txBody>
      </p:sp>
      <p:sp>
        <p:nvSpPr>
          <p:cNvPr id="38" name="Line 38"/>
          <p:cNvSpPr/>
          <p:nvPr/>
        </p:nvSpPr>
        <p:spPr>
          <a:xfrm>
            <a:off x="6524625" y="3095625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9525">
            <a:solidFill>
              <a:srgbClr val="F1F5F9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511290" y="33156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要求具体计划，不模糊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511290" y="35252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明确时间节点和交付物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12242" y="3990499"/>
            <a:ext cx="12209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要求要具体可考核</a:t>
            </a:r>
          </a:p>
        </p:txBody>
      </p:sp>
      <p:sp>
        <p:nvSpPr>
          <p:cNvPr id="42" name="Freeform 42"/>
          <p:cNvSpPr/>
          <p:nvPr/>
        </p:nvSpPr>
        <p:spPr>
          <a:xfrm>
            <a:off x="6524625" y="4762500"/>
            <a:ext cx="2286000" cy="523875"/>
          </a:xfrm>
          <a:custGeom>
            <a:avLst/>
            <a:gdLst/>
            <a:ahLst/>
            <a:cxnLst/>
            <a:rect l="l" t="t" r="r" b="b"/>
            <a:pathLst>
              <a:path w="2286000" h="523875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447675"/>
                </a:lnTo>
                <a:cubicBezTo>
                  <a:pt x="2286000" y="489759"/>
                  <a:pt x="2251884" y="523875"/>
                  <a:pt x="2209800" y="523875"/>
                </a:cubicBezTo>
                <a:lnTo>
                  <a:pt x="76200" y="523875"/>
                </a:lnTo>
                <a:cubicBezTo>
                  <a:pt x="34116" y="523875"/>
                  <a:pt x="0" y="489759"/>
                  <a:pt x="0" y="447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656070" y="48558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明确时间节点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656070" y="50463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和交付物</a:t>
            </a:r>
          </a:p>
        </p:txBody>
      </p:sp>
      <p:sp>
        <p:nvSpPr>
          <p:cNvPr id="45" name="Freeform 45"/>
          <p:cNvSpPr/>
          <p:nvPr/>
        </p:nvSpPr>
        <p:spPr>
          <a:xfrm>
            <a:off x="6524625" y="5334000"/>
            <a:ext cx="762000" cy="209550"/>
          </a:xfrm>
          <a:custGeom>
            <a:avLst/>
            <a:gdLst/>
            <a:ahLst/>
            <a:cxnLst/>
            <a:rect l="l" t="t" r="r" b="b"/>
            <a:pathLst>
              <a:path w="762000" h="209550">
                <a:moveTo>
                  <a:pt x="104775" y="0"/>
                </a:moveTo>
                <a:lnTo>
                  <a:pt x="657225" y="0"/>
                </a:lnTo>
                <a:cubicBezTo>
                  <a:pt x="715091" y="0"/>
                  <a:pt x="762000" y="46909"/>
                  <a:pt x="762000" y="104775"/>
                </a:cubicBezTo>
                <a:lnTo>
                  <a:pt x="762000" y="104775"/>
                </a:lnTo>
                <a:cubicBezTo>
                  <a:pt x="762000" y="162641"/>
                  <a:pt x="715091" y="209550"/>
                  <a:pt x="6572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22C55E">
              <a:alpha val="10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654165" y="53878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风险：低</a:t>
            </a:r>
          </a:p>
        </p:txBody>
      </p:sp>
      <p:sp>
        <p:nvSpPr>
          <p:cNvPr id="47" name="Freeform 47"/>
          <p:cNvSpPr/>
          <p:nvPr/>
        </p:nvSpPr>
        <p:spPr>
          <a:xfrm>
            <a:off x="9239250" y="1476375"/>
            <a:ext cx="2571750" cy="4095750"/>
          </a:xfrm>
          <a:custGeom>
            <a:avLst/>
            <a:gdLst/>
            <a:ahLst/>
            <a:cxnLst/>
            <a:rect l="l" t="t" r="r" b="b"/>
            <a:pathLst>
              <a:path w="2571750" h="4095750">
                <a:moveTo>
                  <a:pt x="114300" y="0"/>
                </a:moveTo>
                <a:lnTo>
                  <a:pt x="2457450" y="0"/>
                </a:lnTo>
                <a:cubicBezTo>
                  <a:pt x="2520576" y="0"/>
                  <a:pt x="2571750" y="51174"/>
                  <a:pt x="2571750" y="114300"/>
                </a:cubicBezTo>
                <a:lnTo>
                  <a:pt x="2571750" y="3981450"/>
                </a:lnTo>
                <a:cubicBezTo>
                  <a:pt x="2571750" y="4044576"/>
                  <a:pt x="2520576" y="4095750"/>
                  <a:pt x="2457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22C55E"/>
            </a:solidFill>
          </a:ln>
        </p:spPr>
      </p:sp>
      <p:sp>
        <p:nvSpPr>
          <p:cNvPr id="48" name="Ellipse 48"/>
          <p:cNvSpPr/>
          <p:nvPr/>
        </p:nvSpPr>
        <p:spPr>
          <a:xfrm>
            <a:off x="10191750" y="1666875"/>
            <a:ext cx="666750" cy="666750"/>
          </a:xfrm>
          <a:prstGeom prst="ellipse">
            <a:avLst/>
          </a:prstGeom>
          <a:solidFill>
            <a:srgbClr val="22C55E">
              <a:alpha val="10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0409894" y="1849755"/>
            <a:ext cx="2304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★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124623" y="2346008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改进式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250805" y="2617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最值得学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464992" y="29427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三要素法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464992" y="3152299"/>
            <a:ext cx="10357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原因+目标+举措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464992" y="35618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让供应商自己承诺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464992" y="3990499"/>
            <a:ext cx="12209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最成熟的管理手法</a:t>
            </a:r>
          </a:p>
        </p:txBody>
      </p:sp>
      <p:sp>
        <p:nvSpPr>
          <p:cNvPr id="56" name="Freeform 56"/>
          <p:cNvSpPr/>
          <p:nvPr/>
        </p:nvSpPr>
        <p:spPr>
          <a:xfrm>
            <a:off x="9477375" y="4762500"/>
            <a:ext cx="2095500" cy="523875"/>
          </a:xfrm>
          <a:custGeom>
            <a:avLst/>
            <a:gdLst/>
            <a:ahLst/>
            <a:cxnLst/>
            <a:rect l="l" t="t" r="r" b="b"/>
            <a:pathLst>
              <a:path w="2095500" h="523875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447675"/>
                </a:lnTo>
                <a:cubicBezTo>
                  <a:pt x="2095500" y="489759"/>
                  <a:pt x="2061384" y="523875"/>
                  <a:pt x="2019300" y="523875"/>
                </a:cubicBezTo>
                <a:lnTo>
                  <a:pt x="76200" y="523875"/>
                </a:lnTo>
                <a:cubicBezTo>
                  <a:pt x="34116" y="523875"/>
                  <a:pt x="0" y="489759"/>
                  <a:pt x="0" y="447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2C55E">
              <a:alpha val="5000"/>
            </a:srgbClr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9608820" y="48558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完不成有把柄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608820" y="504634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干不好有据可查</a:t>
            </a:r>
          </a:p>
        </p:txBody>
      </p:sp>
      <p:sp>
        <p:nvSpPr>
          <p:cNvPr id="59" name="Freeform 59"/>
          <p:cNvSpPr/>
          <p:nvPr/>
        </p:nvSpPr>
        <p:spPr>
          <a:xfrm>
            <a:off x="9477375" y="5334000"/>
            <a:ext cx="762000" cy="209550"/>
          </a:xfrm>
          <a:custGeom>
            <a:avLst/>
            <a:gdLst/>
            <a:ahLst/>
            <a:cxnLst/>
            <a:rect l="l" t="t" r="r" b="b"/>
            <a:pathLst>
              <a:path w="762000" h="209550">
                <a:moveTo>
                  <a:pt x="104775" y="0"/>
                </a:moveTo>
                <a:lnTo>
                  <a:pt x="657225" y="0"/>
                </a:lnTo>
                <a:cubicBezTo>
                  <a:pt x="715091" y="0"/>
                  <a:pt x="762000" y="46909"/>
                  <a:pt x="762000" y="104775"/>
                </a:cubicBezTo>
                <a:lnTo>
                  <a:pt x="762000" y="104775"/>
                </a:lnTo>
                <a:cubicBezTo>
                  <a:pt x="762000" y="162641"/>
                  <a:pt x="715091" y="209550"/>
                  <a:pt x="6572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22C55E">
              <a:alpha val="15000"/>
            </a:srgbClr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9667161" y="5387816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风险低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68618" y="589549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关键洞察：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25868" y="5895499"/>
            <a:ext cx="4076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质问制造压力 → 驱动绑定利益 → 要求明确交付 → 改进让对方承诺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4774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13810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ONBOARDING PLAYBOOK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7210" y="56578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接手新业务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1013460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四步建立管理基础，每一步都有清晰动作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3238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CBD5E1"/>
            </a:solidFill>
          </a:ln>
        </p:spPr>
      </p:sp>
      <p:sp>
        <p:nvSpPr>
          <p:cNvPr id="7" name="Polygon 7"/>
          <p:cNvSpPr/>
          <p:nvPr/>
        </p:nvSpPr>
        <p:spPr>
          <a:xfrm>
            <a:off x="11430000" y="31623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0" y="0"/>
                </a:moveTo>
                <a:lnTo>
                  <a:pt x="19050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1333500" y="2952750"/>
            <a:ext cx="571500" cy="571500"/>
          </a:xfrm>
          <a:prstGeom prst="ellipse">
            <a:avLst/>
          </a:prstGeom>
          <a:solidFill>
            <a:srgbClr val="B91C1C">
              <a:alpha val="10000"/>
            </a:srgbClr>
          </a:solidFill>
          <a:ln w="19050">
            <a:solidFill>
              <a:srgbClr val="B91C1C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54985" y="3120390"/>
            <a:ext cx="1285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1428750"/>
            <a:ext cx="2095500" cy="1428750"/>
          </a:xfrm>
          <a:custGeom>
            <a:avLst/>
            <a:gdLst/>
            <a:ahLst/>
            <a:cxnLst/>
            <a:rect l="l" t="t" r="r" b="b"/>
            <a:pathLst>
              <a:path w="2095500" h="1428750">
                <a:moveTo>
                  <a:pt x="114300" y="0"/>
                </a:moveTo>
                <a:lnTo>
                  <a:pt x="1981200" y="0"/>
                </a:lnTo>
                <a:cubicBezTo>
                  <a:pt x="2044326" y="0"/>
                  <a:pt x="2095500" y="51174"/>
                  <a:pt x="2095500" y="114300"/>
                </a:cubicBezTo>
                <a:lnTo>
                  <a:pt x="2095500" y="1314450"/>
                </a:lnTo>
                <a:cubicBezTo>
                  <a:pt x="2095500" y="1377576"/>
                  <a:pt x="2044326" y="1428750"/>
                  <a:pt x="19812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2950" y="16478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立规矩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1990249"/>
            <a:ext cx="8150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宣布7条规则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570" y="2207895"/>
            <a:ext cx="14621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30分钟回复、10点报出勤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23793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昵称格式、数据日报格式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0570" y="2588895"/>
            <a:ext cx="12581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→ 后续"按规则办事"</a:t>
            </a:r>
          </a:p>
        </p:txBody>
      </p:sp>
      <p:sp>
        <p:nvSpPr>
          <p:cNvPr id="16" name="Line 16"/>
          <p:cNvSpPr/>
          <p:nvPr/>
        </p:nvSpPr>
        <p:spPr>
          <a:xfrm>
            <a:off x="1619250" y="2857500"/>
            <a:ext cx="9525" cy="95250"/>
          </a:xfrm>
          <a:custGeom>
            <a:avLst/>
            <a:gdLst/>
            <a:ahLst/>
            <a:cxnLst/>
            <a:rect l="l" t="t" r="r" b="b"/>
            <a:pathLst>
              <a:path w="9525" h="95250">
                <a:moveTo>
                  <a:pt x="0" y="95250"/>
                </a:moveTo>
                <a:lnTo>
                  <a:pt x="0" y="0"/>
                </a:lnTo>
              </a:path>
            </a:pathLst>
          </a:custGeom>
          <a:noFill/>
          <a:ln w="4762">
            <a:solidFill>
              <a:srgbClr val="B91C1C">
                <a:alpha val="30000"/>
              </a:srgbClr>
            </a:solidFill>
          </a:ln>
        </p:spPr>
      </p:sp>
      <p:sp>
        <p:nvSpPr>
          <p:cNvPr id="17" name="Ellipse 17"/>
          <p:cNvSpPr/>
          <p:nvPr/>
        </p:nvSpPr>
        <p:spPr>
          <a:xfrm>
            <a:off x="4095750" y="2952750"/>
            <a:ext cx="571500" cy="571500"/>
          </a:xfrm>
          <a:prstGeom prst="ellipse">
            <a:avLst/>
          </a:prstGeom>
          <a:solidFill>
            <a:srgbClr val="F97316">
              <a:alpha val="10000"/>
            </a:srgbClr>
          </a:solidFill>
          <a:ln w="19050">
            <a:solidFill>
              <a:srgbClr val="F97316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282731" y="3120390"/>
            <a:ext cx="1975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9" name="Freeform 19"/>
          <p:cNvSpPr/>
          <p:nvPr/>
        </p:nvSpPr>
        <p:spPr>
          <a:xfrm>
            <a:off x="3333750" y="3619500"/>
            <a:ext cx="2095500" cy="1619250"/>
          </a:xfrm>
          <a:custGeom>
            <a:avLst/>
            <a:gdLst/>
            <a:ahLst/>
            <a:cxnLst/>
            <a:rect l="l" t="t" r="r" b="b"/>
            <a:pathLst>
              <a:path w="2095500" h="1619250">
                <a:moveTo>
                  <a:pt x="114300" y="0"/>
                </a:moveTo>
                <a:lnTo>
                  <a:pt x="1981200" y="0"/>
                </a:lnTo>
                <a:cubicBezTo>
                  <a:pt x="2044326" y="0"/>
                  <a:pt x="2095500" y="51174"/>
                  <a:pt x="2095500" y="114300"/>
                </a:cubicBezTo>
                <a:lnTo>
                  <a:pt x="2095500" y="1504950"/>
                </a:lnTo>
                <a:cubicBezTo>
                  <a:pt x="2095500" y="1568076"/>
                  <a:pt x="2044326" y="1619250"/>
                  <a:pt x="1981200" y="1619250"/>
                </a:cubicBezTo>
                <a:lnTo>
                  <a:pt x="114300" y="1619250"/>
                </a:lnTo>
                <a:cubicBezTo>
                  <a:pt x="51174" y="1619250"/>
                  <a:pt x="0" y="1568076"/>
                  <a:pt x="0" y="1504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505200" y="38385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数据切入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11868" y="4180999"/>
            <a:ext cx="1242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5分钟连发两条数据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512820" y="43986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精确到小数点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12820" y="457009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摆数据，不出结论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512820" y="47605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责任完美分散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512820" y="4970145"/>
            <a:ext cx="15203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→ 让别人背锅，自己居功</a:t>
            </a:r>
          </a:p>
        </p:txBody>
      </p:sp>
      <p:sp>
        <p:nvSpPr>
          <p:cNvPr id="26" name="Line 26"/>
          <p:cNvSpPr/>
          <p:nvPr/>
        </p:nvSpPr>
        <p:spPr>
          <a:xfrm>
            <a:off x="4381500" y="3524250"/>
            <a:ext cx="9525" cy="95250"/>
          </a:xfrm>
          <a:custGeom>
            <a:avLst/>
            <a:gdLst/>
            <a:ahLst/>
            <a:cxnLst/>
            <a:rect l="l" t="t" r="r" b="b"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4762">
            <a:solidFill>
              <a:srgbClr val="F97316">
                <a:alpha val="30000"/>
              </a:srgbClr>
            </a:solidFill>
          </a:ln>
        </p:spPr>
      </p:sp>
      <p:sp>
        <p:nvSpPr>
          <p:cNvPr id="27" name="Ellipse 27"/>
          <p:cNvSpPr/>
          <p:nvPr/>
        </p:nvSpPr>
        <p:spPr>
          <a:xfrm>
            <a:off x="6858000" y="2952750"/>
            <a:ext cx="571500" cy="571500"/>
          </a:xfrm>
          <a:prstGeom prst="ellipse">
            <a:avLst/>
          </a:prstGeom>
          <a:solidFill>
            <a:srgbClr val="3B82F6">
              <a:alpha val="10000"/>
            </a:srgbClr>
          </a:solidFill>
          <a:ln w="19050">
            <a:solidFill>
              <a:srgbClr val="3B82F6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044981" y="3120390"/>
            <a:ext cx="1975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9" name="Freeform 29"/>
          <p:cNvSpPr/>
          <p:nvPr/>
        </p:nvSpPr>
        <p:spPr>
          <a:xfrm>
            <a:off x="6096000" y="1428750"/>
            <a:ext cx="2095500" cy="1428750"/>
          </a:xfrm>
          <a:custGeom>
            <a:avLst/>
            <a:gdLst/>
            <a:ahLst/>
            <a:cxnLst/>
            <a:rect l="l" t="t" r="r" b="b"/>
            <a:pathLst>
              <a:path w="2095500" h="1428750">
                <a:moveTo>
                  <a:pt x="114300" y="0"/>
                </a:moveTo>
                <a:lnTo>
                  <a:pt x="1981200" y="0"/>
                </a:lnTo>
                <a:cubicBezTo>
                  <a:pt x="2044326" y="0"/>
                  <a:pt x="2095500" y="51174"/>
                  <a:pt x="2095500" y="114300"/>
                </a:cubicBezTo>
                <a:lnTo>
                  <a:pt x="2095500" y="1314450"/>
                </a:lnTo>
                <a:cubicBezTo>
                  <a:pt x="2095500" y="1377576"/>
                  <a:pt x="2044326" y="1428750"/>
                  <a:pt x="19812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267450" y="16478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公开锁定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74118" y="1990249"/>
            <a:ext cx="8150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群里@具体人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275070" y="220789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所有人看着不得不接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275070" y="237934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不私聊，连环追加施压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275070" y="2588895"/>
            <a:ext cx="9682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→ 制造回复压力</a:t>
            </a:r>
          </a:p>
        </p:txBody>
      </p:sp>
      <p:sp>
        <p:nvSpPr>
          <p:cNvPr id="35" name="Line 35"/>
          <p:cNvSpPr/>
          <p:nvPr/>
        </p:nvSpPr>
        <p:spPr>
          <a:xfrm>
            <a:off x="7143750" y="2857500"/>
            <a:ext cx="9525" cy="95250"/>
          </a:xfrm>
          <a:custGeom>
            <a:avLst/>
            <a:gdLst/>
            <a:ahLst/>
            <a:cxnLst/>
            <a:rect l="l" t="t" r="r" b="b"/>
            <a:pathLst>
              <a:path w="9525" h="95250">
                <a:moveTo>
                  <a:pt x="0" y="95250"/>
                </a:moveTo>
                <a:lnTo>
                  <a:pt x="0" y="0"/>
                </a:lnTo>
              </a:path>
            </a:pathLst>
          </a:custGeom>
          <a:noFill/>
          <a:ln w="4762">
            <a:solidFill>
              <a:srgbClr val="3B82F6">
                <a:alpha val="30000"/>
              </a:srgbClr>
            </a:solidFill>
          </a:ln>
        </p:spPr>
      </p:sp>
      <p:sp>
        <p:nvSpPr>
          <p:cNvPr id="36" name="Ellipse 36"/>
          <p:cNvSpPr/>
          <p:nvPr/>
        </p:nvSpPr>
        <p:spPr>
          <a:xfrm>
            <a:off x="9620250" y="2952750"/>
            <a:ext cx="571500" cy="571500"/>
          </a:xfrm>
          <a:prstGeom prst="ellipse">
            <a:avLst/>
          </a:prstGeom>
          <a:solidFill>
            <a:srgbClr val="22C55E">
              <a:alpha val="10000"/>
            </a:srgbClr>
          </a:solidFill>
          <a:ln w="19050">
            <a:solidFill>
              <a:srgbClr val="22C55E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07231" y="3120390"/>
            <a:ext cx="1975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38" name="Freeform 38"/>
          <p:cNvSpPr/>
          <p:nvPr/>
        </p:nvSpPr>
        <p:spPr>
          <a:xfrm>
            <a:off x="8858250" y="3619500"/>
            <a:ext cx="2095500" cy="1619250"/>
          </a:xfrm>
          <a:custGeom>
            <a:avLst/>
            <a:gdLst/>
            <a:ahLst/>
            <a:cxnLst/>
            <a:rect l="l" t="t" r="r" b="b"/>
            <a:pathLst>
              <a:path w="2095500" h="1619250">
                <a:moveTo>
                  <a:pt x="114300" y="0"/>
                </a:moveTo>
                <a:lnTo>
                  <a:pt x="1981200" y="0"/>
                </a:lnTo>
                <a:cubicBezTo>
                  <a:pt x="2044326" y="0"/>
                  <a:pt x="2095500" y="51174"/>
                  <a:pt x="2095500" y="114300"/>
                </a:cubicBezTo>
                <a:lnTo>
                  <a:pt x="2095500" y="1504950"/>
                </a:lnTo>
                <a:cubicBezTo>
                  <a:pt x="2095500" y="1568076"/>
                  <a:pt x="2044326" y="1619250"/>
                  <a:pt x="1981200" y="1619250"/>
                </a:cubicBezTo>
                <a:lnTo>
                  <a:pt x="114300" y="1619250"/>
                </a:lnTo>
                <a:cubicBezTo>
                  <a:pt x="51174" y="1619250"/>
                  <a:pt x="0" y="1568076"/>
                  <a:pt x="0" y="1504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29700" y="38385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建立预期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036368" y="418099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按规则办事形象确立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37320" y="43986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引用初始规则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37320" y="457009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持续执行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037320" y="4760595"/>
            <a:ext cx="16264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从"个人意志"变"按章办事"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037320" y="4970145"/>
            <a:ext cx="11062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→ 规则比人更持久</a:t>
            </a:r>
          </a:p>
        </p:txBody>
      </p:sp>
      <p:sp>
        <p:nvSpPr>
          <p:cNvPr id="45" name="Line 45"/>
          <p:cNvSpPr/>
          <p:nvPr/>
        </p:nvSpPr>
        <p:spPr>
          <a:xfrm>
            <a:off x="9906000" y="3524250"/>
            <a:ext cx="9525" cy="95250"/>
          </a:xfrm>
          <a:custGeom>
            <a:avLst/>
            <a:gdLst/>
            <a:ahLst/>
            <a:cxnLst/>
            <a:rect l="l" t="t" r="r" b="b"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4762">
            <a:solidFill>
              <a:srgbClr val="22C55E">
                <a:alpha val="30000"/>
              </a:srgbClr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559118" y="580024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关键洞察：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73492" y="5800249"/>
            <a:ext cx="36132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后续所有管理行为都是"执行既定规则"，不是"个人施压"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4774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12355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COUNTER STRATEGIES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7210" y="5657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应对策略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1013460"/>
            <a:ext cx="2282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他说 vs 你回 — 每句都有对照</a:t>
            </a:r>
          </a:p>
        </p:txBody>
      </p:sp>
      <p:sp>
        <p:nvSpPr>
          <p:cNvPr id="6" name="Freeform 6"/>
          <p:cNvSpPr/>
          <p:nvPr/>
        </p:nvSpPr>
        <p:spPr>
          <a:xfrm>
            <a:off x="381000" y="1428750"/>
            <a:ext cx="2476500" cy="4476750"/>
          </a:xfrm>
          <a:custGeom>
            <a:avLst/>
            <a:gdLst/>
            <a:ahLst/>
            <a:cxnLst/>
            <a:rect l="l" t="t" r="r" b="b"/>
            <a:pathLst>
              <a:path w="2476500" h="4476750">
                <a:moveTo>
                  <a:pt x="114300" y="0"/>
                </a:moveTo>
                <a:lnTo>
                  <a:pt x="2362200" y="0"/>
                </a:lnTo>
                <a:cubicBezTo>
                  <a:pt x="2425326" y="0"/>
                  <a:pt x="2476500" y="51174"/>
                  <a:pt x="2476500" y="114300"/>
                </a:cubicBezTo>
                <a:lnTo>
                  <a:pt x="2476500" y="4362450"/>
                </a:lnTo>
                <a:cubicBezTo>
                  <a:pt x="2476500" y="4425576"/>
                  <a:pt x="2425326" y="4476750"/>
                  <a:pt x="2362200" y="4476750"/>
                </a:cubicBezTo>
                <a:lnTo>
                  <a:pt x="114300" y="4476750"/>
                </a:lnTo>
                <a:cubicBezTo>
                  <a:pt x="51174" y="4476750"/>
                  <a:pt x="0" y="4425576"/>
                  <a:pt x="0" y="4362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381125" y="1666875"/>
            <a:ext cx="476250" cy="476250"/>
          </a:xfrm>
          <a:prstGeom prst="ellipse">
            <a:avLst/>
          </a:prstGeom>
          <a:solidFill>
            <a:srgbClr val="E2725B">
              <a:alpha val="1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536942" y="1800225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9605" y="22355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四大核心原则</a:t>
            </a:r>
          </a:p>
        </p:txBody>
      </p:sp>
      <p:sp>
        <p:nvSpPr>
          <p:cNvPr id="10" name="Line 10"/>
          <p:cNvSpPr/>
          <p:nvPr/>
        </p:nvSpPr>
        <p:spPr>
          <a:xfrm>
            <a:off x="666750" y="2524125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F1F5F9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53415" y="2744152"/>
            <a:ext cx="8854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1 不主动背锅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5320" y="29698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问题直接传递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3415" y="3315652"/>
            <a:ext cx="7704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2 边界清晰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5320" y="3541395"/>
            <a:ext cx="620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周末不接@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3415" y="3887152"/>
            <a:ext cx="7704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3 信息独立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5320" y="41128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建独立渠道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3415" y="4458652"/>
            <a:ext cx="7704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4 学习技巧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5320" y="4684395"/>
            <a:ext cx="10152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立规矩+三要素法</a:t>
            </a:r>
          </a:p>
        </p:txBody>
      </p:sp>
      <p:sp>
        <p:nvSpPr>
          <p:cNvPr id="19" name="Freeform 19"/>
          <p:cNvSpPr/>
          <p:nvPr/>
        </p:nvSpPr>
        <p:spPr>
          <a:xfrm>
            <a:off x="3143250" y="1428750"/>
            <a:ext cx="4286250" cy="1238250"/>
          </a:xfrm>
          <a:custGeom>
            <a:avLst/>
            <a:gdLst/>
            <a:ahLst/>
            <a:cxnLst/>
            <a:rect l="l" t="t" r="r" b="b"/>
            <a:pathLst>
              <a:path w="4286250" h="1238250">
                <a:moveTo>
                  <a:pt x="114300" y="0"/>
                </a:moveTo>
                <a:lnTo>
                  <a:pt x="4171950" y="0"/>
                </a:lnTo>
                <a:cubicBezTo>
                  <a:pt x="4235076" y="0"/>
                  <a:pt x="4286250" y="51174"/>
                  <a:pt x="4286250" y="114300"/>
                </a:cubicBezTo>
                <a:lnTo>
                  <a:pt x="4286250" y="1123950"/>
                </a:lnTo>
                <a:cubicBezTo>
                  <a:pt x="4286250" y="1187076"/>
                  <a:pt x="4235076" y="1238250"/>
                  <a:pt x="417195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3276600" y="1562100"/>
            <a:ext cx="304800" cy="304800"/>
          </a:xfrm>
          <a:prstGeom prst="ellipse">
            <a:avLst/>
          </a:prstGeom>
          <a:solidFill>
            <a:srgbClr val="B91C1C">
              <a:alpha val="1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3279553" y="16649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他说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701415" y="1601152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"帮我看下，我该如何解答"</a:t>
            </a:r>
          </a:p>
        </p:txBody>
      </p:sp>
      <p:sp>
        <p:nvSpPr>
          <p:cNvPr id="23" name="Line 23"/>
          <p:cNvSpPr/>
          <p:nvPr/>
        </p:nvSpPr>
        <p:spPr>
          <a:xfrm>
            <a:off x="3333750" y="1905000"/>
            <a:ext cx="3905250" cy="9525"/>
          </a:xfrm>
          <a:custGeom>
            <a:avLst/>
            <a:gdLst/>
            <a:ahLst/>
            <a:cxnLst/>
            <a:rect l="l" t="t" r="r" b="b"/>
            <a:pathLst>
              <a:path w="3905250" h="9525">
                <a:moveTo>
                  <a:pt x="0" y="0"/>
                </a:moveTo>
                <a:lnTo>
                  <a:pt x="3905250" y="0"/>
                </a:lnTo>
              </a:path>
            </a:pathLst>
          </a:custGeom>
          <a:noFill/>
          <a:ln w="4762">
            <a:solidFill>
              <a:srgbClr val="F1F5F9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3276600" y="2038350"/>
            <a:ext cx="304800" cy="304800"/>
          </a:xfrm>
          <a:prstGeom prst="ellipse">
            <a:avLst/>
          </a:prstGeom>
          <a:solidFill>
            <a:srgbClr val="22C55E">
              <a:alpha val="10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279553" y="21412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你回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01415" y="2077402"/>
            <a:ext cx="21889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"你的想法是什么？我先听你的"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703320" y="2331720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不接任务，反问回去</a:t>
            </a:r>
          </a:p>
        </p:txBody>
      </p:sp>
      <p:sp>
        <p:nvSpPr>
          <p:cNvPr id="28" name="Freeform 28"/>
          <p:cNvSpPr/>
          <p:nvPr/>
        </p:nvSpPr>
        <p:spPr>
          <a:xfrm>
            <a:off x="7620000" y="1428750"/>
            <a:ext cx="4191000" cy="1238250"/>
          </a:xfrm>
          <a:custGeom>
            <a:avLst/>
            <a:gdLst/>
            <a:ahLst/>
            <a:cxnLst/>
            <a:rect l="l" t="t" r="r" b="b"/>
            <a:pathLst>
              <a:path w="4191000" h="1238250">
                <a:moveTo>
                  <a:pt x="114300" y="0"/>
                </a:moveTo>
                <a:lnTo>
                  <a:pt x="4076700" y="0"/>
                </a:lnTo>
                <a:cubicBezTo>
                  <a:pt x="4139826" y="0"/>
                  <a:pt x="4191000" y="51174"/>
                  <a:pt x="4191000" y="114300"/>
                </a:cubicBezTo>
                <a:lnTo>
                  <a:pt x="4191000" y="1123950"/>
                </a:lnTo>
                <a:cubicBezTo>
                  <a:pt x="4191000" y="1187076"/>
                  <a:pt x="4139826" y="1238250"/>
                  <a:pt x="40767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7753350" y="1562100"/>
            <a:ext cx="304800" cy="304800"/>
          </a:xfrm>
          <a:prstGeom prst="ellipse">
            <a:avLst/>
          </a:prstGeom>
          <a:solidFill>
            <a:srgbClr val="B91C1C">
              <a:alpha val="10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756303" y="16649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他说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78165" y="1601152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周末@处理供应商问题</a:t>
            </a:r>
          </a:p>
        </p:txBody>
      </p:sp>
      <p:sp>
        <p:nvSpPr>
          <p:cNvPr id="32" name="Line 32"/>
          <p:cNvSpPr/>
          <p:nvPr/>
        </p:nvSpPr>
        <p:spPr>
          <a:xfrm>
            <a:off x="7810500" y="19050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">
            <a:solidFill>
              <a:srgbClr val="F1F5F9"/>
            </a:solidFill>
          </a:ln>
        </p:spPr>
      </p:sp>
      <p:sp>
        <p:nvSpPr>
          <p:cNvPr id="33" name="Ellipse 33"/>
          <p:cNvSpPr/>
          <p:nvPr/>
        </p:nvSpPr>
        <p:spPr>
          <a:xfrm>
            <a:off x="7753350" y="2038350"/>
            <a:ext cx="304800" cy="304800"/>
          </a:xfrm>
          <a:prstGeom prst="ellipse">
            <a:avLst/>
          </a:prstGeom>
          <a:solidFill>
            <a:srgbClr val="22C55E">
              <a:alpha val="10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756303" y="21412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你回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78165" y="2077402"/>
            <a:ext cx="1268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"收到，周一处理"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80070" y="2331720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边界清晰，不解释</a:t>
            </a:r>
          </a:p>
        </p:txBody>
      </p:sp>
      <p:sp>
        <p:nvSpPr>
          <p:cNvPr id="37" name="Freeform 37"/>
          <p:cNvSpPr/>
          <p:nvPr/>
        </p:nvSpPr>
        <p:spPr>
          <a:xfrm>
            <a:off x="3143250" y="2857500"/>
            <a:ext cx="4286250" cy="1238250"/>
          </a:xfrm>
          <a:custGeom>
            <a:avLst/>
            <a:gdLst/>
            <a:ahLst/>
            <a:cxnLst/>
            <a:rect l="l" t="t" r="r" b="b"/>
            <a:pathLst>
              <a:path w="4286250" h="1238250">
                <a:moveTo>
                  <a:pt x="114300" y="0"/>
                </a:moveTo>
                <a:lnTo>
                  <a:pt x="4171950" y="0"/>
                </a:lnTo>
                <a:cubicBezTo>
                  <a:pt x="4235076" y="0"/>
                  <a:pt x="4286250" y="51174"/>
                  <a:pt x="4286250" y="114300"/>
                </a:cubicBezTo>
                <a:lnTo>
                  <a:pt x="4286250" y="1123950"/>
                </a:lnTo>
                <a:cubicBezTo>
                  <a:pt x="4286250" y="1187076"/>
                  <a:pt x="4235076" y="1238250"/>
                  <a:pt x="417195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3276600" y="2990850"/>
            <a:ext cx="304800" cy="304800"/>
          </a:xfrm>
          <a:prstGeom prst="ellipse">
            <a:avLst/>
          </a:prstGeom>
          <a:solidFill>
            <a:srgbClr val="B91C1C">
              <a:alpha val="10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79553" y="30937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他说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701415" y="3029902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"别找供应商，他们不如我们清楚"</a:t>
            </a:r>
          </a:p>
        </p:txBody>
      </p:sp>
      <p:sp>
        <p:nvSpPr>
          <p:cNvPr id="41" name="Line 41"/>
          <p:cNvSpPr/>
          <p:nvPr/>
        </p:nvSpPr>
        <p:spPr>
          <a:xfrm>
            <a:off x="3333750" y="3333750"/>
            <a:ext cx="3905250" cy="9525"/>
          </a:xfrm>
          <a:custGeom>
            <a:avLst/>
            <a:gdLst/>
            <a:ahLst/>
            <a:cxnLst/>
            <a:rect l="l" t="t" r="r" b="b"/>
            <a:pathLst>
              <a:path w="3905250" h="9525">
                <a:moveTo>
                  <a:pt x="0" y="0"/>
                </a:moveTo>
                <a:lnTo>
                  <a:pt x="3905250" y="0"/>
                </a:lnTo>
              </a:path>
            </a:pathLst>
          </a:custGeom>
          <a:noFill/>
          <a:ln w="4762">
            <a:solidFill>
              <a:srgbClr val="F1F5F9"/>
            </a:solidFill>
          </a:ln>
        </p:spPr>
      </p:sp>
      <p:sp>
        <p:nvSpPr>
          <p:cNvPr id="42" name="Ellipse 42"/>
          <p:cNvSpPr/>
          <p:nvPr/>
        </p:nvSpPr>
        <p:spPr>
          <a:xfrm>
            <a:off x="3276600" y="3467100"/>
            <a:ext cx="304800" cy="304800"/>
          </a:xfrm>
          <a:prstGeom prst="ellipse">
            <a:avLst/>
          </a:prstGeom>
          <a:solidFill>
            <a:srgbClr val="22C55E">
              <a:alpha val="10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79553" y="35699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你回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701415" y="3506152"/>
            <a:ext cx="21889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"理解，但我需要一线真实反馈"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703320" y="376047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建立独立渠道</a:t>
            </a:r>
          </a:p>
        </p:txBody>
      </p:sp>
      <p:sp>
        <p:nvSpPr>
          <p:cNvPr id="46" name="Freeform 46"/>
          <p:cNvSpPr/>
          <p:nvPr/>
        </p:nvSpPr>
        <p:spPr>
          <a:xfrm>
            <a:off x="7620000" y="2857500"/>
            <a:ext cx="4191000" cy="1238250"/>
          </a:xfrm>
          <a:custGeom>
            <a:avLst/>
            <a:gdLst/>
            <a:ahLst/>
            <a:cxnLst/>
            <a:rect l="l" t="t" r="r" b="b"/>
            <a:pathLst>
              <a:path w="4191000" h="1238250">
                <a:moveTo>
                  <a:pt x="114300" y="0"/>
                </a:moveTo>
                <a:lnTo>
                  <a:pt x="4076700" y="0"/>
                </a:lnTo>
                <a:cubicBezTo>
                  <a:pt x="4139826" y="0"/>
                  <a:pt x="4191000" y="51174"/>
                  <a:pt x="4191000" y="114300"/>
                </a:cubicBezTo>
                <a:lnTo>
                  <a:pt x="4191000" y="1123950"/>
                </a:lnTo>
                <a:cubicBezTo>
                  <a:pt x="4191000" y="1187076"/>
                  <a:pt x="4139826" y="1238250"/>
                  <a:pt x="40767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7753350" y="2990850"/>
            <a:ext cx="304800" cy="304800"/>
          </a:xfrm>
          <a:prstGeom prst="ellipse">
            <a:avLst/>
          </a:prstGeom>
          <a:solidFill>
            <a:srgbClr val="B91C1C">
              <a:alpha val="10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756303" y="30937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他说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178165" y="3029902"/>
            <a:ext cx="1268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"辛苦兄弟多费心"</a:t>
            </a:r>
          </a:p>
        </p:txBody>
      </p:sp>
      <p:sp>
        <p:nvSpPr>
          <p:cNvPr id="50" name="Line 50"/>
          <p:cNvSpPr/>
          <p:nvPr/>
        </p:nvSpPr>
        <p:spPr>
          <a:xfrm>
            <a:off x="7810500" y="333375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">
            <a:solidFill>
              <a:srgbClr val="F1F5F9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7753350" y="3467100"/>
            <a:ext cx="304800" cy="304800"/>
          </a:xfrm>
          <a:prstGeom prst="ellipse">
            <a:avLst/>
          </a:prstGeom>
          <a:solidFill>
            <a:srgbClr val="22C55E">
              <a:alpha val="10000"/>
            </a:srgbClr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756303" y="35699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你回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178165" y="3506152"/>
            <a:ext cx="18132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"8个供应商，担心盯不细"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180070" y="376047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示弱加边界，刘乾坤会退让</a:t>
            </a:r>
          </a:p>
        </p:txBody>
      </p:sp>
      <p:sp>
        <p:nvSpPr>
          <p:cNvPr id="55" name="Freeform 55"/>
          <p:cNvSpPr/>
          <p:nvPr/>
        </p:nvSpPr>
        <p:spPr>
          <a:xfrm>
            <a:off x="3143250" y="4286250"/>
            <a:ext cx="8667750" cy="952500"/>
          </a:xfrm>
          <a:custGeom>
            <a:avLst/>
            <a:gdLst/>
            <a:ahLst/>
            <a:cxnLst/>
            <a:rect l="l" t="t" r="r" b="b"/>
            <a:pathLst>
              <a:path w="8667750" h="952500">
                <a:moveTo>
                  <a:pt x="114300" y="0"/>
                </a:moveTo>
                <a:lnTo>
                  <a:pt x="8553450" y="0"/>
                </a:lnTo>
                <a:cubicBezTo>
                  <a:pt x="8616576" y="0"/>
                  <a:pt x="8667750" y="51174"/>
                  <a:pt x="8667750" y="114300"/>
                </a:cubicBezTo>
                <a:lnTo>
                  <a:pt x="8667750" y="838200"/>
                </a:lnTo>
                <a:cubicBezTo>
                  <a:pt x="8667750" y="901326"/>
                  <a:pt x="8616576" y="952500"/>
                  <a:pt x="855345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3276600" y="4419600"/>
            <a:ext cx="304800" cy="304800"/>
          </a:xfrm>
          <a:prstGeom prst="ellipse">
            <a:avLst/>
          </a:prstGeom>
          <a:solidFill>
            <a:srgbClr val="B91C1C">
              <a:alpha val="10000"/>
            </a:srgbClr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3279553" y="45224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他说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701415" y="4458652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危机渲染 + 责任锁定</a:t>
            </a:r>
          </a:p>
        </p:txBody>
      </p:sp>
      <p:sp>
        <p:nvSpPr>
          <p:cNvPr id="59" name="Line 59"/>
          <p:cNvSpPr/>
          <p:nvPr/>
        </p:nvSpPr>
        <p:spPr>
          <a:xfrm>
            <a:off x="3333750" y="4762500"/>
            <a:ext cx="8286750" cy="9525"/>
          </a:xfrm>
          <a:custGeom>
            <a:avLst/>
            <a:gdLst/>
            <a:ahLst/>
            <a:cxnLst/>
            <a:rect l="l" t="t" r="r" b="b"/>
            <a:pathLst>
              <a:path w="8286750" h="9525">
                <a:moveTo>
                  <a:pt x="0" y="0"/>
                </a:moveTo>
                <a:lnTo>
                  <a:pt x="8286750" y="0"/>
                </a:lnTo>
              </a:path>
            </a:pathLst>
          </a:custGeom>
          <a:noFill/>
          <a:ln w="4762">
            <a:solidFill>
              <a:srgbClr val="F1F5F9"/>
            </a:solidFill>
          </a:ln>
        </p:spPr>
      </p:sp>
      <p:sp>
        <p:nvSpPr>
          <p:cNvPr id="60" name="Ellipse 60"/>
          <p:cNvSpPr/>
          <p:nvPr/>
        </p:nvSpPr>
        <p:spPr>
          <a:xfrm>
            <a:off x="3276600" y="4895850"/>
            <a:ext cx="304800" cy="304800"/>
          </a:xfrm>
          <a:prstGeom prst="ellipse">
            <a:avLst/>
          </a:prstGeom>
          <a:solidFill>
            <a:srgbClr val="22C55E">
              <a:alpha val="10000"/>
            </a:srgbClr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3279553" y="49987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你回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701415" y="493490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事实压危机、锁定卡点、踢球给方案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703320" y="518922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用专业语言说话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59118" y="580024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核心策略：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273492" y="5800249"/>
            <a:ext cx="22248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不接球 → 不模糊 → 不依赖 → 学技巧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4774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1071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LEARNABLE SKILLS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7210" y="56578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可学习内容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101346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四种核心技巧，从基础到进阶</a:t>
            </a:r>
          </a:p>
        </p:txBody>
      </p:sp>
      <p:sp>
        <p:nvSpPr>
          <p:cNvPr id="6" name="Freeform 6"/>
          <p:cNvSpPr/>
          <p:nvPr/>
        </p:nvSpPr>
        <p:spPr>
          <a:xfrm>
            <a:off x="381000" y="1524000"/>
            <a:ext cx="2762250" cy="3238500"/>
          </a:xfrm>
          <a:custGeom>
            <a:avLst/>
            <a:gdLst/>
            <a:ahLst/>
            <a:cxnLst/>
            <a:rect l="l" t="t" r="r" b="b"/>
            <a:pathLst>
              <a:path w="2762250" h="3238500">
                <a:moveTo>
                  <a:pt x="114300" y="0"/>
                </a:moveTo>
                <a:lnTo>
                  <a:pt x="2647950" y="0"/>
                </a:lnTo>
                <a:cubicBezTo>
                  <a:pt x="2711076" y="0"/>
                  <a:pt x="2762250" y="51174"/>
                  <a:pt x="2762250" y="114300"/>
                </a:cubicBezTo>
                <a:lnTo>
                  <a:pt x="2762250" y="3124200"/>
                </a:lnTo>
                <a:cubicBezTo>
                  <a:pt x="2762250" y="3187326"/>
                  <a:pt x="2711076" y="3238500"/>
                  <a:pt x="2647950" y="3238500"/>
                </a:cubicBezTo>
                <a:lnTo>
                  <a:pt x="114300" y="3238500"/>
                </a:lnTo>
                <a:cubicBezTo>
                  <a:pt x="51174" y="3238500"/>
                  <a:pt x="0" y="3187326"/>
                  <a:pt x="0" y="3124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476375" y="1714500"/>
            <a:ext cx="571500" cy="571500"/>
          </a:xfrm>
          <a:prstGeom prst="ellipse">
            <a:avLst/>
          </a:prstGeom>
          <a:solidFill>
            <a:srgbClr val="B91C1C">
              <a:alpha val="8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665727" y="1804035"/>
            <a:ext cx="19279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61623" y="23936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立规矩</a:t>
            </a:r>
          </a:p>
        </p:txBody>
      </p:sp>
      <p:sp>
        <p:nvSpPr>
          <p:cNvPr id="10" name="Line 10"/>
          <p:cNvSpPr/>
          <p:nvPr/>
        </p:nvSpPr>
        <p:spPr>
          <a:xfrm>
            <a:off x="666750" y="2714625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9525">
            <a:solidFill>
              <a:srgbClr val="F1F5F9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05790" y="288702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先定规则后办事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5790" y="3125152"/>
            <a:ext cx="1575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后续是"执行既定规则"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6742" y="35142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规则越具体越好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6742" y="37047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可考核可追溯</a:t>
            </a:r>
          </a:p>
        </p:txBody>
      </p:sp>
      <p:sp>
        <p:nvSpPr>
          <p:cNvPr id="15" name="Freeform 15"/>
          <p:cNvSpPr/>
          <p:nvPr/>
        </p:nvSpPr>
        <p:spPr>
          <a:xfrm>
            <a:off x="619125" y="4095750"/>
            <a:ext cx="952500" cy="266700"/>
          </a:xfrm>
          <a:custGeom>
            <a:avLst/>
            <a:gdLst/>
            <a:ahLst/>
            <a:cxnLst/>
            <a:rect l="l" t="t" r="r" b="b"/>
            <a:pathLst>
              <a:path w="952500" h="266700">
                <a:moveTo>
                  <a:pt x="133350" y="0"/>
                </a:moveTo>
                <a:lnTo>
                  <a:pt x="819150" y="0"/>
                </a:lnTo>
                <a:cubicBezTo>
                  <a:pt x="892797" y="0"/>
                  <a:pt x="952500" y="59703"/>
                  <a:pt x="952500" y="133350"/>
                </a:cubicBezTo>
                <a:lnTo>
                  <a:pt x="952500" y="133350"/>
                </a:lnTo>
                <a:cubicBezTo>
                  <a:pt x="952500" y="206997"/>
                  <a:pt x="892797" y="266700"/>
                  <a:pt x="8191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B91C1C">
              <a:alpha val="8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83669" y="4187666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接手新业务</a:t>
            </a:r>
          </a:p>
        </p:txBody>
      </p:sp>
      <p:sp>
        <p:nvSpPr>
          <p:cNvPr id="17" name="Freeform 17"/>
          <p:cNvSpPr/>
          <p:nvPr/>
        </p:nvSpPr>
        <p:spPr>
          <a:xfrm>
            <a:off x="619125" y="4429125"/>
            <a:ext cx="952500" cy="209550"/>
          </a:xfrm>
          <a:custGeom>
            <a:avLst/>
            <a:gdLst/>
            <a:ahLst/>
            <a:cxnLst/>
            <a:rect l="l" t="t" r="r" b="b"/>
            <a:pathLst>
              <a:path w="952500" h="209550">
                <a:moveTo>
                  <a:pt x="104775" y="0"/>
                </a:moveTo>
                <a:lnTo>
                  <a:pt x="847725" y="0"/>
                </a:lnTo>
                <a:cubicBezTo>
                  <a:pt x="905591" y="0"/>
                  <a:pt x="952500" y="46909"/>
                  <a:pt x="952500" y="104775"/>
                </a:cubicBezTo>
                <a:lnTo>
                  <a:pt x="952500" y="104775"/>
                </a:lnTo>
                <a:cubicBezTo>
                  <a:pt x="952500" y="162641"/>
                  <a:pt x="905591" y="209550"/>
                  <a:pt x="8477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64406" y="448294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基础</a:t>
            </a:r>
          </a:p>
        </p:txBody>
      </p:sp>
      <p:sp>
        <p:nvSpPr>
          <p:cNvPr id="19" name="Freeform 19"/>
          <p:cNvSpPr/>
          <p:nvPr/>
        </p:nvSpPr>
        <p:spPr>
          <a:xfrm>
            <a:off x="3333750" y="1524000"/>
            <a:ext cx="2762250" cy="3238500"/>
          </a:xfrm>
          <a:custGeom>
            <a:avLst/>
            <a:gdLst/>
            <a:ahLst/>
            <a:cxnLst/>
            <a:rect l="l" t="t" r="r" b="b"/>
            <a:pathLst>
              <a:path w="2762250" h="3238500">
                <a:moveTo>
                  <a:pt x="114300" y="0"/>
                </a:moveTo>
                <a:lnTo>
                  <a:pt x="2647950" y="0"/>
                </a:lnTo>
                <a:cubicBezTo>
                  <a:pt x="2711076" y="0"/>
                  <a:pt x="2762250" y="51174"/>
                  <a:pt x="2762250" y="114300"/>
                </a:cubicBezTo>
                <a:lnTo>
                  <a:pt x="2762250" y="3124200"/>
                </a:lnTo>
                <a:cubicBezTo>
                  <a:pt x="2762250" y="3187326"/>
                  <a:pt x="2711076" y="3238500"/>
                  <a:pt x="2647950" y="3238500"/>
                </a:cubicBezTo>
                <a:lnTo>
                  <a:pt x="114300" y="3238500"/>
                </a:lnTo>
                <a:cubicBezTo>
                  <a:pt x="51174" y="3238500"/>
                  <a:pt x="0" y="3187326"/>
                  <a:pt x="0" y="3124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4429125" y="1714500"/>
            <a:ext cx="571500" cy="571500"/>
          </a:xfrm>
          <a:prstGeom prst="ellipse">
            <a:avLst/>
          </a:prstGeom>
          <a:solidFill>
            <a:srgbClr val="F97316">
              <a:alpha val="8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566721" y="1804035"/>
            <a:ext cx="2963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87857" y="23936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三要素法</a:t>
            </a:r>
          </a:p>
        </p:txBody>
      </p:sp>
      <p:sp>
        <p:nvSpPr>
          <p:cNvPr id="23" name="Line 23"/>
          <p:cNvSpPr/>
          <p:nvPr/>
        </p:nvSpPr>
        <p:spPr>
          <a:xfrm>
            <a:off x="3619500" y="2714625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9525">
            <a:solidFill>
              <a:srgbClr val="F1F5F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558540" y="2887028"/>
            <a:ext cx="15065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问题→原因+目标+举措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558540" y="31251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让别人承诺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59492" y="35142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让对方承诺比直接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559492" y="37047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给方案更有约束力</a:t>
            </a:r>
          </a:p>
        </p:txBody>
      </p:sp>
      <p:sp>
        <p:nvSpPr>
          <p:cNvPr id="28" name="Freeform 28"/>
          <p:cNvSpPr/>
          <p:nvPr/>
        </p:nvSpPr>
        <p:spPr>
          <a:xfrm>
            <a:off x="3571875" y="4095750"/>
            <a:ext cx="952500" cy="266700"/>
          </a:xfrm>
          <a:custGeom>
            <a:avLst/>
            <a:gdLst/>
            <a:ahLst/>
            <a:cxnLst/>
            <a:rect l="l" t="t" r="r" b="b"/>
            <a:pathLst>
              <a:path w="952500" h="266700">
                <a:moveTo>
                  <a:pt x="133350" y="0"/>
                </a:moveTo>
                <a:lnTo>
                  <a:pt x="819150" y="0"/>
                </a:lnTo>
                <a:cubicBezTo>
                  <a:pt x="892797" y="0"/>
                  <a:pt x="952500" y="59703"/>
                  <a:pt x="952500" y="133350"/>
                </a:cubicBezTo>
                <a:lnTo>
                  <a:pt x="952500" y="133350"/>
                </a:lnTo>
                <a:cubicBezTo>
                  <a:pt x="952500" y="206997"/>
                  <a:pt x="892797" y="266700"/>
                  <a:pt x="8191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97316">
              <a:alpha val="8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736419" y="4187666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供应商管理</a:t>
            </a:r>
          </a:p>
        </p:txBody>
      </p:sp>
      <p:sp>
        <p:nvSpPr>
          <p:cNvPr id="30" name="Freeform 30"/>
          <p:cNvSpPr/>
          <p:nvPr/>
        </p:nvSpPr>
        <p:spPr>
          <a:xfrm>
            <a:off x="3571875" y="4429125"/>
            <a:ext cx="952500" cy="209550"/>
          </a:xfrm>
          <a:custGeom>
            <a:avLst/>
            <a:gdLst/>
            <a:ahLst/>
            <a:cxnLst/>
            <a:rect l="l" t="t" r="r" b="b"/>
            <a:pathLst>
              <a:path w="952500" h="209550">
                <a:moveTo>
                  <a:pt x="104775" y="0"/>
                </a:moveTo>
                <a:lnTo>
                  <a:pt x="847725" y="0"/>
                </a:lnTo>
                <a:cubicBezTo>
                  <a:pt x="905591" y="0"/>
                  <a:pt x="952500" y="46909"/>
                  <a:pt x="952500" y="104775"/>
                </a:cubicBezTo>
                <a:lnTo>
                  <a:pt x="952500" y="104775"/>
                </a:lnTo>
                <a:cubicBezTo>
                  <a:pt x="952500" y="162641"/>
                  <a:pt x="905591" y="209550"/>
                  <a:pt x="8477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917156" y="448294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进阶</a:t>
            </a:r>
          </a:p>
        </p:txBody>
      </p:sp>
      <p:sp>
        <p:nvSpPr>
          <p:cNvPr id="32" name="Freeform 32"/>
          <p:cNvSpPr/>
          <p:nvPr/>
        </p:nvSpPr>
        <p:spPr>
          <a:xfrm>
            <a:off x="6286500" y="1524000"/>
            <a:ext cx="2762250" cy="3238500"/>
          </a:xfrm>
          <a:custGeom>
            <a:avLst/>
            <a:gdLst/>
            <a:ahLst/>
            <a:cxnLst/>
            <a:rect l="l" t="t" r="r" b="b"/>
            <a:pathLst>
              <a:path w="2762250" h="3238500">
                <a:moveTo>
                  <a:pt x="114300" y="0"/>
                </a:moveTo>
                <a:lnTo>
                  <a:pt x="2647950" y="0"/>
                </a:lnTo>
                <a:cubicBezTo>
                  <a:pt x="2711076" y="0"/>
                  <a:pt x="2762250" y="51174"/>
                  <a:pt x="2762250" y="114300"/>
                </a:cubicBezTo>
                <a:lnTo>
                  <a:pt x="2762250" y="3124200"/>
                </a:lnTo>
                <a:cubicBezTo>
                  <a:pt x="2762250" y="3187326"/>
                  <a:pt x="2711076" y="3238500"/>
                  <a:pt x="2647950" y="3238500"/>
                </a:cubicBezTo>
                <a:lnTo>
                  <a:pt x="114300" y="3238500"/>
                </a:lnTo>
                <a:cubicBezTo>
                  <a:pt x="51174" y="3238500"/>
                  <a:pt x="0" y="3187326"/>
                  <a:pt x="0" y="3124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7381875" y="1714500"/>
            <a:ext cx="571500" cy="5715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519471" y="1804035"/>
            <a:ext cx="2963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140607" y="23936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数据说话</a:t>
            </a:r>
          </a:p>
        </p:txBody>
      </p:sp>
      <p:sp>
        <p:nvSpPr>
          <p:cNvPr id="36" name="Line 36"/>
          <p:cNvSpPr/>
          <p:nvPr/>
        </p:nvSpPr>
        <p:spPr>
          <a:xfrm>
            <a:off x="6572250" y="2714625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9525">
            <a:solidFill>
              <a:srgbClr val="F1F5F9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511290" y="2887028"/>
            <a:ext cx="16445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精确数据展示+公开施压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11290" y="31251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数据是最好的武器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12242" y="35142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比任何道理都有力</a:t>
            </a:r>
          </a:p>
        </p:txBody>
      </p:sp>
      <p:sp>
        <p:nvSpPr>
          <p:cNvPr id="40" name="Freeform 40"/>
          <p:cNvSpPr/>
          <p:nvPr/>
        </p:nvSpPr>
        <p:spPr>
          <a:xfrm>
            <a:off x="6524625" y="4095750"/>
            <a:ext cx="952500" cy="266700"/>
          </a:xfrm>
          <a:custGeom>
            <a:avLst/>
            <a:gdLst/>
            <a:ahLst/>
            <a:cxnLst/>
            <a:rect l="l" t="t" r="r" b="b"/>
            <a:pathLst>
              <a:path w="952500" h="266700">
                <a:moveTo>
                  <a:pt x="133350" y="0"/>
                </a:moveTo>
                <a:lnTo>
                  <a:pt x="819150" y="0"/>
                </a:lnTo>
                <a:cubicBezTo>
                  <a:pt x="892797" y="0"/>
                  <a:pt x="952500" y="59703"/>
                  <a:pt x="952500" y="133350"/>
                </a:cubicBezTo>
                <a:lnTo>
                  <a:pt x="952500" y="133350"/>
                </a:lnTo>
                <a:cubicBezTo>
                  <a:pt x="952500" y="206997"/>
                  <a:pt x="892797" y="266700"/>
                  <a:pt x="8191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3B82F6">
              <a:alpha val="8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716280" y="4187666"/>
            <a:ext cx="5691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汇报/驱动</a:t>
            </a:r>
          </a:p>
        </p:txBody>
      </p:sp>
      <p:sp>
        <p:nvSpPr>
          <p:cNvPr id="42" name="Freeform 42"/>
          <p:cNvSpPr/>
          <p:nvPr/>
        </p:nvSpPr>
        <p:spPr>
          <a:xfrm>
            <a:off x="6524625" y="4429125"/>
            <a:ext cx="952500" cy="209550"/>
          </a:xfrm>
          <a:custGeom>
            <a:avLst/>
            <a:gdLst/>
            <a:ahLst/>
            <a:cxnLst/>
            <a:rect l="l" t="t" r="r" b="b"/>
            <a:pathLst>
              <a:path w="952500" h="209550">
                <a:moveTo>
                  <a:pt x="104775" y="0"/>
                </a:moveTo>
                <a:lnTo>
                  <a:pt x="847725" y="0"/>
                </a:lnTo>
                <a:cubicBezTo>
                  <a:pt x="905591" y="0"/>
                  <a:pt x="952500" y="46909"/>
                  <a:pt x="952500" y="104775"/>
                </a:cubicBezTo>
                <a:lnTo>
                  <a:pt x="952500" y="104775"/>
                </a:lnTo>
                <a:cubicBezTo>
                  <a:pt x="952500" y="162641"/>
                  <a:pt x="905591" y="209550"/>
                  <a:pt x="8477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869906" y="448294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进阶</a:t>
            </a:r>
          </a:p>
        </p:txBody>
      </p:sp>
      <p:sp>
        <p:nvSpPr>
          <p:cNvPr id="44" name="Freeform 44"/>
          <p:cNvSpPr/>
          <p:nvPr/>
        </p:nvSpPr>
        <p:spPr>
          <a:xfrm>
            <a:off x="9239250" y="1524000"/>
            <a:ext cx="2571750" cy="3238500"/>
          </a:xfrm>
          <a:custGeom>
            <a:avLst/>
            <a:gdLst/>
            <a:ahLst/>
            <a:cxnLst/>
            <a:rect l="l" t="t" r="r" b="b"/>
            <a:pathLst>
              <a:path w="2571750" h="3238500">
                <a:moveTo>
                  <a:pt x="114300" y="0"/>
                </a:moveTo>
                <a:lnTo>
                  <a:pt x="2457450" y="0"/>
                </a:lnTo>
                <a:cubicBezTo>
                  <a:pt x="2520576" y="0"/>
                  <a:pt x="2571750" y="51174"/>
                  <a:pt x="2571750" y="114300"/>
                </a:cubicBezTo>
                <a:lnTo>
                  <a:pt x="2571750" y="3124200"/>
                </a:lnTo>
                <a:cubicBezTo>
                  <a:pt x="2571750" y="3187326"/>
                  <a:pt x="2520576" y="3238500"/>
                  <a:pt x="2457450" y="3238500"/>
                </a:cubicBezTo>
                <a:lnTo>
                  <a:pt x="114300" y="3238500"/>
                </a:lnTo>
                <a:cubicBezTo>
                  <a:pt x="51174" y="3238500"/>
                  <a:pt x="0" y="3187326"/>
                  <a:pt x="0" y="3124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22C55E"/>
            </a:solidFill>
          </a:ln>
        </p:spPr>
      </p:sp>
      <p:sp>
        <p:nvSpPr>
          <p:cNvPr id="45" name="Ellipse 45"/>
          <p:cNvSpPr/>
          <p:nvPr/>
        </p:nvSpPr>
        <p:spPr>
          <a:xfrm>
            <a:off x="10239375" y="1714500"/>
            <a:ext cx="571500" cy="571500"/>
          </a:xfrm>
          <a:prstGeom prst="ellipse">
            <a:avLst/>
          </a:prstGeom>
          <a:solidFill>
            <a:srgbClr val="22C55E">
              <a:alpha val="8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0376971" y="1804035"/>
            <a:ext cx="2963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998107" y="23936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机制先行</a:t>
            </a:r>
          </a:p>
        </p:txBody>
      </p:sp>
      <p:sp>
        <p:nvSpPr>
          <p:cNvPr id="48" name="Line 48"/>
          <p:cNvSpPr/>
          <p:nvPr/>
        </p:nvSpPr>
        <p:spPr>
          <a:xfrm>
            <a:off x="9477375" y="2714625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F0FDF4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9464040" y="288702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先建机制再谈业务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464040" y="31251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干不好有把柄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464992" y="35142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建立长期管理体系</a:t>
            </a:r>
          </a:p>
        </p:txBody>
      </p:sp>
      <p:sp>
        <p:nvSpPr>
          <p:cNvPr id="52" name="Freeform 52"/>
          <p:cNvSpPr/>
          <p:nvPr/>
        </p:nvSpPr>
        <p:spPr>
          <a:xfrm>
            <a:off x="9477375" y="4095750"/>
            <a:ext cx="952500" cy="266700"/>
          </a:xfrm>
          <a:custGeom>
            <a:avLst/>
            <a:gdLst/>
            <a:ahLst/>
            <a:cxnLst/>
            <a:rect l="l" t="t" r="r" b="b"/>
            <a:pathLst>
              <a:path w="952500" h="266700">
                <a:moveTo>
                  <a:pt x="133350" y="0"/>
                </a:moveTo>
                <a:lnTo>
                  <a:pt x="819150" y="0"/>
                </a:lnTo>
                <a:cubicBezTo>
                  <a:pt x="892797" y="0"/>
                  <a:pt x="952500" y="59703"/>
                  <a:pt x="952500" y="133350"/>
                </a:cubicBezTo>
                <a:lnTo>
                  <a:pt x="952500" y="133350"/>
                </a:lnTo>
                <a:cubicBezTo>
                  <a:pt x="952500" y="206997"/>
                  <a:pt x="892797" y="266700"/>
                  <a:pt x="8191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22C55E">
              <a:alpha val="8000"/>
            </a:srgbClr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9702165" y="418766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长期管理</a:t>
            </a:r>
          </a:p>
        </p:txBody>
      </p:sp>
      <p:sp>
        <p:nvSpPr>
          <p:cNvPr id="54" name="Freeform 54"/>
          <p:cNvSpPr/>
          <p:nvPr/>
        </p:nvSpPr>
        <p:spPr>
          <a:xfrm>
            <a:off x="9477375" y="4429125"/>
            <a:ext cx="952500" cy="209550"/>
          </a:xfrm>
          <a:custGeom>
            <a:avLst/>
            <a:gdLst/>
            <a:ahLst/>
            <a:cxnLst/>
            <a:rect l="l" t="t" r="r" b="b"/>
            <a:pathLst>
              <a:path w="952500" h="209550">
                <a:moveTo>
                  <a:pt x="104775" y="0"/>
                </a:moveTo>
                <a:lnTo>
                  <a:pt x="847725" y="0"/>
                </a:lnTo>
                <a:cubicBezTo>
                  <a:pt x="905591" y="0"/>
                  <a:pt x="952500" y="46909"/>
                  <a:pt x="952500" y="104775"/>
                </a:cubicBezTo>
                <a:lnTo>
                  <a:pt x="952500" y="104775"/>
                </a:lnTo>
                <a:cubicBezTo>
                  <a:pt x="952500" y="162641"/>
                  <a:pt x="905591" y="209550"/>
                  <a:pt x="8477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22C55E">
              <a:alpha val="8000"/>
            </a:srgbClr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9771447" y="448294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高阶 ★</a:t>
            </a:r>
          </a:p>
        </p:txBody>
      </p:sp>
      <p:sp>
        <p:nvSpPr>
          <p:cNvPr id="56" name="Freeform 56"/>
          <p:cNvSpPr/>
          <p:nvPr/>
        </p:nvSpPr>
        <p:spPr>
          <a:xfrm>
            <a:off x="381000" y="5143500"/>
            <a:ext cx="5429250" cy="952500"/>
          </a:xfrm>
          <a:custGeom>
            <a:avLst/>
            <a:gdLst/>
            <a:ahLst/>
            <a:cxnLst/>
            <a:rect l="l" t="t" r="r" b="b"/>
            <a:pathLst>
              <a:path w="5429250" h="952500">
                <a:moveTo>
                  <a:pt x="114300" y="0"/>
                </a:moveTo>
                <a:lnTo>
                  <a:pt x="5314950" y="0"/>
                </a:lnTo>
                <a:cubicBezTo>
                  <a:pt x="5378076" y="0"/>
                  <a:pt x="5429250" y="51174"/>
                  <a:pt x="5429250" y="114300"/>
                </a:cubicBezTo>
                <a:lnTo>
                  <a:pt x="5429250" y="838200"/>
                </a:lnTo>
                <a:cubicBezTo>
                  <a:pt x="5429250" y="901326"/>
                  <a:pt x="5378076" y="952500"/>
                  <a:pt x="531495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52462" y="5307806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刘乾坤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3415" y="5582602"/>
            <a:ext cx="25263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摆问题 → 施压 → 让供应商自己想办法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55320" y="58273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施压型管理</a:t>
            </a:r>
          </a:p>
        </p:txBody>
      </p:sp>
      <p:sp>
        <p:nvSpPr>
          <p:cNvPr id="60" name="Freeform 60"/>
          <p:cNvSpPr/>
          <p:nvPr/>
        </p:nvSpPr>
        <p:spPr>
          <a:xfrm>
            <a:off x="6000750" y="5143500"/>
            <a:ext cx="5810250" cy="952500"/>
          </a:xfrm>
          <a:custGeom>
            <a:avLst/>
            <a:gdLst/>
            <a:ahLst/>
            <a:cxnLst/>
            <a:rect l="l" t="t" r="r" b="b"/>
            <a:pathLst>
              <a:path w="5810250" h="952500">
                <a:moveTo>
                  <a:pt x="114300" y="0"/>
                </a:moveTo>
                <a:lnTo>
                  <a:pt x="5695950" y="0"/>
                </a:lnTo>
                <a:cubicBezTo>
                  <a:pt x="5759076" y="0"/>
                  <a:pt x="5810250" y="51174"/>
                  <a:pt x="5810250" y="114300"/>
                </a:cubicBezTo>
                <a:lnTo>
                  <a:pt x="5810250" y="838200"/>
                </a:lnTo>
                <a:cubicBezTo>
                  <a:pt x="5810250" y="901326"/>
                  <a:pt x="5759076" y="952500"/>
                  <a:pt x="569595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272212" y="5307806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年老师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273165" y="5582602"/>
            <a:ext cx="25493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摆问题 → 提要求 → 给支持 → 长期合作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275070" y="58273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伙伴型管理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507605" y="6483191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1330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CONTROVERSIAL CASES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7210" y="5657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争议事件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101346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三个事件暴露真实性格</a:t>
            </a:r>
          </a:p>
        </p:txBody>
      </p:sp>
      <p:sp>
        <p:nvSpPr>
          <p:cNvPr id="6" name="Freeform 6"/>
          <p:cNvSpPr/>
          <p:nvPr/>
        </p:nvSpPr>
        <p:spPr>
          <a:xfrm>
            <a:off x="381000" y="1476375"/>
            <a:ext cx="3619500" cy="3619500"/>
          </a:xfrm>
          <a:custGeom>
            <a:avLst/>
            <a:gdLst/>
            <a:ahLst/>
            <a:cxnLst/>
            <a:rect l="l" t="t" r="r" b="b"/>
            <a:pathLst>
              <a:path w="3619500" h="3619500">
                <a:moveTo>
                  <a:pt x="114300" y="0"/>
                </a:moveTo>
                <a:lnTo>
                  <a:pt x="3505200" y="0"/>
                </a:lnTo>
                <a:cubicBezTo>
                  <a:pt x="3568326" y="0"/>
                  <a:pt x="3619500" y="51174"/>
                  <a:pt x="3619500" y="114300"/>
                </a:cubicBezTo>
                <a:lnTo>
                  <a:pt x="3619500" y="3505200"/>
                </a:lnTo>
                <a:cubicBezTo>
                  <a:pt x="3619500" y="3568326"/>
                  <a:pt x="3568326" y="3619500"/>
                  <a:pt x="3505200" y="3619500"/>
                </a:cubicBezTo>
                <a:lnTo>
                  <a:pt x="114300" y="3619500"/>
                </a:lnTo>
                <a:cubicBezTo>
                  <a:pt x="51174" y="3619500"/>
                  <a:pt x="0" y="3568326"/>
                  <a:pt x="0" y="3505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905000" y="1714500"/>
            <a:ext cx="571500" cy="571500"/>
          </a:xfrm>
          <a:prstGeom prst="ellipse">
            <a:avLst/>
          </a:prstGeom>
          <a:solidFill>
            <a:srgbClr val="B91C1C">
              <a:alpha val="8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118074" y="1868805"/>
            <a:ext cx="14535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9" name="Freeform 9"/>
          <p:cNvSpPr/>
          <p:nvPr/>
        </p:nvSpPr>
        <p:spPr>
          <a:xfrm>
            <a:off x="1524000" y="2476500"/>
            <a:ext cx="1333500" cy="228600"/>
          </a:xfrm>
          <a:custGeom>
            <a:avLst/>
            <a:gdLst/>
            <a:ahLst/>
            <a:cxnLst/>
            <a:rect l="l" t="t" r="r" b="b"/>
            <a:pathLst>
              <a:path w="1333500" h="228600">
                <a:moveTo>
                  <a:pt x="114300" y="0"/>
                </a:moveTo>
                <a:lnTo>
                  <a:pt x="1219200" y="0"/>
                </a:lnTo>
                <a:cubicBezTo>
                  <a:pt x="1282326" y="0"/>
                  <a:pt x="1333500" y="51174"/>
                  <a:pt x="1333500" y="114300"/>
                </a:cubicBezTo>
                <a:lnTo>
                  <a:pt x="1333500" y="114300"/>
                </a:lnTo>
                <a:cubicBezTo>
                  <a:pt x="1333500" y="177426"/>
                  <a:pt x="1282326" y="228600"/>
                  <a:pt x="12192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B91C1C">
              <a:alpha val="8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006313" y="2549366"/>
            <a:ext cx="3688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03-25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63732" y="27746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双重标准</a:t>
            </a:r>
          </a:p>
        </p:txBody>
      </p:sp>
      <p:sp>
        <p:nvSpPr>
          <p:cNvPr id="12" name="Line 12"/>
          <p:cNvSpPr/>
          <p:nvPr/>
        </p:nvSpPr>
        <p:spPr>
          <a:xfrm>
            <a:off x="666750" y="3095625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F1F5F9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05790" y="3268028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自己违规推动供应商拿钱被内审查过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5790" y="35061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反过来质疑李吉斌的激励方案</a:t>
            </a:r>
          </a:p>
        </p:txBody>
      </p:sp>
      <p:sp>
        <p:nvSpPr>
          <p:cNvPr id="15" name="Freeform 15"/>
          <p:cNvSpPr/>
          <p:nvPr/>
        </p:nvSpPr>
        <p:spPr>
          <a:xfrm>
            <a:off x="619125" y="3905250"/>
            <a:ext cx="3143250" cy="333375"/>
          </a:xfrm>
          <a:custGeom>
            <a:avLst/>
            <a:gdLst/>
            <a:ahLst/>
            <a:cxnLst/>
            <a:rect l="l" t="t" r="r" b="b"/>
            <a:pathLst>
              <a:path w="3143250" h="333375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276225"/>
                </a:lnTo>
                <a:cubicBezTo>
                  <a:pt x="3143250" y="307788"/>
                  <a:pt x="3117663" y="333375"/>
                  <a:pt x="308610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02945" y="4027170"/>
            <a:ext cx="14818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i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"挺可怕的，真的不可交"</a:t>
            </a:r>
          </a:p>
        </p:txBody>
      </p:sp>
      <p:sp>
        <p:nvSpPr>
          <p:cNvPr id="17" name="Freeform 17"/>
          <p:cNvSpPr/>
          <p:nvPr/>
        </p:nvSpPr>
        <p:spPr>
          <a:xfrm>
            <a:off x="619125" y="4429125"/>
            <a:ext cx="714375" cy="209550"/>
          </a:xfrm>
          <a:custGeom>
            <a:avLst/>
            <a:gdLst/>
            <a:ahLst/>
            <a:cxnLst/>
            <a:rect l="l" t="t" r="r" b="b"/>
            <a:pathLst>
              <a:path w="714375" h="209550">
                <a:moveTo>
                  <a:pt x="104775" y="0"/>
                </a:moveTo>
                <a:lnTo>
                  <a:pt x="609600" y="0"/>
                </a:lnTo>
                <a:cubicBezTo>
                  <a:pt x="667466" y="0"/>
                  <a:pt x="714375" y="46909"/>
                  <a:pt x="714375" y="104775"/>
                </a:cubicBezTo>
                <a:lnTo>
                  <a:pt x="714375" y="104775"/>
                </a:lnTo>
                <a:cubicBezTo>
                  <a:pt x="714375" y="162641"/>
                  <a:pt x="667466" y="209550"/>
                  <a:pt x="609600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B91C1C">
              <a:alpha val="1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08041" y="448294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HIGH RISK</a:t>
            </a:r>
          </a:p>
        </p:txBody>
      </p:sp>
      <p:sp>
        <p:nvSpPr>
          <p:cNvPr id="19" name="Freeform 19"/>
          <p:cNvSpPr/>
          <p:nvPr/>
        </p:nvSpPr>
        <p:spPr>
          <a:xfrm>
            <a:off x="4191000" y="1476375"/>
            <a:ext cx="3619500" cy="3619500"/>
          </a:xfrm>
          <a:custGeom>
            <a:avLst/>
            <a:gdLst/>
            <a:ahLst/>
            <a:cxnLst/>
            <a:rect l="l" t="t" r="r" b="b"/>
            <a:pathLst>
              <a:path w="3619500" h="3619500">
                <a:moveTo>
                  <a:pt x="114300" y="0"/>
                </a:moveTo>
                <a:lnTo>
                  <a:pt x="3505200" y="0"/>
                </a:lnTo>
                <a:cubicBezTo>
                  <a:pt x="3568326" y="0"/>
                  <a:pt x="3619500" y="51174"/>
                  <a:pt x="3619500" y="114300"/>
                </a:cubicBezTo>
                <a:lnTo>
                  <a:pt x="3619500" y="3505200"/>
                </a:lnTo>
                <a:cubicBezTo>
                  <a:pt x="3619500" y="3568326"/>
                  <a:pt x="3568326" y="3619500"/>
                  <a:pt x="3505200" y="3619500"/>
                </a:cubicBezTo>
                <a:lnTo>
                  <a:pt x="114300" y="3619500"/>
                </a:lnTo>
                <a:cubicBezTo>
                  <a:pt x="51174" y="3619500"/>
                  <a:pt x="0" y="3568326"/>
                  <a:pt x="0" y="3505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5715000" y="1714500"/>
            <a:ext cx="571500" cy="571500"/>
          </a:xfrm>
          <a:prstGeom prst="ellipse">
            <a:avLst/>
          </a:prstGeom>
          <a:solidFill>
            <a:srgbClr val="D97706">
              <a:alpha val="8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889736" y="186880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@</a:t>
            </a:r>
          </a:p>
        </p:txBody>
      </p:sp>
      <p:sp>
        <p:nvSpPr>
          <p:cNvPr id="22" name="Freeform 22"/>
          <p:cNvSpPr/>
          <p:nvPr/>
        </p:nvSpPr>
        <p:spPr>
          <a:xfrm>
            <a:off x="5238750" y="2476500"/>
            <a:ext cx="1524000" cy="228600"/>
          </a:xfrm>
          <a:custGeom>
            <a:avLst/>
            <a:gdLst/>
            <a:ahLst/>
            <a:cxnLst/>
            <a:rect l="l" t="t" r="r" b="b"/>
            <a:pathLst>
              <a:path w="1524000" h="228600">
                <a:moveTo>
                  <a:pt x="114300" y="0"/>
                </a:moveTo>
                <a:lnTo>
                  <a:pt x="1409700" y="0"/>
                </a:lnTo>
                <a:cubicBezTo>
                  <a:pt x="1472826" y="0"/>
                  <a:pt x="1524000" y="51174"/>
                  <a:pt x="1524000" y="114300"/>
                </a:cubicBezTo>
                <a:lnTo>
                  <a:pt x="1524000" y="114300"/>
                </a:lnTo>
                <a:cubicBezTo>
                  <a:pt x="1524000" y="177426"/>
                  <a:pt x="1472826" y="228600"/>
                  <a:pt x="14097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97706">
              <a:alpha val="8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670820" y="2549366"/>
            <a:ext cx="6598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03-25 深夜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20700" y="27746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公开攻击前任</a:t>
            </a:r>
          </a:p>
        </p:txBody>
      </p:sp>
      <p:sp>
        <p:nvSpPr>
          <p:cNvPr id="25" name="Line 25"/>
          <p:cNvSpPr/>
          <p:nvPr/>
        </p:nvSpPr>
        <p:spPr>
          <a:xfrm>
            <a:off x="4476750" y="3095625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F1F5F9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415790" y="3268028"/>
            <a:ext cx="20509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@李吉斌+CC上级，让前任难堪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415790" y="350615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刚接手就甩锅，反击后软化退让</a:t>
            </a:r>
          </a:p>
        </p:txBody>
      </p:sp>
      <p:sp>
        <p:nvSpPr>
          <p:cNvPr id="28" name="Freeform 28"/>
          <p:cNvSpPr/>
          <p:nvPr/>
        </p:nvSpPr>
        <p:spPr>
          <a:xfrm>
            <a:off x="4429125" y="3905250"/>
            <a:ext cx="3143250" cy="333375"/>
          </a:xfrm>
          <a:custGeom>
            <a:avLst/>
            <a:gdLst/>
            <a:ahLst/>
            <a:cxnLst/>
            <a:rect l="l" t="t" r="r" b="b"/>
            <a:pathLst>
              <a:path w="3143250" h="333375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276225"/>
                </a:lnTo>
                <a:cubicBezTo>
                  <a:pt x="3143250" y="307788"/>
                  <a:pt x="3117663" y="333375"/>
                  <a:pt x="308610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512945" y="4027170"/>
            <a:ext cx="1863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i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教训：面对强硬反击，他会退让</a:t>
            </a:r>
          </a:p>
        </p:txBody>
      </p:sp>
      <p:sp>
        <p:nvSpPr>
          <p:cNvPr id="30" name="Freeform 30"/>
          <p:cNvSpPr/>
          <p:nvPr/>
        </p:nvSpPr>
        <p:spPr>
          <a:xfrm>
            <a:off x="4429125" y="4429125"/>
            <a:ext cx="762000" cy="209550"/>
          </a:xfrm>
          <a:custGeom>
            <a:avLst/>
            <a:gdLst/>
            <a:ahLst/>
            <a:cxnLst/>
            <a:rect l="l" t="t" r="r" b="b"/>
            <a:pathLst>
              <a:path w="762000" h="209550">
                <a:moveTo>
                  <a:pt x="104775" y="0"/>
                </a:moveTo>
                <a:lnTo>
                  <a:pt x="657225" y="0"/>
                </a:lnTo>
                <a:cubicBezTo>
                  <a:pt x="715091" y="0"/>
                  <a:pt x="762000" y="46909"/>
                  <a:pt x="762000" y="104775"/>
                </a:cubicBezTo>
                <a:lnTo>
                  <a:pt x="762000" y="104775"/>
                </a:lnTo>
                <a:cubicBezTo>
                  <a:pt x="762000" y="162641"/>
                  <a:pt x="715091" y="209550"/>
                  <a:pt x="6572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D97706">
              <a:alpha val="10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591800" y="4482941"/>
            <a:ext cx="4366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MEDIUM</a:t>
            </a:r>
          </a:p>
        </p:txBody>
      </p:sp>
      <p:sp>
        <p:nvSpPr>
          <p:cNvPr id="32" name="Freeform 32"/>
          <p:cNvSpPr/>
          <p:nvPr/>
        </p:nvSpPr>
        <p:spPr>
          <a:xfrm>
            <a:off x="8001000" y="1476375"/>
            <a:ext cx="3810000" cy="3619500"/>
          </a:xfrm>
          <a:custGeom>
            <a:avLst/>
            <a:gdLst/>
            <a:ahLst/>
            <a:cxnLst/>
            <a:rect l="l" t="t" r="r" b="b"/>
            <a:pathLst>
              <a:path w="3810000" h="3619500">
                <a:moveTo>
                  <a:pt x="114300" y="0"/>
                </a:moveTo>
                <a:lnTo>
                  <a:pt x="3695700" y="0"/>
                </a:lnTo>
                <a:cubicBezTo>
                  <a:pt x="3758826" y="0"/>
                  <a:pt x="3810000" y="51174"/>
                  <a:pt x="3810000" y="114300"/>
                </a:cubicBezTo>
                <a:lnTo>
                  <a:pt x="3810000" y="3505200"/>
                </a:lnTo>
                <a:cubicBezTo>
                  <a:pt x="3810000" y="3568326"/>
                  <a:pt x="3758826" y="3619500"/>
                  <a:pt x="3695700" y="3619500"/>
                </a:cubicBezTo>
                <a:lnTo>
                  <a:pt x="114300" y="3619500"/>
                </a:lnTo>
                <a:cubicBezTo>
                  <a:pt x="51174" y="3619500"/>
                  <a:pt x="0" y="3568326"/>
                  <a:pt x="0" y="3505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9620250" y="1714500"/>
            <a:ext cx="571500" cy="571500"/>
          </a:xfrm>
          <a:prstGeom prst="ellipse">
            <a:avLst/>
          </a:prstGeom>
          <a:solidFill>
            <a:srgbClr val="B91C1C">
              <a:alpha val="8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794986" y="186880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⚡</a:t>
            </a:r>
          </a:p>
        </p:txBody>
      </p:sp>
      <p:sp>
        <p:nvSpPr>
          <p:cNvPr id="35" name="Freeform 35"/>
          <p:cNvSpPr/>
          <p:nvPr/>
        </p:nvSpPr>
        <p:spPr>
          <a:xfrm>
            <a:off x="9239250" y="2476500"/>
            <a:ext cx="1333500" cy="228600"/>
          </a:xfrm>
          <a:custGeom>
            <a:avLst/>
            <a:gdLst/>
            <a:ahLst/>
            <a:cxnLst/>
            <a:rect l="l" t="t" r="r" b="b"/>
            <a:pathLst>
              <a:path w="1333500" h="228600">
                <a:moveTo>
                  <a:pt x="114300" y="0"/>
                </a:moveTo>
                <a:lnTo>
                  <a:pt x="1219200" y="0"/>
                </a:lnTo>
                <a:cubicBezTo>
                  <a:pt x="1282326" y="0"/>
                  <a:pt x="1333500" y="51174"/>
                  <a:pt x="1333500" y="114300"/>
                </a:cubicBezTo>
                <a:lnTo>
                  <a:pt x="1333500" y="114300"/>
                </a:lnTo>
                <a:cubicBezTo>
                  <a:pt x="1333500" y="177426"/>
                  <a:pt x="1282326" y="228600"/>
                  <a:pt x="12192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B91C1C">
              <a:alpha val="8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721563" y="2549366"/>
            <a:ext cx="3688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03-29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125950" y="27746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开门红带节奏</a:t>
            </a:r>
          </a:p>
        </p:txBody>
      </p:sp>
      <p:sp>
        <p:nvSpPr>
          <p:cNvPr id="38" name="Line 38"/>
          <p:cNvSpPr/>
          <p:nvPr/>
        </p:nvSpPr>
        <p:spPr>
          <a:xfrm>
            <a:off x="8286750" y="3095625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9525">
            <a:solidFill>
              <a:srgbClr val="F1F5F9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8225790" y="326802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群内密集同步激励问题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225790" y="3506152"/>
            <a:ext cx="21812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道德绑架"影响1400个制鞋工人"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25790" y="3744278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选择性攻击+夸大其词</a:t>
            </a:r>
          </a:p>
        </p:txBody>
      </p:sp>
      <p:sp>
        <p:nvSpPr>
          <p:cNvPr id="42" name="Freeform 42"/>
          <p:cNvSpPr/>
          <p:nvPr/>
        </p:nvSpPr>
        <p:spPr>
          <a:xfrm>
            <a:off x="8239125" y="4095750"/>
            <a:ext cx="3333750" cy="333375"/>
          </a:xfrm>
          <a:custGeom>
            <a:avLst/>
            <a:gdLst/>
            <a:ahLst/>
            <a:cxnLst/>
            <a:rect l="l" t="t" r="r" b="b"/>
            <a:pathLst>
              <a:path w="3333750" h="333375">
                <a:moveTo>
                  <a:pt x="57150" y="0"/>
                </a:moveTo>
                <a:lnTo>
                  <a:pt x="3276600" y="0"/>
                </a:lnTo>
                <a:cubicBezTo>
                  <a:pt x="3308163" y="0"/>
                  <a:pt x="3333750" y="25587"/>
                  <a:pt x="3333750" y="57150"/>
                </a:cubicBezTo>
                <a:lnTo>
                  <a:pt x="3333750" y="276225"/>
                </a:lnTo>
                <a:cubicBezTo>
                  <a:pt x="3333750" y="307788"/>
                  <a:pt x="3308163" y="333375"/>
                  <a:pt x="327660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322945" y="4217670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i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教训：核实数据，不被情绪带节奏</a:t>
            </a:r>
          </a:p>
        </p:txBody>
      </p:sp>
      <p:sp>
        <p:nvSpPr>
          <p:cNvPr id="44" name="Freeform 44"/>
          <p:cNvSpPr/>
          <p:nvPr/>
        </p:nvSpPr>
        <p:spPr>
          <a:xfrm>
            <a:off x="8239125" y="4524375"/>
            <a:ext cx="714375" cy="209550"/>
          </a:xfrm>
          <a:custGeom>
            <a:avLst/>
            <a:gdLst/>
            <a:ahLst/>
            <a:cxnLst/>
            <a:rect l="l" t="t" r="r" b="b"/>
            <a:pathLst>
              <a:path w="714375" h="209550">
                <a:moveTo>
                  <a:pt x="104775" y="0"/>
                </a:moveTo>
                <a:lnTo>
                  <a:pt x="609600" y="0"/>
                </a:lnTo>
                <a:cubicBezTo>
                  <a:pt x="667466" y="0"/>
                  <a:pt x="714375" y="46909"/>
                  <a:pt x="714375" y="104775"/>
                </a:cubicBezTo>
                <a:lnTo>
                  <a:pt x="714375" y="104775"/>
                </a:lnTo>
                <a:cubicBezTo>
                  <a:pt x="714375" y="162641"/>
                  <a:pt x="667466" y="209550"/>
                  <a:pt x="609600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B91C1C">
              <a:alpha val="10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328041" y="45781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HIGH RISK</a:t>
            </a:r>
          </a:p>
        </p:txBody>
      </p:sp>
      <p:sp>
        <p:nvSpPr>
          <p:cNvPr id="46" name="Freeform 46"/>
          <p:cNvSpPr/>
          <p:nvPr/>
        </p:nvSpPr>
        <p:spPr>
          <a:xfrm>
            <a:off x="381000" y="5429250"/>
            <a:ext cx="11430000" cy="857250"/>
          </a:xfrm>
          <a:custGeom>
            <a:avLst/>
            <a:gdLst/>
            <a:ahLst/>
            <a:cxnLst/>
            <a:rect l="l" t="t" r="r" b="b"/>
            <a:pathLst>
              <a:path w="11430000" h="857250">
                <a:moveTo>
                  <a:pt x="114300" y="0"/>
                </a:moveTo>
                <a:lnTo>
                  <a:pt x="11315700" y="0"/>
                </a:lnTo>
                <a:cubicBezTo>
                  <a:pt x="11378826" y="0"/>
                  <a:pt x="11430000" y="51174"/>
                  <a:pt x="11430000" y="114300"/>
                </a:cubicBezTo>
                <a:lnTo>
                  <a:pt x="11430000" y="742950"/>
                </a:lnTo>
                <a:cubicBezTo>
                  <a:pt x="11430000" y="806076"/>
                  <a:pt x="11378826" y="857250"/>
                  <a:pt x="11315700" y="857250"/>
                </a:cubicBezTo>
                <a:lnTo>
                  <a:pt x="114300" y="857250"/>
                </a:lnTo>
                <a:cubicBezTo>
                  <a:pt x="51174" y="857250"/>
                  <a:pt x="0" y="806076"/>
                  <a:pt x="0" y="742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53415" y="560165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核心洞察：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67790" y="5601652"/>
            <a:ext cx="65134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他对别人做的事，自己可能也在做 · 双重标准是最大破绽 · 面对事实反击和强硬态度，他会退让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68742" y="5943124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用事实反击，态度强硬，他就会退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537728" y="6483191"/>
            <a:ext cx="932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022" y="387191"/>
            <a:ext cx="7357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2450" y="79057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总结三句话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28751" y="1257300"/>
            <a:ext cx="934498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E2725B">
                    <a:alpha val="8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24645" y="2043112"/>
            <a:ext cx="454271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他不是在管理，是在表演管理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69917" y="2489835"/>
            <a:ext cx="28521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最在意的是"老板知不知道我在解决"</a:t>
            </a:r>
          </a:p>
        </p:txBody>
      </p:sp>
      <p:sp>
        <p:nvSpPr>
          <p:cNvPr id="8" name="Line 8"/>
          <p:cNvSpPr/>
          <p:nvPr/>
        </p:nvSpPr>
        <p:spPr>
          <a:xfrm>
            <a:off x="1905000" y="295275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4762">
            <a:solidFill>
              <a:srgbClr val="E2E8F0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513737" y="2971800"/>
            <a:ext cx="1164526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E2725B">
                    <a:alpha val="8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42209" y="3757612"/>
            <a:ext cx="350758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边界清晰是最好的防御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30484" y="4204335"/>
            <a:ext cx="29310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周末不接@，工作日按流程，信息独立</a:t>
            </a:r>
          </a:p>
        </p:txBody>
      </p:sp>
      <p:sp>
        <p:nvSpPr>
          <p:cNvPr id="12" name="Line 12"/>
          <p:cNvSpPr/>
          <p:nvPr/>
        </p:nvSpPr>
        <p:spPr>
          <a:xfrm>
            <a:off x="1905000" y="466725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4762">
            <a:solidFill>
              <a:srgbClr val="E2E8F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513737" y="4686300"/>
            <a:ext cx="1164526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E2725B">
                    <a:alpha val="8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79602" y="5472112"/>
            <a:ext cx="523279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取其精华，做温和但坚定的管理者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90010" y="5918835"/>
            <a:ext cx="44119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学立规矩、三要素法、数据说话；加上给支持、长期合作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1975" y="6491288"/>
            <a:ext cx="299847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v10.2 · 年老师建档 · 2026-03-19 · 刘乾坤人物深度分析报告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11212" y="648319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END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
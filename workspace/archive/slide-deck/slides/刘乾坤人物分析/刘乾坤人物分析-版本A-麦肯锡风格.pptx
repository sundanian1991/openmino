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刘乾坤人物深度分析报告，v10.2版本，年老师于2026年3月19日建档。本报告从权力框架、行为模式、应对策略三个维度进行系统分析，帮助理解他的行为逻辑并找到有效的应对方式。</a:t>
            </a:r>
          </a:p>
          <a:p>
            <a:endParaRPr lang="zh-CN" dirty="0"/>
          </a:p>
          <a:p>
            <a:r>
              <a:rPr lang="zh-CN" dirty="0"/>
              <a:t>这份档案不是简单的观察记录，而是经过一个多月持续追踪、24条案例验证的系统性分析。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刘乾坤的核心定位：高压管理型业管，擅长立规矩加三要素法，对上表演、对下施压、信息管控。</a:t>
            </a:r>
          </a:p>
          <a:p>
            <a:endParaRPr lang="zh-CN" dirty="0"/>
          </a:p>
          <a:p>
            <a:r>
              <a:rPr lang="zh-CN" dirty="0"/>
              <a:t>他的所有行为都围绕三个核心诉求展开：</a:t>
            </a:r>
          </a:p>
          <a:p>
            <a:r>
              <a:rPr lang="zh-CN" dirty="0"/>
              <a:t>• 控制权：刚接手新业务时，通过立规矩、阻断信息、责任下放来建立"我在管"的信号。这是他首要的需求，秩序是他安全感的基础。</a:t>
            </a:r>
          </a:p>
          <a:p>
            <a:r>
              <a:rPr lang="zh-CN" dirty="0"/>
              <a:t>• 展示权：最在意的是"老板知不知道我在解决"。群内表演、打鸡血、CC上级，观众从来不是平级而是上级。</a:t>
            </a:r>
          </a:p>
          <a:p>
            <a:r>
              <a:rPr lang="zh-CN" dirty="0"/>
              <a:t>• 安全感：怕被替代，所以要让别人依赖自己。信息管控就是掌控不可替代性。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三个核心诉求缺一不可：</a:t>
            </a:r>
          </a:p>
          <a:p>
            <a:endParaRPr lang="zh-CN" dirty="0"/>
          </a:p>
          <a:p>
            <a:r>
              <a:rPr lang="zh-CN" dirty="0"/>
              <a:t>控制权是他的第一需求。刚接管业务时频繁宣布新规则，强调"按规则办事"。典型动作包括立规矩、阻断信息、责任下放。动机是刚接手需要建立"我在管"的信号。应对方式是确认规则的合理性，不盲目接受所有规则。</a:t>
            </a:r>
          </a:p>
          <a:p>
            <a:endParaRPr lang="zh-CN" dirty="0"/>
          </a:p>
          <a:p>
            <a:r>
              <a:rPr lang="zh-CN" dirty="0"/>
              <a:t>展示权是他最在意的部分。群聊中高频@上级，汇报"进展"，语气偏向"我在推动解决"。表演给上级看，不是给平级看。应对方式是不抢戏，专注自身边界。</a:t>
            </a:r>
          </a:p>
          <a:p>
            <a:endParaRPr lang="zh-CN" dirty="0"/>
          </a:p>
          <a:p>
            <a:r>
              <a:rPr lang="zh-CN" dirty="0"/>
              <a:t>安全感是他最底层的恐惧。阻断他与上级的直接沟通时会触发，"别找供应商，我来对接"。应对方式是建立独立渠道，不依赖他拿数据。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五种权力来源，从底层规则到表层施压，层层递进：</a:t>
            </a:r>
          </a:p>
          <a:p>
            <a:endParaRPr lang="zh-CN" dirty="0"/>
          </a:p>
          <a:p>
            <a:r>
              <a:rPr lang="zh-CN" dirty="0"/>
              <a:t>规则权是最顶层的权力。立规矩、机制先行，让后续管理变成"按规则办事"而非"个人施压"。应对方式是确认规则合理性，不盲目接受。</a:t>
            </a:r>
          </a:p>
          <a:p>
            <a:endParaRPr lang="zh-CN" dirty="0"/>
          </a:p>
          <a:p>
            <a:r>
              <a:rPr lang="zh-CN" dirty="0"/>
              <a:t>信息权控制信息流动。两头堵、阻断信息，让对手只能依赖自己获取数据。应对方式是建立独立渠道，"我需要一线真实反馈"。</a:t>
            </a:r>
          </a:p>
          <a:p>
            <a:endParaRPr lang="zh-CN" dirty="0"/>
          </a:p>
          <a:p>
            <a:r>
              <a:rPr lang="zh-CN" dirty="0"/>
              <a:t>关系权用关系绑定利益。拉拢圈人、人情债管理，主动帮助建立人情。应对方式是接受但不欠人情，区分工作与私交。</a:t>
            </a:r>
          </a:p>
          <a:p>
            <a:endParaRPr lang="zh-CN" dirty="0"/>
          </a:p>
          <a:p>
            <a:r>
              <a:rPr lang="zh-CN" dirty="0"/>
              <a:t>注意权刷存在感给上级看。群内表演、打鸡血，消息多发在有上级的群。应对方式是不抢戏，专注自身边界。</a:t>
            </a:r>
          </a:p>
          <a:p>
            <a:endParaRPr lang="zh-CN" dirty="0"/>
          </a:p>
          <a:p>
            <a:r>
              <a:rPr lang="zh-CN" dirty="0"/>
              <a:t>施压权是最底层的权力。公开锁定、高压管理，制造回复压力。应对方式是反问回去，不接任务。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18种模式按权力来源分组，风险等级用颜色区分：</a:t>
            </a:r>
          </a:p>
          <a:p>
            <a:endParaRPr lang="zh-CN" dirty="0"/>
          </a:p>
          <a:p>
            <a:r>
              <a:rPr lang="zh-CN" dirty="0"/>
              <a:t>规则权：立规矩——这是最值得学习的手法，先定规则后办事。</a:t>
            </a:r>
          </a:p>
          <a:p>
            <a:endParaRPr lang="zh-CN" dirty="0"/>
          </a:p>
          <a:p>
            <a:r>
              <a:rPr lang="zh-CN" dirty="0"/>
              <a:t>信息权和关系权：两头堵是高危险手法，阻断信息渠道；拉拢圈人和人情债管理是施压手法，主动让利换取配合。</a:t>
            </a:r>
          </a:p>
          <a:p>
            <a:endParaRPr lang="zh-CN" dirty="0"/>
          </a:p>
          <a:p>
            <a:r>
              <a:rPr lang="zh-CN" dirty="0"/>
              <a:t>注意权和施压权：这是最密集的区域。群内表演、任务下放加CC展示是施压手法；公开锁定、高压管理、追责转嫁、加压链都是高危险手法。</a:t>
            </a:r>
          </a:p>
          <a:p>
            <a:endParaRPr lang="zh-CN" dirty="0"/>
          </a:p>
          <a:p>
            <a:r>
              <a:rPr lang="zh-CN" dirty="0"/>
              <a:t>组合拳：抛问题、正面对冲、借力打力是中性手法；群聊闹事、选择性攻击是高危险手法；质疑数据降温、挖人试探、镜像过敏是中性手法。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刘乾坤的关系网络清晰反映他的权力策略：</a:t>
            </a:r>
          </a:p>
          <a:p>
            <a:endParaRPr lang="zh-CN" dirty="0"/>
          </a:p>
          <a:p>
            <a:r>
              <a:rPr lang="zh-CN" dirty="0"/>
              <a:t>同盟：郭鑫（前同事）——"用你的嘴，出我的力"；马贵贤（前同事）——"你的工作，我的成果"。通过前同事建立同盟网络。</a:t>
            </a:r>
          </a:p>
          <a:p>
            <a:endParaRPr lang="zh-CN" dirty="0"/>
          </a:p>
          <a:p>
            <a:r>
              <a:rPr lang="zh-CN" dirty="0"/>
              <a:t>上级：王易人（服务组负责人）是主要的CC对象，所有表演最终观众是他。刘伟佳（策略组负责人）是师承关系，刘乾坤学的是"形"，刘伟佳掌握的是"神"。</a:t>
            </a:r>
          </a:p>
          <a:p>
            <a:endParaRPr lang="zh-CN" dirty="0"/>
          </a:p>
          <a:p>
            <a:r>
              <a:rPr lang="zh-CN" dirty="0"/>
              <a:t>配合：年老师——"兄弟"称呼加拉拢，试图建立人情债。年老师的策略是接受但不欠人情，合作但不依赖。</a:t>
            </a:r>
          </a:p>
          <a:p>
            <a:endParaRPr lang="zh-CN" dirty="0"/>
          </a:p>
          <a:p>
            <a:r>
              <a:rPr lang="zh-CN" dirty="0"/>
              <a:t>下属：张世跃（实习生）——任务下放加功劳上报；供应商——利益驱动加责任下放。</a:t>
            </a:r>
          </a:p>
          <a:p>
            <a:endParaRPr lang="zh-CN" dirty="0"/>
          </a:p>
          <a:p>
            <a:r>
              <a:rPr lang="zh-CN" dirty="0"/>
              <a:t>对手：李吉斌（前任）——公开质疑加双重标准，刚接手就甩锅。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四种驱动方式，让供应商自己动起来：</a:t>
            </a:r>
          </a:p>
          <a:p>
            <a:endParaRPr lang="zh-CN" dirty="0"/>
          </a:p>
          <a:p>
            <a:r>
              <a:rPr lang="zh-CN" dirty="0"/>
              <a:t>质问式：核心话术"汰换机制是什么？"直接提问，让供应商解释问题，制造"必须回答"的压力。可学之处在于精准提问，不给模糊空间。</a:t>
            </a:r>
          </a:p>
          <a:p>
            <a:endParaRPr lang="zh-CN" dirty="0"/>
          </a:p>
          <a:p>
            <a:r>
              <a:rPr lang="zh-CN" dirty="0"/>
              <a:t>驱动式：核心话术"3.4亿才有奖金"。用利益让供应商自己急，"为自己干"不是"为我干"。利益绑定比命令更有效。</a:t>
            </a:r>
          </a:p>
          <a:p>
            <a:endParaRPr lang="zh-CN" dirty="0"/>
          </a:p>
          <a:p>
            <a:r>
              <a:rPr lang="zh-CN" dirty="0"/>
              <a:t>要求式：核心话术"本月人力计划、周度计划"。要求具体计划，不模糊，明确时间节点和交付物。要求要具体可考核。</a:t>
            </a:r>
          </a:p>
          <a:p>
            <a:endParaRPr lang="zh-CN" dirty="0"/>
          </a:p>
          <a:p>
            <a:r>
              <a:rPr lang="zh-CN" dirty="0"/>
              <a:t>改进式（最值得学习）：三要素法——原因加提升目标加举措。让供应商自己承诺，完不成有把柄。这是刘乾坤最成熟的管理手法。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四步建立管理基础：</a:t>
            </a:r>
          </a:p>
          <a:p>
            <a:endParaRPr lang="zh-CN" dirty="0"/>
          </a:p>
          <a:p>
            <a:r>
              <a:rPr lang="zh-CN" dirty="0"/>
              <a:t>第一步 立规矩：刚接手宣布7条规则——30分钟回复、10点报出勤、昵称格式规范、数据日报格式、群内沟通规范。目的：后续是"按规则办事"。</a:t>
            </a:r>
          </a:p>
          <a:p>
            <a:endParaRPr lang="zh-CN" dirty="0"/>
          </a:p>
          <a:p>
            <a:r>
              <a:rPr lang="zh-CN" dirty="0"/>
              <a:t>第二步 数据切入：摆数据不出结论，让别人背锅。5分钟连发两条数据，精确到小数点，责任完美分散，自己居功。</a:t>
            </a:r>
          </a:p>
          <a:p>
            <a:endParaRPr lang="zh-CN" dirty="0"/>
          </a:p>
          <a:p>
            <a:r>
              <a:rPr lang="zh-CN" dirty="0"/>
              <a:t>第三步 公开锁定：群里@具体人，所有人看着不得不接。不私聊，公开@，制造回复压力，连环追加施压。</a:t>
            </a:r>
          </a:p>
          <a:p>
            <a:endParaRPr lang="zh-CN" dirty="0"/>
          </a:p>
          <a:p>
            <a:r>
              <a:rPr lang="zh-CN" dirty="0"/>
              <a:t>第四步 建立预期：按规则办事的形象确立，后续引用初始规则，持续执行。</a:t>
            </a:r>
          </a:p>
          <a:p>
            <a:endParaRPr lang="zh-CN" dirty="0"/>
          </a:p>
          <a:p>
            <a:r>
              <a:rPr lang="zh-CN" dirty="0"/>
              <a:t>高明之处：后续所有管理行为都是"执行既定规则"，不是"个人施压"。规则一旦建立，管理就变成"按章办事"而非"个人意志"。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核心原则四条：</a:t>
            </a:r>
          </a:p>
          <a:p>
            <a:endParaRPr lang="zh-CN" dirty="0"/>
          </a:p>
          <a:p>
            <a:r>
              <a:rPr lang="zh-CN" dirty="0"/>
              <a:t>1. 不主动背锅：刘乾坤的问题直接传递，不接"帮我看下"</a:t>
            </a:r>
          </a:p>
          <a:p>
            <a:r>
              <a:rPr lang="zh-CN" dirty="0"/>
              <a:t>2. 边界清晰：周末不接@，工作日按流程</a:t>
            </a:r>
          </a:p>
          <a:p>
            <a:r>
              <a:rPr lang="zh-CN" dirty="0"/>
              <a:t>3. 信息独立：建立独立渠道，不依赖他拿数据</a:t>
            </a:r>
          </a:p>
          <a:p>
            <a:r>
              <a:rPr lang="zh-CN" dirty="0"/>
              <a:t>4. 学习技巧：立规矩、三要素法、数据说话</a:t>
            </a:r>
          </a:p>
          <a:p>
            <a:endParaRPr lang="zh-CN" dirty="0"/>
          </a:p>
          <a:p>
            <a:r>
              <a:rPr lang="zh-CN" dirty="0"/>
              <a:t>话术对照：</a:t>
            </a:r>
          </a:p>
          <a:p>
            <a:r>
              <a:rPr lang="zh-CN" dirty="0"/>
              <a:t>• "帮我看下，我该如何解答" → "你的想法是什么？我先听你的"——不接任务，反问回去</a:t>
            </a:r>
          </a:p>
          <a:p>
            <a:r>
              <a:rPr lang="zh-CN" dirty="0"/>
              <a:t>• 周末@处理供应商问题 → "收到，周一处理"——边界清晰，不解释</a:t>
            </a:r>
          </a:p>
          <a:p>
            <a:r>
              <a:rPr lang="zh-CN" dirty="0"/>
              <a:t>• "别找供应商，他们不如我们清楚" → "理解，但我需要一线真实反馈"——建立独立渠道</a:t>
            </a:r>
          </a:p>
          <a:p>
            <a:r>
              <a:rPr lang="zh-CN" dirty="0"/>
              <a:t>• "辛苦兄弟多费心" → "8个供应商，担心盯不细"——示弱加边界，刘乾坤会退让</a:t>
            </a:r>
          </a:p>
          <a:p>
            <a:r>
              <a:rPr lang="zh-CN" dirty="0"/>
              <a:t>• 危机渲染加责任锁定 → 事实压危机、锁定卡点、踢球给方案——用专业语言说话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四种核心技巧值得学习：</a:t>
            </a:r>
          </a:p>
          <a:p>
            <a:endParaRPr lang="zh-CN" dirty="0"/>
          </a:p>
          <a:p>
            <a:r>
              <a:rPr lang="zh-CN" dirty="0"/>
              <a:t>立规矩：先定规则后办事，后续是"执行既定规则"。适用场景是接手新业务、管理新团队。规则越具体越好，可考核可追溯。</a:t>
            </a:r>
          </a:p>
          <a:p>
            <a:endParaRPr lang="zh-CN" dirty="0"/>
          </a:p>
          <a:p>
            <a:r>
              <a:rPr lang="zh-CN" dirty="0"/>
              <a:t>三要素法：问题→原因+目标+举措，让别人承诺。适用场景是供应商管理、推动执行。让对方承诺比直接给方案更有约束力。</a:t>
            </a:r>
          </a:p>
          <a:p>
            <a:endParaRPr lang="zh-CN" dirty="0"/>
          </a:p>
          <a:p>
            <a:r>
              <a:rPr lang="zh-CN" dirty="0"/>
              <a:t>数据说话：精确数据展示加公开施压。适用场景是汇报、驱动、施压。数据是最好的武器，比任何道理都有力。</a:t>
            </a:r>
          </a:p>
          <a:p>
            <a:endParaRPr lang="zh-CN" dirty="0"/>
          </a:p>
          <a:p>
            <a:r>
              <a:rPr lang="zh-CN" dirty="0"/>
              <a:t>机制先行：先建机制再谈业务。适用场景是建立长期管理体系。让供应商自己建系统，干不好有把柄。</a:t>
            </a:r>
          </a:p>
          <a:p>
            <a:endParaRPr lang="zh-CN" dirty="0"/>
          </a:p>
          <a:p>
            <a:r>
              <a:rPr lang="zh-CN" dirty="0"/>
              <a:t>核心差异：</a:t>
            </a:r>
          </a:p>
          <a:p>
            <a:r>
              <a:rPr lang="zh-CN" dirty="0"/>
              <a:t>• 刘乾坤：摆问题→施压→让供应商自己想办法</a:t>
            </a:r>
          </a:p>
          <a:p>
            <a:r>
              <a:rPr lang="zh-CN" dirty="0"/>
              <a:t>• 年老师：摆问题→提要求→给支持→让供应商自己想办法→长期合作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三个争议事件暴露他的真实性格：</a:t>
            </a:r>
          </a:p>
          <a:p>
            <a:endParaRPr lang="zh-CN" dirty="0"/>
          </a:p>
          <a:p>
            <a:r>
              <a:rPr lang="zh-CN" dirty="0"/>
              <a:t>双重标准（03-25）：自己违规推动供应商拿钱被内审查过，反过来质疑李吉斌的激励方案。年老师感受："挺可怕的，真的不可交"。</a:t>
            </a:r>
          </a:p>
          <a:p>
            <a:endParaRPr lang="zh-CN" dirty="0"/>
          </a:p>
          <a:p>
            <a:r>
              <a:rPr lang="zh-CN" dirty="0"/>
              <a:t>公开攻击前任（03-25 深夜）：@李吉斌加CC上级，让前任在所有人面前难堪。刚接手就甩锅。李吉斌反击后刘乾坤软化退让——教训是面对强硬反击他会退让。</a:t>
            </a:r>
          </a:p>
          <a:p>
            <a:endParaRPr lang="zh-CN" dirty="0"/>
          </a:p>
          <a:p>
            <a:r>
              <a:rPr lang="zh-CN" dirty="0"/>
              <a:t>开门红带节奏（03-29）：群内密集同步激励问题，道德绑架"影响1400个制鞋工人"。选择性攻击：只攻击服务组，不攻击策略组。夸大其词：实际"不会出现批量离职"。教训是核实数据，不被情绪带节奏。</a:t>
            </a:r>
          </a:p>
          <a:p>
            <a:endParaRPr lang="zh-CN" dirty="0"/>
          </a:p>
          <a:p>
            <a:r>
              <a:rPr lang="zh-CN" dirty="0"/>
              <a:t>核心洞察：他对别人做的事，自己可能也在做。双重标准是最大破绽。面对事实反击和强硬态度，他会退让。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总结三句话：</a:t>
            </a:r>
          </a:p>
          <a:p>
            <a:endParaRPr lang="zh-CN" dirty="0"/>
          </a:p>
          <a:p>
            <a:r>
              <a:rPr lang="zh-CN" dirty="0"/>
              <a:t>他不是在管理，是在表演管理——最在意的是"老板知不知道我在解决"。</a:t>
            </a:r>
          </a:p>
          <a:p>
            <a:endParaRPr lang="zh-CN" dirty="0"/>
          </a:p>
          <a:p>
            <a:r>
              <a:rPr lang="zh-CN" dirty="0"/>
              <a:t>边界清晰是最好的防御——周末不接@，工作日按流程，信息独立。</a:t>
            </a:r>
          </a:p>
          <a:p>
            <a:endParaRPr lang="zh-CN" dirty="0"/>
          </a:p>
          <a:p>
            <a:r>
              <a:rPr lang="zh-CN" dirty="0"/>
              <a:t>取其精华，做温和但坚定的管理者——学立规矩、三要素法、数据说话；加上给支持、温和但坚决、长期合作的伙伴关系。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1143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28575">
            <a:solidFill>
              <a:srgbClr val="7B1E3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1130618" y="2371249"/>
            <a:ext cx="1579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CONFIDENTIAL PROFILE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9660" y="27851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刘乾坤人物深度分析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2045" y="3631882"/>
            <a:ext cx="497000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权力框架 · 行为模式 · 应对策略 · 可学习内容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7760" y="4156710"/>
            <a:ext cx="26681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v10.2 · 年老师建档 · 2026-03-19</a:t>
            </a:r>
          </a:p>
        </p:txBody>
      </p:sp>
      <p:sp>
        <p:nvSpPr>
          <p:cNvPr id="8" name="Line 8"/>
          <p:cNvSpPr/>
          <p:nvPr/>
        </p:nvSpPr>
        <p:spPr>
          <a:xfrm>
            <a:off x="1143000" y="5905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130618" y="6276499"/>
            <a:ext cx="8079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2026-04-09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05975" y="6292691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09421" y="627649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年老师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63855" y="2162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一句话定位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9570" y="398145"/>
            <a:ext cx="39662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他的所有行为，都围绕三个核心诉求展开：控制权、展示权、安全感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76181" y="25669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02 / 12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2950" y="12668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核心定位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7710" y="1708785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高压管理型业管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1045" y="2298382"/>
            <a:ext cx="24878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擅长</a:t>
            </a:r>
            <a:r>
              <a:rPr lang="zh-CN" sz="1650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立规矩 + 三要素法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2950" y="2695575"/>
            <a:ext cx="31708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对上表演 · 对下施压 · 信息管控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3429000"/>
            <a:ext cx="3429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62000" y="3429000"/>
            <a:ext cx="38100" cy="2667000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24890" y="37109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控制权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2510" y="4109085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立规矩、阻断信息、责任下放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4415" y="4458652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动机：刚接手需要"我在管"的信号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047750" y="4953000"/>
            <a:ext cx="2857500" cy="285750"/>
          </a:xfrm>
          <a:prstGeom prst="rect">
            <a:avLst/>
          </a:prstGeom>
          <a:solidFill>
            <a:srgbClr val="16A34A">
              <a:alpha val="8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30618" y="5038249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应对：确认合理性，不盲目接受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381500" y="3429000"/>
            <a:ext cx="3429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381500" y="3429000"/>
            <a:ext cx="38100" cy="2667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644390" y="37109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展示权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52010" y="4109085"/>
            <a:ext cx="21511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群内表演、打鸡血、CC上级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53915" y="4458652"/>
            <a:ext cx="20355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动机：最在意"老板知不知道"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667250" y="4953000"/>
            <a:ext cx="2857500" cy="285750"/>
          </a:xfrm>
          <a:prstGeom prst="rect">
            <a:avLst/>
          </a:prstGeom>
          <a:solidFill>
            <a:srgbClr val="16A34A">
              <a:alpha val="8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750118" y="503824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应对：不抢戏，专注自身边界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001000" y="3429000"/>
            <a:ext cx="3429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8001000" y="3429000"/>
            <a:ext cx="38100" cy="26670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263890" y="37109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安全感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71510" y="4109085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信息管控、建立依赖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73415" y="44586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动机：怕被替代，让别人依赖自己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286750" y="4953000"/>
            <a:ext cx="2857500" cy="285750"/>
          </a:xfrm>
          <a:prstGeom prst="rect">
            <a:avLst/>
          </a:prstGeom>
          <a:solidFill>
            <a:srgbClr val="16A34A">
              <a:alpha val="8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369618" y="5038249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应对：建立独立渠道，不依赖他</a:t>
            </a:r>
          </a:p>
        </p:txBody>
      </p:sp>
      <p:sp>
        <p:nvSpPr>
          <p:cNvPr id="32" name="Line 32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371475" y="6491288"/>
            <a:ext cx="13280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41432" y="64912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774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63855" y="216218"/>
            <a:ext cx="23426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权力内核 — 他想要什么？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9570" y="398145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一切行为围绕三个核心诉求展开，缺一不可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76181" y="25669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03 / 12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857250"/>
            <a:ext cx="36195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857250"/>
            <a:ext cx="3619500" cy="666750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82955" y="1059180"/>
            <a:ext cx="10194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控制权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7278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典型动作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4385" y="2013585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立规矩、阻断信息、责任下放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253746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动机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823210"/>
            <a:ext cx="23263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刚接手需要"我在管"的信号，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3061335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建立秩序是首要任务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35852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识别信号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5338" y="38790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刚接管业务时频繁宣布新规则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5338" y="4117181"/>
            <a:ext cx="13594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强调"按规则办事"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9625" y="4667250"/>
            <a:ext cx="3143250" cy="285750"/>
          </a:xfrm>
          <a:prstGeom prst="rect">
            <a:avLst/>
          </a:prstGeom>
          <a:solidFill>
            <a:srgbClr val="16A34A">
              <a:alpha val="8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9165" y="474440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应对：确认合理性，不盲目接受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81500" y="857250"/>
            <a:ext cx="36195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381500" y="857250"/>
            <a:ext cx="3619500" cy="66675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592955" y="1059180"/>
            <a:ext cx="10194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展示权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04385" y="17278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典型动作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04385" y="2013585"/>
            <a:ext cx="21511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群内表演、打鸡血、CC上级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04385" y="253746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动机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04385" y="2823210"/>
            <a:ext cx="25016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最在意"老板知不知道我在解决"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04385" y="3061335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表演给上级看，不是给平级看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04385" y="35852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识别信号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05338" y="3879056"/>
            <a:ext cx="22713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群聊中高频@上级，汇报"进展"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05338" y="4117181"/>
            <a:ext cx="18523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语气偏向"我在推动解决"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619625" y="4667250"/>
            <a:ext cx="3143250" cy="285750"/>
          </a:xfrm>
          <a:prstGeom prst="rect">
            <a:avLst/>
          </a:prstGeom>
          <a:solidFill>
            <a:srgbClr val="16A34A">
              <a:alpha val="8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749165" y="47444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应对：不抢戏，专注自身边界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191500" y="857250"/>
            <a:ext cx="34290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8191500" y="857250"/>
            <a:ext cx="3429000" cy="6667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402955" y="1059180"/>
            <a:ext cx="10194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安全感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14385" y="17278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典型动作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14385" y="2013585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信息管控、建立依赖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414385" y="253746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动机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14385" y="282321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怕被替代，让别人依赖自己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14385" y="3061335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掌控信息就是掌控不可替代性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14385" y="35852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识别信号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15338" y="38790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阻断他与上级的直接沟通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15338" y="4117181"/>
            <a:ext cx="18523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"别找供应商，我来对接"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429625" y="4667250"/>
            <a:ext cx="2952750" cy="285750"/>
          </a:xfrm>
          <a:prstGeom prst="rect">
            <a:avLst/>
          </a:prstGeom>
          <a:solidFill>
            <a:srgbClr val="16A34A">
              <a:alpha val="8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559165" y="474440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应对：建立独立渠道，不依赖他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71475" y="6491288"/>
            <a:ext cx="2111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权力内核章节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41432" y="64912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774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63855" y="2162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权力来源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9570" y="398145"/>
            <a:ext cx="22574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五种权力来源，从底层规则到表层施压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76181" y="25669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04 / 12</a:t>
            </a:r>
          </a:p>
        </p:txBody>
      </p:sp>
      <p:sp>
        <p:nvSpPr>
          <p:cNvPr id="7" name="Rectangle 7"/>
          <p:cNvSpPr/>
          <p:nvPr/>
        </p:nvSpPr>
        <p:spPr>
          <a:xfrm>
            <a:off x="381000" y="857250"/>
            <a:ext cx="22860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381000" y="857250"/>
            <a:ext cx="2286000" cy="476250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52450" y="10001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规则权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8165" y="150590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立规矩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8165" y="1791652"/>
            <a:ext cx="24956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机制先行，让后续变成"按规则办事"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8165" y="23155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应对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9118" y="2609374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确认规则合理性</a:t>
            </a:r>
          </a:p>
        </p:txBody>
      </p:sp>
      <p:sp>
        <p:nvSpPr>
          <p:cNvPr id="14" name="Rectangle 14"/>
          <p:cNvSpPr/>
          <p:nvPr/>
        </p:nvSpPr>
        <p:spPr>
          <a:xfrm>
            <a:off x="2857500" y="857250"/>
            <a:ext cx="22860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2857500" y="857250"/>
            <a:ext cx="2286000" cy="476250"/>
          </a:xfrm>
          <a:prstGeom prst="rect">
            <a:avLst/>
          </a:prstGeom>
          <a:solidFill>
            <a:srgbClr val="9B2C2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028950" y="10001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信息权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34665" y="150590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B2C2C"/>
                </a:solidFill>
                <a:latin typeface="Arial"/>
                <a:ea typeface="Microsoft YaHei"/>
                <a:cs typeface="Arial"/>
              </a:rPr>
              <a:t>两头堵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34665" y="1791652"/>
            <a:ext cx="27870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阻断信息，让对手只能依赖自己获取数据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34665" y="23155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B2C2C"/>
                </a:solidFill>
                <a:latin typeface="Arial"/>
                <a:ea typeface="Microsoft YaHei"/>
                <a:cs typeface="Arial"/>
              </a:rPr>
              <a:t>应对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35618" y="26093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建立独立信息渠道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334000" y="857250"/>
            <a:ext cx="22860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5334000" y="857250"/>
            <a:ext cx="2286000" cy="4762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505450" y="10001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关系权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11165" y="150590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人情债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11165" y="1791652"/>
            <a:ext cx="27870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拉拢圈人、人情债管理，主动让利换配合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11165" y="23155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应对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12118" y="2609374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接受但不欠人情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810500" y="857250"/>
            <a:ext cx="22860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810500" y="857250"/>
            <a:ext cx="2286000" cy="47625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981950" y="10001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注意权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87665" y="1505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刷存在感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87665" y="1791652"/>
            <a:ext cx="29403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群内表演、打鸡血，消息多发在有上级的群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7665" y="23155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应对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618" y="26093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不抢戏，专注边界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10287000" y="857250"/>
            <a:ext cx="15240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10287000" y="857250"/>
            <a:ext cx="1524000" cy="4762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0410825" y="10001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施压权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416540" y="1505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高压管理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416540" y="17916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公开锁定、制造回复压力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416540" y="23155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应对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17492" y="260937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反问回去，不接任务</a:t>
            </a:r>
          </a:p>
        </p:txBody>
      </p:sp>
      <p:sp>
        <p:nvSpPr>
          <p:cNvPr id="42" name="Line 42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71475" y="6491288"/>
            <a:ext cx="2111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权力框架章节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741432" y="64912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4774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63855" y="2162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行为模式概览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9570" y="398145"/>
            <a:ext cx="27634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18种模式按权力来源分组，风险等级用颜色区分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76181" y="25669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05 / 12</a:t>
            </a:r>
          </a:p>
        </p:txBody>
      </p:sp>
      <p:sp>
        <p:nvSpPr>
          <p:cNvPr id="7" name="Rectangle 7"/>
          <p:cNvSpPr/>
          <p:nvPr/>
        </p:nvSpPr>
        <p:spPr>
          <a:xfrm>
            <a:off x="381000" y="857250"/>
            <a:ext cx="11430000" cy="381000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58165" y="100107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权力来源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44165" y="100107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行为模式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54165" y="100107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风险等级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11665" y="10010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说明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81000" y="1238250"/>
            <a:ext cx="114300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58165" y="1439228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规则权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44165" y="1439228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立规矩</a:t>
            </a:r>
          </a:p>
        </p:txBody>
      </p:sp>
      <p:sp>
        <p:nvSpPr>
          <p:cNvPr id="15" name="Freeform 15"/>
          <p:cNvSpPr/>
          <p:nvPr/>
        </p:nvSpPr>
        <p:spPr>
          <a:xfrm>
            <a:off x="6667500" y="1409700"/>
            <a:ext cx="666750" cy="209550"/>
          </a:xfrm>
          <a:custGeom>
            <a:avLst/>
            <a:gdLst/>
            <a:ahLst/>
            <a:cxnLst/>
            <a:rect l="l" t="t" r="r" b="b"/>
            <a:pathLst>
              <a:path w="666750" h="209550">
                <a:moveTo>
                  <a:pt x="104775" y="0"/>
                </a:moveTo>
                <a:lnTo>
                  <a:pt x="561975" y="0"/>
                </a:lnTo>
                <a:cubicBezTo>
                  <a:pt x="619841" y="0"/>
                  <a:pt x="666750" y="46909"/>
                  <a:pt x="666750" y="104775"/>
                </a:cubicBezTo>
                <a:lnTo>
                  <a:pt x="666750" y="104775"/>
                </a:lnTo>
                <a:cubicBezTo>
                  <a:pt x="666750" y="162641"/>
                  <a:pt x="619841" y="209550"/>
                  <a:pt x="56197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22C55E">
              <a:alpha val="15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809661" y="1463516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值得学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12618" y="1447324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先定规则后办事</a:t>
            </a:r>
          </a:p>
        </p:txBody>
      </p:sp>
      <p:sp>
        <p:nvSpPr>
          <p:cNvPr id="18" name="Rectangle 18"/>
          <p:cNvSpPr/>
          <p:nvPr/>
        </p:nvSpPr>
        <p:spPr>
          <a:xfrm>
            <a:off x="381000" y="1762125"/>
            <a:ext cx="11430000" cy="523875"/>
          </a:xfrm>
          <a:prstGeom prst="rect">
            <a:avLst/>
          </a:prstGeom>
          <a:solidFill>
            <a:srgbClr val="F9FAF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58165" y="196310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B2C2C"/>
                </a:solidFill>
                <a:latin typeface="Arial"/>
                <a:ea typeface="Microsoft YaHei"/>
                <a:cs typeface="Arial"/>
              </a:rPr>
              <a:t>信息权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44165" y="19631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两头堵、阻断信息</a:t>
            </a:r>
          </a:p>
        </p:txBody>
      </p:sp>
      <p:sp>
        <p:nvSpPr>
          <p:cNvPr id="21" name="Freeform 21"/>
          <p:cNvSpPr/>
          <p:nvPr/>
        </p:nvSpPr>
        <p:spPr>
          <a:xfrm>
            <a:off x="6667500" y="1933575"/>
            <a:ext cx="666750" cy="209550"/>
          </a:xfrm>
          <a:custGeom>
            <a:avLst/>
            <a:gdLst/>
            <a:ahLst/>
            <a:cxnLst/>
            <a:rect l="l" t="t" r="r" b="b"/>
            <a:pathLst>
              <a:path w="666750" h="209550">
                <a:moveTo>
                  <a:pt x="104775" y="0"/>
                </a:moveTo>
                <a:lnTo>
                  <a:pt x="561975" y="0"/>
                </a:lnTo>
                <a:cubicBezTo>
                  <a:pt x="619841" y="0"/>
                  <a:pt x="666750" y="46909"/>
                  <a:pt x="666750" y="104775"/>
                </a:cubicBezTo>
                <a:lnTo>
                  <a:pt x="666750" y="104775"/>
                </a:lnTo>
                <a:cubicBezTo>
                  <a:pt x="666750" y="162641"/>
                  <a:pt x="619841" y="209550"/>
                  <a:pt x="56197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B91C1C">
              <a:alpha val="15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809661" y="19873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高危险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12618" y="19711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阻断信息渠道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81000" y="2286000"/>
            <a:ext cx="114300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58165" y="2486978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关系权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44165" y="248697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拉拢圈人、人情债管理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0" y="2457450"/>
            <a:ext cx="523875" cy="209550"/>
          </a:xfrm>
          <a:custGeom>
            <a:avLst/>
            <a:gdLst/>
            <a:ahLst/>
            <a:cxnLst/>
            <a:rect l="l" t="t" r="r" b="b"/>
            <a:pathLst>
              <a:path w="523875" h="209550">
                <a:moveTo>
                  <a:pt x="104775" y="0"/>
                </a:moveTo>
                <a:lnTo>
                  <a:pt x="419100" y="0"/>
                </a:lnTo>
                <a:cubicBezTo>
                  <a:pt x="476966" y="0"/>
                  <a:pt x="523875" y="46909"/>
                  <a:pt x="523875" y="104775"/>
                </a:cubicBezTo>
                <a:lnTo>
                  <a:pt x="523875" y="104775"/>
                </a:lnTo>
                <a:cubicBezTo>
                  <a:pt x="523875" y="162641"/>
                  <a:pt x="476966" y="209550"/>
                  <a:pt x="419100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D97706">
              <a:alpha val="15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93706" y="2511266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施压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12618" y="24950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主动让利换取配合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81000" y="2809875"/>
            <a:ext cx="11430000" cy="523875"/>
          </a:xfrm>
          <a:prstGeom prst="rect">
            <a:avLst/>
          </a:prstGeom>
          <a:solidFill>
            <a:srgbClr val="F9FAF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58165" y="301085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注意权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44165" y="3010852"/>
            <a:ext cx="16598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群内表演、任务下放+CC</a:t>
            </a:r>
          </a:p>
        </p:txBody>
      </p:sp>
      <p:sp>
        <p:nvSpPr>
          <p:cNvPr id="33" name="Freeform 33"/>
          <p:cNvSpPr/>
          <p:nvPr/>
        </p:nvSpPr>
        <p:spPr>
          <a:xfrm>
            <a:off x="6667500" y="2981325"/>
            <a:ext cx="523875" cy="209550"/>
          </a:xfrm>
          <a:custGeom>
            <a:avLst/>
            <a:gdLst/>
            <a:ahLst/>
            <a:cxnLst/>
            <a:rect l="l" t="t" r="r" b="b"/>
            <a:pathLst>
              <a:path w="523875" h="209550">
                <a:moveTo>
                  <a:pt x="104775" y="0"/>
                </a:moveTo>
                <a:lnTo>
                  <a:pt x="419100" y="0"/>
                </a:lnTo>
                <a:cubicBezTo>
                  <a:pt x="476966" y="0"/>
                  <a:pt x="523875" y="46909"/>
                  <a:pt x="523875" y="104775"/>
                </a:cubicBezTo>
                <a:lnTo>
                  <a:pt x="523875" y="104775"/>
                </a:lnTo>
                <a:cubicBezTo>
                  <a:pt x="523875" y="162641"/>
                  <a:pt x="476966" y="209550"/>
                  <a:pt x="419100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D97706">
              <a:alpha val="15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93706" y="303514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施压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12618" y="30189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刷存在感给上级看</a:t>
            </a:r>
          </a:p>
        </p:txBody>
      </p:sp>
      <p:sp>
        <p:nvSpPr>
          <p:cNvPr id="36" name="Rectangle 36"/>
          <p:cNvSpPr/>
          <p:nvPr/>
        </p:nvSpPr>
        <p:spPr>
          <a:xfrm>
            <a:off x="381000" y="3333750"/>
            <a:ext cx="114300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58165" y="3534728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施压权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844165" y="3534728"/>
            <a:ext cx="27870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公开锁定、高压管理、追责转嫁、加压链</a:t>
            </a:r>
          </a:p>
        </p:txBody>
      </p:sp>
      <p:sp>
        <p:nvSpPr>
          <p:cNvPr id="39" name="Freeform 39"/>
          <p:cNvSpPr/>
          <p:nvPr/>
        </p:nvSpPr>
        <p:spPr>
          <a:xfrm>
            <a:off x="6667500" y="3505200"/>
            <a:ext cx="666750" cy="209550"/>
          </a:xfrm>
          <a:custGeom>
            <a:avLst/>
            <a:gdLst/>
            <a:ahLst/>
            <a:cxnLst/>
            <a:rect l="l" t="t" r="r" b="b"/>
            <a:pathLst>
              <a:path w="666750" h="209550">
                <a:moveTo>
                  <a:pt x="104775" y="0"/>
                </a:moveTo>
                <a:lnTo>
                  <a:pt x="561975" y="0"/>
                </a:lnTo>
                <a:cubicBezTo>
                  <a:pt x="619841" y="0"/>
                  <a:pt x="666750" y="46909"/>
                  <a:pt x="666750" y="104775"/>
                </a:cubicBezTo>
                <a:lnTo>
                  <a:pt x="666750" y="104775"/>
                </a:lnTo>
                <a:cubicBezTo>
                  <a:pt x="666750" y="162641"/>
                  <a:pt x="619841" y="209550"/>
                  <a:pt x="56197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B91C1C">
              <a:alpha val="15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9661" y="3559016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高危险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512618" y="354282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密集施压区域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81000" y="4000500"/>
            <a:ext cx="11430000" cy="381000"/>
          </a:xfrm>
          <a:prstGeom prst="rect">
            <a:avLst/>
          </a:prstGeom>
          <a:solidFill>
            <a:srgbClr val="7B1E3B">
              <a:alpha val="8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58165" y="4144328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组合拳</a:t>
            </a:r>
          </a:p>
        </p:txBody>
      </p:sp>
      <p:sp>
        <p:nvSpPr>
          <p:cNvPr id="44" name="Rectangle 44"/>
          <p:cNvSpPr/>
          <p:nvPr/>
        </p:nvSpPr>
        <p:spPr>
          <a:xfrm>
            <a:off x="381000" y="4381500"/>
            <a:ext cx="11430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59118" y="456199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抛问题、正面对冲、借力打力</a:t>
            </a:r>
          </a:p>
        </p:txBody>
      </p:sp>
      <p:sp>
        <p:nvSpPr>
          <p:cNvPr id="46" name="Freeform 46"/>
          <p:cNvSpPr/>
          <p:nvPr/>
        </p:nvSpPr>
        <p:spPr>
          <a:xfrm>
            <a:off x="6667500" y="4524375"/>
            <a:ext cx="523875" cy="209550"/>
          </a:xfrm>
          <a:custGeom>
            <a:avLst/>
            <a:gdLst/>
            <a:ahLst/>
            <a:cxnLst/>
            <a:rect l="l" t="t" r="r" b="b"/>
            <a:pathLst>
              <a:path w="523875" h="209550">
                <a:moveTo>
                  <a:pt x="104775" y="0"/>
                </a:moveTo>
                <a:lnTo>
                  <a:pt x="419100" y="0"/>
                </a:lnTo>
                <a:cubicBezTo>
                  <a:pt x="476966" y="0"/>
                  <a:pt x="523875" y="46909"/>
                  <a:pt x="523875" y="104775"/>
                </a:cubicBezTo>
                <a:lnTo>
                  <a:pt x="523875" y="104775"/>
                </a:lnTo>
                <a:cubicBezTo>
                  <a:pt x="523875" y="162641"/>
                  <a:pt x="476966" y="209550"/>
                  <a:pt x="419100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6B7280">
              <a:alpha val="15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793706" y="45781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中性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512618" y="4561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中性手法</a:t>
            </a:r>
          </a:p>
        </p:txBody>
      </p:sp>
      <p:sp>
        <p:nvSpPr>
          <p:cNvPr id="49" name="Rectangle 49"/>
          <p:cNvSpPr/>
          <p:nvPr/>
        </p:nvSpPr>
        <p:spPr>
          <a:xfrm>
            <a:off x="381000" y="4857750"/>
            <a:ext cx="11430000" cy="476250"/>
          </a:xfrm>
          <a:prstGeom prst="rect">
            <a:avLst/>
          </a:prstGeom>
          <a:solidFill>
            <a:srgbClr val="F9FAFB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59118" y="50382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群聊闹事、选择性攻击</a:t>
            </a:r>
          </a:p>
        </p:txBody>
      </p:sp>
      <p:sp>
        <p:nvSpPr>
          <p:cNvPr id="51" name="Freeform 51"/>
          <p:cNvSpPr/>
          <p:nvPr/>
        </p:nvSpPr>
        <p:spPr>
          <a:xfrm>
            <a:off x="6667500" y="5000625"/>
            <a:ext cx="666750" cy="209550"/>
          </a:xfrm>
          <a:custGeom>
            <a:avLst/>
            <a:gdLst/>
            <a:ahLst/>
            <a:cxnLst/>
            <a:rect l="l" t="t" r="r" b="b"/>
            <a:pathLst>
              <a:path w="666750" h="209550">
                <a:moveTo>
                  <a:pt x="104775" y="0"/>
                </a:moveTo>
                <a:lnTo>
                  <a:pt x="561975" y="0"/>
                </a:lnTo>
                <a:cubicBezTo>
                  <a:pt x="619841" y="0"/>
                  <a:pt x="666750" y="46909"/>
                  <a:pt x="666750" y="104775"/>
                </a:cubicBezTo>
                <a:lnTo>
                  <a:pt x="666750" y="104775"/>
                </a:lnTo>
                <a:cubicBezTo>
                  <a:pt x="666750" y="162641"/>
                  <a:pt x="619841" y="209550"/>
                  <a:pt x="56197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B91C1C">
              <a:alpha val="15000"/>
            </a:srgbClr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9661" y="505444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高危险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512618" y="50382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高危险手法</a:t>
            </a:r>
          </a:p>
        </p:txBody>
      </p:sp>
      <p:sp>
        <p:nvSpPr>
          <p:cNvPr id="54" name="Rectangle 54"/>
          <p:cNvSpPr/>
          <p:nvPr/>
        </p:nvSpPr>
        <p:spPr>
          <a:xfrm>
            <a:off x="381000" y="5334000"/>
            <a:ext cx="11430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559118" y="551449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质疑数据降温、挖人试探、镜像过敏</a:t>
            </a:r>
          </a:p>
        </p:txBody>
      </p:sp>
      <p:sp>
        <p:nvSpPr>
          <p:cNvPr id="56" name="Freeform 56"/>
          <p:cNvSpPr/>
          <p:nvPr/>
        </p:nvSpPr>
        <p:spPr>
          <a:xfrm>
            <a:off x="6667500" y="5476875"/>
            <a:ext cx="523875" cy="209550"/>
          </a:xfrm>
          <a:custGeom>
            <a:avLst/>
            <a:gdLst/>
            <a:ahLst/>
            <a:cxnLst/>
            <a:rect l="l" t="t" r="r" b="b"/>
            <a:pathLst>
              <a:path w="523875" h="209550">
                <a:moveTo>
                  <a:pt x="104775" y="0"/>
                </a:moveTo>
                <a:lnTo>
                  <a:pt x="419100" y="0"/>
                </a:lnTo>
                <a:cubicBezTo>
                  <a:pt x="476966" y="0"/>
                  <a:pt x="523875" y="46909"/>
                  <a:pt x="523875" y="104775"/>
                </a:cubicBezTo>
                <a:lnTo>
                  <a:pt x="523875" y="104775"/>
                </a:lnTo>
                <a:cubicBezTo>
                  <a:pt x="523875" y="162641"/>
                  <a:pt x="476966" y="209550"/>
                  <a:pt x="419100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6B7280">
              <a:alpha val="15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793706" y="5530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中性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512618" y="55144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中性手法</a:t>
            </a:r>
          </a:p>
        </p:txBody>
      </p:sp>
      <p:sp>
        <p:nvSpPr>
          <p:cNvPr id="59" name="Line 59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371475" y="6491288"/>
            <a:ext cx="13280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741432" y="64912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4774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63855" y="2162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关系网络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9570" y="39814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以他为中心的权力关系映射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76181" y="25669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06 / 12</a:t>
            </a:r>
          </a:p>
        </p:txBody>
      </p:sp>
      <p:sp>
        <p:nvSpPr>
          <p:cNvPr id="7" name="Freeform 7"/>
          <p:cNvSpPr/>
          <p:nvPr/>
        </p:nvSpPr>
        <p:spPr>
          <a:xfrm>
            <a:off x="5143500" y="857250"/>
            <a:ext cx="1905000" cy="476250"/>
          </a:xfrm>
          <a:custGeom>
            <a:avLst/>
            <a:gdLst/>
            <a:ahLst/>
            <a:cxnLst/>
            <a:rect l="l" t="t" r="r" b="b"/>
            <a:pathLst>
              <a:path w="1905000" h="47625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419100"/>
                </a:lnTo>
                <a:cubicBezTo>
                  <a:pt x="1905000" y="450663"/>
                  <a:pt x="1879413" y="476250"/>
                  <a:pt x="1847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9FAFB"/>
          </a:solidFill>
          <a:ln w="9525">
            <a:solidFill>
              <a:srgbClr val="9CA3A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507018" y="1048702"/>
            <a:ext cx="11779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刘伟佳 · 策略组</a:t>
            </a:r>
          </a:p>
        </p:txBody>
      </p:sp>
      <p:sp>
        <p:nvSpPr>
          <p:cNvPr id="9" name="Line 9"/>
          <p:cNvSpPr/>
          <p:nvPr/>
        </p:nvSpPr>
        <p:spPr>
          <a:xfrm>
            <a:off x="6096000" y="13335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9CA3AF"/>
            </a:solidFill>
            <a:custDash>
              <a:ds d="400000" sp="300000"/>
            </a:custDash>
          </a:ln>
        </p:spPr>
      </p:sp>
      <p:sp>
        <p:nvSpPr>
          <p:cNvPr id="10" name="Freeform 10"/>
          <p:cNvSpPr/>
          <p:nvPr/>
        </p:nvSpPr>
        <p:spPr>
          <a:xfrm>
            <a:off x="5143500" y="1524000"/>
            <a:ext cx="1905000" cy="476250"/>
          </a:xfrm>
          <a:custGeom>
            <a:avLst/>
            <a:gdLst/>
            <a:ahLst/>
            <a:cxnLst/>
            <a:rect l="l" t="t" r="r" b="b"/>
            <a:pathLst>
              <a:path w="1905000" h="47625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419100"/>
                </a:lnTo>
                <a:cubicBezTo>
                  <a:pt x="1905000" y="450663"/>
                  <a:pt x="1879413" y="476250"/>
                  <a:pt x="1847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7B1E3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265488" y="1715452"/>
            <a:ext cx="16610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王易人 · 服务组负责人</a:t>
            </a:r>
          </a:p>
        </p:txBody>
      </p:sp>
      <p:sp>
        <p:nvSpPr>
          <p:cNvPr id="12" name="Line 12"/>
          <p:cNvSpPr/>
          <p:nvPr/>
        </p:nvSpPr>
        <p:spPr>
          <a:xfrm>
            <a:off x="6096000" y="20002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rgbClr val="7B1E3B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5143500" y="2381250"/>
            <a:ext cx="1905000" cy="571500"/>
          </a:xfrm>
          <a:custGeom>
            <a:avLst/>
            <a:gdLst/>
            <a:ahLst/>
            <a:cxnLst/>
            <a:rect l="l" t="t" r="r" b="b"/>
            <a:pathLst>
              <a:path w="1905000" h="5715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514350"/>
                </a:lnTo>
                <a:cubicBezTo>
                  <a:pt x="1905000" y="545913"/>
                  <a:pt x="1879413" y="571500"/>
                  <a:pt x="18478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7B1E3B"/>
          </a:solidFill>
          <a:ln w="28575">
            <a:solidFill>
              <a:srgbClr val="7B1E3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768316" y="25212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刘乾坤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44540" y="27684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权力核心</a:t>
            </a:r>
          </a:p>
        </p:txBody>
      </p:sp>
      <p:sp>
        <p:nvSpPr>
          <p:cNvPr id="16" name="Line 16"/>
          <p:cNvSpPr/>
          <p:nvPr/>
        </p:nvSpPr>
        <p:spPr>
          <a:xfrm>
            <a:off x="1905000" y="2667000"/>
            <a:ext cx="3238500" cy="952500"/>
          </a:xfrm>
          <a:custGeom>
            <a:avLst/>
            <a:gdLst/>
            <a:ahLst/>
            <a:cxnLst/>
            <a:rect l="l" t="t" r="r" b="b"/>
            <a:pathLst>
              <a:path w="3238500" h="952500">
                <a:moveTo>
                  <a:pt x="3238500" y="0"/>
                </a:moveTo>
                <a:lnTo>
                  <a:pt x="0" y="952500"/>
                </a:lnTo>
              </a:path>
            </a:pathLst>
          </a:custGeom>
          <a:noFill/>
          <a:ln w="9525">
            <a:solidFill>
              <a:srgbClr val="22C55E"/>
            </a:solidFill>
          </a:ln>
        </p:spPr>
      </p:sp>
      <p:sp>
        <p:nvSpPr>
          <p:cNvPr id="17" name="Line 17"/>
          <p:cNvSpPr/>
          <p:nvPr/>
        </p:nvSpPr>
        <p:spPr>
          <a:xfrm>
            <a:off x="7048500" y="2667000"/>
            <a:ext cx="3238500" cy="952500"/>
          </a:xfrm>
          <a:custGeom>
            <a:avLst/>
            <a:gdLst/>
            <a:ahLst/>
            <a:cxnLst/>
            <a:rect l="l" t="t" r="r" b="b"/>
            <a:pathLst>
              <a:path w="3238500" h="952500">
                <a:moveTo>
                  <a:pt x="0" y="0"/>
                </a:moveTo>
                <a:lnTo>
                  <a:pt x="3238500" y="952500"/>
                </a:lnTo>
              </a:path>
            </a:pathLst>
          </a:custGeom>
          <a:noFill/>
          <a:ln w="9525">
            <a:solidFill>
              <a:srgbClr val="B91C1C"/>
            </a:solidFill>
          </a:ln>
        </p:spPr>
      </p:sp>
      <p:sp>
        <p:nvSpPr>
          <p:cNvPr id="18" name="Line 18"/>
          <p:cNvSpPr/>
          <p:nvPr/>
        </p:nvSpPr>
        <p:spPr>
          <a:xfrm>
            <a:off x="3333750" y="2952750"/>
            <a:ext cx="2286000" cy="1047750"/>
          </a:xfrm>
          <a:custGeom>
            <a:avLst/>
            <a:gdLst/>
            <a:ahLst/>
            <a:cxnLst/>
            <a:rect l="l" t="t" r="r" b="b"/>
            <a:pathLst>
              <a:path w="2286000" h="1047750">
                <a:moveTo>
                  <a:pt x="2286000" y="0"/>
                </a:moveTo>
                <a:lnTo>
                  <a:pt x="0" y="1047750"/>
                </a:lnTo>
              </a:path>
            </a:pathLst>
          </a:custGeom>
          <a:noFill/>
          <a:ln w="9525">
            <a:solidFill>
              <a:srgbClr val="C5960C"/>
            </a:solidFill>
          </a:ln>
        </p:spPr>
      </p:sp>
      <p:sp>
        <p:nvSpPr>
          <p:cNvPr id="19" name="Line 19"/>
          <p:cNvSpPr/>
          <p:nvPr/>
        </p:nvSpPr>
        <p:spPr>
          <a:xfrm>
            <a:off x="6572250" y="2952750"/>
            <a:ext cx="2286000" cy="1047750"/>
          </a:xfrm>
          <a:custGeom>
            <a:avLst/>
            <a:gdLst/>
            <a:ahLst/>
            <a:cxnLst/>
            <a:rect l="l" t="t" r="r" b="b"/>
            <a:pathLst>
              <a:path w="2286000" h="1047750">
                <a:moveTo>
                  <a:pt x="0" y="0"/>
                </a:moveTo>
                <a:lnTo>
                  <a:pt x="2286000" y="1047750"/>
                </a:lnTo>
              </a:path>
            </a:pathLst>
          </a:custGeom>
          <a:noFill/>
          <a:ln w="9525">
            <a:solidFill>
              <a:srgbClr val="9CA3A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48665" y="341090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同盟</a:t>
            </a:r>
          </a:p>
        </p:txBody>
      </p:sp>
      <p:sp>
        <p:nvSpPr>
          <p:cNvPr id="21" name="Freeform 21"/>
          <p:cNvSpPr/>
          <p:nvPr/>
        </p:nvSpPr>
        <p:spPr>
          <a:xfrm>
            <a:off x="762000" y="3667125"/>
            <a:ext cx="2095500" cy="428625"/>
          </a:xfrm>
          <a:custGeom>
            <a:avLst/>
            <a:gdLst/>
            <a:ahLst/>
            <a:cxnLst/>
            <a:rect l="l" t="t" r="r" b="b"/>
            <a:pathLst>
              <a:path w="2095500" h="428625">
                <a:moveTo>
                  <a:pt x="57150" y="0"/>
                </a:moveTo>
                <a:lnTo>
                  <a:pt x="2038350" y="0"/>
                </a:lnTo>
                <a:cubicBezTo>
                  <a:pt x="2069913" y="0"/>
                  <a:pt x="2095500" y="25587"/>
                  <a:pt x="2095500" y="57150"/>
                </a:cubicBezTo>
                <a:lnTo>
                  <a:pt x="2095500" y="371475"/>
                </a:lnTo>
                <a:cubicBezTo>
                  <a:pt x="2095500" y="403038"/>
                  <a:pt x="2069913" y="428625"/>
                  <a:pt x="20383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2C55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892492" y="3828574"/>
            <a:ext cx="25808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郭鑫（前同事）— "用你的嘴，出我的力"</a:t>
            </a:r>
          </a:p>
        </p:txBody>
      </p:sp>
      <p:sp>
        <p:nvSpPr>
          <p:cNvPr id="23" name="Freeform 23"/>
          <p:cNvSpPr/>
          <p:nvPr/>
        </p:nvSpPr>
        <p:spPr>
          <a:xfrm>
            <a:off x="762000" y="4191000"/>
            <a:ext cx="2095500" cy="428625"/>
          </a:xfrm>
          <a:custGeom>
            <a:avLst/>
            <a:gdLst/>
            <a:ahLst/>
            <a:cxnLst/>
            <a:rect l="l" t="t" r="r" b="b"/>
            <a:pathLst>
              <a:path w="2095500" h="428625">
                <a:moveTo>
                  <a:pt x="57150" y="0"/>
                </a:moveTo>
                <a:lnTo>
                  <a:pt x="2038350" y="0"/>
                </a:lnTo>
                <a:cubicBezTo>
                  <a:pt x="2069913" y="0"/>
                  <a:pt x="2095500" y="25587"/>
                  <a:pt x="2095500" y="57150"/>
                </a:cubicBezTo>
                <a:lnTo>
                  <a:pt x="2095500" y="371475"/>
                </a:lnTo>
                <a:cubicBezTo>
                  <a:pt x="2095500" y="403038"/>
                  <a:pt x="2069913" y="428625"/>
                  <a:pt x="20383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2C55E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92492" y="4352449"/>
            <a:ext cx="27232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马贵贤（前同事）— "你的工作，我的成果"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21165" y="341090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对手</a:t>
            </a:r>
          </a:p>
        </p:txBody>
      </p:sp>
      <p:sp>
        <p:nvSpPr>
          <p:cNvPr id="26" name="Freeform 26"/>
          <p:cNvSpPr/>
          <p:nvPr/>
        </p:nvSpPr>
        <p:spPr>
          <a:xfrm>
            <a:off x="9334500" y="3667125"/>
            <a:ext cx="2095500" cy="428625"/>
          </a:xfrm>
          <a:custGeom>
            <a:avLst/>
            <a:gdLst/>
            <a:ahLst/>
            <a:cxnLst/>
            <a:rect l="l" t="t" r="r" b="b"/>
            <a:pathLst>
              <a:path w="2095500" h="428625">
                <a:moveTo>
                  <a:pt x="57150" y="0"/>
                </a:moveTo>
                <a:lnTo>
                  <a:pt x="2038350" y="0"/>
                </a:lnTo>
                <a:cubicBezTo>
                  <a:pt x="2069913" y="0"/>
                  <a:pt x="2095500" y="25587"/>
                  <a:pt x="2095500" y="57150"/>
                </a:cubicBezTo>
                <a:lnTo>
                  <a:pt x="2095500" y="371475"/>
                </a:lnTo>
                <a:cubicBezTo>
                  <a:pt x="2095500" y="403038"/>
                  <a:pt x="2069913" y="428625"/>
                  <a:pt x="20383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B91C1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464992" y="3828574"/>
            <a:ext cx="23601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李吉斌（前任）— 公开质疑+双重标准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65945" y="40462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刚接手就甩锅，反击后退让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67915" y="38871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配合</a:t>
            </a:r>
          </a:p>
        </p:txBody>
      </p:sp>
      <p:sp>
        <p:nvSpPr>
          <p:cNvPr id="30" name="Freeform 30"/>
          <p:cNvSpPr/>
          <p:nvPr/>
        </p:nvSpPr>
        <p:spPr>
          <a:xfrm>
            <a:off x="2381250" y="4143375"/>
            <a:ext cx="1905000" cy="428625"/>
          </a:xfrm>
          <a:custGeom>
            <a:avLst/>
            <a:gdLst/>
            <a:ahLst/>
            <a:cxnLst/>
            <a:rect l="l" t="t" r="r" b="b"/>
            <a:pathLst>
              <a:path w="1905000" h="428625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371475"/>
                </a:lnTo>
                <a:cubicBezTo>
                  <a:pt x="1905000" y="403038"/>
                  <a:pt x="1879413" y="428625"/>
                  <a:pt x="1847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5960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2511742" y="4304824"/>
            <a:ext cx="17050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年老师 — "兄弟"称呼+拉拢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12695" y="4503420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接受但不欠人情，合作不依赖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92415" y="38871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下属</a:t>
            </a:r>
          </a:p>
        </p:txBody>
      </p:sp>
      <p:sp>
        <p:nvSpPr>
          <p:cNvPr id="34" name="Freeform 34"/>
          <p:cNvSpPr/>
          <p:nvPr/>
        </p:nvSpPr>
        <p:spPr>
          <a:xfrm>
            <a:off x="7905750" y="4143375"/>
            <a:ext cx="1905000" cy="428625"/>
          </a:xfrm>
          <a:custGeom>
            <a:avLst/>
            <a:gdLst/>
            <a:ahLst/>
            <a:cxnLst/>
            <a:rect l="l" t="t" r="r" b="b"/>
            <a:pathLst>
              <a:path w="1905000" h="428625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371475"/>
                </a:lnTo>
                <a:cubicBezTo>
                  <a:pt x="1905000" y="403038"/>
                  <a:pt x="1879413" y="428625"/>
                  <a:pt x="1847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9CA3AF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036242" y="4304824"/>
            <a:ext cx="2502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张世跃（实习生）— 任务下放+功劳上报</a:t>
            </a:r>
          </a:p>
        </p:txBody>
      </p:sp>
      <p:sp>
        <p:nvSpPr>
          <p:cNvPr id="36" name="Freeform 36"/>
          <p:cNvSpPr/>
          <p:nvPr/>
        </p:nvSpPr>
        <p:spPr>
          <a:xfrm>
            <a:off x="7905750" y="4667250"/>
            <a:ext cx="1905000" cy="428625"/>
          </a:xfrm>
          <a:custGeom>
            <a:avLst/>
            <a:gdLst/>
            <a:ahLst/>
            <a:cxnLst/>
            <a:rect l="l" t="t" r="r" b="b"/>
            <a:pathLst>
              <a:path w="1905000" h="428625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371475"/>
                </a:lnTo>
                <a:cubicBezTo>
                  <a:pt x="1905000" y="403038"/>
                  <a:pt x="1879413" y="428625"/>
                  <a:pt x="1847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9CA3AF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036242" y="4828699"/>
            <a:ext cx="18332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供应商 — 利益驱动+责任下放</a:t>
            </a:r>
          </a:p>
        </p:txBody>
      </p:sp>
      <p:sp>
        <p:nvSpPr>
          <p:cNvPr id="38" name="Freeform 38"/>
          <p:cNvSpPr/>
          <p:nvPr/>
        </p:nvSpPr>
        <p:spPr>
          <a:xfrm>
            <a:off x="762000" y="5524500"/>
            <a:ext cx="10668000" cy="571500"/>
          </a:xfrm>
          <a:custGeom>
            <a:avLst/>
            <a:gdLst/>
            <a:ahLst/>
            <a:cxnLst/>
            <a:rect l="l" t="t" r="r" b="b"/>
            <a:pathLst>
              <a:path w="10668000" h="5715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495300"/>
                </a:lnTo>
                <a:cubicBezTo>
                  <a:pt x="10668000" y="537384"/>
                  <a:pt x="10633884" y="571500"/>
                  <a:pt x="10591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7B1E3B">
              <a:alpha val="5000"/>
            </a:srgbClr>
          </a:solidFill>
          <a:ln w="4762">
            <a:solidFill>
              <a:srgbClr val="7B1E3B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39165" y="569690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策略洞察：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891665" y="5696902"/>
            <a:ext cx="47805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同盟用嘴出力 · 上级是最终观众 · 对手公开攻击 · 年老师拉拢+人情债</a:t>
            </a:r>
          </a:p>
        </p:txBody>
      </p:sp>
      <p:sp>
        <p:nvSpPr>
          <p:cNvPr id="41" name="Line 41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71475" y="6491288"/>
            <a:ext cx="13280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41432" y="64912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4774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63855" y="2162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供应商管理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9570" y="39814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四种驱动方式，让供应商自己动起来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76181" y="25669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07 / 12</a:t>
            </a:r>
          </a:p>
        </p:txBody>
      </p:sp>
      <p:sp>
        <p:nvSpPr>
          <p:cNvPr id="7" name="Rectangle 7"/>
          <p:cNvSpPr/>
          <p:nvPr/>
        </p:nvSpPr>
        <p:spPr>
          <a:xfrm>
            <a:off x="381000" y="857250"/>
            <a:ext cx="28575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381000" y="857250"/>
            <a:ext cx="2857500" cy="5715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50545" y="1060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质问式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8165" y="16011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核心话术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8165" y="1839278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i="1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"汰换机制是什么？"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8165" y="23155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手法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8165" y="2601278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直接提问，制造"必须回答"的压力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8165" y="31251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可学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8165" y="34109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精准提问，不给模糊空间</a:t>
            </a:r>
          </a:p>
        </p:txBody>
      </p:sp>
      <p:sp>
        <p:nvSpPr>
          <p:cNvPr id="16" name="Freeform 16"/>
          <p:cNvSpPr/>
          <p:nvPr/>
        </p:nvSpPr>
        <p:spPr>
          <a:xfrm>
            <a:off x="571500" y="4000500"/>
            <a:ext cx="571500" cy="209550"/>
          </a:xfrm>
          <a:custGeom>
            <a:avLst/>
            <a:gdLst/>
            <a:ahLst/>
            <a:cxnLst/>
            <a:rect l="l" t="t" r="r" b="b"/>
            <a:pathLst>
              <a:path w="571500" h="209550">
                <a:moveTo>
                  <a:pt x="104775" y="0"/>
                </a:moveTo>
                <a:lnTo>
                  <a:pt x="466725" y="0"/>
                </a:lnTo>
                <a:cubicBezTo>
                  <a:pt x="524591" y="0"/>
                  <a:pt x="571500" y="46909"/>
                  <a:pt x="571500" y="104775"/>
                </a:cubicBezTo>
                <a:lnTo>
                  <a:pt x="571500" y="104775"/>
                </a:lnTo>
                <a:cubicBezTo>
                  <a:pt x="571500" y="162641"/>
                  <a:pt x="524591" y="209550"/>
                  <a:pt x="4667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B91C1C">
              <a:alpha val="1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05790" y="40543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风险：高</a:t>
            </a:r>
          </a:p>
        </p:txBody>
      </p:sp>
      <p:sp>
        <p:nvSpPr>
          <p:cNvPr id="18" name="Rectangle 18"/>
          <p:cNvSpPr/>
          <p:nvPr/>
        </p:nvSpPr>
        <p:spPr>
          <a:xfrm>
            <a:off x="3429000" y="857250"/>
            <a:ext cx="28575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3429000" y="857250"/>
            <a:ext cx="2857500" cy="5715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598545" y="1060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驱动式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06165" y="16011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核心话术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06165" y="1839278"/>
            <a:ext cx="12151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i="1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"3.4亿才有奖金"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06165" y="23155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手法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606165" y="260127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用利益让供应商自己急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06165" y="31251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可学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06165" y="34109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利益绑定比命令更有效</a:t>
            </a:r>
          </a:p>
        </p:txBody>
      </p:sp>
      <p:sp>
        <p:nvSpPr>
          <p:cNvPr id="27" name="Freeform 27"/>
          <p:cNvSpPr/>
          <p:nvPr/>
        </p:nvSpPr>
        <p:spPr>
          <a:xfrm>
            <a:off x="3619500" y="4000500"/>
            <a:ext cx="571500" cy="209550"/>
          </a:xfrm>
          <a:custGeom>
            <a:avLst/>
            <a:gdLst/>
            <a:ahLst/>
            <a:cxnLst/>
            <a:rect l="l" t="t" r="r" b="b"/>
            <a:pathLst>
              <a:path w="571500" h="209550">
                <a:moveTo>
                  <a:pt x="104775" y="0"/>
                </a:moveTo>
                <a:lnTo>
                  <a:pt x="466725" y="0"/>
                </a:lnTo>
                <a:cubicBezTo>
                  <a:pt x="524591" y="0"/>
                  <a:pt x="571500" y="46909"/>
                  <a:pt x="571500" y="104775"/>
                </a:cubicBezTo>
                <a:lnTo>
                  <a:pt x="571500" y="104775"/>
                </a:lnTo>
                <a:cubicBezTo>
                  <a:pt x="571500" y="162641"/>
                  <a:pt x="524591" y="209550"/>
                  <a:pt x="4667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D97706">
              <a:alpha val="10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3653790" y="40543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风险：中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477000" y="857250"/>
            <a:ext cx="28575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477000" y="857250"/>
            <a:ext cx="2857500" cy="571500"/>
          </a:xfrm>
          <a:prstGeom prst="rect">
            <a:avLst/>
          </a:prstGeom>
          <a:solidFill>
            <a:srgbClr val="F2D06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646545" y="1060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要求式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4165" y="16011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核心话术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4165" y="1839278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i="1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"本月人力计划、周度计划"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165" y="23155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手法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165" y="260127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要求具体计划，不模糊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165" y="31251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5960C"/>
                </a:solidFill>
                <a:latin typeface="Arial"/>
                <a:ea typeface="Microsoft YaHei"/>
                <a:cs typeface="Arial"/>
              </a:rPr>
              <a:t>可学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165" y="34109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要求要具体可考核</a:t>
            </a:r>
          </a:p>
        </p:txBody>
      </p:sp>
      <p:sp>
        <p:nvSpPr>
          <p:cNvPr id="38" name="Freeform 38"/>
          <p:cNvSpPr/>
          <p:nvPr/>
        </p:nvSpPr>
        <p:spPr>
          <a:xfrm>
            <a:off x="6667500" y="4000500"/>
            <a:ext cx="571500" cy="209550"/>
          </a:xfrm>
          <a:custGeom>
            <a:avLst/>
            <a:gdLst/>
            <a:ahLst/>
            <a:cxnLst/>
            <a:rect l="l" t="t" r="r" b="b"/>
            <a:pathLst>
              <a:path w="571500" h="209550">
                <a:moveTo>
                  <a:pt x="104775" y="0"/>
                </a:moveTo>
                <a:lnTo>
                  <a:pt x="466725" y="0"/>
                </a:lnTo>
                <a:cubicBezTo>
                  <a:pt x="524591" y="0"/>
                  <a:pt x="571500" y="46909"/>
                  <a:pt x="571500" y="104775"/>
                </a:cubicBezTo>
                <a:lnTo>
                  <a:pt x="571500" y="104775"/>
                </a:lnTo>
                <a:cubicBezTo>
                  <a:pt x="571500" y="162641"/>
                  <a:pt x="524591" y="209550"/>
                  <a:pt x="4667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22C55E">
              <a:alpha val="10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701790" y="40543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风险：低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525000" y="857250"/>
            <a:ext cx="2286000" cy="5143500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9525000" y="857250"/>
            <a:ext cx="2286000" cy="5715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650730" y="1044892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改进式 ★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656445" y="15220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最值得学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655492" y="1847374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三要素法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655492" y="2085499"/>
            <a:ext cx="1320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原因+提升目标+举措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655492" y="256174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手法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655492" y="28474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让供应商自己承诺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655492" y="3371374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可学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655492" y="365712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最成熟的管理手法</a:t>
            </a:r>
          </a:p>
        </p:txBody>
      </p:sp>
      <p:sp>
        <p:nvSpPr>
          <p:cNvPr id="50" name="Freeform 50"/>
          <p:cNvSpPr/>
          <p:nvPr/>
        </p:nvSpPr>
        <p:spPr>
          <a:xfrm>
            <a:off x="9667875" y="4191000"/>
            <a:ext cx="666750" cy="209550"/>
          </a:xfrm>
          <a:custGeom>
            <a:avLst/>
            <a:gdLst/>
            <a:ahLst/>
            <a:cxnLst/>
            <a:rect l="l" t="t" r="r" b="b"/>
            <a:pathLst>
              <a:path w="666750" h="209550">
                <a:moveTo>
                  <a:pt x="104775" y="0"/>
                </a:moveTo>
                <a:lnTo>
                  <a:pt x="561975" y="0"/>
                </a:lnTo>
                <a:cubicBezTo>
                  <a:pt x="619841" y="0"/>
                  <a:pt x="666750" y="46909"/>
                  <a:pt x="666750" y="104775"/>
                </a:cubicBezTo>
                <a:lnTo>
                  <a:pt x="666750" y="104775"/>
                </a:lnTo>
                <a:cubicBezTo>
                  <a:pt x="666750" y="162641"/>
                  <a:pt x="619841" y="209550"/>
                  <a:pt x="56197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22C55E">
              <a:alpha val="15000"/>
            </a:srgbClr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9810036" y="4244816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风险低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657398" y="453056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效果：高</a:t>
            </a:r>
          </a:p>
        </p:txBody>
      </p:sp>
      <p:sp>
        <p:nvSpPr>
          <p:cNvPr id="53" name="Line 53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371475" y="6491288"/>
            <a:ext cx="13280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741432" y="64912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77482" y="64831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63855" y="2162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接手新业务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9570" y="3981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四步建立管理基础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76181" y="25669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08 / 12</a:t>
            </a:r>
          </a:p>
        </p:txBody>
      </p:sp>
      <p:sp>
        <p:nvSpPr>
          <p:cNvPr id="7" name="Rectangle 7"/>
          <p:cNvSpPr/>
          <p:nvPr/>
        </p:nvSpPr>
        <p:spPr>
          <a:xfrm>
            <a:off x="381000" y="857250"/>
            <a:ext cx="2667000" cy="495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381000" y="857250"/>
            <a:ext cx="2667000" cy="4762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93395" y="931545"/>
            <a:ext cx="37379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325" y="1028700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立规矩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8165" y="15535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具体动作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9118" y="1799749"/>
            <a:ext cx="750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30分钟回复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9118" y="2037874"/>
            <a:ext cx="715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10点报出勤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9118" y="22759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昵称格式规范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9118" y="251412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数据日报格式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9118" y="27522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群内沟通规范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165" y="322040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目的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9118" y="3466624"/>
            <a:ext cx="1462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后续变成"按规则办事"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9118" y="3704749"/>
            <a:ext cx="10357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不是"个人施压"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4286250"/>
            <a:ext cx="762000" cy="209550"/>
          </a:xfrm>
          <a:custGeom>
            <a:avLst/>
            <a:gdLst/>
            <a:ahLst/>
            <a:cxnLst/>
            <a:rect l="l" t="t" r="r" b="b"/>
            <a:pathLst>
              <a:path w="762000" h="209550">
                <a:moveTo>
                  <a:pt x="104775" y="0"/>
                </a:moveTo>
                <a:lnTo>
                  <a:pt x="657225" y="0"/>
                </a:lnTo>
                <a:cubicBezTo>
                  <a:pt x="715091" y="0"/>
                  <a:pt x="762000" y="46909"/>
                  <a:pt x="762000" y="104775"/>
                </a:cubicBezTo>
                <a:lnTo>
                  <a:pt x="762000" y="104775"/>
                </a:lnTo>
                <a:cubicBezTo>
                  <a:pt x="762000" y="162641"/>
                  <a:pt x="715091" y="209550"/>
                  <a:pt x="6572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B91C1C">
              <a:alpha val="1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335" y="4340066"/>
            <a:ext cx="3583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Step 1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238500" y="857250"/>
            <a:ext cx="2667000" cy="495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3238500" y="857250"/>
            <a:ext cx="2667000" cy="4762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3350895" y="931545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933825" y="10287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数据切入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415665" y="15535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具体动作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416618" y="1799749"/>
            <a:ext cx="1242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5分钟连发两条数据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16618" y="203787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精确到小数点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16618" y="22759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摆数据，不出结论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16618" y="251412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责任完美分散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15665" y="29822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目的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416618" y="322849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让别人背锅，自己居功</a:t>
            </a:r>
          </a:p>
        </p:txBody>
      </p:sp>
      <p:sp>
        <p:nvSpPr>
          <p:cNvPr id="33" name="Freeform 33"/>
          <p:cNvSpPr/>
          <p:nvPr/>
        </p:nvSpPr>
        <p:spPr>
          <a:xfrm>
            <a:off x="3429000" y="4286250"/>
            <a:ext cx="762000" cy="209550"/>
          </a:xfrm>
          <a:custGeom>
            <a:avLst/>
            <a:gdLst/>
            <a:ahLst/>
            <a:cxnLst/>
            <a:rect l="l" t="t" r="r" b="b"/>
            <a:pathLst>
              <a:path w="762000" h="209550">
                <a:moveTo>
                  <a:pt x="104775" y="0"/>
                </a:moveTo>
                <a:lnTo>
                  <a:pt x="657225" y="0"/>
                </a:lnTo>
                <a:cubicBezTo>
                  <a:pt x="715091" y="0"/>
                  <a:pt x="762000" y="46909"/>
                  <a:pt x="762000" y="104775"/>
                </a:cubicBezTo>
                <a:lnTo>
                  <a:pt x="762000" y="104775"/>
                </a:lnTo>
                <a:cubicBezTo>
                  <a:pt x="762000" y="162641"/>
                  <a:pt x="715091" y="209550"/>
                  <a:pt x="6572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D97706">
              <a:alpha val="1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615773" y="4340066"/>
            <a:ext cx="3884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Step 2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096000" y="857250"/>
            <a:ext cx="2667000" cy="495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096000" y="857250"/>
            <a:ext cx="2667000" cy="476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208395" y="931545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91325" y="10287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公开锁定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73165" y="15535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具体动作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274118" y="1799749"/>
            <a:ext cx="8150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群里@具体人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274118" y="203787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所有人看着不得不接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274118" y="2275999"/>
            <a:ext cx="9574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不私聊，公开@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74118" y="251412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连环追加施压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273165" y="29822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目的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274118" y="32284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制造回复压力</a:t>
            </a:r>
          </a:p>
        </p:txBody>
      </p:sp>
      <p:sp>
        <p:nvSpPr>
          <p:cNvPr id="46" name="Freeform 46"/>
          <p:cNvSpPr/>
          <p:nvPr/>
        </p:nvSpPr>
        <p:spPr>
          <a:xfrm>
            <a:off x="6286500" y="4286250"/>
            <a:ext cx="762000" cy="209550"/>
          </a:xfrm>
          <a:custGeom>
            <a:avLst/>
            <a:gdLst/>
            <a:ahLst/>
            <a:cxnLst/>
            <a:rect l="l" t="t" r="r" b="b"/>
            <a:pathLst>
              <a:path w="762000" h="209550">
                <a:moveTo>
                  <a:pt x="104775" y="0"/>
                </a:moveTo>
                <a:lnTo>
                  <a:pt x="657225" y="0"/>
                </a:lnTo>
                <a:cubicBezTo>
                  <a:pt x="715091" y="0"/>
                  <a:pt x="762000" y="46909"/>
                  <a:pt x="762000" y="104775"/>
                </a:cubicBezTo>
                <a:lnTo>
                  <a:pt x="762000" y="104775"/>
                </a:lnTo>
                <a:cubicBezTo>
                  <a:pt x="762000" y="162641"/>
                  <a:pt x="715091" y="209550"/>
                  <a:pt x="6572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2563EB">
              <a:alpha val="10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473273" y="4340066"/>
            <a:ext cx="3884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Step 3</a:t>
            </a:r>
          </a:p>
        </p:txBody>
      </p:sp>
      <p:sp>
        <p:nvSpPr>
          <p:cNvPr id="48" name="Rectangle 48"/>
          <p:cNvSpPr/>
          <p:nvPr/>
        </p:nvSpPr>
        <p:spPr>
          <a:xfrm>
            <a:off x="8953500" y="857250"/>
            <a:ext cx="2857500" cy="4953000"/>
          </a:xfrm>
          <a:prstGeom prst="rect">
            <a:avLst/>
          </a:prstGeom>
          <a:solidFill>
            <a:srgbClr val="FFFFFF"/>
          </a:solidFill>
          <a:ln w="14288">
            <a:solidFill>
              <a:srgbClr val="22C55E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953500" y="857250"/>
            <a:ext cx="2857500" cy="47625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065895" y="931545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648825" y="10287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建立预期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130665" y="15535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具体动作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131618" y="17997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按规则办事形象确立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131618" y="203787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引用初始规则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131618" y="2275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持续执行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130665" y="27441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目的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131618" y="2990374"/>
            <a:ext cx="11781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从"个人意志"变为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131618" y="3228499"/>
            <a:ext cx="750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"按章办事"</a:t>
            </a:r>
          </a:p>
        </p:txBody>
      </p:sp>
      <p:sp>
        <p:nvSpPr>
          <p:cNvPr id="59" name="Freeform 59"/>
          <p:cNvSpPr/>
          <p:nvPr/>
        </p:nvSpPr>
        <p:spPr>
          <a:xfrm>
            <a:off x="9144000" y="4286250"/>
            <a:ext cx="762000" cy="209550"/>
          </a:xfrm>
          <a:custGeom>
            <a:avLst/>
            <a:gdLst/>
            <a:ahLst/>
            <a:cxnLst/>
            <a:rect l="l" t="t" r="r" b="b"/>
            <a:pathLst>
              <a:path w="762000" h="209550">
                <a:moveTo>
                  <a:pt x="104775" y="0"/>
                </a:moveTo>
                <a:lnTo>
                  <a:pt x="657225" y="0"/>
                </a:lnTo>
                <a:cubicBezTo>
                  <a:pt x="715091" y="0"/>
                  <a:pt x="762000" y="46909"/>
                  <a:pt x="762000" y="104775"/>
                </a:cubicBezTo>
                <a:lnTo>
                  <a:pt x="762000" y="104775"/>
                </a:lnTo>
                <a:cubicBezTo>
                  <a:pt x="762000" y="162641"/>
                  <a:pt x="715091" y="209550"/>
                  <a:pt x="6572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22C55E">
              <a:alpha val="10000"/>
            </a:srgbClr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9330773" y="4340066"/>
            <a:ext cx="3884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Step 4</a:t>
            </a:r>
          </a:p>
        </p:txBody>
      </p:sp>
      <p:sp>
        <p:nvSpPr>
          <p:cNvPr id="61" name="Line 61"/>
          <p:cNvSpPr/>
          <p:nvPr/>
        </p:nvSpPr>
        <p:spPr>
          <a:xfrm>
            <a:off x="381000" y="6191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368618" y="6419374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核心逻辑：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78242" y="6419374"/>
            <a:ext cx="34708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规则一旦建立，管理就变成"按章办事"而非"个人意志"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63855" y="2162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应对策略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9570" y="398145"/>
            <a:ext cx="19748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话术对照 — 他说什么 vs 你怎么回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76181" y="256699"/>
            <a:ext cx="4662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09 / 12</a:t>
            </a:r>
          </a:p>
        </p:txBody>
      </p:sp>
      <p:sp>
        <p:nvSpPr>
          <p:cNvPr id="7" name="Rectangle 7"/>
          <p:cNvSpPr/>
          <p:nvPr/>
        </p:nvSpPr>
        <p:spPr>
          <a:xfrm>
            <a:off x="381000" y="857250"/>
            <a:ext cx="36195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381000" y="857250"/>
            <a:ext cx="3619500" cy="428625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54355" y="9972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四大核心原则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1476375"/>
            <a:ext cx="3238500" cy="762000"/>
          </a:xfrm>
          <a:custGeom>
            <a:avLst/>
            <a:gdLst/>
            <a:ahLst/>
            <a:cxnLst/>
            <a:rect l="l" t="t" r="r" b="b"/>
            <a:pathLst>
              <a:path w="3238500" h="762000">
                <a:moveTo>
                  <a:pt x="57150" y="0"/>
                </a:moveTo>
                <a:lnTo>
                  <a:pt x="3181350" y="0"/>
                </a:lnTo>
                <a:cubicBezTo>
                  <a:pt x="3212913" y="0"/>
                  <a:pt x="3238500" y="25587"/>
                  <a:pt x="3238500" y="57150"/>
                </a:cubicBezTo>
                <a:lnTo>
                  <a:pt x="3238500" y="704850"/>
                </a:lnTo>
                <a:cubicBezTo>
                  <a:pt x="3238500" y="736413"/>
                  <a:pt x="3212913" y="762000"/>
                  <a:pt x="3181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571500" y="147637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742950"/>
                </a:lnTo>
                <a:cubicBezTo>
                  <a:pt x="38100" y="753471"/>
                  <a:pt x="29571" y="762000"/>
                  <a:pt x="19050" y="762000"/>
                </a:cubicBezTo>
                <a:lnTo>
                  <a:pt x="19050" y="762000"/>
                </a:lnTo>
                <a:cubicBezTo>
                  <a:pt x="8529" y="762000"/>
                  <a:pt x="0" y="753471"/>
                  <a:pt x="0" y="742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01040" y="1648778"/>
            <a:ext cx="9283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1 不主动背锅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1992" y="1894999"/>
            <a:ext cx="20325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问题直接传递，不接"帮我看下"</a:t>
            </a:r>
          </a:p>
        </p:txBody>
      </p:sp>
      <p:sp>
        <p:nvSpPr>
          <p:cNvPr id="14" name="Freeform 14"/>
          <p:cNvSpPr/>
          <p:nvPr/>
        </p:nvSpPr>
        <p:spPr>
          <a:xfrm>
            <a:off x="571500" y="2333625"/>
            <a:ext cx="3238500" cy="762000"/>
          </a:xfrm>
          <a:custGeom>
            <a:avLst/>
            <a:gdLst/>
            <a:ahLst/>
            <a:cxnLst/>
            <a:rect l="l" t="t" r="r" b="b"/>
            <a:pathLst>
              <a:path w="3238500" h="762000">
                <a:moveTo>
                  <a:pt x="57150" y="0"/>
                </a:moveTo>
                <a:lnTo>
                  <a:pt x="3181350" y="0"/>
                </a:lnTo>
                <a:cubicBezTo>
                  <a:pt x="3212913" y="0"/>
                  <a:pt x="3238500" y="25587"/>
                  <a:pt x="3238500" y="57150"/>
                </a:cubicBezTo>
                <a:lnTo>
                  <a:pt x="3238500" y="704850"/>
                </a:lnTo>
                <a:cubicBezTo>
                  <a:pt x="3238500" y="736413"/>
                  <a:pt x="3212913" y="762000"/>
                  <a:pt x="3181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571500" y="233362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742950"/>
                </a:lnTo>
                <a:cubicBezTo>
                  <a:pt x="38100" y="753471"/>
                  <a:pt x="29571" y="762000"/>
                  <a:pt x="19050" y="762000"/>
                </a:cubicBezTo>
                <a:lnTo>
                  <a:pt x="19050" y="762000"/>
                </a:lnTo>
                <a:cubicBezTo>
                  <a:pt x="8529" y="762000"/>
                  <a:pt x="0" y="753471"/>
                  <a:pt x="0" y="742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01040" y="2506028"/>
            <a:ext cx="8076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2 边界清晰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1992" y="2752249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周末不接@，工作日按流程</a:t>
            </a:r>
          </a:p>
        </p:txBody>
      </p:sp>
      <p:sp>
        <p:nvSpPr>
          <p:cNvPr id="18" name="Freeform 18"/>
          <p:cNvSpPr/>
          <p:nvPr/>
        </p:nvSpPr>
        <p:spPr>
          <a:xfrm>
            <a:off x="571500" y="3190875"/>
            <a:ext cx="3238500" cy="762000"/>
          </a:xfrm>
          <a:custGeom>
            <a:avLst/>
            <a:gdLst/>
            <a:ahLst/>
            <a:cxnLst/>
            <a:rect l="l" t="t" r="r" b="b"/>
            <a:pathLst>
              <a:path w="3238500" h="762000">
                <a:moveTo>
                  <a:pt x="57150" y="0"/>
                </a:moveTo>
                <a:lnTo>
                  <a:pt x="3181350" y="0"/>
                </a:lnTo>
                <a:cubicBezTo>
                  <a:pt x="3212913" y="0"/>
                  <a:pt x="3238500" y="25587"/>
                  <a:pt x="3238500" y="57150"/>
                </a:cubicBezTo>
                <a:lnTo>
                  <a:pt x="3238500" y="704850"/>
                </a:lnTo>
                <a:cubicBezTo>
                  <a:pt x="3238500" y="736413"/>
                  <a:pt x="3212913" y="762000"/>
                  <a:pt x="3181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571500" y="319087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742950"/>
                </a:lnTo>
                <a:cubicBezTo>
                  <a:pt x="38100" y="753471"/>
                  <a:pt x="29571" y="762000"/>
                  <a:pt x="19050" y="762000"/>
                </a:cubicBezTo>
                <a:lnTo>
                  <a:pt x="19050" y="762000"/>
                </a:lnTo>
                <a:cubicBezTo>
                  <a:pt x="8529" y="762000"/>
                  <a:pt x="0" y="753471"/>
                  <a:pt x="0" y="742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01040" y="3363278"/>
            <a:ext cx="8076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3 信息独立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1992" y="3609499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建立独立渠道，不依赖他拿数据</a:t>
            </a:r>
          </a:p>
        </p:txBody>
      </p:sp>
      <p:sp>
        <p:nvSpPr>
          <p:cNvPr id="22" name="Freeform 22"/>
          <p:cNvSpPr/>
          <p:nvPr/>
        </p:nvSpPr>
        <p:spPr>
          <a:xfrm>
            <a:off x="571500" y="4048125"/>
            <a:ext cx="3238500" cy="762000"/>
          </a:xfrm>
          <a:custGeom>
            <a:avLst/>
            <a:gdLst/>
            <a:ahLst/>
            <a:cxnLst/>
            <a:rect l="l" t="t" r="r" b="b"/>
            <a:pathLst>
              <a:path w="3238500" h="762000">
                <a:moveTo>
                  <a:pt x="57150" y="0"/>
                </a:moveTo>
                <a:lnTo>
                  <a:pt x="3181350" y="0"/>
                </a:lnTo>
                <a:cubicBezTo>
                  <a:pt x="3212913" y="0"/>
                  <a:pt x="3238500" y="25587"/>
                  <a:pt x="3238500" y="57150"/>
                </a:cubicBezTo>
                <a:lnTo>
                  <a:pt x="3238500" y="704850"/>
                </a:lnTo>
                <a:cubicBezTo>
                  <a:pt x="3238500" y="736413"/>
                  <a:pt x="3212913" y="762000"/>
                  <a:pt x="31813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571500" y="404812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742950"/>
                </a:lnTo>
                <a:cubicBezTo>
                  <a:pt x="38100" y="753471"/>
                  <a:pt x="29571" y="762000"/>
                  <a:pt x="19050" y="762000"/>
                </a:cubicBezTo>
                <a:lnTo>
                  <a:pt x="19050" y="762000"/>
                </a:lnTo>
                <a:cubicBezTo>
                  <a:pt x="8529" y="762000"/>
                  <a:pt x="0" y="753471"/>
                  <a:pt x="0" y="742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01040" y="4220528"/>
            <a:ext cx="8076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4 学习技巧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1992" y="446674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立规矩、三要素法、数据说话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66260" y="9658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话术对照</a:t>
            </a:r>
          </a:p>
        </p:txBody>
      </p:sp>
      <p:sp>
        <p:nvSpPr>
          <p:cNvPr id="27" name="Line 27"/>
          <p:cNvSpPr/>
          <p:nvPr/>
        </p:nvSpPr>
        <p:spPr>
          <a:xfrm>
            <a:off x="4381500" y="1190625"/>
            <a:ext cx="7429500" cy="9525"/>
          </a:xfrm>
          <a:custGeom>
            <a:avLst/>
            <a:gdLst/>
            <a:ahLst/>
            <a:cxnLst/>
            <a:rect l="l" t="t" r="r" b="b"/>
            <a:pathLst>
              <a:path w="7429500" h="9525">
                <a:moveTo>
                  <a:pt x="0" y="0"/>
                </a:moveTo>
                <a:lnTo>
                  <a:pt x="7429500" y="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4381500" y="1285875"/>
            <a:ext cx="3714750" cy="28575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465320" y="1379220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他说（刘乾坤）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96250" y="1285875"/>
            <a:ext cx="3714750" cy="28575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180070" y="1379220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你回（年老师）</a:t>
            </a:r>
          </a:p>
        </p:txBody>
      </p:sp>
      <p:sp>
        <p:nvSpPr>
          <p:cNvPr id="32" name="Freeform 32"/>
          <p:cNvSpPr/>
          <p:nvPr/>
        </p:nvSpPr>
        <p:spPr>
          <a:xfrm>
            <a:off x="4381500" y="1619250"/>
            <a:ext cx="7429500" cy="762000"/>
          </a:xfrm>
          <a:custGeom>
            <a:avLst/>
            <a:gdLst/>
            <a:ahLst/>
            <a:cxnLst/>
            <a:rect l="l" t="t" r="r" b="b"/>
            <a:pathLst>
              <a:path w="7429500" h="762000">
                <a:moveTo>
                  <a:pt x="38100" y="0"/>
                </a:moveTo>
                <a:lnTo>
                  <a:pt x="7391400" y="0"/>
                </a:lnTo>
                <a:cubicBezTo>
                  <a:pt x="7412442" y="0"/>
                  <a:pt x="7429500" y="17058"/>
                  <a:pt x="7429500" y="38100"/>
                </a:cubicBezTo>
                <a:lnTo>
                  <a:pt x="7429500" y="723900"/>
                </a:lnTo>
                <a:cubicBezTo>
                  <a:pt x="7429500" y="744942"/>
                  <a:pt x="7412442" y="762000"/>
                  <a:pt x="7391400" y="762000"/>
                </a:cubicBezTo>
                <a:lnTo>
                  <a:pt x="38100" y="762000"/>
                </a:lnTo>
                <a:cubicBezTo>
                  <a:pt x="17058" y="762000"/>
                  <a:pt x="0" y="744942"/>
                  <a:pt x="0" y="723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E5E7EB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4381500" y="161925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742950"/>
                </a:lnTo>
                <a:cubicBezTo>
                  <a:pt x="38100" y="753471"/>
                  <a:pt x="29571" y="762000"/>
                  <a:pt x="19050" y="762000"/>
                </a:cubicBezTo>
                <a:lnTo>
                  <a:pt x="19050" y="762000"/>
                </a:lnTo>
                <a:cubicBezTo>
                  <a:pt x="8529" y="762000"/>
                  <a:pt x="0" y="753471"/>
                  <a:pt x="0" y="742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511040" y="1772602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"帮我看下，我该如何解答"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13898" y="2054066"/>
            <a:ext cx="12077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→ 不接任务，反问回去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25790" y="1772602"/>
            <a:ext cx="2188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"你的想法是什么？我先听你的"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28648" y="2054066"/>
            <a:ext cx="7258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→ 把球踢回去</a:t>
            </a:r>
          </a:p>
        </p:txBody>
      </p:sp>
      <p:sp>
        <p:nvSpPr>
          <p:cNvPr id="38" name="Freeform 38"/>
          <p:cNvSpPr/>
          <p:nvPr/>
        </p:nvSpPr>
        <p:spPr>
          <a:xfrm>
            <a:off x="4381500" y="2476500"/>
            <a:ext cx="7429500" cy="762000"/>
          </a:xfrm>
          <a:custGeom>
            <a:avLst/>
            <a:gdLst/>
            <a:ahLst/>
            <a:cxnLst/>
            <a:rect l="l" t="t" r="r" b="b"/>
            <a:pathLst>
              <a:path w="7429500" h="762000">
                <a:moveTo>
                  <a:pt x="38100" y="0"/>
                </a:moveTo>
                <a:lnTo>
                  <a:pt x="7391400" y="0"/>
                </a:lnTo>
                <a:cubicBezTo>
                  <a:pt x="7412442" y="0"/>
                  <a:pt x="7429500" y="17058"/>
                  <a:pt x="7429500" y="38100"/>
                </a:cubicBezTo>
                <a:lnTo>
                  <a:pt x="7429500" y="723900"/>
                </a:lnTo>
                <a:cubicBezTo>
                  <a:pt x="7429500" y="744942"/>
                  <a:pt x="7412442" y="762000"/>
                  <a:pt x="7391400" y="762000"/>
                </a:cubicBezTo>
                <a:lnTo>
                  <a:pt x="38100" y="762000"/>
                </a:lnTo>
                <a:cubicBezTo>
                  <a:pt x="17058" y="762000"/>
                  <a:pt x="0" y="744942"/>
                  <a:pt x="0" y="723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E5E7EB"/>
            </a:solidFill>
          </a:ln>
        </p:spPr>
      </p:sp>
      <p:sp>
        <p:nvSpPr>
          <p:cNvPr id="39" name="Freeform 39"/>
          <p:cNvSpPr/>
          <p:nvPr/>
        </p:nvSpPr>
        <p:spPr>
          <a:xfrm>
            <a:off x="4381500" y="24765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742950"/>
                </a:lnTo>
                <a:cubicBezTo>
                  <a:pt x="38100" y="753471"/>
                  <a:pt x="29571" y="762000"/>
                  <a:pt x="19050" y="762000"/>
                </a:cubicBezTo>
                <a:lnTo>
                  <a:pt x="19050" y="762000"/>
                </a:lnTo>
                <a:cubicBezTo>
                  <a:pt x="8529" y="762000"/>
                  <a:pt x="0" y="753471"/>
                  <a:pt x="0" y="742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511040" y="2629852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周末@处理供应商问题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513898" y="2911316"/>
            <a:ext cx="13282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→ 边界模糊，随时被打扰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25790" y="2629852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"收到，周一处理"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228648" y="2911316"/>
            <a:ext cx="10873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→ 边界清晰，不解释</a:t>
            </a:r>
          </a:p>
        </p:txBody>
      </p:sp>
      <p:sp>
        <p:nvSpPr>
          <p:cNvPr id="44" name="Freeform 44"/>
          <p:cNvSpPr/>
          <p:nvPr/>
        </p:nvSpPr>
        <p:spPr>
          <a:xfrm>
            <a:off x="4381500" y="3333750"/>
            <a:ext cx="7429500" cy="762000"/>
          </a:xfrm>
          <a:custGeom>
            <a:avLst/>
            <a:gdLst/>
            <a:ahLst/>
            <a:cxnLst/>
            <a:rect l="l" t="t" r="r" b="b"/>
            <a:pathLst>
              <a:path w="7429500" h="762000">
                <a:moveTo>
                  <a:pt x="38100" y="0"/>
                </a:moveTo>
                <a:lnTo>
                  <a:pt x="7391400" y="0"/>
                </a:lnTo>
                <a:cubicBezTo>
                  <a:pt x="7412442" y="0"/>
                  <a:pt x="7429500" y="17058"/>
                  <a:pt x="7429500" y="38100"/>
                </a:cubicBezTo>
                <a:lnTo>
                  <a:pt x="7429500" y="723900"/>
                </a:lnTo>
                <a:cubicBezTo>
                  <a:pt x="7429500" y="744942"/>
                  <a:pt x="7412442" y="762000"/>
                  <a:pt x="7391400" y="762000"/>
                </a:cubicBezTo>
                <a:lnTo>
                  <a:pt x="38100" y="762000"/>
                </a:lnTo>
                <a:cubicBezTo>
                  <a:pt x="17058" y="762000"/>
                  <a:pt x="0" y="744942"/>
                  <a:pt x="0" y="723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E5E7EB"/>
            </a:solidFill>
          </a:ln>
        </p:spPr>
      </p:sp>
      <p:sp>
        <p:nvSpPr>
          <p:cNvPr id="45" name="Freeform 45"/>
          <p:cNvSpPr/>
          <p:nvPr/>
        </p:nvSpPr>
        <p:spPr>
          <a:xfrm>
            <a:off x="4381500" y="333375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742950"/>
                </a:lnTo>
                <a:cubicBezTo>
                  <a:pt x="38100" y="753471"/>
                  <a:pt x="29571" y="762000"/>
                  <a:pt x="19050" y="762000"/>
                </a:cubicBezTo>
                <a:lnTo>
                  <a:pt x="19050" y="762000"/>
                </a:lnTo>
                <a:cubicBezTo>
                  <a:pt x="8529" y="762000"/>
                  <a:pt x="0" y="753471"/>
                  <a:pt x="0" y="742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4511040" y="3487102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"别找供应商，他们不如我们清楚"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513898" y="3768566"/>
            <a:ext cx="13282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→ 试图切断你的独立渠道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225790" y="3487102"/>
            <a:ext cx="2188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"理解，但我需要一线真实反馈"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228648" y="3768566"/>
            <a:ext cx="8463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→ 建立独立渠道</a:t>
            </a:r>
          </a:p>
        </p:txBody>
      </p:sp>
      <p:sp>
        <p:nvSpPr>
          <p:cNvPr id="50" name="Freeform 50"/>
          <p:cNvSpPr/>
          <p:nvPr/>
        </p:nvSpPr>
        <p:spPr>
          <a:xfrm>
            <a:off x="4381500" y="4191000"/>
            <a:ext cx="7429500" cy="762000"/>
          </a:xfrm>
          <a:custGeom>
            <a:avLst/>
            <a:gdLst/>
            <a:ahLst/>
            <a:cxnLst/>
            <a:rect l="l" t="t" r="r" b="b"/>
            <a:pathLst>
              <a:path w="7429500" h="762000">
                <a:moveTo>
                  <a:pt x="38100" y="0"/>
                </a:moveTo>
                <a:lnTo>
                  <a:pt x="7391400" y="0"/>
                </a:lnTo>
                <a:cubicBezTo>
                  <a:pt x="7412442" y="0"/>
                  <a:pt x="7429500" y="17058"/>
                  <a:pt x="7429500" y="38100"/>
                </a:cubicBezTo>
                <a:lnTo>
                  <a:pt x="7429500" y="723900"/>
                </a:lnTo>
                <a:cubicBezTo>
                  <a:pt x="7429500" y="744942"/>
                  <a:pt x="7412442" y="762000"/>
                  <a:pt x="7391400" y="762000"/>
                </a:cubicBezTo>
                <a:lnTo>
                  <a:pt x="38100" y="762000"/>
                </a:lnTo>
                <a:cubicBezTo>
                  <a:pt x="17058" y="762000"/>
                  <a:pt x="0" y="744942"/>
                  <a:pt x="0" y="723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E5E7EB"/>
            </a:solidFill>
          </a:ln>
        </p:spPr>
      </p:sp>
      <p:sp>
        <p:nvSpPr>
          <p:cNvPr id="51" name="Freeform 51"/>
          <p:cNvSpPr/>
          <p:nvPr/>
        </p:nvSpPr>
        <p:spPr>
          <a:xfrm>
            <a:off x="4381500" y="41910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742950"/>
                </a:lnTo>
                <a:cubicBezTo>
                  <a:pt x="38100" y="753471"/>
                  <a:pt x="29571" y="762000"/>
                  <a:pt x="19050" y="762000"/>
                </a:cubicBezTo>
                <a:lnTo>
                  <a:pt x="19050" y="762000"/>
                </a:lnTo>
                <a:cubicBezTo>
                  <a:pt x="8529" y="762000"/>
                  <a:pt x="0" y="753471"/>
                  <a:pt x="0" y="742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4511040" y="4344352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"辛苦兄弟多费心"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513898" y="4625816"/>
            <a:ext cx="12077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→ 情感绑架，模糊边界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225790" y="4344352"/>
            <a:ext cx="18132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"8个供应商，担心盯不细"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228648" y="4625816"/>
            <a:ext cx="13282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→ 示弱加边界，他会退让</a:t>
            </a:r>
          </a:p>
        </p:txBody>
      </p:sp>
      <p:sp>
        <p:nvSpPr>
          <p:cNvPr id="56" name="Freeform 56"/>
          <p:cNvSpPr/>
          <p:nvPr/>
        </p:nvSpPr>
        <p:spPr>
          <a:xfrm>
            <a:off x="4381500" y="5048250"/>
            <a:ext cx="7429500" cy="762000"/>
          </a:xfrm>
          <a:custGeom>
            <a:avLst/>
            <a:gdLst/>
            <a:ahLst/>
            <a:cxnLst/>
            <a:rect l="l" t="t" r="r" b="b"/>
            <a:pathLst>
              <a:path w="7429500" h="762000">
                <a:moveTo>
                  <a:pt x="38100" y="0"/>
                </a:moveTo>
                <a:lnTo>
                  <a:pt x="7391400" y="0"/>
                </a:lnTo>
                <a:cubicBezTo>
                  <a:pt x="7412442" y="0"/>
                  <a:pt x="7429500" y="17058"/>
                  <a:pt x="7429500" y="38100"/>
                </a:cubicBezTo>
                <a:lnTo>
                  <a:pt x="7429500" y="723900"/>
                </a:lnTo>
                <a:cubicBezTo>
                  <a:pt x="7429500" y="744942"/>
                  <a:pt x="7412442" y="762000"/>
                  <a:pt x="7391400" y="762000"/>
                </a:cubicBezTo>
                <a:lnTo>
                  <a:pt x="38100" y="762000"/>
                </a:lnTo>
                <a:cubicBezTo>
                  <a:pt x="17058" y="762000"/>
                  <a:pt x="0" y="744942"/>
                  <a:pt x="0" y="723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4762">
            <a:solidFill>
              <a:srgbClr val="E5E7EB"/>
            </a:solidFill>
          </a:ln>
        </p:spPr>
      </p:sp>
      <p:sp>
        <p:nvSpPr>
          <p:cNvPr id="57" name="Freeform 57"/>
          <p:cNvSpPr/>
          <p:nvPr/>
        </p:nvSpPr>
        <p:spPr>
          <a:xfrm>
            <a:off x="4381500" y="504825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742950"/>
                </a:lnTo>
                <a:cubicBezTo>
                  <a:pt x="38100" y="753471"/>
                  <a:pt x="29571" y="762000"/>
                  <a:pt x="19050" y="762000"/>
                </a:cubicBezTo>
                <a:lnTo>
                  <a:pt x="19050" y="762000"/>
                </a:lnTo>
                <a:cubicBezTo>
                  <a:pt x="8529" y="762000"/>
                  <a:pt x="0" y="753471"/>
                  <a:pt x="0" y="742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7B1E3B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4511040" y="520160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危机渲染 + 责任锁定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513898" y="5483066"/>
            <a:ext cx="14487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→ 制造恐慌，锁定你的责任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225790" y="520160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事实压危机、锁定卡点、踢球给方案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228648" y="5483066"/>
            <a:ext cx="9668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→ 用专业语言说话</a:t>
            </a:r>
          </a:p>
        </p:txBody>
      </p:sp>
      <p:sp>
        <p:nvSpPr>
          <p:cNvPr id="62" name="Line 62"/>
          <p:cNvSpPr/>
          <p:nvPr/>
        </p:nvSpPr>
        <p:spPr>
          <a:xfrm>
            <a:off x="381000" y="6191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368618" y="6419374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策略核心：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30618" y="6419374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不接球、不模糊、不依赖、学技巧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63855" y="2162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可学习内容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9570" y="398145"/>
            <a:ext cx="17513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四种核心技巧 + 核心差异对比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11781" y="25669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10 / 12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438150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1676400"/>
                </a:lnTo>
                <a:cubicBezTo>
                  <a:pt x="2667000" y="1697442"/>
                  <a:pt x="2649942" y="1714500"/>
                  <a:pt x="2628900" y="1714500"/>
                </a:cubicBezTo>
                <a:lnTo>
                  <a:pt x="38100" y="1714500"/>
                </a:lnTo>
                <a:cubicBezTo>
                  <a:pt x="17058" y="1714500"/>
                  <a:pt x="0" y="1697442"/>
                  <a:pt x="0" y="1676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381000" y="4381500"/>
            <a:ext cx="2667000" cy="333375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08635" y="449008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立规矩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9118" y="4800124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先定规则后办事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9118" y="5038249"/>
            <a:ext cx="1462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后续是"执行既定规则"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0070" y="5427345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场景：接手新业务、管理新团队</a:t>
            </a:r>
          </a:p>
        </p:txBody>
      </p:sp>
      <p:sp>
        <p:nvSpPr>
          <p:cNvPr id="13" name="Polygon 13"/>
          <p:cNvSpPr/>
          <p:nvPr/>
        </p:nvSpPr>
        <p:spPr>
          <a:xfrm>
            <a:off x="3143250" y="4238625"/>
            <a:ext cx="142875" cy="476250"/>
          </a:xfrm>
          <a:custGeom>
            <a:avLst/>
            <a:gdLst/>
            <a:ahLst/>
            <a:cxnLst/>
            <a:rect l="l" t="t" r="r" b="b"/>
            <a:pathLst>
              <a:path w="142875" h="476250">
                <a:moveTo>
                  <a:pt x="0" y="238125"/>
                </a:moveTo>
                <a:lnTo>
                  <a:pt x="142875" y="0"/>
                </a:lnTo>
                <a:lnTo>
                  <a:pt x="142875" y="4762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3333750" y="333375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1676400"/>
                </a:lnTo>
                <a:cubicBezTo>
                  <a:pt x="2667000" y="1697442"/>
                  <a:pt x="2649942" y="1714500"/>
                  <a:pt x="2628900" y="1714500"/>
                </a:cubicBezTo>
                <a:lnTo>
                  <a:pt x="38100" y="1714500"/>
                </a:lnTo>
                <a:cubicBezTo>
                  <a:pt x="17058" y="1714500"/>
                  <a:pt x="0" y="1697442"/>
                  <a:pt x="0" y="1676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3333750" y="3333750"/>
            <a:ext cx="2667000" cy="333375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461385" y="34423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三要素法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11868" y="3752374"/>
            <a:ext cx="13989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问题→原因+目标+举措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11868" y="399049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让别人承诺，完不成有把柄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12820" y="4379595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场景：供应商管理、推动执行</a:t>
            </a:r>
          </a:p>
        </p:txBody>
      </p:sp>
      <p:sp>
        <p:nvSpPr>
          <p:cNvPr id="20" name="Polygon 20"/>
          <p:cNvSpPr/>
          <p:nvPr/>
        </p:nvSpPr>
        <p:spPr>
          <a:xfrm>
            <a:off x="6096000" y="3190875"/>
            <a:ext cx="142875" cy="476250"/>
          </a:xfrm>
          <a:custGeom>
            <a:avLst/>
            <a:gdLst/>
            <a:ahLst/>
            <a:cxnLst/>
            <a:rect l="l" t="t" r="r" b="b"/>
            <a:pathLst>
              <a:path w="142875" h="476250">
                <a:moveTo>
                  <a:pt x="0" y="238125"/>
                </a:moveTo>
                <a:lnTo>
                  <a:pt x="142875" y="0"/>
                </a:lnTo>
                <a:lnTo>
                  <a:pt x="142875" y="4762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6286500" y="228600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1676400"/>
                </a:lnTo>
                <a:cubicBezTo>
                  <a:pt x="2667000" y="1697442"/>
                  <a:pt x="2649942" y="1714500"/>
                  <a:pt x="2628900" y="1714500"/>
                </a:cubicBezTo>
                <a:lnTo>
                  <a:pt x="38100" y="1714500"/>
                </a:lnTo>
                <a:cubicBezTo>
                  <a:pt x="17058" y="1714500"/>
                  <a:pt x="0" y="1697442"/>
                  <a:pt x="0" y="1676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286500" y="2286000"/>
            <a:ext cx="2667000" cy="333375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414135" y="23945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数据说话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64618" y="2704624"/>
            <a:ext cx="15270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精确数据展示+公开施压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64618" y="29427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数据是最好的武器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65570" y="33318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场景：汇报、驱动、施压</a:t>
            </a:r>
          </a:p>
        </p:txBody>
      </p:sp>
      <p:sp>
        <p:nvSpPr>
          <p:cNvPr id="27" name="Polygon 27"/>
          <p:cNvSpPr/>
          <p:nvPr/>
        </p:nvSpPr>
        <p:spPr>
          <a:xfrm>
            <a:off x="9048750" y="2143125"/>
            <a:ext cx="142875" cy="476250"/>
          </a:xfrm>
          <a:custGeom>
            <a:avLst/>
            <a:gdLst/>
            <a:ahLst/>
            <a:cxnLst/>
            <a:rect l="l" t="t" r="r" b="b"/>
            <a:pathLst>
              <a:path w="142875" h="476250">
                <a:moveTo>
                  <a:pt x="0" y="238125"/>
                </a:moveTo>
                <a:lnTo>
                  <a:pt x="142875" y="0"/>
                </a:lnTo>
                <a:lnTo>
                  <a:pt x="142875" y="47625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9239250" y="1238250"/>
            <a:ext cx="2571750" cy="1714500"/>
          </a:xfrm>
          <a:custGeom>
            <a:avLst/>
            <a:gdLst/>
            <a:ahLst/>
            <a:cxnLst/>
            <a:rect l="l" t="t" r="r" b="b"/>
            <a:pathLst>
              <a:path w="2571750" h="1714500">
                <a:moveTo>
                  <a:pt x="38100" y="0"/>
                </a:moveTo>
                <a:lnTo>
                  <a:pt x="2533650" y="0"/>
                </a:lnTo>
                <a:cubicBezTo>
                  <a:pt x="2554692" y="0"/>
                  <a:pt x="2571750" y="17058"/>
                  <a:pt x="2571750" y="38100"/>
                </a:cubicBezTo>
                <a:lnTo>
                  <a:pt x="2571750" y="1676400"/>
                </a:lnTo>
                <a:cubicBezTo>
                  <a:pt x="2571750" y="1697442"/>
                  <a:pt x="2554692" y="1714500"/>
                  <a:pt x="2533650" y="1714500"/>
                </a:cubicBezTo>
                <a:lnTo>
                  <a:pt x="38100" y="1714500"/>
                </a:lnTo>
                <a:cubicBezTo>
                  <a:pt x="17058" y="1714500"/>
                  <a:pt x="0" y="1697442"/>
                  <a:pt x="0" y="1676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22C55E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9239250" y="1238250"/>
            <a:ext cx="2571750" cy="333375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366885" y="1346835"/>
            <a:ext cx="9229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机制先行 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17368" y="16568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先建机制再谈业务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17368" y="189499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让供应商自己建系统，干不好有把柄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18320" y="228409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场景：建立长期管理体系</a:t>
            </a:r>
          </a:p>
        </p:txBody>
      </p:sp>
      <p:sp>
        <p:nvSpPr>
          <p:cNvPr id="34" name="Freeform 34"/>
          <p:cNvSpPr/>
          <p:nvPr/>
        </p:nvSpPr>
        <p:spPr>
          <a:xfrm>
            <a:off x="381000" y="762000"/>
            <a:ext cx="5334000" cy="1333500"/>
          </a:xfrm>
          <a:custGeom>
            <a:avLst/>
            <a:gdLst/>
            <a:ahLst/>
            <a:cxnLst/>
            <a:rect l="l" t="t" r="r" b="b"/>
            <a:pathLst>
              <a:path w="5334000" h="13335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1276350"/>
                </a:lnTo>
                <a:cubicBezTo>
                  <a:pt x="5334000" y="1307913"/>
                  <a:pt x="5308413" y="1333500"/>
                  <a:pt x="5276850" y="1333500"/>
                </a:cubicBezTo>
                <a:lnTo>
                  <a:pt x="57150" y="1333500"/>
                </a:lnTo>
                <a:cubicBezTo>
                  <a:pt x="25587" y="1333500"/>
                  <a:pt x="0" y="1307913"/>
                  <a:pt x="0" y="1276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B91C1C"/>
            </a:solidFill>
          </a:ln>
        </p:spPr>
      </p:sp>
      <p:sp>
        <p:nvSpPr>
          <p:cNvPr id="35" name="Freeform 35"/>
          <p:cNvSpPr/>
          <p:nvPr/>
        </p:nvSpPr>
        <p:spPr>
          <a:xfrm>
            <a:off x="381000" y="7620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1314450"/>
                </a:lnTo>
                <a:cubicBezTo>
                  <a:pt x="38100" y="1324971"/>
                  <a:pt x="29571" y="1333500"/>
                  <a:pt x="19050" y="1333500"/>
                </a:cubicBezTo>
                <a:lnTo>
                  <a:pt x="19050" y="1333500"/>
                </a:lnTo>
                <a:cubicBezTo>
                  <a:pt x="8529" y="1333500"/>
                  <a:pt x="0" y="1324971"/>
                  <a:pt x="0" y="1314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57212" y="926306"/>
            <a:ext cx="12621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刘乾坤 · 施压型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8165" y="1220152"/>
            <a:ext cx="25263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摆问题 → 施压 → 让供应商自己想办法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0070" y="161734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施压型管理：制造压力，不给支持</a:t>
            </a:r>
          </a:p>
        </p:txBody>
      </p:sp>
      <p:sp>
        <p:nvSpPr>
          <p:cNvPr id="39" name="Freeform 39"/>
          <p:cNvSpPr/>
          <p:nvPr/>
        </p:nvSpPr>
        <p:spPr>
          <a:xfrm>
            <a:off x="5905500" y="762000"/>
            <a:ext cx="5524500" cy="1333500"/>
          </a:xfrm>
          <a:custGeom>
            <a:avLst/>
            <a:gdLst/>
            <a:ahLst/>
            <a:cxnLst/>
            <a:rect l="l" t="t" r="r" b="b"/>
            <a:pathLst>
              <a:path w="5524500" h="1333500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1276350"/>
                </a:lnTo>
                <a:cubicBezTo>
                  <a:pt x="5524500" y="1307913"/>
                  <a:pt x="5498913" y="1333500"/>
                  <a:pt x="5467350" y="1333500"/>
                </a:cubicBezTo>
                <a:lnTo>
                  <a:pt x="57150" y="1333500"/>
                </a:lnTo>
                <a:cubicBezTo>
                  <a:pt x="25587" y="1333500"/>
                  <a:pt x="0" y="1307913"/>
                  <a:pt x="0" y="1276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2C55E"/>
            </a:solidFill>
          </a:ln>
        </p:spPr>
      </p:sp>
      <p:sp>
        <p:nvSpPr>
          <p:cNvPr id="40" name="Freeform 40"/>
          <p:cNvSpPr/>
          <p:nvPr/>
        </p:nvSpPr>
        <p:spPr>
          <a:xfrm>
            <a:off x="5905500" y="7620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1314450"/>
                </a:lnTo>
                <a:cubicBezTo>
                  <a:pt x="38100" y="1324971"/>
                  <a:pt x="29571" y="1333500"/>
                  <a:pt x="19050" y="1333500"/>
                </a:cubicBezTo>
                <a:lnTo>
                  <a:pt x="19050" y="1333500"/>
                </a:lnTo>
                <a:cubicBezTo>
                  <a:pt x="8529" y="1333500"/>
                  <a:pt x="0" y="1324971"/>
                  <a:pt x="0" y="1314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081712" y="926306"/>
            <a:ext cx="12621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年老师 · 伙伴型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082665" y="1220152"/>
            <a:ext cx="25493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摆问题 → 提要求 → 给支持 → 长期合作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084570" y="161734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伙伴型管理：温和但坚定，长期共赢</a:t>
            </a:r>
          </a:p>
        </p:txBody>
      </p:sp>
      <p:sp>
        <p:nvSpPr>
          <p:cNvPr id="44" name="Line 44"/>
          <p:cNvSpPr/>
          <p:nvPr/>
        </p:nvSpPr>
        <p:spPr>
          <a:xfrm>
            <a:off x="381000" y="6381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368618" y="6514624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进化方向：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78242" y="6514624"/>
            <a:ext cx="52935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学他的术（立规矩、三要素法、数据说话），用年老师的心（给支持、温和但坚决）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63855" y="2162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争议事件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9570" y="39814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三个争议事件暴露真实性格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7381" y="256699"/>
            <a:ext cx="3950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11 / 12</a:t>
            </a:r>
          </a:p>
        </p:txBody>
      </p:sp>
      <p:sp>
        <p:nvSpPr>
          <p:cNvPr id="7" name="Rectangle 7"/>
          <p:cNvSpPr/>
          <p:nvPr/>
        </p:nvSpPr>
        <p:spPr>
          <a:xfrm>
            <a:off x="381000" y="857250"/>
            <a:ext cx="36195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381000" y="857250"/>
            <a:ext cx="3619500" cy="3810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523875" y="933450"/>
            <a:ext cx="666750" cy="209550"/>
          </a:xfrm>
          <a:custGeom>
            <a:avLst/>
            <a:gdLst/>
            <a:ahLst/>
            <a:cxnLst/>
            <a:rect l="l" t="t" r="r" b="b"/>
            <a:pathLst>
              <a:path w="666750" h="209550">
                <a:moveTo>
                  <a:pt x="38100" y="0"/>
                </a:moveTo>
                <a:lnTo>
                  <a:pt x="628650" y="0"/>
                </a:lnTo>
                <a:cubicBezTo>
                  <a:pt x="649692" y="0"/>
                  <a:pt x="666750" y="17058"/>
                  <a:pt x="666750" y="38100"/>
                </a:cubicBezTo>
                <a:lnTo>
                  <a:pt x="666750" y="171450"/>
                </a:lnTo>
                <a:cubicBezTo>
                  <a:pt x="666750" y="192492"/>
                  <a:pt x="649692" y="209550"/>
                  <a:pt x="62865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80072" y="996791"/>
            <a:ext cx="3688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03-25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8260" y="9658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双重标准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8165" y="141065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自己违规推动供应商拿钱被内审查过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8165" y="1648778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反过来质疑李吉斌的激励方案</a:t>
            </a:r>
          </a:p>
        </p:txBody>
      </p:sp>
      <p:sp>
        <p:nvSpPr>
          <p:cNvPr id="14" name="Freeform 14"/>
          <p:cNvSpPr/>
          <p:nvPr/>
        </p:nvSpPr>
        <p:spPr>
          <a:xfrm>
            <a:off x="571500" y="2000250"/>
            <a:ext cx="3238500" cy="381000"/>
          </a:xfrm>
          <a:custGeom>
            <a:avLst/>
            <a:gdLst/>
            <a:ahLst/>
            <a:cxnLst/>
            <a:rect l="l" t="t" r="r" b="b"/>
            <a:pathLst>
              <a:path w="3238500" h="381000">
                <a:moveTo>
                  <a:pt x="38100" y="0"/>
                </a:moveTo>
                <a:lnTo>
                  <a:pt x="3200400" y="0"/>
                </a:lnTo>
                <a:cubicBezTo>
                  <a:pt x="3221442" y="0"/>
                  <a:pt x="3238500" y="17058"/>
                  <a:pt x="3238500" y="38100"/>
                </a:cubicBezTo>
                <a:lnTo>
                  <a:pt x="3238500" y="342900"/>
                </a:lnTo>
                <a:cubicBezTo>
                  <a:pt x="3238500" y="363942"/>
                  <a:pt x="3221442" y="381000"/>
                  <a:pt x="3200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54368" y="2133124"/>
            <a:ext cx="2174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i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年老师："挺可怕的，真的不可交"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33725" y="1443038"/>
            <a:ext cx="50211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HIGH RISK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191000" y="857250"/>
            <a:ext cx="36195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191000" y="857250"/>
            <a:ext cx="3619500" cy="381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4333875" y="933450"/>
            <a:ext cx="857250" cy="209550"/>
          </a:xfrm>
          <a:custGeom>
            <a:avLst/>
            <a:gdLst/>
            <a:ahLst/>
            <a:cxnLst/>
            <a:rect l="l" t="t" r="r" b="b"/>
            <a:pathLst>
              <a:path w="857250" h="209550">
                <a:moveTo>
                  <a:pt x="38100" y="0"/>
                </a:moveTo>
                <a:lnTo>
                  <a:pt x="819150" y="0"/>
                </a:lnTo>
                <a:cubicBezTo>
                  <a:pt x="840192" y="0"/>
                  <a:pt x="857250" y="17058"/>
                  <a:pt x="857250" y="38100"/>
                </a:cubicBezTo>
                <a:lnTo>
                  <a:pt x="857250" y="171450"/>
                </a:lnTo>
                <a:cubicBezTo>
                  <a:pt x="857250" y="192492"/>
                  <a:pt x="840192" y="209550"/>
                  <a:pt x="81915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390072" y="996791"/>
            <a:ext cx="6598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03-25 深夜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18760" y="965835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公开攻击前任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68165" y="1410652"/>
            <a:ext cx="20509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@李吉斌+CC上级，让前任难堪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68165" y="1648778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刚接手就甩锅，李吉斌反击后软化</a:t>
            </a:r>
          </a:p>
        </p:txBody>
      </p:sp>
      <p:sp>
        <p:nvSpPr>
          <p:cNvPr id="24" name="Freeform 24"/>
          <p:cNvSpPr/>
          <p:nvPr/>
        </p:nvSpPr>
        <p:spPr>
          <a:xfrm>
            <a:off x="4381500" y="2000250"/>
            <a:ext cx="3238500" cy="381000"/>
          </a:xfrm>
          <a:custGeom>
            <a:avLst/>
            <a:gdLst/>
            <a:ahLst/>
            <a:cxnLst/>
            <a:rect l="l" t="t" r="r" b="b"/>
            <a:pathLst>
              <a:path w="3238500" h="381000">
                <a:moveTo>
                  <a:pt x="38100" y="0"/>
                </a:moveTo>
                <a:lnTo>
                  <a:pt x="3200400" y="0"/>
                </a:lnTo>
                <a:cubicBezTo>
                  <a:pt x="3221442" y="0"/>
                  <a:pt x="3238500" y="17058"/>
                  <a:pt x="3238500" y="38100"/>
                </a:cubicBezTo>
                <a:lnTo>
                  <a:pt x="3238500" y="342900"/>
                </a:lnTo>
                <a:cubicBezTo>
                  <a:pt x="3238500" y="363942"/>
                  <a:pt x="3221442" y="381000"/>
                  <a:pt x="3200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464368" y="2133124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i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教训：面对强硬反击，他会退让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43725" y="1443038"/>
            <a:ext cx="4158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MEDIUM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01000" y="857250"/>
            <a:ext cx="3810000" cy="2667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91C1C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8001000" y="857250"/>
            <a:ext cx="3810000" cy="3810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8143875" y="933450"/>
            <a:ext cx="666750" cy="209550"/>
          </a:xfrm>
          <a:custGeom>
            <a:avLst/>
            <a:gdLst/>
            <a:ahLst/>
            <a:cxnLst/>
            <a:rect l="l" t="t" r="r" b="b"/>
            <a:pathLst>
              <a:path w="666750" h="209550">
                <a:moveTo>
                  <a:pt x="38100" y="0"/>
                </a:moveTo>
                <a:lnTo>
                  <a:pt x="628650" y="0"/>
                </a:lnTo>
                <a:cubicBezTo>
                  <a:pt x="649692" y="0"/>
                  <a:pt x="666750" y="17058"/>
                  <a:pt x="666750" y="38100"/>
                </a:cubicBezTo>
                <a:lnTo>
                  <a:pt x="666750" y="171450"/>
                </a:lnTo>
                <a:cubicBezTo>
                  <a:pt x="666750" y="192492"/>
                  <a:pt x="649692" y="209550"/>
                  <a:pt x="62865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200072" y="996791"/>
            <a:ext cx="3688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03-29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938260" y="965835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开门红带节奏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78165" y="14106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群内密集同步激励问题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78165" y="1648778"/>
            <a:ext cx="21812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道德绑架"影响1400个制鞋工人"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78165" y="188690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选择性攻击：只攻击服务组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78165" y="2125028"/>
            <a:ext cx="24956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夸大其词：实际"不会出现批量离职"</a:t>
            </a:r>
          </a:p>
        </p:txBody>
      </p:sp>
      <p:sp>
        <p:nvSpPr>
          <p:cNvPr id="36" name="Freeform 36"/>
          <p:cNvSpPr/>
          <p:nvPr/>
        </p:nvSpPr>
        <p:spPr>
          <a:xfrm>
            <a:off x="8191500" y="2476500"/>
            <a:ext cx="3429000" cy="381000"/>
          </a:xfrm>
          <a:custGeom>
            <a:avLst/>
            <a:gdLst/>
            <a:ahLst/>
            <a:cxnLst/>
            <a:rect l="l" t="t" r="r" b="b"/>
            <a:pathLst>
              <a:path w="3429000" h="381000">
                <a:moveTo>
                  <a:pt x="38100" y="0"/>
                </a:moveTo>
                <a:lnTo>
                  <a:pt x="3390900" y="0"/>
                </a:lnTo>
                <a:cubicBezTo>
                  <a:pt x="3411942" y="0"/>
                  <a:pt x="3429000" y="17058"/>
                  <a:pt x="3429000" y="38100"/>
                </a:cubicBezTo>
                <a:lnTo>
                  <a:pt x="3429000" y="342900"/>
                </a:lnTo>
                <a:cubicBezTo>
                  <a:pt x="3429000" y="363942"/>
                  <a:pt x="3411942" y="381000"/>
                  <a:pt x="3390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274368" y="2609374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i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教训：核实数据，不被情绪带节奏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44225" y="1443038"/>
            <a:ext cx="50211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HIGH RISK</a:t>
            </a:r>
          </a:p>
        </p:txBody>
      </p:sp>
      <p:sp>
        <p:nvSpPr>
          <p:cNvPr id="39" name="Rectangle 39"/>
          <p:cNvSpPr/>
          <p:nvPr/>
        </p:nvSpPr>
        <p:spPr>
          <a:xfrm>
            <a:off x="381000" y="3810000"/>
            <a:ext cx="11430000" cy="2190750"/>
          </a:xfrm>
          <a:prstGeom prst="rect">
            <a:avLst/>
          </a:prstGeom>
          <a:solidFill>
            <a:srgbClr val="FFFFFF"/>
          </a:solidFill>
          <a:ln w="14288">
            <a:solidFill>
              <a:srgbClr val="7B1E3B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381000" y="3810000"/>
            <a:ext cx="11430000" cy="476250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54355" y="39976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核心洞察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46760" y="453771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他对别人做的事，自己可能也在做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46760" y="4871085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双重标准是最大破绽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6760" y="5204460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面对事实反击和强硬态度，他会退让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48665" y="5649278"/>
            <a:ext cx="24419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用事实反击，态度强硬，他就会退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71475" y="6491288"/>
            <a:ext cx="2111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争议事件章节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7B1E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63855" y="2162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总结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11781" y="25669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9D0D9"/>
                </a:solidFill>
                <a:latin typeface="Arial"/>
                <a:ea typeface="Microsoft YaHei"/>
                <a:cs typeface="Arial"/>
              </a:rPr>
              <a:t>12 / 12</a:t>
            </a:r>
          </a:p>
        </p:txBody>
      </p:sp>
      <p:sp>
        <p:nvSpPr>
          <p:cNvPr id="6" name="Freeform 6"/>
          <p:cNvSpPr/>
          <p:nvPr/>
        </p:nvSpPr>
        <p:spPr>
          <a:xfrm>
            <a:off x="762000" y="952500"/>
            <a:ext cx="10668000" cy="1333500"/>
          </a:xfrm>
          <a:custGeom>
            <a:avLst/>
            <a:gdLst/>
            <a:ahLst/>
            <a:cxnLst/>
            <a:rect l="l" t="t" r="r" b="b"/>
            <a:pathLst>
              <a:path w="10668000" h="1333500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1276350"/>
                </a:lnTo>
                <a:cubicBezTo>
                  <a:pt x="10668000" y="1307913"/>
                  <a:pt x="10642413" y="1333500"/>
                  <a:pt x="10610850" y="1333500"/>
                </a:cubicBezTo>
                <a:lnTo>
                  <a:pt x="57150" y="1333500"/>
                </a:lnTo>
                <a:cubicBezTo>
                  <a:pt x="25587" y="1333500"/>
                  <a:pt x="0" y="1307913"/>
                  <a:pt x="0" y="1276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762000" y="952500"/>
            <a:ext cx="57150" cy="1333500"/>
          </a:xfrm>
          <a:custGeom>
            <a:avLst/>
            <a:gdLst/>
            <a:ahLst/>
            <a:cxnLst/>
            <a:rect l="l" t="t" r="r" b="b"/>
            <a:pathLst>
              <a:path w="57150" h="1333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304925"/>
                </a:lnTo>
                <a:cubicBezTo>
                  <a:pt x="57150" y="1320707"/>
                  <a:pt x="44357" y="1333500"/>
                  <a:pt x="28575" y="1333500"/>
                </a:cubicBezTo>
                <a:lnTo>
                  <a:pt x="28575" y="1333500"/>
                </a:lnTo>
                <a:cubicBezTo>
                  <a:pt x="12793" y="1333500"/>
                  <a:pt x="0" y="1320707"/>
                  <a:pt x="0" y="1304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7B1E3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97280" y="1087755"/>
            <a:ext cx="56069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7B1E3B">
                    <a:alpha val="15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68830" y="1202055"/>
            <a:ext cx="42398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他不是在管理，是在表演管理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80260" y="1680210"/>
            <a:ext cx="28521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最在意的是"老板知不知道我在解决"</a:t>
            </a:r>
          </a:p>
        </p:txBody>
      </p:sp>
      <p:sp>
        <p:nvSpPr>
          <p:cNvPr id="11" name="Freeform 11"/>
          <p:cNvSpPr/>
          <p:nvPr/>
        </p:nvSpPr>
        <p:spPr>
          <a:xfrm>
            <a:off x="762000" y="2571750"/>
            <a:ext cx="10668000" cy="1333500"/>
          </a:xfrm>
          <a:custGeom>
            <a:avLst/>
            <a:gdLst/>
            <a:ahLst/>
            <a:cxnLst/>
            <a:rect l="l" t="t" r="r" b="b"/>
            <a:pathLst>
              <a:path w="10668000" h="1333500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1276350"/>
                </a:lnTo>
                <a:cubicBezTo>
                  <a:pt x="10668000" y="1307913"/>
                  <a:pt x="10642413" y="1333500"/>
                  <a:pt x="10610850" y="1333500"/>
                </a:cubicBezTo>
                <a:lnTo>
                  <a:pt x="57150" y="1333500"/>
                </a:lnTo>
                <a:cubicBezTo>
                  <a:pt x="25587" y="1333500"/>
                  <a:pt x="0" y="1307913"/>
                  <a:pt x="0" y="1276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762000" y="2571750"/>
            <a:ext cx="57150" cy="1333500"/>
          </a:xfrm>
          <a:custGeom>
            <a:avLst/>
            <a:gdLst/>
            <a:ahLst/>
            <a:cxnLst/>
            <a:rect l="l" t="t" r="r" b="b"/>
            <a:pathLst>
              <a:path w="57150" h="1333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304925"/>
                </a:lnTo>
                <a:cubicBezTo>
                  <a:pt x="57150" y="1320707"/>
                  <a:pt x="44357" y="1333500"/>
                  <a:pt x="28575" y="1333500"/>
                </a:cubicBezTo>
                <a:lnTo>
                  <a:pt x="28575" y="1333500"/>
                </a:lnTo>
                <a:cubicBezTo>
                  <a:pt x="12793" y="1333500"/>
                  <a:pt x="0" y="1320707"/>
                  <a:pt x="0" y="1304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5960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97280" y="2707005"/>
            <a:ext cx="698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C5960C">
                    <a:alpha val="15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68830" y="282130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边界清晰是最好的防御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80260" y="3299460"/>
            <a:ext cx="29310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周末不接@，工作日按流程，信息独立</a:t>
            </a:r>
          </a:p>
        </p:txBody>
      </p:sp>
      <p:sp>
        <p:nvSpPr>
          <p:cNvPr id="16" name="Freeform 16"/>
          <p:cNvSpPr/>
          <p:nvPr/>
        </p:nvSpPr>
        <p:spPr>
          <a:xfrm>
            <a:off x="762000" y="4191000"/>
            <a:ext cx="10668000" cy="1333500"/>
          </a:xfrm>
          <a:custGeom>
            <a:avLst/>
            <a:gdLst/>
            <a:ahLst/>
            <a:cxnLst/>
            <a:rect l="l" t="t" r="r" b="b"/>
            <a:pathLst>
              <a:path w="10668000" h="1333500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1276350"/>
                </a:lnTo>
                <a:cubicBezTo>
                  <a:pt x="10668000" y="1307913"/>
                  <a:pt x="10642413" y="1333500"/>
                  <a:pt x="10610850" y="1333500"/>
                </a:cubicBezTo>
                <a:lnTo>
                  <a:pt x="57150" y="1333500"/>
                </a:lnTo>
                <a:cubicBezTo>
                  <a:pt x="25587" y="1333500"/>
                  <a:pt x="0" y="1307913"/>
                  <a:pt x="0" y="1276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762000" y="4191000"/>
            <a:ext cx="57150" cy="1333500"/>
          </a:xfrm>
          <a:custGeom>
            <a:avLst/>
            <a:gdLst/>
            <a:ahLst/>
            <a:cxnLst/>
            <a:rect l="l" t="t" r="r" b="b"/>
            <a:pathLst>
              <a:path w="57150" h="1333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304925"/>
                </a:lnTo>
                <a:cubicBezTo>
                  <a:pt x="57150" y="1320707"/>
                  <a:pt x="44357" y="1333500"/>
                  <a:pt x="28575" y="1333500"/>
                </a:cubicBezTo>
                <a:lnTo>
                  <a:pt x="28575" y="1333500"/>
                </a:lnTo>
                <a:cubicBezTo>
                  <a:pt x="12793" y="1333500"/>
                  <a:pt x="0" y="1320707"/>
                  <a:pt x="0" y="1304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97280" y="4326255"/>
            <a:ext cx="698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22C55E">
                    <a:alpha val="15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68830" y="4440555"/>
            <a:ext cx="488394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取其精华，做温和但坚定的管理者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80260" y="4918710"/>
            <a:ext cx="63398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学立规矩、三要素法、数据说话；加上给支持、温和但坚决、长期合作的伙伴关系</a:t>
            </a:r>
          </a:p>
        </p:txBody>
      </p:sp>
      <p:sp>
        <p:nvSpPr>
          <p:cNvPr id="21" name="Line 21"/>
          <p:cNvSpPr/>
          <p:nvPr/>
        </p:nvSpPr>
        <p:spPr>
          <a:xfrm>
            <a:off x="762000" y="5905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4762">
            <a:solidFill>
              <a:srgbClr val="E5E7E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52475" y="6205538"/>
            <a:ext cx="29984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v10.2 · 年老师建档 · 2026-03-19 · 刘乾坤人物深度分析报告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41432" y="620553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1E3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39738" y="620553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END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
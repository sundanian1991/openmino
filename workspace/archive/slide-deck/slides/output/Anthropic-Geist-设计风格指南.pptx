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1645920"/>
            <a:ext cx="1463040" cy="1645920"/>
          </a:xfrm>
          <a:prstGeom prst="ellipse">
            <a:avLst/>
          </a:prstGeom>
          <a:solidFill>
            <a:srgbClr val="C4725A"/>
          </a:solidFill>
          <a:ln w="25400">
            <a:solidFill>
              <a:srgbClr val="A85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480000">
            <a:off x="6400800" y="914400"/>
            <a:ext cx="320040" cy="914400"/>
          </a:xfrm>
          <a:prstGeom prst="roundRect">
            <a:avLst>
              <a:gd name="adj" fmla="val 22857"/>
            </a:avLst>
          </a:prstGeom>
          <a:solidFill>
            <a:srgbClr val="C4725A"/>
          </a:solidFill>
          <a:ln w="19050">
            <a:solidFill>
              <a:srgbClr val="A85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20000">
            <a:off x="6766560" y="777240"/>
            <a:ext cx="292608" cy="1005840"/>
          </a:xfrm>
          <a:prstGeom prst="roundRect">
            <a:avLst>
              <a:gd name="adj" fmla="val 25000"/>
            </a:avLst>
          </a:prstGeom>
          <a:solidFill>
            <a:srgbClr val="C4725A"/>
          </a:solidFill>
          <a:ln w="19050">
            <a:solidFill>
              <a:srgbClr val="A85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60000">
            <a:off x="7086600" y="822960"/>
            <a:ext cx="274320" cy="914400"/>
          </a:xfrm>
          <a:prstGeom prst="roundRect">
            <a:avLst>
              <a:gd name="adj" fmla="val 26667"/>
            </a:avLst>
          </a:prstGeom>
          <a:solidFill>
            <a:srgbClr val="C4725A"/>
          </a:solidFill>
          <a:ln w="19050">
            <a:solidFill>
              <a:srgbClr val="A85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720000">
            <a:off x="7360920" y="960120"/>
            <a:ext cx="256032" cy="822960"/>
          </a:xfrm>
          <a:prstGeom prst="roundRect">
            <a:avLst>
              <a:gd name="adj" fmla="val 28571"/>
            </a:avLst>
          </a:prstGeom>
          <a:solidFill>
            <a:srgbClr val="C4725A"/>
          </a:solidFill>
          <a:ln w="19050">
            <a:solidFill>
              <a:srgbClr val="A85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800000">
            <a:off x="6263640" y="1463040"/>
            <a:ext cx="274320" cy="731520"/>
          </a:xfrm>
          <a:prstGeom prst="roundRect">
            <a:avLst>
              <a:gd name="adj" fmla="val 26667"/>
            </a:avLst>
          </a:prstGeom>
          <a:solidFill>
            <a:srgbClr val="C4725A"/>
          </a:solidFill>
          <a:ln w="19050">
            <a:solidFill>
              <a:srgbClr val="A85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AF9F5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 × Geist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097280"/>
            <a:ext cx="1371600" cy="45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716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× Geist</a:t>
            </a:r>
            <a:endParaRPr lang="en-US" sz="4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设计风格完全指南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色彩系统 · 线条规则 · 构图法则 · 元素库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用温暖的手绘语言，讲述严谨的技术故事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4754880" cy="13716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72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设计风格培训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-1508760" y="1463040"/>
            <a:ext cx="1874520" cy="23774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-1508760" y="1463040"/>
            <a:ext cx="187452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-1371600" y="1737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-1371600" y="2240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 DNA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-1371600" y="27432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6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三大核心支柱与设计哲学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1874520" cy="23774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187452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737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色彩系统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6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陶土色家族与无障碍规范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463040"/>
            <a:ext cx="1874520" cy="23774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1463040"/>
            <a:ext cx="187452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737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743200" y="2240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线条与构图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27432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6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手绘规则与网格系统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1874520" cy="23774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463040"/>
            <a:ext cx="187452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737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800600" y="2240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标志性元素库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27432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6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手形符号与自然意象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1463040"/>
            <a:ext cx="1874520" cy="23774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1463040"/>
            <a:ext cx="187452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737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58000" y="2240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情感与语义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27432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6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色彩心理学与竞品差异化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778240" y="1463040"/>
            <a:ext cx="1874520" cy="23774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778240" y="1463040"/>
            <a:ext cx="187452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1" name="Text 29"/>
          <p:cNvSpPr/>
          <p:nvPr/>
        </p:nvSpPr>
        <p:spPr>
          <a:xfrm>
            <a:off x="8915400" y="17373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915400" y="2240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15400" y="27432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6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可复用的风格生成指令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D97757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 DNA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人文温度 × 技术精度 × 极简克制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182880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三大核心支柱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29260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60020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1828800" cy="18288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17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陶土色传递的质朴感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主调 + 手形元素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12801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280160"/>
            <a:ext cx="54864" cy="29260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Shape 14"/>
          <p:cNvSpPr/>
          <p:nvPr/>
        </p:nvSpPr>
        <p:spPr>
          <a:xfrm>
            <a:off x="4251960" y="1600200"/>
            <a:ext cx="731520" cy="731520"/>
          </a:xfrm>
          <a:prstGeom prst="ellipse">
            <a:avLst/>
          </a:prstGeom>
          <a:solidFill>
            <a:srgbClr val="B0AEA5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严谨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703320" y="2880360"/>
            <a:ext cx="1828800" cy="18288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3017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技术公司的可信度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566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794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几何网格 + 模块化结构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2801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8E6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280160"/>
            <a:ext cx="54864" cy="29260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0" y="1600200"/>
            <a:ext cx="731520" cy="731520"/>
          </a:xfrm>
          <a:prstGeom prst="ellipse">
            <a:avLst/>
          </a:prstGeom>
          <a:solidFill>
            <a:srgbClr val="141413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克制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0" y="2880360"/>
            <a:ext cx="1828800" cy="18288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017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内涵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少即是多的美学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3566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3794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充裕留白 + 精简元素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8229600" cy="502920"/>
          </a:xfrm>
          <a:prstGeom prst="roundRect">
            <a:avLst>
              <a:gd name="adj" fmla="val 7273"/>
            </a:avLst>
          </a:prstGeom>
          <a:solidFill>
            <a:srgbClr val="D97757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41655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"用温暖的手绘语言，讲述严谨的技术故事"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色彩系统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陶土色家族 · 辅助色 · 中性色 · 点缀色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82880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11480"/>
            <a:ext cx="36576" cy="5943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主色调：陶土色家族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474720" cy="1371600"/>
          </a:xfrm>
          <a:prstGeom prst="roundRect">
            <a:avLst>
              <a:gd name="adj" fmla="val 3333"/>
            </a:avLst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#E2725B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主品牌色、Logo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474720" cy="1371600"/>
          </a:xfrm>
          <a:prstGeom prst="roundRect">
            <a:avLst>
              <a:gd name="adj" fmla="val 3333"/>
            </a:avLst>
          </a:prstGeom>
          <a:solidFill>
            <a:srgbClr val="E3533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554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Accent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#E35336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强调色、CTA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474720" cy="1371600"/>
          </a:xfrm>
          <a:prstGeom prst="roundRect">
            <a:avLst>
              <a:gd name="adj" fmla="val 3333"/>
            </a:avLst>
          </a:prstGeom>
          <a:solidFill>
            <a:srgbClr val="CA664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Deep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#CA6641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文字、深色填充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2743200"/>
            <a:ext cx="3474720" cy="1371600"/>
          </a:xfrm>
          <a:prstGeom prst="roundRect">
            <a:avLst>
              <a:gd name="adj" fmla="val 3333"/>
            </a:avLst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Warm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#E76F51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替代暖色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 = 温暖 + 质朴 + 安全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11480"/>
            <a:ext cx="36576" cy="5943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辅助色 · 中性色 · 点缀色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108960" y="1188720"/>
            <a:ext cx="18288" cy="32004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1188720"/>
            <a:ext cx="18288" cy="3200400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辅助色 · 无障碍支持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B8514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5270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Shade-1  #B85143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755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大文本/次要元素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9C4438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0299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Shade-2  #9C4438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258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正文文本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7D372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5328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Shade-3  #7D372D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7614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高对比文本/UI状态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5D2822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0358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Shade-4  #5D2822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264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最高对比需求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中性色 · 温暖基底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337560" y="155448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F5F1E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5270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Cream/Ivory  #F5F1EE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17556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主背景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01168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E8E4E1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1984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Grey Light  #E8E4E1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2212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次背景、卡片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246888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C5C1BE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2441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Grey Mid  #C5C1BE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26700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边框、分割线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292608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8A8683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28986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Grey Dark  #8A8683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49040" y="3127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次要文字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338328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3D2C29"/>
          </a:solidFill>
          <a:ln w="6350">
            <a:solidFill>
              <a:srgbClr val="C5C1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3355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Charcoal  #3D2C29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49040" y="3584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主要文字、线条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点缀色 · 谨慎使用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263640" y="155448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2C5F7D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15270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Blue  #2C5F7D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75120" y="17556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链接、CTA — 色盲友好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205740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4A7C8B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0299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Muted Teal  #4A7C8B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75120" y="22585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次要点缀 — 极少使用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256032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8BA87A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25328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Sage  #8BA87A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75120" y="27614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装饰元素 — 自然意象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11480"/>
            <a:ext cx="36576" cy="5943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色彩使用金字塔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2C5F7D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1417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38328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点缀色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Blue / Muted Teal — 链接、CTA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37744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E2725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514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2468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主色陶土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2880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— 填充、强调、图标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474720"/>
            <a:ext cx="7772400" cy="914400"/>
          </a:xfrm>
          <a:prstGeom prst="roundRect">
            <a:avLst>
              <a:gd name="adj" fmla="val 5000"/>
            </a:avLst>
          </a:prstGeom>
          <a:solidFill>
            <a:srgbClr val="E8E4E1"/>
          </a:solidFill>
          <a:ln/>
        </p:spPr>
      </p:sp>
      <p:sp>
        <p:nvSpPr>
          <p:cNvPr id="14" name="Text 12"/>
          <p:cNvSpPr/>
          <p:nvPr/>
        </p:nvSpPr>
        <p:spPr>
          <a:xfrm>
            <a:off x="-45720" y="3611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35661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中性基底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97764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Cream / Grey — 背景、文字、边框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线条与构图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手绘规则 · 网格系统 · 标志性元素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82880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线条特征与手绘规则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线条特征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749040" cy="18288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手绘感、微瑕 — 非机械完美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03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2-3px — 保持一致性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60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圆角 (Round cap) — 柔和亲和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090672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17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圆滑过渡 (Round join) — 避免锐角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547872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74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Charcoal #3D2C29 或 Terracotta Deep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3931920" cy="1371600"/>
          </a:xfrm>
          <a:prstGeom prst="roundRect">
            <a:avLst>
              <a:gd name="adj" fmla="val 3333"/>
            </a:avLst>
          </a:prstGeom>
          <a:solidFill>
            <a:srgbClr val="F0F5EE"/>
          </a:solidFill>
          <a:ln w="6350">
            <a:solidFill>
              <a:srgbClr val="D4E8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可接受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16002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插画线条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8013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装饰元素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0025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背景图案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2037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头像框架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651760"/>
            <a:ext cx="3931920" cy="1371600"/>
          </a:xfrm>
          <a:prstGeom prst="roundRect">
            <a:avLst>
              <a:gd name="adj" fmla="val 3333"/>
            </a:avLst>
          </a:prstGeom>
          <a:solidFill>
            <a:srgbClr val="FBF0EE"/>
          </a:solidFill>
          <a:ln w="6350">
            <a:solidFill>
              <a:srgbClr val="E8D5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不可接受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0" y="3154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UI 图标（需严格测试）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3558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小尺寸图标（&lt;16px）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55701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导航图标（除非全套手绘）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37581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需要精确传达的符号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141413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装饰层（背景纹理）  →  表达层（手势、自然元素）  →  结构层（几何形状，谨慎手绘）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模板库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风格前缀 · 色彩指令 · 修饰词 · 实战案例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82880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标志性元素库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229600" cy="1097280"/>
          </a:xfrm>
          <a:prstGeom prst="roundRect">
            <a:avLst>
              <a:gd name="adj" fmla="val 3333"/>
            </a:avLst>
          </a:prstGeom>
          <a:solidFill>
            <a:srgbClr val="FAF9F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5720" cy="10972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手形符号系统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手形是 Anthropic 设计的核心，象征连接、传递、协作、引导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1430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张开 = 欢迎   ·   指向 = 引导   ·   握拳 = 力量   ·   托举 = 支持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22960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286000"/>
            <a:ext cx="45720" cy="10972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59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× 物品组合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手与物品的组合产生语义乘法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手+书籍 = 知识传递   ·   手+地球 = 全球协作   ·   手+代码 = 技术创作   ·   手+植物 = 成长培育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229600" cy="1097280"/>
          </a:xfrm>
          <a:prstGeom prst="roundRect">
            <a:avLst>
              <a:gd name="adj" fmla="val 3333"/>
            </a:avLst>
          </a:prstGeom>
          <a:solidFill>
            <a:srgbClr val="FAF9F5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566160"/>
            <a:ext cx="45720" cy="10972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自然意象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3913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从自然中提取视觉隐喻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7033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蝴蝶 = 蜕变   ·   山脉 = 稳定   ·   蜂巢 = 协作   ·   水流 = 流动   ·   树木 = 生长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情感与语义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色彩心理学 · 竞品对比 · 语调映射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82880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457200"/>
            <a:ext cx="1097280" cy="109728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3474720"/>
            <a:ext cx="731520" cy="731520"/>
          </a:xfrm>
          <a:prstGeom prst="ellipse">
            <a:avLst/>
          </a:prstGeom>
          <a:solidFill>
            <a:srgbClr val="B0AEA5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色彩心理学与竞品差异化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陶土色传递的信号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2880" cy="1828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"我们是可亲近的"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82880" cy="1828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"我们重视手工细节"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82880" cy="1828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"我们有扎实根基"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82880" cy="1828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"我们不只是冰冷的科技"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竞品色彩对比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13898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6184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冷蓝/白 — 精英、科技感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011680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10A37F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9842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22128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绿/黑 — 实用、功能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606040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E2725B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5786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8072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陶土/米白 — 温暖、可信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1463040"/>
          </a:xfrm>
          <a:prstGeom prst="roundRect">
            <a:avLst>
              <a:gd name="adj" fmla="val 3750"/>
            </a:avLst>
          </a:prstGeom>
          <a:solidFill>
            <a:srgbClr val="14141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语调视觉映射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520" y="379476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D97757">
              <a:alpha val="20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网格对齐、模块化结构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97480" y="379476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D97757">
              <a:alpha val="20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8892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陶土色、手形、柔和曲线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79476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D97757">
              <a:alpha val="20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5488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极简、留白、几何元素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29400" y="379476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D97757">
              <a:alpha val="20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人文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2084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手绘感、自然意象、故事性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1414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风格前缀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74520" y="914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6DC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91440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0AEA5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914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主体描述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914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6DC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91440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914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色彩指令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66360" y="914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6DC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94960" y="91440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0AEA5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914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风格修饰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914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6DC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880" y="91440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141413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914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463040"/>
            <a:ext cx="82296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463040"/>
            <a:ext cx="54864" cy="16459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1554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快速调用模板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182880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minimalist [主题] in Anthropic design style,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202996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featuring hand-drawn line art with terracotta #C77B68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2231136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warm cream background #F5F1EE, charcoal lines #3D2C29,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2432304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 organic curves, rounded line endings,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263347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ample negative space, warm and approachable,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283464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vector art style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必选修饰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hand-drawn style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813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minimalist line art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01421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 organic curves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21538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rounded line endings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可选修饰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0" y="3611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 aesthetic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0" y="3813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ample negative space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0" y="401421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geometric grid layout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06240" y="421538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vector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34340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AF9F5"/>
          </a:solidFill>
          <a:ln w="6350">
            <a:solidFill>
              <a:srgbClr val="E8E6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389120"/>
            <a:ext cx="274320" cy="2743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44074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写作图标 — 手+笔记本电脑 on 5x5 grid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91840" y="434340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AF9F5"/>
          </a:solidFill>
          <a:ln w="6350">
            <a:solidFill>
              <a:srgbClr val="E8E6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3280" y="4389120"/>
            <a:ext cx="274320" cy="2743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3" name="Text 41"/>
          <p:cNvSpPr/>
          <p:nvPr/>
        </p:nvSpPr>
        <p:spPr>
          <a:xfrm>
            <a:off x="338328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749040" y="44074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音乐插画 — 抽象音符+手形 flowing movement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0" y="434340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AF9F5"/>
          </a:solidFill>
          <a:ln w="6350">
            <a:solidFill>
              <a:srgbClr val="E8E6D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4389120"/>
            <a:ext cx="274320" cy="2743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83680" y="44074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学习成长 — 手浇灌植物+书籍 symbolizing growth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82880"/>
            <a:ext cx="4114800" cy="41148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2926080"/>
            <a:ext cx="1371600" cy="1371600"/>
          </a:xfrm>
          <a:prstGeom prst="ellipse">
            <a:avLst/>
          </a:prstGeom>
          <a:solidFill>
            <a:srgbClr val="B0AEA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572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用温暖的手绘语言，</a:t>
            </a:r>
            <a:endParaRPr lang="en-US" sz="2800" dirty="0"/>
          </a:p>
          <a:p>
            <a:pPr algn="ctr"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讲述严谨的技术故事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0" y="1737360"/>
            <a:ext cx="2194560" cy="36576"/>
          </a:xfrm>
          <a:prstGeom prst="rect">
            <a:avLst/>
          </a:prstGeom>
          <a:solidFill>
            <a:srgbClr val="B0AEA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主色使用 Terracotta (#C77B68)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59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背景使用 Cream/Ivory (#F5F1EE)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066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线条为 Charcoal (#3D2C29)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540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线条端点为圆角 (Round cap)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01168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留白 &gt; 40%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359152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359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元素对齐到网格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706624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70662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手绘感但不失严谨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054096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0540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整体温暖、可信、克制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14141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11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三原色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8862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C77B68"/>
          </a:solidFill>
          <a:ln/>
        </p:spPr>
      </p:sp>
      <p:sp>
        <p:nvSpPr>
          <p:cNvPr id="25" name="Text 23"/>
          <p:cNvSpPr/>
          <p:nvPr/>
        </p:nvSpPr>
        <p:spPr>
          <a:xfrm>
            <a:off x="1033272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Terracotta #C77B68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8862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F1EE"/>
          </a:solidFill>
          <a:ln/>
        </p:spPr>
      </p:sp>
      <p:sp>
        <p:nvSpPr>
          <p:cNvPr id="27" name="Text 25"/>
          <p:cNvSpPr/>
          <p:nvPr/>
        </p:nvSpPr>
        <p:spPr>
          <a:xfrm>
            <a:off x="3593592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Cream #F5F1EE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06440" y="38862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3D2C29"/>
          </a:solidFill>
          <a:ln/>
        </p:spPr>
      </p:sp>
      <p:sp>
        <p:nvSpPr>
          <p:cNvPr id="29" name="Text 27"/>
          <p:cNvSpPr/>
          <p:nvPr/>
        </p:nvSpPr>
        <p:spPr>
          <a:xfrm>
            <a:off x="6153912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Charcoal #3D2C29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42336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三关键词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44805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D97757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783080" y="44805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D97757"/>
          </a:solidFill>
          <a:ln/>
        </p:spPr>
      </p:sp>
      <p:sp>
        <p:nvSpPr>
          <p:cNvPr id="34" name="Text 32"/>
          <p:cNvSpPr/>
          <p:nvPr/>
        </p:nvSpPr>
        <p:spPr>
          <a:xfrm>
            <a:off x="1783080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80360" y="44805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D97757"/>
          </a:solidFill>
          <a:ln/>
        </p:spPr>
      </p:sp>
      <p:sp>
        <p:nvSpPr>
          <p:cNvPr id="36" name="Text 34"/>
          <p:cNvSpPr/>
          <p:nvPr/>
        </p:nvSpPr>
        <p:spPr>
          <a:xfrm>
            <a:off x="2880360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8288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6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谢谢 —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503920" y="4709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7365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× Geist 设计风格完全指南</dc:title>
  <dc:subject>PptxGenJS Presentation</dc:subject>
  <dc:creator>Mino</dc:creator>
  <cp:lastModifiedBy>Mino</cp:lastModifiedBy>
  <cp:revision>1</cp:revision>
  <dcterms:created xsi:type="dcterms:W3CDTF">2026-03-31T16:22:48Z</dcterms:created>
  <dcterms:modified xsi:type="dcterms:W3CDTF">2026-03-31T16:22:48Z</dcterms:modified>
</cp:coreProperties>
</file>
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6995160" y="1737360"/>
            <a:ext cx="868680" cy="1005840"/>
          </a:xfrm>
          <a:prstGeom prst="roundRect">
            <a:avLst>
              <a:gd name="adj" fmla="val 15789"/>
            </a:avLst>
          </a:prstGeom>
          <a:solidFill>
            <a:srgbClr val="D4866E"/>
          </a:solidFill>
          <a:ln w="19050">
            <a:solidFill>
              <a:srgbClr val="B85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500000">
            <a:off x="6720840" y="1828800"/>
            <a:ext cx="292608" cy="685800"/>
          </a:xfrm>
          <a:prstGeom prst="roundRect">
            <a:avLst>
              <a:gd name="adj" fmla="val 25000"/>
            </a:avLst>
          </a:prstGeom>
          <a:solidFill>
            <a:srgbClr val="D4866E"/>
          </a:solidFill>
          <a:ln w="15240">
            <a:solidFill>
              <a:srgbClr val="B85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00000">
            <a:off x="7059168" y="1097280"/>
            <a:ext cx="256032" cy="777240"/>
          </a:xfrm>
          <a:prstGeom prst="roundRect">
            <a:avLst>
              <a:gd name="adj" fmla="val 28571"/>
            </a:avLst>
          </a:prstGeom>
          <a:solidFill>
            <a:srgbClr val="D4866E"/>
          </a:solidFill>
          <a:ln w="15240">
            <a:solidFill>
              <a:srgbClr val="B85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20000">
            <a:off x="7360920" y="1005840"/>
            <a:ext cx="256032" cy="841248"/>
          </a:xfrm>
          <a:prstGeom prst="roundRect">
            <a:avLst>
              <a:gd name="adj" fmla="val 28571"/>
            </a:avLst>
          </a:prstGeom>
          <a:solidFill>
            <a:srgbClr val="D4866E"/>
          </a:solidFill>
          <a:ln w="15240">
            <a:solidFill>
              <a:srgbClr val="B85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300000">
            <a:off x="7662672" y="1078992"/>
            <a:ext cx="256032" cy="749808"/>
          </a:xfrm>
          <a:prstGeom prst="roundRect">
            <a:avLst>
              <a:gd name="adj" fmla="val 28571"/>
            </a:avLst>
          </a:prstGeom>
          <a:solidFill>
            <a:srgbClr val="D4866E"/>
          </a:solidFill>
          <a:ln w="15240">
            <a:solidFill>
              <a:srgbClr val="B85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00000">
            <a:off x="7936992" y="1234440"/>
            <a:ext cx="228600" cy="640080"/>
          </a:xfrm>
          <a:prstGeom prst="roundRect">
            <a:avLst>
              <a:gd name="adj" fmla="val 32000"/>
            </a:avLst>
          </a:prstGeom>
          <a:solidFill>
            <a:srgbClr val="D4866E"/>
          </a:solidFill>
          <a:ln w="15240">
            <a:solidFill>
              <a:srgbClr val="B85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1EE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Geist × Anthropic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630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Geist × Anthropic</a:t>
            </a:r>
            <a:endParaRPr lang="en-US" sz="4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设计风格完全指南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 · 线条规则 · 构图法则 · 元素库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用温暖的手绘语言，讲述严谨的技术故事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4937760" cy="13716"/>
          </a:xfrm>
          <a:prstGeom prst="rect">
            <a:avLst/>
          </a:prstGeom>
          <a:solidFill>
            <a:srgbClr val="C5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1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设计风格培训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74520" cy="256032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874520" cy="36576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 DNA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人文温度 × 技术精度 × 极简克制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74520" cy="256032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63040"/>
            <a:ext cx="1874520" cy="36576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2377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9260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陶土色家族与无障碍规范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874520" cy="256032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463040"/>
            <a:ext cx="1874520" cy="36576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线条与构图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手绘规则与网格系统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463040"/>
            <a:ext cx="1874520" cy="256032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463040"/>
            <a:ext cx="1874520" cy="36576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9260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模板与检查清单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709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 DNA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人文温度 × 技术精度 × 极简克制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457200" cy="320040"/>
          </a:xfrm>
          <a:prstGeom prst="rect">
            <a:avLst>
              <a:gd name="adj" fmla="val 14286"/>
            </a:avLst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三大核心支柱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C5C1B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645920"/>
            <a:ext cx="731520" cy="731520"/>
          </a:xfrm>
          <a:prstGeom prst="oval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1828800" cy="18288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陶土色传递的质朴感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主调 + 手形元素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56032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C5C1B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645920"/>
            <a:ext cx="731520" cy="731520"/>
          </a:xfrm>
          <a:prstGeom prst="oval">
            <a:avLst/>
          </a:prstGeom>
          <a:solidFill>
            <a:srgbClr val="CA6641"/>
          </a:solidFill>
          <a:ln w="12700">
            <a:solidFill>
              <a:srgbClr val="CA66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0" y="3017520"/>
            <a:ext cx="1828800" cy="18288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技术公司的可信度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几何网格 + 模块化结构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56032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C5C1B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645920"/>
            <a:ext cx="731520" cy="731520"/>
          </a:xfrm>
          <a:prstGeom prst="oval">
            <a:avLst/>
          </a:prstGeom>
          <a:solidFill>
            <a:srgbClr val="3D2C29"/>
          </a:solidFill>
          <a:ln w="12700">
            <a:solidFill>
              <a:srgbClr val="3D2C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92240" y="3017520"/>
            <a:ext cx="1828800" cy="18288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少即是多的美学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充裕留白 + 精简元素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457200" cy="320040"/>
          </a:xfrm>
          <a:prstGeom prst="rect">
            <a:avLst>
              <a:gd name="adj" fmla="val 14286"/>
            </a:avLst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陶土色家族 · 辅助色 · 中性色 · 点缀色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11480"/>
            <a:ext cx="36576" cy="59436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主色调：陶土色家族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474720" cy="1371600"/>
          </a:xfrm>
          <a:prstGeom prst="rect">
            <a:avLst>
              <a:gd name="adj" fmla="val 3333"/>
            </a:avLst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#E2725B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主品牌色、Logo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74720" cy="1371600"/>
          </a:xfrm>
          <a:prstGeom prst="rect">
            <a:avLst>
              <a:gd name="adj" fmla="val 3333"/>
            </a:avLst>
          </a:prstGeom>
          <a:solidFill>
            <a:srgbClr val="E35336"/>
          </a:solidFill>
          <a:ln w="12700">
            <a:solidFill>
              <a:srgbClr val="E35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Accent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#E35336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强调色、CTA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474720" cy="1371600"/>
          </a:xfrm>
          <a:prstGeom prst="rect">
            <a:avLst>
              <a:gd name="adj" fmla="val 3333"/>
            </a:avLst>
          </a:prstGeom>
          <a:solidFill>
            <a:srgbClr val="CA6641"/>
          </a:solidFill>
          <a:ln w="12700">
            <a:solidFill>
              <a:srgbClr val="CA66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Deep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#CA6641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文字、深色填充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743200"/>
            <a:ext cx="3474720" cy="1371600"/>
          </a:xfrm>
          <a:prstGeom prst="rect">
            <a:avLst>
              <a:gd name="adj" fmla="val 333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Warm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#E76F51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替代暖色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 = 温暖 + 质朴 + 安全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11480"/>
            <a:ext cx="36576" cy="59436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辅助色与中性色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434840" y="1371600"/>
            <a:ext cx="18288" cy="310896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辅助色 · 无障碍支持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74320" cy="228600"/>
          </a:xfrm>
          <a:prstGeom prst="rect">
            <a:avLst>
              <a:gd name="adj" fmla="val 8000"/>
            </a:avLst>
          </a:prstGeom>
          <a:solidFill>
            <a:srgbClr val="B85143"/>
          </a:solidFill>
          <a:ln w="12700">
            <a:solidFill>
              <a:srgbClr val="B85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Shade-1  #B85143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大文本/次要元素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74320" cy="228600"/>
          </a:xfrm>
          <a:prstGeom prst="rect">
            <a:avLst>
              <a:gd name="adj" fmla="val 8000"/>
            </a:avLst>
          </a:prstGeom>
          <a:solidFill>
            <a:srgbClr val="9C4438"/>
          </a:solidFill>
          <a:ln w="12700">
            <a:solidFill>
              <a:srgbClr val="9C4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Shade-2  #9C4438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正文文本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74320" cy="228600"/>
          </a:xfrm>
          <a:prstGeom prst="rect">
            <a:avLst>
              <a:gd name="adj" fmla="val 8000"/>
            </a:avLst>
          </a:prstGeom>
          <a:solidFill>
            <a:srgbClr val="7D372D"/>
          </a:solidFill>
          <a:ln w="12700">
            <a:solidFill>
              <a:srgbClr val="7D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Shade-3  #7D372D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高对比文本/UI状态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274320" cy="228600"/>
          </a:xfrm>
          <a:prstGeom prst="rect">
            <a:avLst>
              <a:gd name="adj" fmla="val 8000"/>
            </a:avLst>
          </a:prstGeom>
          <a:solidFill>
            <a:srgbClr val="5D2822"/>
          </a:solidFill>
          <a:ln w="12700">
            <a:solidFill>
              <a:srgbClr val="5D28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Shade-4  #5D2822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最高对比需求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中性色 · 温暖基底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737360"/>
            <a:ext cx="274320" cy="228600"/>
          </a:xfrm>
          <a:prstGeom prst="rect">
            <a:avLst>
              <a:gd name="adj" fmla="val 8000"/>
            </a:avLst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Cream/Ivory  #F5F1EE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主背景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40280"/>
            <a:ext cx="274320" cy="228600"/>
          </a:xfrm>
          <a:prstGeom prst="rect">
            <a:avLst>
              <a:gd name="adj" fmla="val 8000"/>
            </a:avLst>
          </a:prstGeom>
          <a:solidFill>
            <a:srgbClr val="E8E4E1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Grey Light  #E8E4E1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次背景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274320" cy="228600"/>
          </a:xfrm>
          <a:prstGeom prst="rect">
            <a:avLst>
              <a:gd name="adj" fmla="val 8000"/>
            </a:avLst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Grey Mid  #C5C1BE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246120"/>
            <a:ext cx="274320" cy="228600"/>
          </a:xfrm>
          <a:prstGeom prst="rect">
            <a:avLst>
              <a:gd name="adj" fmla="val 8000"/>
            </a:avLst>
          </a:prstGeom>
          <a:solidFill>
            <a:srgbClr val="8A8683"/>
          </a:solidFill>
          <a:ln w="12700">
            <a:solidFill>
              <a:srgbClr val="8A86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Grey Dark  #8A8683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次要文字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749040"/>
            <a:ext cx="274320" cy="228600"/>
          </a:xfrm>
          <a:prstGeom prst="rect">
            <a:avLst>
              <a:gd name="adj" fmla="val 8000"/>
            </a:avLst>
          </a:prstGeom>
          <a:solidFill>
            <a:srgbClr val="3D2C29"/>
          </a:solidFill>
          <a:ln w="12700">
            <a:solidFill>
              <a:srgbClr val="3D2C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  #3D2C29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主要文字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11480"/>
            <a:ext cx="36576" cy="59436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色彩使用金字塔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914400"/>
          </a:xfrm>
          <a:prstGeom prst="rect">
            <a:avLst>
              <a:gd name="adj" fmla="val 4000"/>
            </a:avLst>
          </a:prstGeom>
          <a:solidFill>
            <a:srgbClr val="2C5F7D"/>
          </a:solidFill>
          <a:ln w="12700">
            <a:solidFill>
              <a:srgbClr val="2C5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600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点缀色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847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#2C5F7D  /  Muted Teal #4A7C8B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0848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链接、CTA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560320"/>
            <a:ext cx="5486400" cy="914400"/>
          </a:xfrm>
          <a:prstGeom prst="rect">
            <a:avLst>
              <a:gd name="adj" fmla="val 4000"/>
            </a:avLst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97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651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主色陶土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94436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#E2725B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18211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填充、强调、图标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657600"/>
            <a:ext cx="7772400" cy="914400"/>
          </a:xfrm>
          <a:prstGeom prst="rect">
            <a:avLst>
              <a:gd name="adj" fmla="val 4000"/>
            </a:avLst>
          </a:prstGeom>
          <a:solidFill>
            <a:srgbClr val="E8E4E1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-137160" y="3794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中性基底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04164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/ Grey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7939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背景、文字、边框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线条与构图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手绘规则 · 网格系统 · 标志性元素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线条特征与手绘规则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线条特征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749040" cy="18288"/>
          </a:xfrm>
          <a:prstGeom prst="rect">
            <a:avLst/>
          </a:prstGeom>
          <a:solidFill>
            <a:srgbClr val="C5C1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10512"/>
            <a:ext cx="109728" cy="109728"/>
          </a:xfrm>
          <a:prstGeom prst="ellipse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手绘感、微瑕 — 非机械完美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109728" cy="109728"/>
          </a:xfrm>
          <a:prstGeom prst="ellipse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2-3px — 保持一致性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09728" cy="109728"/>
          </a:xfrm>
          <a:prstGeom prst="ellipse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 (Round cap) — 柔和亲和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82112"/>
            <a:ext cx="109728" cy="109728"/>
          </a:xfrm>
          <a:prstGeom prst="ellipse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08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圆滑过渡 (Round join) — 避免锐角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109728" cy="109728"/>
          </a:xfrm>
          <a:prstGeom prst="ellipse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66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Charcoal #3D2C29 或 Terracotta Deep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3931920" cy="1508760"/>
          </a:xfrm>
          <a:prstGeom prst="rect">
            <a:avLst>
              <a:gd name="adj" fmla="val 3030"/>
            </a:avLst>
          </a:prstGeom>
          <a:solidFill>
            <a:srgbClr val="EFF5EE"/>
          </a:solidFill>
          <a:ln w="6350">
            <a:solidFill>
              <a:srgbClr val="D4E4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725B"/>
                </a:solidFill>
              </a:rPr>
              <a:t>  ✓  </a:t>
            </a:r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可接受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691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725B"/>
                </a:solidFill>
              </a:rPr>
              <a:t>  ✓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插画线条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9110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725B"/>
                </a:solidFill>
              </a:rPr>
              <a:t>  ✓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装饰元素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1305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725B"/>
                </a:solidFill>
              </a:rPr>
              <a:t>  ✓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背景图案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3500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725B"/>
                </a:solidFill>
              </a:rPr>
              <a:t>  ✓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头像框架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3931920" cy="1508760"/>
          </a:xfrm>
          <a:prstGeom prst="rect">
            <a:avLst>
              <a:gd name="adj" fmla="val 3030"/>
            </a:avLst>
          </a:prstGeom>
          <a:solidFill>
            <a:srgbClr val="F8EFED"/>
          </a:solidFill>
          <a:ln w="6350">
            <a:solidFill>
              <a:srgbClr val="E8D5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143"/>
                </a:solidFill>
              </a:rPr>
              <a:t>  ✗  </a:t>
            </a:r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不可接受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429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5143"/>
                </a:solidFill>
              </a:rPr>
              <a:t>  ✗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UI 图标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5143"/>
                </a:solidFill>
              </a:rPr>
              <a:t>  ✗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小尺寸图标(&lt;16px)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8679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5143"/>
                </a:solidFill>
              </a:rPr>
              <a:t>  ✗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导航图标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087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5143"/>
                </a:solidFill>
              </a:rPr>
              <a:t>  ✗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精确传达符号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构图与网格系统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5×5 方格矩阵系统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74720" cy="2286000"/>
          </a:xfrm>
          <a:prstGeom prst="rect">
            <a:avLst/>
          </a:prstGeom>
          <a:solidFill>
            <a:srgbClr val="F5F1E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5024" y="16002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29968" y="16002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4912" y="16002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6002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574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5024" y="20574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20574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24912" y="20574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20574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146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35024" y="25146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29968" y="25146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25146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9856" y="25146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9718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35024" y="29718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29718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24912" y="29718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9856" y="29718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4290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35024" y="34290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9968" y="34290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24912" y="34290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9856" y="3429000"/>
            <a:ext cx="694944" cy="457200"/>
          </a:xfrm>
          <a:prstGeom prst="rect">
            <a:avLst/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2514600"/>
            <a:ext cx="694944" cy="4572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 = 1 个视觉单元，中心格为焦点位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网格规格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754880" y="1508760"/>
            <a:ext cx="3566160" cy="320040"/>
          </a:xfrm>
          <a:prstGeom prst="rect">
            <a:avLst/>
          </a:prstGeom>
          <a:solidFill>
            <a:srgbClr val="3D2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508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1508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5087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间距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15087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1508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最大宽度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828800"/>
            <a:ext cx="3566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1828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18288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18288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1440px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148840"/>
            <a:ext cx="3566160" cy="320040"/>
          </a:xfrm>
          <a:prstGeom prst="rect">
            <a:avLst/>
          </a:prstGeom>
          <a:solidFill>
            <a:srgbClr val="F7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0" y="2148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12280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768px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2468880"/>
            <a:ext cx="3566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6928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4列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24688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12px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12280" y="24688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066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390px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关键间距 Token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4754880" y="3218688"/>
            <a:ext cx="3566160" cy="13716"/>
          </a:xfrm>
          <a:prstGeom prst="rect">
            <a:avLst/>
          </a:prstGeom>
          <a:solidFill>
            <a:srgbClr val="C5C1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03504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6656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84632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space.6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03504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24px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6656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84632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space.8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0350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2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32px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7665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大间距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754880" y="4297680"/>
            <a:ext cx="3566160" cy="320040"/>
          </a:xfrm>
          <a:prstGeom prst="rect">
            <a:avLst/>
          </a:prstGeom>
          <a:solidFill>
            <a:srgbClr val="3D2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43251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留白 &gt; 40%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标志性元素库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412480" cy="1097280"/>
          </a:xfrm>
          <a:prstGeom prst="rect">
            <a:avLst/>
          </a:prstGeom>
          <a:solidFill>
            <a:srgbClr val="F5F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" cy="109728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手形符号系统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手形是 Anthropic 设计的灵魂，象征连接、传递、协作、引导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725B"/>
                </a:solidFill>
              </a:rPr>
              <a:t>✋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张开(欢迎)  ·  </a:t>
            </a:r>
            <a:pPr algn="l" indent="0" marL="0">
              <a:buNone/>
            </a:pPr>
            <a:r>
              <a:rPr lang="en-US" sz="1100" dirty="0">
                <a:solidFill>
                  <a:srgbClr val="E2725B"/>
                </a:solidFill>
              </a:rPr>
              <a:t>☝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指向(引导)  ·  </a:t>
            </a:r>
            <a:pPr algn="l" indent="0" marL="0">
              <a:buNone/>
            </a:pPr>
            <a:r>
              <a:rPr lang="en-US" sz="1100" dirty="0">
                <a:solidFill>
                  <a:srgbClr val="E2725B"/>
                </a:solidFill>
              </a:rPr>
              <a:t>✊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握拳(力量)  ·  </a:t>
            </a:r>
            <a:pPr algn="l" indent="0" marL="0">
              <a:buNone/>
            </a:pPr>
            <a:r>
              <a:rPr lang="en-US" sz="1100" dirty="0">
                <a:solidFill>
                  <a:srgbClr val="E2725B"/>
                </a:solidFill>
              </a:rPr>
              <a:t>🤲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托举(支持)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12848"/>
            <a:ext cx="45720" cy="109728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× 物品组合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书籍 = 知识传递</a:t>
            </a:r>
            <a:pPr algn="l" indent="0" marL="0">
              <a:buNone/>
            </a:pPr>
            <a:r>
              <a:rPr lang="en-US" sz="1100" dirty="0">
                <a:solidFill>
                  <a:srgbClr val="C5C1BE"/>
                </a:solidFill>
              </a:rPr>
              <a:t>    ·  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地球 = 全球协作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626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代码 = 技术创作</a:t>
            </a:r>
            <a:pPr algn="l" indent="0" marL="0">
              <a:buNone/>
            </a:pPr>
            <a:r>
              <a:rPr lang="en-US" sz="1100" dirty="0">
                <a:solidFill>
                  <a:srgbClr val="C5C1BE"/>
                </a:solidFill>
              </a:rPr>
              <a:t>    ·    </a:t>
            </a:r>
            <a:pPr algn="l" indent="0" marL="0">
              <a:buNone/>
            </a:pPr>
            <a:r>
              <a:rPr lang="en-US" sz="11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植物 = 成长培育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19856"/>
            <a:ext cx="8412480" cy="1097280"/>
          </a:xfrm>
          <a:prstGeom prst="rect">
            <a:avLst/>
          </a:prstGeom>
          <a:solidFill>
            <a:srgbClr val="F5F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19856"/>
            <a:ext cx="45720" cy="109728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930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自然意象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蝶(蜕变)</a:t>
            </a:r>
            <a:pPr algn="l" indent="0" marL="0">
              <a:buNone/>
            </a:pPr>
            <a:r>
              <a:rPr lang="en-US" sz="1200" dirty="0">
                <a:solidFill>
                  <a:srgbClr val="C5C1BE"/>
                </a:solidFill>
              </a:rPr>
              <a:t>  ·  </a:t>
            </a:r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山脉(稳定)</a:t>
            </a:r>
            <a:pPr algn="l" indent="0" marL="0">
              <a:buNone/>
            </a:pPr>
            <a:r>
              <a:rPr lang="en-US" sz="1200" dirty="0">
                <a:solidFill>
                  <a:srgbClr val="C5C1BE"/>
                </a:solidFill>
              </a:rPr>
              <a:t>  ·  </a:t>
            </a:r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蜂巢(协作)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69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水流(流动)</a:t>
            </a:r>
            <a:pPr algn="l" indent="0" marL="0">
              <a:buNone/>
            </a:pPr>
            <a:r>
              <a:rPr lang="en-US" sz="1200" dirty="0">
                <a:solidFill>
                  <a:srgbClr val="C5C1BE"/>
                </a:solidFill>
              </a:rPr>
              <a:t>  ·  </a:t>
            </a:r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树木(生长)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5C1BE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6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 · 设计检查清单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2286000" cy="36576"/>
          </a:xfrm>
          <a:prstGeom prst="rect">
            <a:avLst/>
          </a:prstGeom>
          <a:solidFill>
            <a:srgbClr val="CA66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rgbClr val="E2725B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474720"/>
            <a:ext cx="731520" cy="731520"/>
          </a:xfrm>
          <a:prstGeom prst="ellipse">
            <a:avLst/>
          </a:prstGeom>
          <a:solidFill>
            <a:srgbClr val="CA6641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3D2C29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3D2C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风格前缀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1051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CA6641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051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主体描述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051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105156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051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色彩指令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051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105156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CA6641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051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风格修饰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051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05156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3D2C29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051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64592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45920"/>
            <a:ext cx="54864" cy="201168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1755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快速调用模板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08483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C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minimalist [主题] in Anthropic design style,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2322576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C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featuring hand-drawn line art with terracotta #C77B68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25603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C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warm cream background #F5F1EE, charcoal lines #3D2C29,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279806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C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 organic curves, rounded line endings,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03580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C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ample negative space, warm and approachable,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327355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C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vector art style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必选修饰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187952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42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hand-drawn style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407408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3616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minimalist line art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626864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5811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 organic curves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846320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800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 line endings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可选修饰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4187952"/>
            <a:ext cx="91440" cy="91440"/>
          </a:xfrm>
          <a:prstGeom prst="ellipse">
            <a:avLst/>
          </a:prstGeom>
          <a:solidFill>
            <a:srgbClr val="C5C1BE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4142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 aesthetic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407408"/>
            <a:ext cx="91440" cy="91440"/>
          </a:xfrm>
          <a:prstGeom prst="ellipse">
            <a:avLst/>
          </a:prstGeom>
          <a:solidFill>
            <a:srgbClr val="C5C1BE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43616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ample negative space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626864"/>
            <a:ext cx="91440" cy="91440"/>
          </a:xfrm>
          <a:prstGeom prst="ellipse">
            <a:avLst/>
          </a:prstGeom>
          <a:solidFill>
            <a:srgbClr val="C5C1BE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45811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geometric grid layout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4846320"/>
            <a:ext cx="91440" cy="91440"/>
          </a:xfrm>
          <a:prstGeom prst="ellipse">
            <a:avLst/>
          </a:prstGeom>
          <a:solidFill>
            <a:srgbClr val="C5C1BE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4800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vector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3D2C29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从主题到 Prompt，三个真实场景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56032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Shape 5"/>
          <p:cNvSpPr/>
          <p:nvPr/>
        </p:nvSpPr>
        <p:spPr>
          <a:xfrm>
            <a:off x="1536192" y="1508760"/>
            <a:ext cx="402336" cy="40233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1536192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写作主题图标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手绘风格写作工具图标集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2011680" cy="13716"/>
          </a:xfrm>
          <a:prstGeom prst="rect">
            <a:avLst/>
          </a:prstGeom>
          <a:solidFill>
            <a:srgbClr val="C5C1B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88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核心元素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笔记本电脑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关键词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5×5 grid, terracotta fill on cream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44952" y="265176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37560" y="13258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325880"/>
            <a:ext cx="256032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9" name="Shape 17"/>
          <p:cNvSpPr/>
          <p:nvPr/>
        </p:nvSpPr>
        <p:spPr>
          <a:xfrm>
            <a:off x="4416552" y="1508760"/>
            <a:ext cx="402336" cy="40233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4416552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音乐主题插画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流动感音乐创意插画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2697480"/>
            <a:ext cx="2011680" cy="13716"/>
          </a:xfrm>
          <a:prstGeom prst="rect">
            <a:avLst/>
          </a:prstGeom>
          <a:solidFill>
            <a:srgbClr val="C5C1BE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788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核心元素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2990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抽象音乐元素 + 手形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383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关键词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 movement, ample negative space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25312" y="265176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C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17920" y="13258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C1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325880"/>
            <a:ext cx="256032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1" name="Shape 29"/>
          <p:cNvSpPr/>
          <p:nvPr/>
        </p:nvSpPr>
        <p:spPr>
          <a:xfrm>
            <a:off x="7296912" y="1508760"/>
            <a:ext cx="402336" cy="40233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2" name="Text 30"/>
          <p:cNvSpPr/>
          <p:nvPr/>
        </p:nvSpPr>
        <p:spPr>
          <a:xfrm>
            <a:off x="7296912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550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学习成长主题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66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成长培育概念插画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2697480"/>
            <a:ext cx="2011680" cy="13716"/>
          </a:xfrm>
          <a:prstGeom prst="rect">
            <a:avLst/>
          </a:prstGeom>
          <a:solidFill>
            <a:srgbClr val="C5C1BE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788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核心元素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2990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植物 + 书籍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383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关键词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6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symbolizing learning and growth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3D2C29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设计检查清单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2471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0642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主色使用 Terracotta (#C77B68 或其变体)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934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背景使用 Cream/Ivory (#F5F1EE)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1226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线条颜色为 Charcoal (#3D2C29) 或 Terracotta Deep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1518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线条端点为圆角 (Round cap)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2471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0642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7488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有足够留白（&gt;40%）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2763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0934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7488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元素对齐到网格（如适用）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3055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11226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7488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手绘感但不失严谨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633472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61518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整体感觉温暖、可信、克制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3D2C29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三原色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368503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C77B68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Terracotta #C77B68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368503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F1EE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Cream #F5F1EE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368503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3D2C29"/>
          </a:solidFill>
          <a:ln/>
        </p:spPr>
      </p:sp>
      <p:sp>
        <p:nvSpPr>
          <p:cNvPr id="35" name="Text 33"/>
          <p:cNvSpPr/>
          <p:nvPr/>
        </p:nvSpPr>
        <p:spPr>
          <a:xfrm>
            <a:off x="6153912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Charcoal #3D2C29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三关键词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432511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2725B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325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783080" y="432511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2725B"/>
          </a:solidFill>
          <a:ln/>
        </p:spPr>
      </p:sp>
      <p:sp>
        <p:nvSpPr>
          <p:cNvPr id="40" name="Text 38"/>
          <p:cNvSpPr/>
          <p:nvPr/>
        </p:nvSpPr>
        <p:spPr>
          <a:xfrm>
            <a:off x="1783080" y="4325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880360" y="432511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2725B"/>
          </a:solidFill>
          <a:ln/>
        </p:spPr>
      </p:sp>
      <p:sp>
        <p:nvSpPr>
          <p:cNvPr id="42" name="Text 40"/>
          <p:cNvSpPr/>
          <p:nvPr/>
        </p:nvSpPr>
        <p:spPr>
          <a:xfrm>
            <a:off x="2880360" y="4325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3D2C29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"/>
            <a:ext cx="4114800" cy="4114800"/>
          </a:xfrm>
          <a:prstGeom prst="ellipse">
            <a:avLst/>
          </a:prstGeom>
          <a:solidFill>
            <a:srgbClr val="E2725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926080"/>
            <a:ext cx="1371600" cy="1371600"/>
          </a:xfrm>
          <a:prstGeom prst="ellipse">
            <a:avLst/>
          </a:prstGeom>
          <a:solidFill>
            <a:srgbClr val="CA66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5486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用温暖的手绘语言，</a:t>
            </a:r>
            <a:endParaRPr lang="en-US" sz="28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讲述严谨的技术故事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1965960"/>
            <a:ext cx="2194560" cy="36576"/>
          </a:xfrm>
          <a:prstGeom prst="rect">
            <a:avLst/>
          </a:prstGeom>
          <a:solidFill>
            <a:srgbClr val="CA66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9456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E2725B">
              <a:alpha val="12000"/>
            </a:srgbClr>
          </a:solidFill>
          <a:ln w="6350">
            <a:solidFill>
              <a:srgbClr val="E272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陶土色传递温暖与可信 — 不是冷冰冰的科技感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219456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E2725B">
              <a:alpha val="12000"/>
            </a:srgbClr>
          </a:solidFill>
          <a:ln w="6350">
            <a:solidFill>
              <a:srgbClr val="E27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手绘线条传递人性 — 但不失严谨与克制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E2725B">
              <a:alpha val="12000"/>
            </a:srgbClr>
          </a:solidFill>
          <a:ln w="6350">
            <a:solidFill>
              <a:srgbClr val="E27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 中性基底 + 20% 陶土主色 + 5% 点缀色 — 金字塔法则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E2725B">
              <a:alpha val="12000"/>
            </a:srgbClr>
          </a:solidFill>
          <a:ln w="6350">
            <a:solidFill>
              <a:srgbClr val="E27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模板确保风格一致性 — 改主题即可复用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C1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谢谢 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3D2C29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Geist × Anthropic 设计风格完全指南</dc:title>
  <dc:subject>PptxGenJS Presentation</dc:subject>
  <dc:creator>Mino</dc:creator>
  <cp:lastModifiedBy>Mino</cp:lastModifiedBy>
  <cp:revision>1</cp:revision>
  <dcterms:created xsi:type="dcterms:W3CDTF">2026-03-31T16:07:35Z</dcterms:created>
  <dcterms:modified xsi:type="dcterms:W3CDTF">2026-03-31T16:07:35Z</dcterms:modified>
</cp:coreProperties>
</file>
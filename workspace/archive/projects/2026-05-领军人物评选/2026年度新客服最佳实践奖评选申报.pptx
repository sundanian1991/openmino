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1414463"/>
            <a:ext cx="1000125" cy="285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Text 2"/>
          <p:cNvSpPr/>
          <p:nvPr/>
        </p:nvSpPr>
        <p:spPr>
          <a:xfrm>
            <a:off x="428625" y="1257300"/>
            <a:ext cx="8532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2026年度"新客服最佳实践奖"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8625" y="1614488"/>
            <a:ext cx="8532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评选申报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28625" y="2414588"/>
            <a:ext cx="853249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申请单位：京东科技股份有限公司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8625" y="2628900"/>
            <a:ext cx="85324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申报部门：金融科技事业群 · 数据科技业务部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8625" y="2843213"/>
            <a:ext cx="853249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申报日期：2026年5月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8625" y="4819650"/>
            <a:ext cx="8532495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金融科技事业群 · 数据科技业务部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72175" y="4819650"/>
            <a:ext cx="274320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JD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6" name="Text 4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1475" y="220662"/>
            <a:ext cx="8589645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本次汇报分八个部分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1500" y="533400"/>
            <a:ext cx="83896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71563" y="874713"/>
            <a:ext cx="78895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企业介绍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1563" y="1149350"/>
            <a:ext cx="78895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京东科技品牌与服务理念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" y="1104900"/>
            <a:ext cx="83896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71563" y="1446213"/>
            <a:ext cx="78895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呼叫中心现况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1563" y="1720850"/>
            <a:ext cx="78895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目标、渠道与团队规模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" y="1676400"/>
            <a:ext cx="83896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71563" y="2017713"/>
            <a:ext cx="78895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组织架构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1563" y="2292350"/>
            <a:ext cx="78895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前中后台分工明确的组织结构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" y="2247900"/>
            <a:ext cx="83896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071563" y="2589213"/>
            <a:ext cx="78895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转型背景与目标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1563" y="2863850"/>
            <a:ext cx="78895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合规与效率的双重挑战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57750" y="533400"/>
            <a:ext cx="410337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357813" y="874713"/>
            <a:ext cx="36033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转型实施过程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57813" y="1149350"/>
            <a:ext cx="360330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三阶段实施路径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57750" y="1104900"/>
            <a:ext cx="410337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5357813" y="1446213"/>
            <a:ext cx="36033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转型具体成果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57813" y="1720850"/>
            <a:ext cx="360330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数据驱动的显著成效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7750" y="1676400"/>
            <a:ext cx="410337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5357813" y="2017713"/>
            <a:ext cx="36033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成功关键与人才培养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57813" y="2292350"/>
            <a:ext cx="360330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三位一体驱动转型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57750" y="2247900"/>
            <a:ext cx="410337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5357813" y="2589213"/>
            <a:ext cx="36033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57813" y="2863850"/>
            <a:ext cx="360330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持续深化AI应用与合规能力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714375"/>
            <a:ext cx="3314700" cy="4143375"/>
          </a:xfrm>
          <a:prstGeom prst="roundRect">
            <a:avLst>
              <a:gd name="adj" fmla="val 23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714750" y="714375"/>
            <a:ext cx="2714625" cy="4143375"/>
          </a:xfrm>
          <a:prstGeom prst="roundRect">
            <a:avLst>
              <a:gd name="adj" fmla="val 355"/>
            </a:avLst>
          </a:prstGeom>
          <a:solidFill>
            <a:srgbClr val="1677FF"/>
          </a:solidFill>
          <a:ln/>
        </p:spPr>
      </p:sp>
      <p:sp>
        <p:nvSpPr>
          <p:cNvPr id="5" name="Shape 3"/>
          <p:cNvSpPr/>
          <p:nvPr/>
        </p:nvSpPr>
        <p:spPr>
          <a:xfrm>
            <a:off x="6543675" y="714375"/>
            <a:ext cx="2314575" cy="4143375"/>
          </a:xfrm>
          <a:prstGeom prst="roundRect">
            <a:avLst>
              <a:gd name="adj" fmla="val 48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543675" y="714375"/>
            <a:ext cx="28575" cy="41433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7" name="Shape 5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8" name="Shape 6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9" name="Shape 7"/>
          <p:cNvSpPr/>
          <p:nvPr/>
        </p:nvSpPr>
        <p:spPr>
          <a:xfrm>
            <a:off x="400050" y="1078706"/>
            <a:ext cx="1028700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Shape 8"/>
          <p:cNvSpPr/>
          <p:nvPr/>
        </p:nvSpPr>
        <p:spPr>
          <a:xfrm>
            <a:off x="3857625" y="1078706"/>
            <a:ext cx="1143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86550" y="1081088"/>
            <a:ext cx="1171575" cy="95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企业介绍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京东科技金融科技事业群承载集团金融营销服务核心职能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0050" y="860425"/>
            <a:ext cx="85610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企业信息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0050" y="1154113"/>
            <a:ext cx="856107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企业名称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0050" y="1350963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0050" y="1654175"/>
            <a:ext cx="856107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主营业务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0050" y="1851025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信息技术咨询、云计算、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0050" y="2022475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人工智能应用、软件开发、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0050" y="2193925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数据处理服务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0050" y="2497138"/>
            <a:ext cx="856107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从事行业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0050" y="2693988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 / 科技服务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0050" y="2997200"/>
            <a:ext cx="856107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服务渠道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0050" y="319405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电销渠道（100%）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57625" y="860425"/>
            <a:ext cx="5103495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服务理念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57625" y="1200150"/>
            <a:ext cx="510349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服务使命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57625" y="1493838"/>
            <a:ext cx="5103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技术为本，让生活更美好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57625" y="1843088"/>
            <a:ext cx="510349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服务愿景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57625" y="2136775"/>
            <a:ext cx="5103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成为全球最值得信赖的企业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57625" y="2486025"/>
            <a:ext cx="510349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服务价值观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57625" y="2779713"/>
            <a:ext cx="5103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客户为先、创新、拼搏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57625" y="2951163"/>
            <a:ext cx="5103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担当、感恩、诚信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57625" y="3300413"/>
            <a:ext cx="510349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部门定位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57625" y="3606800"/>
            <a:ext cx="5103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数据驱动的服务营销中枢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57625" y="3778250"/>
            <a:ext cx="5103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通过精细化运营和智能化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57625" y="3949700"/>
            <a:ext cx="5103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管理提供专业金融服务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86550" y="860425"/>
            <a:ext cx="22745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86550" y="911225"/>
            <a:ext cx="227457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5200" dirty="0"/>
          </a:p>
        </p:txBody>
      </p:sp>
      <p:sp>
        <p:nvSpPr>
          <p:cNvPr id="41" name="Text 39"/>
          <p:cNvSpPr/>
          <p:nvPr/>
        </p:nvSpPr>
        <p:spPr>
          <a:xfrm>
            <a:off x="6686550" y="1620838"/>
            <a:ext cx="22745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开始运营年份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86550" y="1697038"/>
            <a:ext cx="227457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3000+</a:t>
            </a:r>
            <a:endParaRPr lang="en-US" sz="5200" dirty="0"/>
          </a:p>
        </p:txBody>
      </p:sp>
      <p:sp>
        <p:nvSpPr>
          <p:cNvPr id="43" name="Text 41"/>
          <p:cNvSpPr/>
          <p:nvPr/>
        </p:nvSpPr>
        <p:spPr>
          <a:xfrm>
            <a:off x="6686550" y="2406650"/>
            <a:ext cx="22745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团队总规模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86550" y="2482850"/>
            <a:ext cx="227457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6686550" y="3192463"/>
            <a:ext cx="22745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合规率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686550" y="3268663"/>
            <a:ext cx="227457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5200" dirty="0"/>
          </a:p>
        </p:txBody>
      </p:sp>
      <p:sp>
        <p:nvSpPr>
          <p:cNvPr id="47" name="Text 45"/>
          <p:cNvSpPr/>
          <p:nvPr/>
        </p:nvSpPr>
        <p:spPr>
          <a:xfrm>
            <a:off x="6686550" y="3978275"/>
            <a:ext cx="22745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营销业务占比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785813"/>
            <a:ext cx="2714625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785813"/>
            <a:ext cx="28575" cy="11430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5" name="Shape 3"/>
          <p:cNvSpPr/>
          <p:nvPr/>
        </p:nvSpPr>
        <p:spPr>
          <a:xfrm>
            <a:off x="3186113" y="785813"/>
            <a:ext cx="2643188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186113" y="785813"/>
            <a:ext cx="28575" cy="1143000"/>
          </a:xfrm>
          <a:prstGeom prst="rect">
            <a:avLst/>
          </a:prstGeom>
          <a:solidFill>
            <a:srgbClr val="1A7A42"/>
          </a:solidFill>
          <a:ln/>
        </p:spPr>
      </p:sp>
      <p:sp>
        <p:nvSpPr>
          <p:cNvPr id="7" name="Shape 5"/>
          <p:cNvSpPr/>
          <p:nvPr/>
        </p:nvSpPr>
        <p:spPr>
          <a:xfrm>
            <a:off x="6015038" y="785813"/>
            <a:ext cx="2843213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15038" y="785813"/>
            <a:ext cx="28575" cy="1143000"/>
          </a:xfrm>
          <a:prstGeom prst="rect">
            <a:avLst/>
          </a:prstGeom>
          <a:solidFill>
            <a:srgbClr val="1A7A42"/>
          </a:solidFill>
          <a:ln/>
        </p:spPr>
      </p:sp>
      <p:sp>
        <p:nvSpPr>
          <p:cNvPr id="9" name="Shape 7"/>
          <p:cNvSpPr/>
          <p:nvPr/>
        </p:nvSpPr>
        <p:spPr>
          <a:xfrm>
            <a:off x="285750" y="2357438"/>
            <a:ext cx="4143375" cy="1285875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00050" y="2700338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871788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043238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214688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386138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4863" y="2357438"/>
            <a:ext cx="4243388" cy="1285875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29163" y="2714625"/>
            <a:ext cx="3900488" cy="25717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" y="4071938"/>
            <a:ext cx="1978819" cy="785813"/>
          </a:xfrm>
          <a:prstGeom prst="roundRect">
            <a:avLst>
              <a:gd name="adj" fmla="val 4231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" y="4071938"/>
            <a:ext cx="28575" cy="7858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8869" y="4071938"/>
            <a:ext cx="1978819" cy="785813"/>
          </a:xfrm>
          <a:prstGeom prst="roundRect">
            <a:avLst>
              <a:gd name="adj" fmla="val 4231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8869" y="4071938"/>
            <a:ext cx="28575" cy="7858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71988" y="4071938"/>
            <a:ext cx="1978819" cy="785813"/>
          </a:xfrm>
          <a:prstGeom prst="roundRect">
            <a:avLst>
              <a:gd name="adj" fmla="val 4231"/>
            </a:avLst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1988" y="4071938"/>
            <a:ext cx="28575" cy="7858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65106" y="4071938"/>
            <a:ext cx="2293144" cy="785813"/>
          </a:xfrm>
          <a:prstGeom prst="roundRect">
            <a:avLst>
              <a:gd name="adj" fmla="val 4231"/>
            </a:avLst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6565106" y="4071938"/>
            <a:ext cx="28575" cy="7858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6" name="Shape 24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285750" y="2264569"/>
            <a:ext cx="2571750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0050" y="2625725"/>
            <a:ext cx="3914775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29163" y="2625725"/>
            <a:ext cx="4014788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0" name="Shape 28"/>
          <p:cNvSpPr/>
          <p:nvPr/>
        </p:nvSpPr>
        <p:spPr>
          <a:xfrm>
            <a:off x="4729163" y="2968625"/>
            <a:ext cx="3900488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1" name="Shape 29"/>
          <p:cNvSpPr/>
          <p:nvPr/>
        </p:nvSpPr>
        <p:spPr>
          <a:xfrm>
            <a:off x="285750" y="3979069"/>
            <a:ext cx="2571750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呼叫中心现况简介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电销渠道占比100%，3000+人团队年GMV超2000亿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28625" y="904875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年度GMV（放款额）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8625" y="890588"/>
            <a:ext cx="85324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2000亿+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428625" y="1604963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近一年放款总额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28988" y="904875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团队总规模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28988" y="890588"/>
            <a:ext cx="5632133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7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3000+人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3328988" y="1604963"/>
            <a:ext cx="56321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前台2900+ 中台100+ 后台50+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57913" y="904875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合规率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57913" y="890588"/>
            <a:ext cx="280320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7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157913" y="1604963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合规红线一票否决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85750" y="2036762"/>
            <a:ext cx="8675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服务渠道与团队结构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00050" y="239395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服务渠道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1488" y="2606675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电销渠道（100%）— 主要负责金融营销电销外呼业务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1488" y="2778125"/>
            <a:ext cx="848963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涵盖拉新、复购等全流程服务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71488" y="2949575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核心模式：数据驱动的智能电销营销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1488" y="3121025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通过AI辅助坐席进行高效沟通和需求挖掘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1488" y="3292475"/>
            <a:ext cx="848963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通过合规管控保障长期健康发展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29163" y="2393950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人员结构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857750" y="2719388"/>
            <a:ext cx="41033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人员类型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715000" y="2719388"/>
            <a:ext cx="3246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总人数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572250" y="2719388"/>
            <a:ext cx="23888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本科及以上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572375" y="2719388"/>
            <a:ext cx="138874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57750" y="2963863"/>
            <a:ext cx="41033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前台人员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715000" y="2963863"/>
            <a:ext cx="32461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2900+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72250" y="2963863"/>
            <a:ext cx="23888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572375" y="2963863"/>
            <a:ext cx="13887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857750" y="3149600"/>
            <a:ext cx="41033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中台人员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715000" y="3149600"/>
            <a:ext cx="32461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572250" y="3149600"/>
            <a:ext cx="23888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572375" y="3149600"/>
            <a:ext cx="13887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857750" y="3335338"/>
            <a:ext cx="41033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后台人员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715000" y="3335338"/>
            <a:ext cx="32461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572250" y="3335338"/>
            <a:ext cx="23888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572375" y="3335338"/>
            <a:ext cx="13887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85750" y="3751263"/>
            <a:ext cx="8675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核心业务能力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400050" y="410845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数据赋能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400050" y="4305300"/>
            <a:ext cx="85610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AI需求识别模型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00050" y="4448175"/>
            <a:ext cx="85610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精准分层运营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00050" y="4591050"/>
            <a:ext cx="85610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差异化触达策略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2493169" y="4108450"/>
            <a:ext cx="646795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2493169" y="4305300"/>
            <a:ext cx="646795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智能客户路由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493169" y="4448175"/>
            <a:ext cx="646795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实时话术辅助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493169" y="4591050"/>
            <a:ext cx="646795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情绪与合规监控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4586288" y="4108450"/>
            <a:ext cx="437483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86288" y="4305300"/>
            <a:ext cx="43748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新客获取与转化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586288" y="4448175"/>
            <a:ext cx="43748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复购激活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586288" y="4591050"/>
            <a:ext cx="43748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流失预警挽回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679406" y="4108450"/>
            <a:ext cx="228171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智能质检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6679406" y="4305300"/>
            <a:ext cx="228171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AI实时合规监控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6679406" y="4448175"/>
            <a:ext cx="228171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100%通话覆盖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679406" y="4591050"/>
            <a:ext cx="228171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质检效率提升300%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3143250" y="785813"/>
            <a:ext cx="2857500" cy="428625"/>
          </a:xfrm>
          <a:prstGeom prst="roundRect">
            <a:avLst>
              <a:gd name="adj" fmla="val 14222"/>
            </a:avLst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3143250" y="1428750"/>
            <a:ext cx="2857500" cy="428625"/>
          </a:xfrm>
          <a:prstGeom prst="roundRect">
            <a:avLst>
              <a:gd name="adj" fmla="val 14222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3143250" y="2071688"/>
            <a:ext cx="2857500" cy="428625"/>
          </a:xfrm>
          <a:prstGeom prst="roundRect">
            <a:avLst>
              <a:gd name="adj" fmla="val 1422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85750" y="2928938"/>
            <a:ext cx="2000250" cy="1571625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85750" y="2928938"/>
            <a:ext cx="28575" cy="15716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8" name="Shape 6"/>
          <p:cNvSpPr/>
          <p:nvPr/>
        </p:nvSpPr>
        <p:spPr>
          <a:xfrm>
            <a:off x="3571875" y="2928938"/>
            <a:ext cx="2000250" cy="1571625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71875" y="2928938"/>
            <a:ext cx="28575" cy="15716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2928938"/>
            <a:ext cx="2000250" cy="1571625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928938"/>
            <a:ext cx="28575" cy="15716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Shape 11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62475" y="1214438"/>
            <a:ext cx="19050" cy="2143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62475" y="1857375"/>
            <a:ext cx="19050" cy="2143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62475" y="2500313"/>
            <a:ext cx="19050" cy="2143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5875" y="2705100"/>
            <a:ext cx="6572250" cy="1905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76350" y="2714625"/>
            <a:ext cx="19050" cy="2143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62475" y="2714625"/>
            <a:ext cx="19050" cy="2143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848600" y="2714625"/>
            <a:ext cx="19050" cy="214313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组织架构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数据科技业务部作为二级部门，前中后台分工明确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29000" y="814388"/>
            <a:ext cx="2286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京东科技股份有限公司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0" y="1482725"/>
            <a:ext cx="18288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金融科技事业群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51200" y="2125663"/>
            <a:ext cx="26416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数据科技业务部（二级部门）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8625" y="2982913"/>
            <a:ext cx="853249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8625" y="3251200"/>
            <a:ext cx="8532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营销外呼团队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8625" y="3465513"/>
            <a:ext cx="8532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新客拉新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8625" y="3651250"/>
            <a:ext cx="8532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老客复购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8625" y="3836988"/>
            <a:ext cx="85324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客户维护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1475" y="4002087"/>
            <a:ext cx="1828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2900+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714750" y="2982913"/>
            <a:ext cx="524637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14750" y="3251200"/>
            <a:ext cx="5246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策略与数据支撑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14750" y="3465513"/>
            <a:ext cx="5246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AI模型开发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14750" y="3651250"/>
            <a:ext cx="5246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数据分析运营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714750" y="3836988"/>
            <a:ext cx="5246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系统平台建设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0" y="4002087"/>
            <a:ext cx="1828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000875" y="2982913"/>
            <a:ext cx="196024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00875" y="3251200"/>
            <a:ext cx="196024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管理与运营支撑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00875" y="3465513"/>
            <a:ext cx="196024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质检培训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00875" y="3651250"/>
            <a:ext cx="196024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合规管理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00875" y="3836988"/>
            <a:ext cx="196024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行政人事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3725" y="4002087"/>
            <a:ext cx="1828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714375"/>
            <a:ext cx="5143500" cy="2143125"/>
          </a:xfrm>
          <a:prstGeom prst="roundRect">
            <a:avLst>
              <a:gd name="adj" fmla="val 56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07156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4301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1446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58591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75736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9" name="Shape 7"/>
          <p:cNvSpPr/>
          <p:nvPr/>
        </p:nvSpPr>
        <p:spPr>
          <a:xfrm>
            <a:off x="400050" y="192881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0" name="Shape 8"/>
          <p:cNvSpPr/>
          <p:nvPr/>
        </p:nvSpPr>
        <p:spPr>
          <a:xfrm>
            <a:off x="400050" y="210026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1" name="Shape 9"/>
          <p:cNvSpPr/>
          <p:nvPr/>
        </p:nvSpPr>
        <p:spPr>
          <a:xfrm>
            <a:off x="5543550" y="714375"/>
            <a:ext cx="3314700" cy="2143125"/>
          </a:xfrm>
          <a:prstGeom prst="roundRect">
            <a:avLst>
              <a:gd name="adj" fmla="val 569"/>
            </a:avLst>
          </a:prstGeom>
          <a:solidFill>
            <a:srgbClr val="167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" y="3286125"/>
            <a:ext cx="2714625" cy="1500188"/>
          </a:xfrm>
          <a:prstGeom prst="roundRect">
            <a:avLst>
              <a:gd name="adj" fmla="val 116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85750" y="3286125"/>
            <a:ext cx="28575" cy="15001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114675" y="3286125"/>
            <a:ext cx="2714625" cy="1500188"/>
          </a:xfrm>
          <a:prstGeom prst="roundRect">
            <a:avLst>
              <a:gd name="adj" fmla="val 1161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114675" y="3286125"/>
            <a:ext cx="28575" cy="15001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3286125"/>
            <a:ext cx="2914650" cy="1500188"/>
          </a:xfrm>
          <a:prstGeom prst="roundRect">
            <a:avLst>
              <a:gd name="adj" fmla="val 116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3286125"/>
            <a:ext cx="28575" cy="15001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968375"/>
            <a:ext cx="49149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86425" y="966788"/>
            <a:ext cx="3057525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" y="3193256"/>
            <a:ext cx="2571750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转型背景与战略目标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合规与效率的双重挑战驱动客服向智能营销转型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0050" y="73660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行业挑战与转型驱动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1488" y="97790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获客成本持续上升，市场竞争加剧，需要通过精准识别提升ROI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488" y="114935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金融营销合规要求持续收紧，需要持续强化合规能力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1488" y="132080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AI、大数据等新技术快速迭代，需要持续学习和应用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1488" y="149225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如何从海量数据中准确识别有真实需求的客户，避免打扰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1488" y="166370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整合分散在各个系统的客户数据，构建统一画像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1488" y="183515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从传统电销向数据驱动、AI辅助的智能营销转型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1488" y="200660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让AI辅助而非替代人工，保持营销的温度和信任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86425" y="774700"/>
            <a:ext cx="3274695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GOALS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86425" y="960438"/>
            <a:ext cx="3274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客服价值化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686425" y="1263650"/>
            <a:ext cx="32746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从成本中心转型为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86425" y="1406525"/>
            <a:ext cx="32746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利润创造中心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86425" y="1646238"/>
            <a:ext cx="3274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数字智能化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686425" y="1949450"/>
            <a:ext cx="32746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AI赋能全流程，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86425" y="2092325"/>
            <a:ext cx="32746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数据驱动决策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86425" y="2332038"/>
            <a:ext cx="3274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服务营销一体化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686425" y="2635250"/>
            <a:ext cx="32746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86425" y="2778125"/>
            <a:ext cx="32746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提升GMV与复购率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85750" y="2965450"/>
            <a:ext cx="8675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制订战略目标的原因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00050" y="3336925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客户体验升级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00050" y="3563938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让客户感受到"被理解"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00050" y="3735388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而非"被推销"，建立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00050" y="3906838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长期信任关系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0050" y="4192588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通过精准触达减少客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00050" y="4364038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户打扰，提升满意度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228975" y="3336925"/>
            <a:ext cx="573214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业务增长驱动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228975" y="3563938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通过精准客户识别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228975" y="3735388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和智能路由提升转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228975" y="3906838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化率，同时全生命周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228975" y="4078288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期运营提升GMV和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228975" y="4249738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新客数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057900" y="3336925"/>
            <a:ext cx="29032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合规风险管控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057900" y="3563938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金融营销合规要求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057900" y="3735388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趋严，需要通过AI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057900" y="3906838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实时监控和智能质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057900" y="4078288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检确保合规率保持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057900" y="4249738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1000125" y="2000250"/>
            <a:ext cx="2286000" cy="2714625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00125" y="2000250"/>
            <a:ext cx="28575" cy="27146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0030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80035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20040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2000250"/>
            <a:ext cx="2286000" cy="2714625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2000250"/>
            <a:ext cx="28575" cy="27146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71875" y="240030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71875" y="280035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1875" y="320040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7875" y="2000250"/>
            <a:ext cx="2286000" cy="2714625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7875" y="2000250"/>
            <a:ext cx="28575" cy="27146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00750" y="240030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00750" y="280035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00750" y="3200400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4375" y="1557338"/>
            <a:ext cx="7715250" cy="285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转型实施过程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三阶段实施路径：数据赋能、人机协同、全生命周期运营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28725" y="1442244"/>
            <a:ext cx="18288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28725" y="1176338"/>
            <a:ext cx="18288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2066925"/>
            <a:ext cx="78181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数据赋能客户识别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14438" y="2319338"/>
            <a:ext cx="774668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开发AI需求识别模型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14438" y="2474913"/>
            <a:ext cx="7746683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预测客户金融需求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14438" y="2719388"/>
            <a:ext cx="774668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精准分层运营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14438" y="2874963"/>
            <a:ext cx="7746683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差异化触达策略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14438" y="3119438"/>
            <a:ext cx="774668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接通率提升35%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14438" y="3275013"/>
            <a:ext cx="7746683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首拨转化率提升28%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" y="3575050"/>
            <a:ext cx="781812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挑战：数据整合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3717925"/>
            <a:ext cx="781812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跨系统数据打通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3932238"/>
            <a:ext cx="781812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客户需求准确度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1442244"/>
            <a:ext cx="18288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0" y="1176338"/>
            <a:ext cx="18288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71875" y="2066925"/>
            <a:ext cx="53892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人机协同智能外呼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43313" y="2319338"/>
            <a:ext cx="53178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智能客户路由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43313" y="2474913"/>
            <a:ext cx="5317808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画像与产品智能匹配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43313" y="2719388"/>
            <a:ext cx="53178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实时话术辅助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43313" y="2874963"/>
            <a:ext cx="5317808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AI推荐话术+异议处理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43313" y="3119438"/>
            <a:ext cx="53178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AI赋能合规提效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43313" y="3275013"/>
            <a:ext cx="5317808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实时合规监控+智能质检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71875" y="3575050"/>
            <a:ext cx="5389245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挑战：人机平衡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571875" y="3717925"/>
            <a:ext cx="5389245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保持营销温度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71875" y="3932238"/>
            <a:ext cx="5389245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合规与效率平衡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86475" y="1442244"/>
            <a:ext cx="18288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086475" y="1176338"/>
            <a:ext cx="18288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000750" y="2066925"/>
            <a:ext cx="29603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072188" y="2319338"/>
            <a:ext cx="28889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新客获取与首次转化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072188" y="2474913"/>
            <a:ext cx="2888933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精准识别高效触达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072188" y="2719388"/>
            <a:ext cx="28889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复购激活与流失预警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072188" y="2874963"/>
            <a:ext cx="2888933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主动触达及时挽回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72188" y="3119438"/>
            <a:ext cx="28889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人均效率提升40%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072188" y="3275013"/>
            <a:ext cx="2888933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新人上手时间缩短67%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00750" y="3575050"/>
            <a:ext cx="2960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挑战：能力转型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000750" y="3717925"/>
            <a:ext cx="2960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传统向智能转型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000750" y="3932238"/>
            <a:ext cx="2960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复合型人才培养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785813"/>
            <a:ext cx="2714625" cy="121443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785813"/>
            <a:ext cx="28575" cy="121443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5" name="Shape 3"/>
          <p:cNvSpPr/>
          <p:nvPr/>
        </p:nvSpPr>
        <p:spPr>
          <a:xfrm>
            <a:off x="3186113" y="785813"/>
            <a:ext cx="2643188" cy="121443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186113" y="785813"/>
            <a:ext cx="28575" cy="121443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7" name="Shape 5"/>
          <p:cNvSpPr/>
          <p:nvPr/>
        </p:nvSpPr>
        <p:spPr>
          <a:xfrm>
            <a:off x="6015038" y="785813"/>
            <a:ext cx="2843213" cy="121443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15038" y="785813"/>
            <a:ext cx="28575" cy="1214438"/>
          </a:xfrm>
          <a:prstGeom prst="rect">
            <a:avLst/>
          </a:prstGeom>
          <a:solidFill>
            <a:srgbClr val="1A7A42"/>
          </a:solidFill>
          <a:ln/>
        </p:spPr>
      </p:sp>
      <p:sp>
        <p:nvSpPr>
          <p:cNvPr id="9" name="Shape 7"/>
          <p:cNvSpPr/>
          <p:nvPr/>
        </p:nvSpPr>
        <p:spPr>
          <a:xfrm>
            <a:off x="285750" y="2143125"/>
            <a:ext cx="2714625" cy="121443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85750" y="2143125"/>
            <a:ext cx="28575" cy="1214438"/>
          </a:xfrm>
          <a:prstGeom prst="rect">
            <a:avLst/>
          </a:prstGeom>
          <a:solidFill>
            <a:srgbClr val="1A7A42"/>
          </a:solidFill>
          <a:ln/>
        </p:spPr>
      </p:sp>
      <p:sp>
        <p:nvSpPr>
          <p:cNvPr id="11" name="Shape 9"/>
          <p:cNvSpPr/>
          <p:nvPr/>
        </p:nvSpPr>
        <p:spPr>
          <a:xfrm>
            <a:off x="3186113" y="2143125"/>
            <a:ext cx="2643188" cy="121443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186113" y="2143125"/>
            <a:ext cx="28575" cy="1214438"/>
          </a:xfrm>
          <a:prstGeom prst="rect">
            <a:avLst/>
          </a:prstGeom>
          <a:solidFill>
            <a:srgbClr val="1A7A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5038" y="2143125"/>
            <a:ext cx="2843213" cy="121443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15038" y="2143125"/>
            <a:ext cx="28575" cy="1214438"/>
          </a:xfrm>
          <a:prstGeom prst="rect">
            <a:avLst/>
          </a:prstGeom>
          <a:solidFill>
            <a:srgbClr val="1A7A42"/>
          </a:solidFill>
          <a:ln/>
        </p:spPr>
      </p:sp>
      <p:sp>
        <p:nvSpPr>
          <p:cNvPr id="15" name="Shape 13"/>
          <p:cNvSpPr/>
          <p:nvPr/>
        </p:nvSpPr>
        <p:spPr>
          <a:xfrm>
            <a:off x="285750" y="3786188"/>
            <a:ext cx="1978819" cy="1000125"/>
          </a:xfrm>
          <a:prstGeom prst="roundRect">
            <a:avLst>
              <a:gd name="adj" fmla="val 2612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" y="3786188"/>
            <a:ext cx="28575" cy="10001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8869" y="3786188"/>
            <a:ext cx="1978819" cy="1000125"/>
          </a:xfrm>
          <a:prstGeom prst="roundRect">
            <a:avLst>
              <a:gd name="adj" fmla="val 2612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8869" y="3786188"/>
            <a:ext cx="28575" cy="10001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471988" y="3786188"/>
            <a:ext cx="1978819" cy="1000125"/>
          </a:xfrm>
          <a:prstGeom prst="roundRect">
            <a:avLst>
              <a:gd name="adj" fmla="val 2612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471988" y="3786188"/>
            <a:ext cx="28575" cy="10001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5106" y="3786188"/>
            <a:ext cx="2293144" cy="1000125"/>
          </a:xfrm>
          <a:prstGeom prst="roundRect">
            <a:avLst>
              <a:gd name="adj" fmla="val 2612"/>
            </a:avLst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5106" y="3786188"/>
            <a:ext cx="28575" cy="100012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5" name="Shape 23"/>
          <p:cNvSpPr/>
          <p:nvPr/>
        </p:nvSpPr>
        <p:spPr>
          <a:xfrm>
            <a:off x="285750" y="3693319"/>
            <a:ext cx="1857375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转型具体成果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接通率提升35%，人均效率提升40%，合规率保持100%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28625" y="876300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年度GMV（放款额）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8625" y="819150"/>
            <a:ext cx="85324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2000亿+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428625" y="1490663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行业领先规模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8625" y="1633538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35家供应商协同管理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988" y="876300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团队总规模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28988" y="819150"/>
            <a:ext cx="5632133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3000+人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3328988" y="1490663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最大电销团队之一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28988" y="1633538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本科及以上占比60%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57913" y="876300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合规率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57913" y="819150"/>
            <a:ext cx="280320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7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6157913" y="1490663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AI实时监控+智能质检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57913" y="1633538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合规风险降低60%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8625" y="2233613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营销转化率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8625" y="2176463"/>
            <a:ext cx="85324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7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428625" y="2847975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AI辅助需求挖掘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8625" y="2990850"/>
            <a:ext cx="8532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个性化产品匹配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28988" y="2233613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人均效率提升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28988" y="2176463"/>
            <a:ext cx="5632133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7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4800" dirty="0"/>
          </a:p>
        </p:txBody>
      </p:sp>
      <p:sp>
        <p:nvSpPr>
          <p:cNvPr id="48" name="Text 46"/>
          <p:cNvSpPr/>
          <p:nvPr/>
        </p:nvSpPr>
        <p:spPr>
          <a:xfrm>
            <a:off x="3328988" y="2847975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新人上手时间缩短67%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328988" y="2990850"/>
            <a:ext cx="56321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质检效率提升300%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57913" y="2233613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客户复购率提升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57913" y="2176463"/>
            <a:ext cx="280320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7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4800" dirty="0"/>
          </a:p>
        </p:txBody>
      </p:sp>
      <p:sp>
        <p:nvSpPr>
          <p:cNvPr id="52" name="Text 50"/>
          <p:cNvSpPr/>
          <p:nvPr/>
        </p:nvSpPr>
        <p:spPr>
          <a:xfrm>
            <a:off x="6157913" y="2847975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157913" y="2990850"/>
            <a:ext cx="280320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流失预警主动挽回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85750" y="3465513"/>
            <a:ext cx="8675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创新成果亮点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00050" y="3835400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多维客户识别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00050" y="4019550"/>
            <a:ext cx="85610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接通率+35%，首拨转化+28%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00050" y="4162425"/>
            <a:ext cx="85610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AI模型精准预测需求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493169" y="3835400"/>
            <a:ext cx="6467951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人机协同外呼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493169" y="4019550"/>
            <a:ext cx="646795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AI成为坐席超级助手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493169" y="4162425"/>
            <a:ext cx="646795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实时话术辅助与情绪监控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86288" y="3835400"/>
            <a:ext cx="437483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AI赋能合规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586288" y="4019550"/>
            <a:ext cx="43748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100%通话覆盖自动质检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86288" y="4162425"/>
            <a:ext cx="437483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从事后检查转向事中预警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679406" y="3835400"/>
            <a:ext cx="228171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规模领先优势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679406" y="4019550"/>
            <a:ext cx="228171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3000+人专业团队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679406" y="4162425"/>
            <a:ext cx="228171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行业最大电销团队之一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5" name="Shape 3"/>
          <p:cNvSpPr/>
          <p:nvPr/>
        </p:nvSpPr>
        <p:spPr>
          <a:xfrm>
            <a:off x="1000125" y="2850356"/>
            <a:ext cx="21431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5710238" y="1000125"/>
            <a:ext cx="9525" cy="3357563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7" name="Shape 5"/>
          <p:cNvSpPr/>
          <p:nvPr/>
        </p:nvSpPr>
        <p:spPr>
          <a:xfrm>
            <a:off x="6143625" y="1421606"/>
            <a:ext cx="2428875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8" name="Shape 6"/>
          <p:cNvSpPr/>
          <p:nvPr/>
        </p:nvSpPr>
        <p:spPr>
          <a:xfrm>
            <a:off x="6143625" y="2311400"/>
            <a:ext cx="2428875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9" name="Shape 7"/>
          <p:cNvSpPr/>
          <p:nvPr/>
        </p:nvSpPr>
        <p:spPr>
          <a:xfrm>
            <a:off x="6143625" y="3197225"/>
            <a:ext cx="2428875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0" name="Shape 8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1" name="Text 9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成功关键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数据、AI、合规三位一体驱动转型成功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0125" y="682625"/>
            <a:ext cx="7960995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0" b="1" dirty="0">
                <a:solidFill>
                  <a:srgbClr val="167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3位</a:t>
            </a:r>
            <a:endParaRPr lang="en-US" sz="16000" dirty="0"/>
          </a:p>
        </p:txBody>
      </p:sp>
      <p:sp>
        <p:nvSpPr>
          <p:cNvPr id="15" name="Text 13"/>
          <p:cNvSpPr/>
          <p:nvPr/>
        </p:nvSpPr>
        <p:spPr>
          <a:xfrm>
            <a:off x="1000125" y="2813050"/>
            <a:ext cx="7960995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一体驱动模式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0125" y="3279775"/>
            <a:ext cx="79609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从战略到落地，数据、AI、合规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0125" y="3451225"/>
            <a:ext cx="796099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三者缺一不可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3625" y="1133475"/>
            <a:ext cx="28174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FACTORS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3625" y="1511300"/>
            <a:ext cx="281749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43625" y="1720850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精准识别客户需求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3625" y="1863725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打通跨系统数据构建统一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3625" y="2006600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客户画像，实现精准触达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3625" y="2397125"/>
            <a:ext cx="281749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AI协同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3625" y="2606675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辅助而非替代人工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43625" y="2749550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AI实时推荐话术、提示异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3625" y="2892425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议处理，保持营销温度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3625" y="3282950"/>
            <a:ext cx="2817495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合规保障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43625" y="3492500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红线管理一票否决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43625" y="3635375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从事后检查转向事中预警，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43625" y="3778250"/>
            <a:ext cx="281749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合规风险降低60%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714375"/>
            <a:ext cx="4214813" cy="4143375"/>
          </a:xfrm>
          <a:prstGeom prst="roundRect">
            <a:avLst>
              <a:gd name="adj" fmla="val 15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07156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4301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1446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585913"/>
            <a:ext cx="21431" cy="100013"/>
          </a:xfrm>
          <a:prstGeom prst="roundRect">
            <a:avLst>
              <a:gd name="adj" fmla="val 1422239"/>
            </a:avLst>
          </a:prstGeom>
          <a:solidFill>
            <a:srgbClr val="1677FF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2214563"/>
            <a:ext cx="3643313" cy="714375"/>
          </a:xfrm>
          <a:prstGeom prst="roundRect">
            <a:avLst>
              <a:gd name="adj" fmla="val 5120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00050" y="3000375"/>
            <a:ext cx="3643313" cy="714375"/>
          </a:xfrm>
          <a:prstGeom prst="roundRect">
            <a:avLst>
              <a:gd name="adj" fmla="val 512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00050" y="3786188"/>
            <a:ext cx="3643313" cy="714375"/>
          </a:xfrm>
          <a:prstGeom prst="roundRect">
            <a:avLst>
              <a:gd name="adj" fmla="val 5120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614863" y="714375"/>
            <a:ext cx="4243388" cy="4143375"/>
          </a:xfrm>
          <a:prstGeom prst="roundRect">
            <a:avLst>
              <a:gd name="adj" fmla="val 152"/>
            </a:avLst>
          </a:prstGeom>
          <a:solidFill>
            <a:srgbClr val="167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Shape 11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964406"/>
            <a:ext cx="3986213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" y="2125663"/>
            <a:ext cx="1743075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29163" y="966788"/>
            <a:ext cx="4014788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组织变革与人才培养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AI辅助培训缩短新人上手时间67%，培养复合型营销人才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0050" y="73660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组织架构与管理变革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1488" y="977900"/>
            <a:ext cx="848963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前中后台明确分工，职责边界清晰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488" y="114935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中台技术团队支撑前台业务，形成闭环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488" y="132080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后台质检培训独立运营，保障合规底线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488" y="1492250"/>
            <a:ext cx="8489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从传统电销管理向数据驱动运营转型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0050" y="1868488"/>
            <a:ext cx="856107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变革中的困难与克服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350" y="2251075"/>
            <a:ext cx="84467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组织惯性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4350" y="2435225"/>
            <a:ext cx="84467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传统管理方式向数据驱动转变阻力大，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4350" y="2578100"/>
            <a:ext cx="84467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通过分阶段推进和成果展示逐步化解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4350" y="3036888"/>
            <a:ext cx="84467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跨部门协作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4350" y="3221038"/>
            <a:ext cx="84467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数据、技术、业务三线协作需要建立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4350" y="3363913"/>
            <a:ext cx="84467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统一语言和协作机制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4350" y="3822700"/>
            <a:ext cx="84467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供应商协同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4350" y="4006850"/>
            <a:ext cx="84467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35家供应商协同管理，标准统一难，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4350" y="4149725"/>
            <a:ext cx="84467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通过统一平台和考核机制解决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29163" y="774700"/>
            <a:ext cx="4231958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DEVELOPMENT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29163" y="960438"/>
            <a:ext cx="42319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关键人才类型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29163" y="1322388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AI模型工程师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29163" y="1506538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需求识别、语义分析、话术推荐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29163" y="1793875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29163" y="1978025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客户画像构建、分层运营策略制定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29163" y="2265363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复合型坐席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29163" y="2449513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懂产品、懂话术、懂合规的全能人才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29163" y="2736850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合规专员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29163" y="2921000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AI质检配合、风险预警与处理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29163" y="3208338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29163" y="3392488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35家供应商统一标准与考核管理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29163" y="3746500"/>
            <a:ext cx="42319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培养方式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729163" y="4021138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AI辅助降低新人门槛，智能话术辅助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29163" y="4164013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+实时合规监控 = 新人上手缩短67%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29163" y="4449763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100%团队稳定性，合规率持续保持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57175"/>
            <a:ext cx="21431" cy="371475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1071563"/>
            <a:ext cx="2714625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1071563"/>
            <a:ext cx="28575" cy="1143000"/>
          </a:xfrm>
          <a:prstGeom prst="rect">
            <a:avLst/>
          </a:prstGeom>
          <a:solidFill>
            <a:srgbClr val="B01C1C"/>
          </a:solidFill>
          <a:ln/>
        </p:spPr>
      </p:sp>
      <p:sp>
        <p:nvSpPr>
          <p:cNvPr id="5" name="Shape 3"/>
          <p:cNvSpPr/>
          <p:nvPr/>
        </p:nvSpPr>
        <p:spPr>
          <a:xfrm>
            <a:off x="3114675" y="1071563"/>
            <a:ext cx="2714625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114675" y="1071563"/>
            <a:ext cx="28575" cy="1143000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071563"/>
            <a:ext cx="2914650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071563"/>
            <a:ext cx="28575" cy="11430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9" name="Shape 7"/>
          <p:cNvSpPr/>
          <p:nvPr/>
        </p:nvSpPr>
        <p:spPr>
          <a:xfrm>
            <a:off x="285750" y="2643188"/>
            <a:ext cx="4214813" cy="928688"/>
          </a:xfrm>
          <a:prstGeom prst="roundRect">
            <a:avLst>
              <a:gd name="adj" fmla="val 3030"/>
            </a:avLst>
          </a:prstGeom>
          <a:solidFill>
            <a:srgbClr val="1677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14863" y="2643188"/>
            <a:ext cx="4243388" cy="928688"/>
          </a:xfrm>
          <a:prstGeom prst="roundRect">
            <a:avLst>
              <a:gd name="adj" fmla="val 3030"/>
            </a:avLst>
          </a:prstGeom>
          <a:solidFill>
            <a:srgbClr val="1677FF"/>
          </a:solidFill>
          <a:ln/>
        </p:spPr>
      </p:sp>
      <p:sp>
        <p:nvSpPr>
          <p:cNvPr id="11" name="Shape 9"/>
          <p:cNvSpPr/>
          <p:nvPr/>
        </p:nvSpPr>
        <p:spPr>
          <a:xfrm>
            <a:off x="285750" y="3643313"/>
            <a:ext cx="4214813" cy="1143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" y="3643313"/>
            <a:ext cx="28575" cy="11430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4863" y="3643313"/>
            <a:ext cx="4243388" cy="1143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4863" y="3643313"/>
            <a:ext cx="28575" cy="11430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85750" y="2111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Shape 14"/>
          <p:cNvSpPr/>
          <p:nvPr/>
        </p:nvSpPr>
        <p:spPr>
          <a:xfrm>
            <a:off x="285750" y="668338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" y="978694"/>
            <a:ext cx="3286125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" y="2550319"/>
            <a:ext cx="3286125" cy="14288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85750" y="4926013"/>
            <a:ext cx="8572500" cy="635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285750" y="17462"/>
            <a:ext cx="867537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29450" y="17462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1475" y="220662"/>
            <a:ext cx="8589645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持续深化AI应用与合规能力建设，探索精准营销新边界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85750" y="750888"/>
            <a:ext cx="8675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未来12个月面临的三大挑战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0050" y="113665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获客成本持续上升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0050" y="1335088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市场竞争加剧，需要进一步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0050" y="1477963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提升精准识别能力以提高ROI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0050" y="1776413"/>
            <a:ext cx="856107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应对：深化AI需求识别模型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28975" y="1136650"/>
            <a:ext cx="573214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合规要求持续趋严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28975" y="1335088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金融营销合规标准不断提高，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28975" y="1477963"/>
            <a:ext cx="573214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需持续强化合规能力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28975" y="1776413"/>
            <a:ext cx="573214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应对：升级AI合规监控系统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57900" y="1136650"/>
            <a:ext cx="29032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技术迭代压力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57900" y="1335088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AI、大数据等新技术快速迭代，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57900" y="1477963"/>
            <a:ext cx="290322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需要持续学习和应用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57900" y="1776413"/>
            <a:ext cx="2903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应对：建立持续学习机制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5750" y="2322513"/>
            <a:ext cx="86753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下一步战略目标与计划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0050" y="2679700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目标一：AI深度赋能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0050" y="2878138"/>
            <a:ext cx="8561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升级AI需求识别模型，提升客户预测准确度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00050" y="3021013"/>
            <a:ext cx="85610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完善实时话术推荐和异议处理系统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00050" y="3163888"/>
            <a:ext cx="8561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进一步降低新人培训成本，缩短上手周期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29163" y="2679700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目标二：合规体系升级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29163" y="2878138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构建全链路合规风控体系，从预警到处理闭环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29163" y="3021013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提升AI智能质检覆盖度和准确度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29163" y="3163888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建立供应商合规评级体系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00050" y="3679825"/>
            <a:ext cx="856107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目标三：全生命周期精细化运营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00050" y="3878263"/>
            <a:ext cx="8561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完善客户生命周期管理，从获客到留存全链条优化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00050" y="4021138"/>
            <a:ext cx="8561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建立流失预警与挽回机制，降低客户流失率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00050" y="4164013"/>
            <a:ext cx="8561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深化产品匹配算法，提升交叉销售和复购转化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00050" y="4378325"/>
            <a:ext cx="856107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探索精准营销新边界，创新服务模式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29163" y="3679825"/>
            <a:ext cx="42319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目标四：团队能力升级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729163" y="3878263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培养数据驱动的复合型营销人才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29163" y="4021138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建立持续学习机制，跟进AI技术迭代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729163" y="4164013"/>
            <a:ext cx="423195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优化供应商协同管理，统一标准与考核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29163" y="4378325"/>
            <a:ext cx="423195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确保团队稳定性与持续增长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85750" y="4918075"/>
            <a:ext cx="8675370" cy="17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来源：京东科技 · 2026年5月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29450" y="4918075"/>
            <a:ext cx="1828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3" name="Shape 1"/>
          <p:cNvSpPr/>
          <p:nvPr/>
        </p:nvSpPr>
        <p:spPr>
          <a:xfrm>
            <a:off x="3857625" y="2638425"/>
            <a:ext cx="142875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31800"/>
            <a:ext cx="838962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514475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302000" y="2746375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感谢评审委员会的聆听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56000" y="3297238"/>
            <a:ext cx="2032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44800" y="3511550"/>
            <a:ext cx="3454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金融科技事业群 · 数据科技业务部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60600" y="3751263"/>
            <a:ext cx="4622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联系人：孙大年 · sundanian@jd.com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4819650"/>
            <a:ext cx="365760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金融科技事业群 · 数据科技业务部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2026年度新客服最佳实践奖评选申报</dc:title>
  <dc:subject>PptxGenJS Presentation</dc:subject>
  <dc:creator>京东科技</dc:creator>
  <cp:lastModifiedBy>京东科技</cp:lastModifiedBy>
  <cp:revision>1</cp:revision>
  <dcterms:created xsi:type="dcterms:W3CDTF">2026-05-01T10:46:06Z</dcterms:created>
  <dcterms:modified xsi:type="dcterms:W3CDTF">2026-05-01T10:46:06Z</dcterms:modified>
</cp:coreProperties>
</file>
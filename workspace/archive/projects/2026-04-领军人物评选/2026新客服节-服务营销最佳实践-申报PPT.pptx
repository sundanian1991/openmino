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9"/>
  </p:normalViewPr>
  <p:slideViewPr>
    <p:cSldViewPr snapToGrid="0" snapToObjects="1">
      <p:cViewPr varScale="1">
        <p:scale>
          <a:sx n="114" d="100"/>
          <a:sy n="114" d="100"/>
        </p:scale>
        <p:origin x="66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0" y="1645920"/>
            <a:ext cx="886968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18207" y="1993613"/>
            <a:ext cx="79552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C8161D"/>
                </a:solidFill>
                <a:latin typeface="Microsoft YaHei"/>
              </a:defRPr>
            </a:pPr>
            <a:r>
              <a:rPr sz="3200" dirty="0"/>
              <a:t>2026年度"新客服节新客服最佳实践奖"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834640"/>
            <a:ext cx="3931920" cy="381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03120" y="310896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55555"/>
                </a:solidFill>
                <a:latin typeface="Microsoft YaHei"/>
              </a:defRPr>
            </a:pPr>
            <a:r>
              <a:t>服务营销最佳实践申报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93192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京东科技股份有限公司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48056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金融科技事业群 - 数据科技业务部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BBBB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914400"/>
            <a:ext cx="640080" cy="50292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965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呼叫中心现况简介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417320"/>
            <a:ext cx="41148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0" y="1645920"/>
            <a:ext cx="640080" cy="50292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96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呼叫中心组织架构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148840"/>
            <a:ext cx="41148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0" y="2377440"/>
            <a:ext cx="640080" cy="50292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428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客服转型背景与战略目标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2880360"/>
            <a:ext cx="41148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0" y="3108960"/>
            <a:ext cx="640080" cy="50292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159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客服转型实施过程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3611880"/>
            <a:ext cx="41148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0" y="3840480"/>
            <a:ext cx="640080" cy="50292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891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客服转型具体成果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4343400"/>
            <a:ext cx="41148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0" y="4572000"/>
            <a:ext cx="640080" cy="50292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622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客服转型的成功关键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5074920"/>
            <a:ext cx="41148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0" y="5303520"/>
            <a:ext cx="640080" cy="50292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35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组织变革与人才培养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5806440"/>
            <a:ext cx="41148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0" y="6035040"/>
            <a:ext cx="640080" cy="50292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608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下一步计划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6537960"/>
            <a:ext cx="41148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8161D"/>
                </a:solidFill>
                <a:latin typeface="Microsoft YaHei"/>
              </a:defRPr>
            </a:pPr>
            <a:r>
              <a:t>01  呼叫中心现况简介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430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0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7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rPr dirty="0" err="1"/>
              <a:t>企业基本信息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11047" y="22377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rPr dirty="0" err="1"/>
              <a:t>企业：京东科技股份有限公司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rPr dirty="0" err="1"/>
              <a:t>行业：金融科技</a:t>
            </a:r>
            <a:r>
              <a:rPr dirty="0"/>
              <a:t> / </a:t>
            </a:r>
            <a:r>
              <a:rPr dirty="0" err="1"/>
              <a:t>科技服务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rPr dirty="0" err="1"/>
              <a:t>主营业务：信息技术咨询、云计算、AI应用、数据处理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rPr dirty="0" err="1"/>
              <a:t>客服中心：金融科技事业群</a:t>
            </a:r>
            <a:r>
              <a:rPr dirty="0"/>
              <a:t> - </a:t>
            </a:r>
            <a:r>
              <a:rPr dirty="0" err="1"/>
              <a:t>数据科技业务部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rPr dirty="0"/>
              <a:t>开始运营：2018年  |  </a:t>
            </a:r>
            <a:r>
              <a:rPr dirty="0" err="1"/>
              <a:t>层级：二级部门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rPr dirty="0"/>
              <a:t>客服电话：4000988505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486400" cy="1733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48640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366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t>使命与愿景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rPr dirty="0" err="1"/>
              <a:t>使命：技术为本，让生活更美好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rPr dirty="0" err="1"/>
              <a:t>愿景：成为全球最值得信赖的企业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rPr dirty="0" err="1"/>
              <a:t>价值观：客户为先、创新、拼搏、担当、感恩、诚信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6217920" y="3017520"/>
            <a:ext cx="5486400" cy="24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3017520"/>
            <a:ext cx="548640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53047" y="3394493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rPr dirty="0" err="1"/>
              <a:t>部门定位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6446520" y="39620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rPr dirty="0"/>
              <a:t>"</a:t>
            </a:r>
            <a:r>
              <a:rPr dirty="0" err="1"/>
              <a:t>数据驱动的服务营销中枢</a:t>
            </a:r>
            <a:r>
              <a:rPr dirty="0"/>
              <a:t>" — </a:t>
            </a:r>
            <a:r>
              <a:rPr dirty="0" err="1"/>
              <a:t>精细化运营+智能化管理，为用户提供专业金融服务体验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8161D"/>
                </a:solidFill>
                <a:latin typeface="Microsoft YaHei"/>
              </a:defRPr>
            </a:pPr>
            <a:r>
              <a:t>01  团队规模与服务渠道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474720" cy="146304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前台人员</a:t>
            </a:r>
          </a:p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2,900+</a:t>
            </a:r>
          </a:p>
          <a:p>
            <a:pPr algn="ctr">
              <a:defRPr sz="1300">
                <a:solidFill>
                  <a:srgbClr val="FFCCCC"/>
                </a:solidFill>
                <a:latin typeface="Microsoft YaHei"/>
              </a:defRPr>
            </a:pPr>
            <a:r>
              <a:t>本科60% | 大专40%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188720"/>
            <a:ext cx="3474720" cy="146304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中台人员</a:t>
            </a:r>
          </a:p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100+</a:t>
            </a:r>
          </a:p>
          <a:p>
            <a:pPr algn="ctr">
              <a:defRPr sz="1300">
                <a:solidFill>
                  <a:srgbClr val="FFCCCC"/>
                </a:solidFill>
                <a:latin typeface="Microsoft YaHei"/>
              </a:defRPr>
            </a:pPr>
            <a:r>
              <a:t>管理与运营支撑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188720"/>
            <a:ext cx="3474720" cy="146304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后台人员</a:t>
            </a:r>
          </a:p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50+</a:t>
            </a:r>
          </a:p>
          <a:p>
            <a:pPr algn="ctr">
              <a:defRPr sz="1300">
                <a:solidFill>
                  <a:srgbClr val="FFCCCC"/>
                </a:solidFill>
                <a:latin typeface="Microsoft YaHei"/>
              </a:defRPr>
            </a:pPr>
            <a:r>
              <a:t>技术与数据分析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1124712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1953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t>服务渠道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20440"/>
            <a:ext cx="10789920" cy="656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555555"/>
                </a:solidFill>
                <a:latin typeface="Microsoft YaHei"/>
              </a:defRPr>
            </a:pPr>
            <a:r>
              <a:rPr dirty="0" err="1"/>
              <a:t>电销渠道</a:t>
            </a:r>
            <a:r>
              <a:rPr dirty="0"/>
              <a:t>— </a:t>
            </a:r>
            <a:r>
              <a:rPr dirty="0" err="1"/>
              <a:t>金融营销电销外呼业务，涵盖拉新、复购等全流程服务</a:t>
            </a: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555555"/>
                </a:solidFill>
                <a:latin typeface="Microsoft YaHei"/>
              </a:defRPr>
            </a:pP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覆盖信贷、理财、保险等金融产品线</a:t>
            </a:r>
            <a:r>
              <a:rPr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|  </a:t>
            </a: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年度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亿</a:t>
            </a: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级客户触达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161D"/>
                </a:solidFill>
                <a:latin typeface="Microsoft YaHei"/>
              </a:defRPr>
            </a:pPr>
            <a:r>
              <a:t>核心指标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303520"/>
            <a:ext cx="2011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年度GMV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8161D"/>
                </a:solidFill>
                <a:latin typeface="Microsoft YaHei"/>
              </a:defRPr>
            </a:pPr>
            <a:r>
              <a:t>2000亿+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5303520"/>
            <a:ext cx="2011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0" y="5349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团队规模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623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8161D"/>
                </a:solidFill>
                <a:latin typeface="Microsoft YaHei"/>
              </a:defRPr>
            </a:pPr>
            <a:r>
              <a:t>3000+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5303520"/>
            <a:ext cx="2011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5349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rPr dirty="0" err="1"/>
              <a:t>供应商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5029200" y="5623560"/>
            <a:ext cx="2011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8161D"/>
                </a:solidFill>
                <a:latin typeface="Microsoft YaHei"/>
              </a:defRPr>
            </a:pPr>
            <a:r>
              <a:rPr dirty="0"/>
              <a:t>3</a:t>
            </a:r>
            <a:r>
              <a:rPr lang="en-US" altLang="zh-CN" dirty="0"/>
              <a:t>0+</a:t>
            </a:r>
            <a:r>
              <a:rPr dirty="0"/>
              <a:t>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5303520"/>
            <a:ext cx="2011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0" y="5349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年以上占比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5200" y="5623560"/>
            <a:ext cx="2011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8161D"/>
                </a:solidFill>
                <a:latin typeface="Microsoft YaHei"/>
              </a:defRPr>
            </a:pPr>
            <a:r>
              <a:rPr lang="en-US" altLang="zh-CN" dirty="0"/>
              <a:t>8</a:t>
            </a:r>
            <a:r>
              <a:rPr dirty="0"/>
              <a:t>0%</a:t>
            </a:r>
            <a:r>
              <a:rPr lang="en-US" altLang="zh-CN" dirty="0"/>
              <a:t>+</a:t>
            </a:r>
            <a:endParaRPr dirty="0"/>
          </a:p>
        </p:txBody>
      </p:sp>
      <p:sp>
        <p:nvSpPr>
          <p:cNvPr id="26" name="Rectangle 25"/>
          <p:cNvSpPr/>
          <p:nvPr/>
        </p:nvSpPr>
        <p:spPr>
          <a:xfrm>
            <a:off x="9601200" y="5303520"/>
            <a:ext cx="2011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0" y="5349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营销占比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5623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8161D"/>
                </a:solidFill>
                <a:latin typeface="Microsoft YaHei"/>
              </a:defRPr>
            </a:pPr>
            <a:r>
              <a:t>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8161D"/>
                </a:solidFill>
                <a:latin typeface="Microsoft YaHei"/>
              </a:defRPr>
            </a:pPr>
            <a:r>
              <a:t>02  呼叫中心组织架构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0" y="1188720"/>
            <a:ext cx="4480560" cy="73152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数据科技业务部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377440"/>
            <a:ext cx="393192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C81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C8161D"/>
                </a:solidFill>
                <a:latin typeface="Microsoft YaHei"/>
              </a:defRPr>
            </a:pP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策略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运营</a:t>
            </a: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组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0" y="2377440"/>
            <a:ext cx="393192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C81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C8161D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电销</a:t>
            </a: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服务组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消金</a:t>
            </a: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线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83280" y="365760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rPr dirty="0" err="1"/>
              <a:t>企金线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6309360" y="365760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rPr dirty="0" err="1"/>
              <a:t>信用卡线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9235440" y="365760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rPr dirty="0" err="1"/>
              <a:t>财富线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1371600" y="4754880"/>
            <a:ext cx="3931920" cy="822960"/>
          </a:xfrm>
          <a:prstGeom prst="rect">
            <a:avLst/>
          </a:prstGeom>
          <a:solidFill>
            <a:srgbClr val="FDEAE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C8161D"/>
                </a:solidFill>
                <a:latin typeface="Microsoft YaHei"/>
              </a:defRPr>
            </a:pPr>
            <a:r>
              <a:t>业务管理</a:t>
            </a:r>
          </a:p>
          <a:p>
            <a:pPr algn="ctr"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日常BPO沟通协调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4754880"/>
            <a:ext cx="3931920" cy="822960"/>
          </a:xfrm>
          <a:prstGeom prst="rect">
            <a:avLst/>
          </a:prstGeom>
          <a:solidFill>
            <a:srgbClr val="FDEAE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C8161D"/>
                </a:solidFill>
                <a:latin typeface="Microsoft YaHei"/>
              </a:defRPr>
            </a:pPr>
            <a:r>
              <a:t>质检培训运营</a:t>
            </a:r>
          </a:p>
          <a:p>
            <a:pPr algn="ctr"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合规保障 + 供应商赋能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rPr dirty="0"/>
              <a:t>3</a:t>
            </a:r>
            <a:r>
              <a:rPr lang="en-US" altLang="zh-CN" dirty="0"/>
              <a:t>0+</a:t>
            </a:r>
            <a:r>
              <a:rPr dirty="0"/>
              <a:t>家供应商 | 3000+人团队 | </a:t>
            </a:r>
            <a:r>
              <a:rPr dirty="0" err="1"/>
              <a:t>覆盖全流程营销服务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8161D"/>
                </a:solidFill>
                <a:latin typeface="Microsoft YaHei"/>
              </a:defRPr>
            </a:pPr>
            <a:r>
              <a:t>03  客服转型背景与战略目标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0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66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t>转型背景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金融科技行业竞争加剧，获客成本持续上升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传统电销模式效率见顶，依赖人工经验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合规要求日趋严格，事后检查已不足够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客户需求多元化，需从"推销"转向"理解"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AI/大数据技术成熟带来转型窗口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486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48640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366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t>战略目标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4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构建数据驱动的智能电销营销体系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实现人机协同的规模化高效运营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建立行业领先的合规管控标准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打造可复制的供应商管理模式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161D"/>
                </a:solidFill>
                <a:latin typeface="Microsoft YaHei"/>
              </a:defRPr>
            </a:pPr>
            <a:r>
              <a:t>三大战略维度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7200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56616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749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t>客服价值化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749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从成本中心转为价值创造中心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以GMV和客户价值衡量产出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数据驱动精准服务与运营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457200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97680" y="4572000"/>
            <a:ext cx="356616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80" y="4749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t>数字智能化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50749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AI辅助营销全流程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智能路由 + 实时话术推荐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100%智能质检覆盖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57200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38160" y="4572000"/>
            <a:ext cx="356616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66760" y="4749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t>服务营销一体化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0749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营销与服务深度耦合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全生命周期客户运营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拉新-转化-复购闭环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8161D"/>
                </a:solidFill>
                <a:latin typeface="Microsoft YaHei"/>
              </a:defRPr>
            </a:pPr>
            <a:r>
              <a:t>04  客服转型实施过程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743200" cy="9144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阶段一</a:t>
            </a:r>
          </a:p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数据基础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2860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274320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463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整合客户数据源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构建统一客户画像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建立分层运营体系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188720"/>
            <a:ext cx="2743200" cy="9144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阶段二</a:t>
            </a:r>
          </a:p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AI能力建设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2860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2286000"/>
            <a:ext cx="274320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2463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27889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开发需求识别模型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部署智能路由系统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上线实时话术辅助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2743200" cy="9144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阶段三</a:t>
            </a:r>
          </a:p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合规升级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2860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2286000"/>
            <a:ext cx="274320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2463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27889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100%通话智能质检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实时合规监控系统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风险预警机制建设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188720"/>
            <a:ext cx="2743200" cy="9144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阶段四</a:t>
            </a:r>
          </a:p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规模化运营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22860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89720" y="2286000"/>
            <a:ext cx="274320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2463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0" y="27889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供应商管理模式复制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全生命周期运营闭环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数据驱动持续优化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161D"/>
                </a:solidFill>
                <a:latin typeface="Microsoft YaHei"/>
              </a:defRPr>
            </a:pPr>
            <a:r>
              <a:t>四大关键举措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161D"/>
                </a:solidFill>
                <a:latin typeface="Microsoft YaHei"/>
              </a:defRPr>
            </a:pPr>
            <a:r>
              <a:t>数据赋能客户识别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AI需求识别模型 + 精准分层运营 + 差异化触达策略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846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161D"/>
                </a:solidFill>
                <a:latin typeface="Microsoft YaHei"/>
              </a:defRPr>
            </a:pPr>
            <a:r>
              <a:t>人机协同智能外呼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智能路由匹配 + AI实时话术辅助 + 情绪与合规监控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15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161D"/>
                </a:solidFill>
                <a:latin typeface="Microsoft YaHei"/>
              </a:defRPr>
            </a:pPr>
            <a:r>
              <a:t>AI赋能合规提效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实时敏感词识别 + 100%智能质检 + 风险预警机制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715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161D"/>
                </a:solidFill>
                <a:latin typeface="Microsoft YaHei"/>
              </a:defRPr>
            </a:pPr>
            <a:r>
              <a:t>AI赋能精准营销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语义分析需求挖掘 + 个性化产品匹配 + 数据闭环优化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8161D"/>
                </a:solidFill>
                <a:latin typeface="Microsoft YaHei"/>
              </a:defRPr>
            </a:pPr>
            <a:r>
              <a:t>05  客服转型具体成果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51760" cy="128016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2000亿+</a:t>
            </a:r>
          </a:p>
          <a:p>
            <a:pPr algn="ctr">
              <a:defRPr sz="1300">
                <a:solidFill>
                  <a:srgbClr val="FFCCCC"/>
                </a:solidFill>
                <a:latin typeface="Microsoft YaHei"/>
              </a:defRPr>
            </a:pPr>
            <a:r>
              <a:t>年度GMV | 放款额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097280"/>
            <a:ext cx="2651760" cy="128016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3,000+</a:t>
            </a:r>
          </a:p>
          <a:p>
            <a:pPr algn="ctr">
              <a:defRPr sz="1300">
                <a:solidFill>
                  <a:srgbClr val="FFCCCC"/>
                </a:solidFill>
                <a:latin typeface="Microsoft YaHei"/>
              </a:defRPr>
            </a:pPr>
            <a:r>
              <a:t>团队规模 | 专业营销团队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97280"/>
            <a:ext cx="2651760" cy="128016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3</a:t>
            </a:r>
            <a:r>
              <a:rPr lang="en-US" altLang="zh-CN" dirty="0"/>
              <a:t>0+</a:t>
            </a:r>
            <a:r>
              <a:rPr dirty="0"/>
              <a:t>家</a:t>
            </a:r>
          </a:p>
          <a:p>
            <a:pPr algn="ctr">
              <a:defRPr sz="1300">
                <a:solidFill>
                  <a:srgbClr val="FFCCCC"/>
                </a:solidFill>
                <a:latin typeface="Microsoft YaHei"/>
              </a:defRPr>
            </a:pPr>
            <a:r>
              <a:rPr dirty="0" err="1"/>
              <a:t>供应商</a:t>
            </a:r>
            <a:r>
              <a:rPr dirty="0"/>
              <a:t> | </a:t>
            </a:r>
            <a:r>
              <a:rPr dirty="0" err="1"/>
              <a:t>全量管理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9235440" y="1097280"/>
            <a:ext cx="2651760" cy="128016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100%</a:t>
            </a:r>
          </a:p>
          <a:p>
            <a:pPr algn="ctr">
              <a:defRPr sz="1300">
                <a:solidFill>
                  <a:srgbClr val="FFCCCC"/>
                </a:solidFill>
                <a:latin typeface="Microsoft YaHei"/>
              </a:defRPr>
            </a:pPr>
            <a:r>
              <a:t>合规率 | 红线指标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3566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356616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829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t>客服价值化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5468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555555"/>
                </a:solidFill>
                <a:latin typeface="Microsoft YaHei"/>
              </a:defRPr>
            </a:pPr>
            <a:r>
              <a:t>接通率提升 35%</a:t>
            </a:r>
          </a:p>
          <a:p>
            <a:pPr>
              <a:spcAft>
                <a:spcPts val="800"/>
              </a:spcAft>
              <a:defRPr sz="1500">
                <a:solidFill>
                  <a:srgbClr val="555555"/>
                </a:solidFill>
                <a:latin typeface="Microsoft YaHei"/>
              </a:defRPr>
            </a:pPr>
            <a:r>
              <a:t>首拨转化率提升 28%</a:t>
            </a:r>
          </a:p>
          <a:p>
            <a:pPr>
              <a:spcAft>
                <a:spcPts val="800"/>
              </a:spcAft>
              <a:defRPr sz="1500">
                <a:solidFill>
                  <a:srgbClr val="555555"/>
                </a:solidFill>
                <a:latin typeface="Microsoft YaHei"/>
              </a:defRPr>
            </a:pPr>
            <a:r>
              <a:t>人均效率提升 40%</a:t>
            </a:r>
          </a:p>
          <a:p>
            <a:pPr>
              <a:spcAft>
                <a:spcPts val="800"/>
              </a:spcAft>
              <a:defRPr sz="1500">
                <a:solidFill>
                  <a:srgbClr val="555555"/>
                </a:solidFill>
                <a:latin typeface="Microsoft YaHei"/>
              </a:defRPr>
            </a:pPr>
            <a:r>
              <a:t>新人上手时间缩短 67%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651760"/>
            <a:ext cx="3566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2651760"/>
            <a:ext cx="356616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2829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t>数字智能化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15468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555555"/>
                </a:solidFill>
                <a:latin typeface="Microsoft YaHei"/>
              </a:defRPr>
            </a:pPr>
            <a:r>
              <a:t>100% 智能质检覆盖</a:t>
            </a:r>
          </a:p>
          <a:p>
            <a:pPr>
              <a:spcAft>
                <a:spcPts val="800"/>
              </a:spcAft>
              <a:defRPr sz="1500">
                <a:solidFill>
                  <a:srgbClr val="555555"/>
                </a:solidFill>
                <a:latin typeface="Microsoft YaHei"/>
              </a:defRPr>
            </a:pPr>
            <a:r>
              <a:t>质检效率提升 300%</a:t>
            </a:r>
          </a:p>
          <a:p>
            <a:pPr>
              <a:spcAft>
                <a:spcPts val="800"/>
              </a:spcAft>
              <a:defRPr sz="1500">
                <a:solidFill>
                  <a:srgbClr val="555555"/>
                </a:solidFill>
                <a:latin typeface="Microsoft YaHei"/>
              </a:defRPr>
            </a:pPr>
            <a:r>
              <a:t>合规风险降低 60%</a:t>
            </a:r>
          </a:p>
          <a:p>
            <a:pPr>
              <a:spcAft>
                <a:spcPts val="800"/>
              </a:spcAft>
              <a:defRPr sz="1500">
                <a:solidFill>
                  <a:srgbClr val="555555"/>
                </a:solidFill>
                <a:latin typeface="Microsoft YaHei"/>
              </a:defRPr>
            </a:pPr>
            <a:r>
              <a:t>从事后检查 → 事中预警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651760"/>
            <a:ext cx="3566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2651760"/>
            <a:ext cx="356616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2829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t>服务营销一体化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15468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555555"/>
                </a:solidFill>
                <a:latin typeface="Microsoft YaHei"/>
              </a:defRPr>
            </a:pPr>
            <a:r>
              <a:t>营销转化率提升 25%</a:t>
            </a:r>
          </a:p>
          <a:p>
            <a:pPr>
              <a:spcAft>
                <a:spcPts val="800"/>
              </a:spcAft>
              <a:defRPr sz="1500">
                <a:solidFill>
                  <a:srgbClr val="555555"/>
                </a:solidFill>
                <a:latin typeface="Microsoft YaHei"/>
              </a:defRPr>
            </a:pPr>
            <a:r>
              <a:t>客户复购率提升 30%</a:t>
            </a:r>
          </a:p>
          <a:p>
            <a:pPr>
              <a:spcAft>
                <a:spcPts val="800"/>
              </a:spcAft>
              <a:defRPr sz="1500">
                <a:solidFill>
                  <a:srgbClr val="555555"/>
                </a:solidFill>
                <a:latin typeface="Microsoft YaHei"/>
              </a:defRPr>
            </a:pPr>
            <a:r>
              <a:t>全生命周期运营闭环</a:t>
            </a:r>
          </a:p>
          <a:p>
            <a:pPr>
              <a:spcAft>
                <a:spcPts val="800"/>
              </a:spcAft>
              <a:defRPr sz="1500">
                <a:solidFill>
                  <a:srgbClr val="555555"/>
                </a:solidFill>
                <a:latin typeface="Microsoft YaHei"/>
              </a:defRPr>
            </a:pPr>
            <a:r>
              <a:t>拉新-转化-复购持续增长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Microsoft YaHei"/>
              </a:defRPr>
            </a:pPr>
            <a:r>
              <a:t>核心成果：构建"数据驱动+人机协同+AI合规"三位一体的智能电销营销体系，在效率、合规、增长三个维度实现行业领先水平。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8161D"/>
                </a:solidFill>
                <a:latin typeface="Microsoft YaHei"/>
              </a:defRPr>
            </a:pPr>
            <a:r>
              <a:t>06  客服转型的成功关键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122680"/>
            <a:ext cx="457200" cy="4572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097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161D"/>
                </a:solidFill>
                <a:latin typeface="Microsoft YaHei"/>
              </a:defRPr>
            </a:pPr>
            <a:r>
              <a:t>数据驱动决策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从经验判断到数据说话。AI需求识别模型替代人工筛选，精准分层运营替代粗放触达，让每一通电话都有数据支撑。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74240"/>
            <a:ext cx="457200" cy="4572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48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161D"/>
                </a:solidFill>
                <a:latin typeface="Microsoft YaHei"/>
              </a:defRPr>
            </a:pPr>
            <a:r>
              <a:t>人机协同而非替代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AI是坐席的"超级助手"，不是替代品。智能路由匹配最优坐席，实时话术辅助降低门槛，保持营销温度和信任感。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25800"/>
            <a:ext cx="457200" cy="4572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161D"/>
                </a:solidFill>
                <a:latin typeface="Microsoft YaHei"/>
              </a:defRPr>
            </a:pPr>
            <a:r>
              <a:t>合规先行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20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合规率100%作为红线指标，一票否决。从事后检查升级为事中预警，AI实时监控+100%智能质检，让合规成为竞争力。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77360"/>
            <a:ext cx="457200" cy="4572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251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161D"/>
                </a:solidFill>
                <a:latin typeface="Microsoft YaHei"/>
              </a:defRPr>
            </a:pPr>
            <a:r>
              <a:t>供应商生态管理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35家供应商、3000+人的统一管理体系。标准化流程+差异化赋能，规模化管理的同时间保持灵活性和服务质量。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28920"/>
            <a:ext cx="457200" cy="4572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303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161D"/>
                </a:solidFill>
                <a:latin typeface="Microsoft YaHei"/>
              </a:defRPr>
            </a:pPr>
            <a:r>
              <a:t>全生命周期运营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623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从获客到复购的完整闭环。新客获取 → 首次转化 → 复购激活 → 流失预警，每个环节都有AI辅助和数据优化。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Microsoft YaHei"/>
              </a:defRPr>
            </a:pPr>
            <a:r>
              <a:rPr dirty="0" err="1"/>
              <a:t>启发：转型不必一步到位，分阶段推进</a:t>
            </a:r>
            <a:r>
              <a:rPr dirty="0"/>
              <a:t> | </a:t>
            </a:r>
            <a:r>
              <a:rPr dirty="0" err="1"/>
              <a:t>合规是底线也是竞争力</a:t>
            </a:r>
            <a:r>
              <a:rPr dirty="0"/>
              <a:t> | </a:t>
            </a:r>
            <a:r>
              <a:rPr dirty="0" err="1"/>
              <a:t>人机协同的关键是"辅助"而非"替代</a:t>
            </a:r>
            <a:r>
              <a:rPr dirty="0"/>
              <a:t>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8161D"/>
                </a:solidFill>
                <a:latin typeface="Microsoft YaHei"/>
              </a:defRPr>
            </a:pPr>
            <a:r>
              <a:t>07  组织变革与人才培养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48640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7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t>组织架构变革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从单一电销团队 → 分层运营体系（策略组+服务组）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新增数据分析、AI训练师、合规管理岗位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供应商管理独立职能：准入-分工-考核-清退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质检从人工抽检 → AI全量覆盖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建立"业务管理+质检培训"双线支撑架构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486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48640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27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t>人才培养体系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0020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新人培训：AI辅助缩短上手67%，标准化话术+实战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进阶培养：数据思维+AI工具，培养复合型营销人才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供应商赋能：定期培训+考核+标杆分享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合规教育：合规红线+案例教学，100%意识渗透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考核：业绩+过程+客户评价+合规四维考核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161D"/>
                </a:solidFill>
                <a:latin typeface="Microsoft YaHei"/>
              </a:defRPr>
            </a:pPr>
            <a:r>
              <a:t>关键人才角色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80560"/>
            <a:ext cx="26517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1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572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t>数据分析师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029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客户画像构建</a:t>
            </a:r>
            <a:br/>
            <a:r>
              <a:t>需求模型优化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4480560"/>
            <a:ext cx="26517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1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20440" y="4572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t>AI训练师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5029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话术模型训练</a:t>
            </a:r>
            <a:br/>
            <a:r>
              <a:t>质检规则调优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480560"/>
            <a:ext cx="26517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1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4572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t>合规管理师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029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合规体系搭建</a:t>
            </a:r>
            <a:br/>
            <a:r>
              <a:t>风险预警设计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4480560"/>
            <a:ext cx="26517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1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72600" y="4572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t>供应商经理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5029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全量供应商管理</a:t>
            </a:r>
            <a:br/>
            <a:r>
              <a:t>赋能与考核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8161D"/>
                </a:solidFill>
                <a:latin typeface="Microsoft YaHei"/>
              </a:defRPr>
            </a:pPr>
            <a:r>
              <a:t>08  下一步计划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4712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7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t>当前面临的三大挑战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555555"/>
                </a:solidFill>
                <a:latin typeface="Microsoft YaHei"/>
              </a:defRPr>
            </a:pPr>
            <a:r>
              <a:t>获客成本上升：市场竞争加剧，需通过更精准的客户识别提升ROI，降低单客获取成本</a:t>
            </a:r>
          </a:p>
          <a:p>
            <a:pPr>
              <a:spcAft>
                <a:spcPts val="800"/>
              </a:spcAft>
              <a:defRPr sz="1500">
                <a:solidFill>
                  <a:srgbClr val="555555"/>
                </a:solidFill>
                <a:latin typeface="Microsoft YaHei"/>
              </a:defRPr>
            </a:pPr>
            <a:r>
              <a:t>合规要求趋严：金融营销合规要求持续收紧，需持续强化合规能力，从合规达标升级为合规领先</a:t>
            </a:r>
          </a:p>
          <a:p>
            <a:pPr>
              <a:spcAft>
                <a:spcPts val="800"/>
              </a:spcAft>
              <a:defRPr sz="1500">
                <a:solidFill>
                  <a:srgbClr val="555555"/>
                </a:solidFill>
                <a:latin typeface="Microsoft YaHei"/>
              </a:defRPr>
            </a:pPr>
            <a:r>
              <a:t>技术迭代压力：AI、大数据等新技术快速迭代，需建立持续学习和应用机制，保持技术领先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161D"/>
                </a:solidFill>
                <a:latin typeface="Microsoft YaHei"/>
              </a:defRPr>
            </a:pPr>
            <a:r>
              <a:t>下一步规划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49039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274320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9268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t>深化AI应用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51959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升级需求识别模型精准度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拓展AI辅助场景覆盖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探索大模型在营销中应用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3749039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83280" y="3749039"/>
            <a:ext cx="274320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39268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t>强化合规能力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251959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建设前瞻性合规体系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完善风险预警机制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合规能力对外输出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749039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3749039"/>
            <a:ext cx="274320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39268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t>优化生态管理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251959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供应商分级精细化管理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建立供应商赋能标准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打造可复制管理模式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3749039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35440" y="3749039"/>
            <a:ext cx="2743200" cy="508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64040" y="39268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61D"/>
                </a:solidFill>
                <a:latin typeface="Microsoft YaHei"/>
              </a:defRPr>
            </a:pPr>
            <a:r>
              <a:t>持续人才建设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4251959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培养AI+营销复合人才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建立内部讲师体系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搭建人才梯队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1031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THANKS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291840"/>
            <a:ext cx="301752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京东科技股份有限公司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CCC"/>
                </a:solidFill>
                <a:latin typeface="Microsoft YaHei"/>
              </a:defRPr>
            </a:pPr>
            <a:r>
              <a:t>金融科技事业群 - 数据科技业务部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635</Words>
  <Application>Microsoft Macintosh PowerPoint</Application>
  <PresentationFormat>宽屏</PresentationFormat>
  <Paragraphs>217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sundanian</cp:lastModifiedBy>
  <cp:revision>3</cp:revision>
  <dcterms:created xsi:type="dcterms:W3CDTF">2013-01-27T09:14:16Z</dcterms:created>
  <dcterms:modified xsi:type="dcterms:W3CDTF">2026-04-30T08:43:23Z</dcterms:modified>
  <cp:category/>
</cp:coreProperties>
</file>
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95847" y="1269000"/>
            <a:ext cx="90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95847" y="1629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4A84B"/>
                </a:solidFill>
                <a:latin typeface="Microsoft YaHe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5847" y="2169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61D"/>
                </a:solidFill>
                <a:latin typeface="Microsoft YaHei"/>
              </a:rPr>
              <a:t>新客服节 · 新客服最佳实践奖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5847" y="3069000"/>
            <a:ext cx="2880000" cy="360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5847" y="3249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161D"/>
                </a:solidFill>
                <a:latin typeface="Microsoft YaHei"/>
              </a:rPr>
              <a:t>服务营销最佳实践申报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5847" y="3717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Microsoft YaHei"/>
              </a:rPr>
              <a:t>京东科技股份有限公司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5847" y="4077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金融科技事业群 · 数据科技业务部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8161D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4320000" y="1080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00" y="115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01  呼叫中心现况简介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476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20000" y="1692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1764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02  呼叫中心组织架构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0000" y="2088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0000" y="2304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000" y="2376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03  客服转型背景与战略目标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2700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20000" y="2916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2988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04  客服转型实施过程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60000" y="3312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20000" y="3528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0" y="360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05  客服转型具体成果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0000" y="3924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0000" y="4140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0" y="421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06  客服转型的成功关键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4536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0000" y="4752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4824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07  组织变革与人才培养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0000" y="5148000"/>
            <a:ext cx="648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20000" y="5364000"/>
            <a:ext cx="432000" cy="432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0000" y="5436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08  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01  呼叫中心现况简介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5220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8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33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企业基本信息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72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企业：京东科技股份有限公司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92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行业：金融科技 / 科技服务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12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主营业务：信息技术咨询、云计算、AI应用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32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客服中心：数据科技业务部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520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客服电话：4000988505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0" y="1188000"/>
            <a:ext cx="5220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0000" y="1188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0" y="133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使命与愿景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172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使命：技术为本，让生活更美好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192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愿景：成为全球最值得信赖的企业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212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价值观：客户为先、创新、拼搏、担当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3600000"/>
            <a:ext cx="10620000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000" y="3600000"/>
            <a:ext cx="106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3744000"/>
            <a:ext cx="10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部门定位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4032000"/>
            <a:ext cx="102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4444"/>
                </a:solidFill>
                <a:latin typeface="Microsoft YaHei"/>
              </a:rPr>
              <a:t>"数据驱动的服务营销中枢" — 精细化运营 + 智能化管理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01  团队规模与服务渠道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3528000" cy="108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296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前台人员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84000"/>
            <a:ext cx="35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2,900+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80000"/>
            <a:ext cx="35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本科60% | 大专40%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6000" y="1188000"/>
            <a:ext cx="3528000" cy="108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296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中台人员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1584000"/>
            <a:ext cx="35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1980000"/>
            <a:ext cx="35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管理与运营支撑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0" y="1188000"/>
            <a:ext cx="3528000" cy="108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1296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后台人员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2000" y="1584000"/>
            <a:ext cx="35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0" y="1980000"/>
            <a:ext cx="35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技术与数据分析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2448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服务渠道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2700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电销渠道 — 金融营销电销外呼业务，涵盖拉新、复购等全流程服务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24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Microsoft YaHei"/>
              </a:rPr>
              <a:t>核心指标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3492000"/>
            <a:ext cx="2052000" cy="6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3564000"/>
            <a:ext cx="20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icrosoft YaHei"/>
              </a:rPr>
              <a:t>年度GMV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161D"/>
                </a:solidFill>
                <a:latin typeface="Microsoft YaHei"/>
              </a:rPr>
              <a:t>2000亿+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0" y="3492000"/>
            <a:ext cx="2052000" cy="6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000" y="3564000"/>
            <a:ext cx="20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icrosoft YaHei"/>
              </a:rPr>
              <a:t>团队规模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161D"/>
                </a:solidFill>
                <a:latin typeface="Microsoft YaHei"/>
              </a:rPr>
              <a:t>3000+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0000" y="3492000"/>
            <a:ext cx="2052000" cy="6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0000" y="3564000"/>
            <a:ext cx="20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icrosoft YaHei"/>
              </a:rPr>
              <a:t>供应商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0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161D"/>
                </a:solidFill>
                <a:latin typeface="Microsoft YaHei"/>
              </a:rPr>
              <a:t>30+家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0" y="3492000"/>
            <a:ext cx="2052000" cy="6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0" y="3564000"/>
            <a:ext cx="20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icrosoft YaHei"/>
              </a:rPr>
              <a:t>1年+占比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161D"/>
                </a:solidFill>
                <a:latin typeface="Microsoft YaHei"/>
              </a:rPr>
              <a:t>80%+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0000" y="3492000"/>
            <a:ext cx="2052000" cy="6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0000" y="3564000"/>
            <a:ext cx="20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icrosoft YaHei"/>
              </a:rPr>
              <a:t>营销占比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0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161D"/>
                </a:solidFill>
                <a:latin typeface="Microsoft YaHei"/>
              </a:rPr>
              <a:t>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02  呼叫中心组织架构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5847" y="1188000"/>
            <a:ext cx="3600000" cy="432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数据科技业务部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522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800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944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策略运营组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268000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刘伟佳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0" y="1800000"/>
            <a:ext cx="522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0000" y="1800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0" y="1944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电销服务组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0" y="2268000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王易人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2880000"/>
            <a:ext cx="2592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消金线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0000" y="2880000"/>
            <a:ext cx="2592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企金线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2880000"/>
            <a:ext cx="2592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信用卡线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0000" y="2880000"/>
            <a:ext cx="2592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财富线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3528000"/>
            <a:ext cx="5220000" cy="720000"/>
          </a:xfrm>
          <a:prstGeom prst="rect">
            <a:avLst/>
          </a:prstGeom>
          <a:solidFill>
            <a:srgbClr val="FDEAEB"/>
          </a:solidFill>
          <a:ln w="635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363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业务管理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388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日常BPO沟通协调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0" y="3528000"/>
            <a:ext cx="5220000" cy="720000"/>
          </a:xfrm>
          <a:prstGeom prst="rect">
            <a:avLst/>
          </a:prstGeom>
          <a:solidFill>
            <a:srgbClr val="FDEAEB"/>
          </a:solidFill>
          <a:ln w="6350">
            <a:solidFill>
              <a:srgbClr val="C8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000" y="363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质检培训运营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388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合规保障 + 供应商赋能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03  客服转型背景与战略目标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5220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8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33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转型背景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54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金融科技行业竞争加剧，获客成本持续上升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800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传统电销模式效率见顶，依赖人工经验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05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合规要求日趋严格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30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AI/大数据技术成熟带来转型窗口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188000"/>
            <a:ext cx="5220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0000" y="1188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133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战略目标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154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构建数据驱动的智能电销营销体系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1800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实现人机协同的规模化高效运营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205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建立行业领先的合规管控标准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230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打造可复制的供应商管理模式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420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Microsoft YaHei"/>
              </a:rPr>
              <a:t>三大战略维度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3780000"/>
            <a:ext cx="3528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000" y="3780000"/>
            <a:ext cx="3528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3924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客服价值化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4248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Microsoft YaHei"/>
              </a:rPr>
              <a:t>从成本中心转为价值创造中心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6000" y="3780000"/>
            <a:ext cx="3528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6000" y="3780000"/>
            <a:ext cx="3528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6000" y="3924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数字智能化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6000" y="4248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Microsoft YaHei"/>
              </a:rPr>
              <a:t>AI辅助营销全流程 + 100%智能质检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2000" y="3780000"/>
            <a:ext cx="3528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2000" y="3780000"/>
            <a:ext cx="3528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2000" y="3924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服务营销一体化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4248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  <a:latin typeface="Microsoft YaHei"/>
              </a:rPr>
              <a:t>拉新-转化-复购闭环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04  客服转型实施过程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2592000" cy="72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60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476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数据基础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908000"/>
            <a:ext cx="2592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00" y="201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整合客户数据源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26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构建统一客户画像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252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建立分层运营体系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0000" y="1188000"/>
            <a:ext cx="2592000" cy="72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0000" y="1260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阶段二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1476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AI能力建设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0000" y="1908000"/>
            <a:ext cx="2592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8000" y="201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开发需求识别模型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8000" y="226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部署智能路由系统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8000" y="252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上线实时话术辅助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1188000"/>
            <a:ext cx="2592000" cy="72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0" y="1260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阶段三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1476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合规升级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1908000"/>
            <a:ext cx="2592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8000" y="201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100%通话智能质检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8000" y="226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实时合规监控系统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8000" y="252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风险预警机制建设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0000" y="1188000"/>
            <a:ext cx="2592000" cy="72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0000" y="1260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阶段四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000" y="1476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规模化运营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0000" y="1908000"/>
            <a:ext cx="2592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8000" y="201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供应商管理模式复制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8000" y="226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全生命周期运营闭环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8000" y="252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  数据驱动持续优化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05  客服转型具体成果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2592000" cy="90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96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2000亿+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72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年度GMV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0000" y="1188000"/>
            <a:ext cx="2592000" cy="90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1296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0" y="172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团队规模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188000"/>
            <a:ext cx="2592000" cy="90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0" y="1296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30+家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0" y="172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供应商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0000" y="1188000"/>
            <a:ext cx="2592000" cy="90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0000" y="1296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0000" y="172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合规率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2340000"/>
            <a:ext cx="522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340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2484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客服价值化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2880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接通率提升 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313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首拨转化率提升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338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人均效率提升 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363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新人上手时间缩短 67%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2340000"/>
            <a:ext cx="5220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0000" y="2340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000" y="2484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数字智能化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2880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100% 智能质检覆盖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313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质检效率提升 300%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0" y="338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合规风险降低 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363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从事后检查 → 事中预警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06  客服转型的成功关键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2000" y="1296000"/>
            <a:ext cx="288000" cy="288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224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数据驱动决策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44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从经验判断到数据说话。AI需求识别模型替代人工筛选，精准分层运营替代粗放触达。</a:t>
            </a:r>
          </a:p>
        </p:txBody>
      </p:sp>
      <p:sp>
        <p:nvSpPr>
          <p:cNvPr id="9" name="Oval 8"/>
          <p:cNvSpPr/>
          <p:nvPr/>
        </p:nvSpPr>
        <p:spPr>
          <a:xfrm>
            <a:off x="6192000" y="1296000"/>
            <a:ext cx="288000" cy="288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2000" y="1224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人机协同而非替代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000" y="144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AI是坐席的"超级助手"，不是替代品。智能路由匹配最优坐席，保持营销温度和信任感。</a:t>
            </a:r>
          </a:p>
        </p:txBody>
      </p:sp>
      <p:sp>
        <p:nvSpPr>
          <p:cNvPr id="12" name="Oval 11"/>
          <p:cNvSpPr/>
          <p:nvPr/>
        </p:nvSpPr>
        <p:spPr>
          <a:xfrm>
            <a:off x="792000" y="2088000"/>
            <a:ext cx="288000" cy="288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201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合规先行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232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合规率100%作为红线指标，一票否决。从事后检查升级为事中预警。</a:t>
            </a:r>
          </a:p>
        </p:txBody>
      </p:sp>
      <p:sp>
        <p:nvSpPr>
          <p:cNvPr id="15" name="Oval 14"/>
          <p:cNvSpPr/>
          <p:nvPr/>
        </p:nvSpPr>
        <p:spPr>
          <a:xfrm>
            <a:off x="6192000" y="2088000"/>
            <a:ext cx="288000" cy="288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00" y="201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供应商生态管理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0" y="2232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35家供应商、3000+人的统一管理体系。标准化流程+差异化赋能。</a:t>
            </a:r>
          </a:p>
        </p:txBody>
      </p:sp>
      <p:sp>
        <p:nvSpPr>
          <p:cNvPr id="18" name="Oval 17"/>
          <p:cNvSpPr/>
          <p:nvPr/>
        </p:nvSpPr>
        <p:spPr>
          <a:xfrm>
            <a:off x="792000" y="2880000"/>
            <a:ext cx="288000" cy="288000"/>
          </a:xfrm>
          <a:prstGeom prst="ellipse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2808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61D"/>
                </a:solidFill>
                <a:latin typeface="Microsoft YaHei"/>
              </a:rPr>
              <a:t>全生命周期运营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3024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从获客到复购的完整闭环。每个环节都有AI辅助和数据优化。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07  组织变革与人才培养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522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8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33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组织架构变革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72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从单一电销团队 → 分层运营体系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96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新增数据分析、AI训练师、合规管理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19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供应商管理独立职能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188000"/>
            <a:ext cx="522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1188000"/>
            <a:ext cx="52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33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人才培养体系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1728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新人培训：AI辅助缩短上手67%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196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进阶培养：数据思维+AI工具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219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  供应商赋能：定期培训+考核+标杆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060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Microsoft YaHei"/>
              </a:rPr>
              <a:t>关键人才角色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3420000"/>
            <a:ext cx="2592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000" y="3420000"/>
            <a:ext cx="54000" cy="72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352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61D"/>
                </a:solidFill>
                <a:latin typeface="Microsoft YaHei"/>
              </a:rPr>
              <a:t>数据分析师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3780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icrosoft YaHei"/>
              </a:rPr>
              <a:t>客户画像构建 | 需求模型优化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0000" y="3420000"/>
            <a:ext cx="2592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20000" y="3420000"/>
            <a:ext cx="54000" cy="7200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0" y="352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Microsoft YaHei"/>
              </a:rPr>
              <a:t>AI训练师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0" y="3780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icrosoft YaHei"/>
              </a:rPr>
              <a:t>话术模型训练 | 质检规则调优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0" y="3420000"/>
            <a:ext cx="2592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0000" y="3420000"/>
            <a:ext cx="54000" cy="720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000" y="352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61D"/>
                </a:solidFill>
                <a:latin typeface="Microsoft YaHei"/>
              </a:rPr>
              <a:t>合规管理师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0" y="3780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icrosoft YaHei"/>
              </a:rPr>
              <a:t>合规体系搭建 | 风险预警设计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0000" y="3420000"/>
            <a:ext cx="2592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20000" y="3420000"/>
            <a:ext cx="54000" cy="7200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0000" y="352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Microsoft YaHei"/>
              </a:rPr>
              <a:t>供应商经理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000" y="3780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icrosoft YaHei"/>
              </a:rPr>
              <a:t>全量供应商管理 | 赋能与考核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61D"/>
                </a:solidFill>
                <a:latin typeface="Microsoft YaHei"/>
              </a:rPr>
              <a:t>08  下一步计划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900000"/>
            <a:ext cx="10440000" cy="180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188000"/>
            <a:ext cx="10620000" cy="10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8000"/>
            <a:ext cx="10620000" cy="504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332000"/>
            <a:ext cx="10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61D"/>
                </a:solidFill>
                <a:latin typeface="Microsoft YaHei"/>
              </a:rPr>
              <a:t>当前面临的三大挑战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54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1. 获客成本上升：需通过更精准的客户识别提升ROI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7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2. 合规要求趋严：需持续强化合规能力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980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/>
              </a:rPr>
              <a:t>3. 技术迭代压力：需建立持续学习和应用机制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232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Microsoft YaHei"/>
              </a:rPr>
              <a:t>下一步规划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2592000"/>
            <a:ext cx="5220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2592000"/>
            <a:ext cx="54000" cy="576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266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61D"/>
                </a:solidFill>
                <a:latin typeface="Microsoft YaHei"/>
              </a:rPr>
              <a:t>深化AI应用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291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升级需求识别模型 · 拓展AI场景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2592000"/>
            <a:ext cx="5220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0000" y="2592000"/>
            <a:ext cx="54000" cy="576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266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61D"/>
                </a:solidFill>
                <a:latin typeface="Microsoft YaHei"/>
              </a:rPr>
              <a:t>强化合规能力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291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前瞻性合规体系 · 风险预警机制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3312000"/>
            <a:ext cx="5220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000" y="3312000"/>
            <a:ext cx="54000" cy="5760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338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Microsoft YaHei"/>
              </a:rPr>
              <a:t>优化生态管理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363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供应商分级管理 · 赋能标准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3312000"/>
            <a:ext cx="5220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0000" y="3312000"/>
            <a:ext cx="54000" cy="5760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000" y="3384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Microsoft YaHei"/>
              </a:rPr>
              <a:t>持续人才建设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3636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/>
              </a:rPr>
              <a:t>AI+营销复合人才 · 内部讲师体系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00000"/>
            <a:ext cx="1219169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THANKS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5847" y="2628000"/>
            <a:ext cx="2160000" cy="360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880000"/>
            <a:ext cx="1219169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京东科技股份有限公司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12000"/>
            <a:ext cx="12191695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4A84B"/>
                </a:solidFill>
                <a:latin typeface="Microsoft YaHei"/>
              </a:rPr>
              <a:t>金融科技事业群 · 数据科技业务部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
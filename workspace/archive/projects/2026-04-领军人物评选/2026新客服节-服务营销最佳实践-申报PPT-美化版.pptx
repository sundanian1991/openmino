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pptx-build/assets/j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1" y="381000"/>
            <a:ext cx="152400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396901"/>
            <a:ext cx="8031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中国新客服节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4901" y="1723876"/>
            <a:ext cx="803137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服务营销最佳实践奖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34901" y="2330202"/>
            <a:ext cx="80313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申报材料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4901" y="2958852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4901" y="3238054"/>
            <a:ext cx="8031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京东科技股份有限公司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4901" y="3476179"/>
            <a:ext cx="80313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金融科技事业群 · 数据科技业务部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pptx-build/assets/j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1" y="304800"/>
            <a:ext cx="9144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6603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901" y="914400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4901" y="10159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4901" y="11936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呼叫中心现况简介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4901" y="20065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4901" y="21842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呼叫中心组织架构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4901" y="29971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4901" y="31748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客服转型背景与战略目标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4901" y="39877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4901" y="41654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客服转型实施过程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25901" y="10159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25901" y="11936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客服转型具体成果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25901" y="20065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25901" y="21842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客服转型的成功关键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5901" y="29971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25901" y="31748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组织变革与人才培养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25901" y="39877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25901" y="41654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呼叫中心现况简介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4162425" cy="1288852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2563" y="762000"/>
            <a:ext cx="0" cy="1288852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901" y="204608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951" y="762000"/>
            <a:ext cx="0" cy="1288852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8984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使命与愿景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5401" y="1155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使命：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技术为本，让生活更美好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5401" y="1346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愿景：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成为全球最值得信赖的企业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5401" y="1536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价值观：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客户为先、创新、拼搏、担当、感恩、诚信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4901" y="2133600"/>
            <a:ext cx="4162425" cy="1466701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4901" y="21383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92563" y="2133600"/>
            <a:ext cx="0" cy="14667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901" y="35955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951" y="2133600"/>
            <a:ext cx="0" cy="14667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401" y="22700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企业基本信息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5401" y="25272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京东科技股份有限公司 | 金融科技 / 科技服务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5401" y="27177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信息技术咨询、云计算、AI应用、数据处理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5401" y="29082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客服中心：数据科技业务部 | 2018年运营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5401" y="30987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客服电话：4000988505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98950" y="762000"/>
            <a:ext cx="4162425" cy="1310878"/>
          </a:xfrm>
          <a:prstGeom prst="roundRect">
            <a:avLst>
              <a:gd name="adj" fmla="val 19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8950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6613" y="762000"/>
            <a:ext cx="0" cy="1310878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8950" y="2068116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000" y="762000"/>
            <a:ext cx="0" cy="1310878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9450" y="94922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部门定位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89450" y="123170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"数据驱动的服务营销中枢"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89450" y="1536502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精细化运营 + 智能化管理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9450" y="1723727"/>
            <a:ext cx="3886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为用户提供专业金融服务体验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6251" y="2539901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2,900+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686251" y="287327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前台人员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56201" y="2539901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56201" y="287327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中台人员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26300" y="2539901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26300" y="287327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后台人员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4901" y="4680049"/>
            <a:ext cx="7873901" cy="9525"/>
          </a:xfrm>
          <a:prstGeom prst="rect">
            <a:avLst/>
          </a:prstGeom>
          <a:solidFill>
            <a:srgbClr val="D4D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4901" y="4765774"/>
            <a:ext cx="80313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本科及以上 60% | 大专 40% | 团队稳定性 100%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团队规模与服务渠道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5686425" cy="1288852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766763"/>
            <a:ext cx="5686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16563" y="762000"/>
            <a:ext cx="0" cy="1288852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901" y="2046089"/>
            <a:ext cx="5686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951" y="762000"/>
            <a:ext cx="0" cy="1288852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898475"/>
            <a:ext cx="54406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服务渠道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5401" y="1155650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电销渠道（100%）</a:t>
            </a:r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金融营销电销外呼业务，涵盖拉新、复购等全流程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5401" y="1346150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覆盖信贷、理财、保险等金融产品线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5401" y="1536650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年度亿级客户触达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4901" y="2158901"/>
            <a:ext cx="1923901" cy="679252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4867" y="2295376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2,900+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4867" y="2558802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前台人员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89150" y="2158901"/>
            <a:ext cx="1923901" cy="679252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09116" y="2295376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9116" y="2558802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中台人员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43400" y="2158901"/>
            <a:ext cx="1923901" cy="679252"/>
          </a:xfrm>
          <a:prstGeom prst="roundRect">
            <a:avLst>
              <a:gd name="adj" fmla="val 3739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63366" y="2295376"/>
            <a:ext cx="1683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3366" y="2558802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后台人员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49901" y="762000"/>
            <a:ext cx="2863751" cy="634901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349901" y="781050"/>
            <a:ext cx="2863751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8889" y="762000"/>
            <a:ext cx="0" cy="6349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9901" y="1392138"/>
            <a:ext cx="2863751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4663" y="762000"/>
            <a:ext cx="0" cy="6349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6427" y="952500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34027" y="800100"/>
            <a:ext cx="25906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2000亿+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34027" y="1190625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年度GMV（放款额）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46726" y="1358801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46726" y="169217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16677" y="1358801"/>
            <a:ext cx="12953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35家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16677" y="174932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46726" y="1917650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46726" y="2251025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16677" y="1917650"/>
            <a:ext cx="1295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16677" y="2251025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营销占比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4901" y="4680049"/>
            <a:ext cx="7873901" cy="9525"/>
          </a:xfrm>
          <a:prstGeom prst="rect">
            <a:avLst/>
          </a:prstGeom>
          <a:solidFill>
            <a:srgbClr val="D4D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4901" y="4765774"/>
            <a:ext cx="80313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本科60% | 大专40% | 1年+占比80%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呼叫中心组织架构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67000" y="838200"/>
            <a:ext cx="4013002" cy="412552"/>
          </a:xfrm>
          <a:prstGeom prst="roundRect">
            <a:avLst>
              <a:gd name="adj" fmla="val 6157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30401" y="939701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数据科技业务部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346150"/>
            <a:ext cx="4082951" cy="650677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276" y="148262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策略运营组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3276" y="1707952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98950" y="1346150"/>
            <a:ext cx="4082951" cy="650677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7326" y="148262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电销服务组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97326" y="1707952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王易人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4901" y="2031950"/>
            <a:ext cx="2082552" cy="364927"/>
          </a:xfrm>
          <a:prstGeom prst="roundRect">
            <a:avLst>
              <a:gd name="adj" fmla="val 6960"/>
            </a:avLst>
          </a:prstGeom>
          <a:solidFill>
            <a:srgbClr val="E8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7606" y="2133451"/>
            <a:ext cx="1917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消金线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17750" y="2031950"/>
            <a:ext cx="2082552" cy="364927"/>
          </a:xfrm>
          <a:prstGeom prst="roundRect">
            <a:avLst>
              <a:gd name="adj" fmla="val 6960"/>
            </a:avLst>
          </a:prstGeom>
          <a:solidFill>
            <a:srgbClr val="E8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00456" y="2133451"/>
            <a:ext cx="1917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企金线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031950"/>
            <a:ext cx="2082552" cy="364927"/>
          </a:xfrm>
          <a:prstGeom prst="roundRect">
            <a:avLst>
              <a:gd name="adj" fmla="val 6960"/>
            </a:avLst>
          </a:prstGeom>
          <a:solidFill>
            <a:srgbClr val="E8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83305" y="2133451"/>
            <a:ext cx="1917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83301" y="2031950"/>
            <a:ext cx="2082552" cy="364927"/>
          </a:xfrm>
          <a:prstGeom prst="roundRect">
            <a:avLst>
              <a:gd name="adj" fmla="val 6960"/>
            </a:avLst>
          </a:prstGeom>
          <a:solidFill>
            <a:srgbClr val="E8F0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6006" y="2133451"/>
            <a:ext cx="19171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901" y="2616101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4901" y="26208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92563" y="2616101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901" y="35446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951" y="2616101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401" y="275257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5401" y="300975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日常BPO沟通协调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98950" y="2616101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98950" y="26208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56613" y="2616101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8950" y="35446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000" y="2616101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9450" y="275257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质检培训运营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89450" y="300975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合规保障 + 供应商赋能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4901" y="4680049"/>
            <a:ext cx="7873901" cy="9525"/>
          </a:xfrm>
          <a:prstGeom prst="rect">
            <a:avLst/>
          </a:prstGeom>
          <a:solidFill>
            <a:srgbClr val="D4D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4901" y="4765774"/>
            <a:ext cx="80313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30+家供应商 | 3000+人团队 | 覆盖全流程营销服务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客服转型背景与战略目标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4162425" cy="1466701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2563" y="762000"/>
            <a:ext cx="0" cy="14667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901" y="22239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951" y="762000"/>
            <a:ext cx="0" cy="14667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8984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转型背景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5401" y="1155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金融科技行业竞争加剧，获客成本持续上升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5401" y="1346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传统电销模式效率见顶，依赖人工经验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5401" y="1536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合规要求日趋严格，事后检查已不足够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5401" y="1727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AI/大数据技术成熟带来转型窗口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4901" y="2336750"/>
            <a:ext cx="4162425" cy="1466701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4901" y="234151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2563" y="2336750"/>
            <a:ext cx="0" cy="14667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901" y="379868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951" y="2336750"/>
            <a:ext cx="0" cy="14667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401" y="247322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战略目标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5401" y="27304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构建数据驱动的智能电销营销体系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5401" y="29209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实现人机协同的规模化高效运营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5401" y="31114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建立行业领先的合规管控标准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5401" y="33019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打造可复制的供应商管理模式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98950" y="762000"/>
            <a:ext cx="4162425" cy="111115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98950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6613" y="762000"/>
            <a:ext cx="0" cy="111115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8950" y="1868388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000" y="762000"/>
            <a:ext cx="0" cy="111115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9450" y="8984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客服价值化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9450" y="1155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从成本中心转为价值创造中心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89450" y="1346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以GMV和客户价值衡量产出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98950" y="1854101"/>
            <a:ext cx="4162425" cy="111115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98950" y="18588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6613" y="1854101"/>
            <a:ext cx="0" cy="111115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8950" y="296048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000" y="1854101"/>
            <a:ext cx="0" cy="111115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9450" y="199057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数字智能化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89450" y="224775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数据驱动精准服务与运营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89450" y="243825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AI辅助营销全流程 + 100%智能质检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98950" y="2946350"/>
            <a:ext cx="4162425" cy="111115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98950" y="295111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56613" y="2946350"/>
            <a:ext cx="0" cy="111115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98950" y="40527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18000" y="2946350"/>
            <a:ext cx="0" cy="111115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9450" y="308282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服务营销一体化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89450" y="33400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营销与服务深度耦合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89450" y="35305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拉新-转化-复购闭环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客服转型实施过程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2101602" cy="1190327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781050"/>
            <a:ext cx="2101602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31740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901" y="1947565"/>
            <a:ext cx="2101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663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927" y="901601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5927" y="1069777"/>
            <a:ext cx="19171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5927" y="13269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整合客户数据源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45927" y="149840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构建统一客户画像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45927" y="16698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建立分层运营体系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"/>
            <a:ext cx="2101602" cy="1190327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667000" y="781050"/>
            <a:ext cx="2101602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3839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67000" y="1947565"/>
            <a:ext cx="2101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1763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8026" y="901601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78026" y="1069777"/>
            <a:ext cx="19171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AI能力建设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78026" y="13269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开发需求识别模型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78026" y="149840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部署智能路由系统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78026" y="16698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上线实时话术辅助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98950" y="762000"/>
            <a:ext cx="2101602" cy="1190327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98950" y="781050"/>
            <a:ext cx="2101602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5790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8950" y="1947565"/>
            <a:ext cx="2101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3713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976" y="901601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9976" y="1069777"/>
            <a:ext cx="19171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合规升级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976" y="13269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100%通话智能质检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9976" y="149840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实时合规监控系统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09976" y="16698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风险预警机制建设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30901" y="762000"/>
            <a:ext cx="2101602" cy="1190327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730901" y="781050"/>
            <a:ext cx="2101602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7740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30901" y="1947565"/>
            <a:ext cx="2101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35663" y="762000"/>
            <a:ext cx="0" cy="1190327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1927" y="901601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阶段四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41927" y="1069777"/>
            <a:ext cx="19171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规模化运营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41927" y="13269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供应商管理模式复制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41927" y="149840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全生命周期运营闭环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41927" y="1669852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数据驱动持续优化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4901" y="2489150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四大关键举措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4901" y="2717750"/>
            <a:ext cx="2111127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4901" y="2722513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1265" y="2717750"/>
            <a:ext cx="0" cy="472976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901" y="3185964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4426" y="2717750"/>
            <a:ext cx="0" cy="472976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452" y="2803475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数据赋能客户识别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5452" y="2971651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AI需求识别模型 + 精准分层运营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667000" y="2717750"/>
            <a:ext cx="2111127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2667000" y="2722513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73364" y="2717750"/>
            <a:ext cx="0" cy="472976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67000" y="3185964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76525" y="2717750"/>
            <a:ext cx="0" cy="472976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7551" y="2803475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人机协同智能外呼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87551" y="2971651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智能路由匹配 + AI实时话术辅助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98950" y="2717750"/>
            <a:ext cx="2111127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698950" y="2722513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05315" y="2717750"/>
            <a:ext cx="0" cy="472976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98950" y="3185964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8475" y="2717750"/>
            <a:ext cx="0" cy="472976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19501" y="2803475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AI赋能合规提效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9501" y="2971651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实时敏感词识别 + 100%智能质检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730901" y="2717750"/>
            <a:ext cx="2111127" cy="472976"/>
          </a:xfrm>
          <a:prstGeom prst="roundRect">
            <a:avLst>
              <a:gd name="adj" fmla="val 53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6730901" y="2722513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37265" y="2717750"/>
            <a:ext cx="0" cy="472976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30901" y="3185964"/>
            <a:ext cx="2111127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40426" y="2717750"/>
            <a:ext cx="0" cy="472976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1452" y="2803475"/>
            <a:ext cx="19171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AI赋能精准营销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851452" y="2971651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语义分析需求挖掘 + 数据闭环优化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客服转型具体成果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2000101" cy="758726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6381" y="898475"/>
            <a:ext cx="19171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2000亿+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381" y="1250900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年度GMV | 放款额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67000" y="762000"/>
            <a:ext cx="2000101" cy="711101"/>
          </a:xfrm>
          <a:prstGeom prst="roundRect">
            <a:avLst>
              <a:gd name="adj" fmla="val 3572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08480" y="898475"/>
            <a:ext cx="1917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08480" y="1203275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团队规模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8950" y="762000"/>
            <a:ext cx="2000101" cy="758726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0430" y="898475"/>
            <a:ext cx="191714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0430" y="1250900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 | 全量管理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30901" y="762000"/>
            <a:ext cx="2000101" cy="711101"/>
          </a:xfrm>
          <a:prstGeom prst="roundRect">
            <a:avLst>
              <a:gd name="adj" fmla="val 3572"/>
            </a:avLst>
          </a:prstGeom>
          <a:solidFill>
            <a:srgbClr val="FFFFFF"/>
          </a:solidFill>
          <a:ln w="9525">
            <a:solidFill>
              <a:srgbClr val="D4D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72381" y="898475"/>
            <a:ext cx="1917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72381" y="1203275"/>
            <a:ext cx="1917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 | 红线指标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4901" y="1650950"/>
            <a:ext cx="2761952" cy="1078855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4901" y="1660475"/>
            <a:ext cx="276195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091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901" y="2725043"/>
            <a:ext cx="276195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663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927" y="1771501"/>
            <a:ext cx="2590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客服价值化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927" y="198417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接通率提升 35%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45927" y="214282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首拨转化率提升 28%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45927" y="2301478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人均效率提升 40%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5927" y="246012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新人上手时间缩短 67%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40001" y="1650950"/>
            <a:ext cx="2761952" cy="1078855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340001" y="1660475"/>
            <a:ext cx="276195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7191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0001" y="2725043"/>
            <a:ext cx="276195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4763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1027" y="1771501"/>
            <a:ext cx="2590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数字智能化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51027" y="198417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智能质检覆盖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51027" y="214282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质检效率提升 300%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451027" y="2301478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合规风险降低 60%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51027" y="246012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事后检查 → 事中预警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45101" y="1650950"/>
            <a:ext cx="2761952" cy="1078855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45101" y="1660475"/>
            <a:ext cx="276195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02291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45101" y="2725043"/>
            <a:ext cx="276195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49863" y="1650950"/>
            <a:ext cx="0" cy="1078855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6127" y="1771501"/>
            <a:ext cx="2590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服务营销一体化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56127" y="198417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营销转化率提升 25%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56127" y="214282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客户复购率提升 30%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56127" y="2301478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全生命周期运营闭环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56127" y="246012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拉新-转化-复购持续增长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4901" y="4013150"/>
            <a:ext cx="8216801" cy="355402"/>
          </a:xfrm>
          <a:prstGeom prst="rect">
            <a:avLst/>
          </a:prstGeom>
          <a:solidFill>
            <a:srgbClr val="ED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53951" y="4013150"/>
            <a:ext cx="0" cy="355402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401" y="4114651"/>
            <a:ext cx="8031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核心成果：</a:t>
            </a:r>
            <a:pPr algn="l" indent="0" marL="0"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构建"数据驱动+人机协同+AI合规"三位一体的智能电销营销体系，在效率、合规、增长三个维度实现行业领先水平。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4901" y="4680049"/>
            <a:ext cx="7873901" cy="9525"/>
          </a:xfrm>
          <a:prstGeom prst="rect">
            <a:avLst/>
          </a:prstGeom>
          <a:solidFill>
            <a:srgbClr val="D4D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4901" y="4765774"/>
            <a:ext cx="80313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数据来源：京东科技数据科技业务部内部运营数据，统计周期：2025年5月-2026年4月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客服转型的成功关键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15901" y="762000"/>
            <a:ext cx="4533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901" y="968276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AI需求识别模型替代人工筛选，精准分层运营替代粗放触达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4901" y="14223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15901" y="1422350"/>
            <a:ext cx="4533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人机协同而非替代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5901" y="1628626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AI是坐席的"超级助手"，智能路由匹配最优坐席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4901" y="208270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5901" y="2082701"/>
            <a:ext cx="4533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合规先行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15901" y="2288977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合规率100%作为红线指标，一票否决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4901" y="274320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5901" y="2743200"/>
            <a:ext cx="4533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供应商生态管理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901" y="2949476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35家供应商、3000+人的统一管理体系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4901" y="340355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15901" y="3403550"/>
            <a:ext cx="4533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全生命周期运营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5901" y="3609826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从获客到复购的完整闭环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68901" y="762000"/>
            <a:ext cx="3244751" cy="1244501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968901" y="781050"/>
            <a:ext cx="3244751" cy="0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8889" y="762000"/>
            <a:ext cx="0" cy="12445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8901" y="2001738"/>
            <a:ext cx="3244751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73663" y="762000"/>
            <a:ext cx="0" cy="12445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0826" y="952500"/>
            <a:ext cx="29793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30826" y="1234976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转型不必一步到位，分阶段推进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30826" y="1463576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合规是底线也是竞争力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30826" y="1692176"/>
            <a:ext cx="29793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人机协同的关键是"辅助"而非"替代"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组织变革与人才培养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4162425" cy="1466701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92563" y="762000"/>
            <a:ext cx="0" cy="14667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901" y="22239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951" y="762000"/>
            <a:ext cx="0" cy="14667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401" y="8984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组织架构变革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5401" y="1155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从单一电销团队 → 分层运营体系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5401" y="1346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新增数据分析、AI训练师、合规管理岗位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5401" y="1536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供应商管理独立职能：准入-分工-考核-清退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5401" y="17271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建立"业务管理+质检培训"双线支撑架构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4901" y="2362200"/>
            <a:ext cx="4162425" cy="1466701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4901" y="23669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2563" y="2362200"/>
            <a:ext cx="0" cy="14667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901" y="38241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951" y="2362200"/>
            <a:ext cx="0" cy="14667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401" y="24986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人才培养体系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5401" y="27558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新人培训：AI辅助缩短上手67%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5401" y="29463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进阶培养：数据思维+AI工具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5401" y="31368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供应商赋能：定期培训+考核+标杆分享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5401" y="33273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考核：业绩+过程+客户评价+合规四维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98950" y="762000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98950" y="7667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6613" y="762000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8950" y="16905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000" y="762000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9450" y="8984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89450" y="11556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客户画像构建 | 需求模型优化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98950" y="1701701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98950" y="17064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6613" y="1701701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98950" y="26302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18000" y="1701701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9450" y="183817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AI训练师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89450" y="209535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话术模型训练 | 质检规则调优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98950" y="2641550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98950" y="264631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56613" y="2641550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98950" y="357008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8000" y="2641550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9450" y="2778026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合规管理师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89450" y="3035201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合规体系搭建 | 风险预警设计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98950" y="3581400"/>
            <a:ext cx="4162425" cy="93330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698950" y="3586163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56613" y="3581400"/>
            <a:ext cx="0" cy="933301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98950" y="4509939"/>
            <a:ext cx="4162425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18000" y="3581400"/>
            <a:ext cx="0" cy="933301"/>
          </a:xfrm>
          <a:prstGeom prst="line">
            <a:avLst/>
          </a:prstGeom>
          <a:noFill/>
          <a:ln w="38100">
            <a:solidFill>
              <a:srgbClr val="6B8F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9450" y="3717875"/>
            <a:ext cx="3886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供应商经理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89450" y="39750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全量供应商管理 | 赋能与考核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048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809476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62000"/>
            <a:ext cx="2590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当前面临的三大挑战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11683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251" y="1168301"/>
            <a:ext cx="2305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获客成本上升：需通过更精准的客户识别提升ROI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4901" y="16255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251" y="1625501"/>
            <a:ext cx="2305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合规要求趋严：需持续强化合规能力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208270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2082701"/>
            <a:ext cx="23057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技术迭代压力：需建立持续学习和应用机制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55950" y="762000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下一步规划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5950" y="1092101"/>
            <a:ext cx="1720602" cy="894904"/>
          </a:xfrm>
          <a:prstGeom prst="roundRect">
            <a:avLst>
              <a:gd name="adj" fmla="val 28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950" y="1101626"/>
            <a:ext cx="172060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1790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5950" y="1982242"/>
            <a:ext cx="1720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0713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976" y="1212652"/>
            <a:ext cx="1528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深化AI应用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66976" y="1425327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升级需求识别模型精准度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66976" y="1583978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拓展AI辅助场景覆盖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66976" y="1742629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探索大模型在营销中应用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06901" y="1092101"/>
            <a:ext cx="1720602" cy="894904"/>
          </a:xfrm>
          <a:prstGeom prst="roundRect">
            <a:avLst>
              <a:gd name="adj" fmla="val 28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206901" y="1101626"/>
            <a:ext cx="172060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2740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6901" y="1982242"/>
            <a:ext cx="1720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1663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17927" y="1212652"/>
            <a:ext cx="1528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强化合规能力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17927" y="1425327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建设前瞻性合规体系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17927" y="1583978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完善风险预警机制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17927" y="1742629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合规能力对外输出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1092101"/>
            <a:ext cx="1720602" cy="894904"/>
          </a:xfrm>
          <a:prstGeom prst="roundRect">
            <a:avLst>
              <a:gd name="adj" fmla="val 28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858000" y="1101626"/>
            <a:ext cx="1720602" cy="0"/>
          </a:xfrm>
          <a:prstGeom prst="line">
            <a:avLst/>
          </a:prstGeom>
          <a:noFill/>
          <a:ln w="19050">
            <a:solidFill>
              <a:srgbClr val="6B8F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73839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1982242"/>
            <a:ext cx="1720602" cy="0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62763" y="1092101"/>
            <a:ext cx="0" cy="894904"/>
          </a:xfrm>
          <a:prstGeom prst="line">
            <a:avLst/>
          </a:prstGeom>
          <a:noFill/>
          <a:ln w="9525">
            <a:solidFill>
              <a:srgbClr val="D4D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9026" y="1212652"/>
            <a:ext cx="15285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优化生态管理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69026" y="1425327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供应商分级精细化管理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69026" y="1583978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建立供应商赋能标准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69026" y="1742629"/>
            <a:ext cx="15285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打造可复制管理模式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pptx-build/assets/j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01" y="507950"/>
            <a:ext cx="1524000" cy="507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91440" y="1650950"/>
            <a:ext cx="93268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C3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343400" y="2136725"/>
            <a:ext cx="457200" cy="25301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-91440" y="2365177"/>
            <a:ext cx="9326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京东科技股份有限公司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-91440" y="2603302"/>
            <a:ext cx="9326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金融科技事业群 · 数据科技业务部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6B8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2026新客服节-服务营销最佳实践-申报PPT</dc:title>
  <dc:subject>PptxGenJS Presentation</dc:subject>
  <dc:creator>Mino</dc:creator>
  <cp:lastModifiedBy>Mino</cp:lastModifiedBy>
  <cp:revision>1</cp:revision>
  <dcterms:created xsi:type="dcterms:W3CDTF">2026-05-01T02:56:00Z</dcterms:created>
  <dcterms:modified xsi:type="dcterms:W3CDTF">2026-05-01T02:56:00Z</dcterms:modified>
</cp:coreProperties>
</file>
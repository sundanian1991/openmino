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14066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Q2 工作规划 · 2026年5月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9570" y="474345"/>
            <a:ext cx="18893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WORK PLANNING · 十大落地项目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5280" y="754380"/>
            <a:ext cx="434237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Q2 供应商管理BP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5280" y="13258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工作规划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866900"/>
            <a:ext cx="762000" cy="381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3855" y="2140268"/>
            <a:ext cx="34157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十大落地项目 · 从被动响应到主动管理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81000" y="2667000"/>
            <a:ext cx="9525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83870" y="2750820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30+ 供应商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428750" y="2667000"/>
            <a:ext cx="571500" cy="2667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531620" y="2750820"/>
            <a:ext cx="3711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4-6月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095500" y="2667000"/>
            <a:ext cx="857250" cy="2667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98370" y="27508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三阶段推进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048000" y="2667000"/>
            <a:ext cx="762000" cy="2667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150870" y="27508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数据驱动</a:t>
            </a:r>
          </a:p>
        </p:txBody>
      </p:sp>
      <p:sp>
        <p:nvSpPr>
          <p:cNvPr id="20" name="Line 20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70522" y="66546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年老师 · 2026-05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背景与定位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为什么需要这份规划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我的角色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265" y="1448752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负责 30+ 供应商的全量管理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265" y="17535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合规、准入、清退、分工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6265" y="2058352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定位偏 BP — 连接公司与供应商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6265" y="23631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通过影响他人达成业务结果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" y="28575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96265" y="3048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管理现状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6265" y="335375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偏事件驱动 — 出问题才处理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6265" y="36585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缺乏系统性的管理体系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6265" y="39633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判断多凭经验，数据支撑不足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4577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96265" y="46491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重点供应商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6265" y="495395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毅航、毛毛虫、伽玛、赛维斯、岐力、翰锐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6265" y="5258752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金条头部 6 家，总目标 3 亿+ 职场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15315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68415" y="11439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为什么做这个规划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381750" y="1447800"/>
            <a:ext cx="5238750" cy="381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369368" y="1685449"/>
            <a:ext cx="25167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HRBP 领域有成熟的十大落地项目框架，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69368" y="19140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覆盖人才管理全生命周期。这套框架的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69368" y="21426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底层逻辑同样适用于供应商管理。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381750" y="2667000"/>
            <a:ext cx="52387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68415" y="28584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核心差异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69368" y="3171349"/>
            <a:ext cx="22461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HRBP 管"内部员工"，有制度约束力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69368" y="3399949"/>
            <a:ext cx="2174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我们管"外部供应商"，约束力来自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69368" y="3628549"/>
            <a:ext cx="2182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合同 + 利益分配，更强调利益绑定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381750" y="4152900"/>
            <a:ext cx="52387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368415" y="4344352"/>
            <a:ext cx="9283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Q2 核心目标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81750" y="4762500"/>
            <a:ext cx="5238750" cy="133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58915" y="49539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从被动响应 → 主动管理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8915" y="52206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从经验判断 → 数据驱动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58915" y="548735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从单点动作 → 体系化闭环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58915" y="5754052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从执行者 → BP 角色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十大项目总览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十大落地项目一览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11430000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2922" y="1273016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#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6772" y="12730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项目名称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71522" y="12730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周期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86022" y="127301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优先级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38522" y="12730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状态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81000" y="1485900"/>
            <a:ext cx="114300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381000" y="1924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1018" y="1647349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4868" y="1647349"/>
            <a:ext cx="18189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供应商分级盘点（九宫格）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69618" y="164734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096500" y="1619250"/>
            <a:ext cx="381000" cy="2095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162222" y="167306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36618" y="16473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立即启动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1924050"/>
            <a:ext cx="11430000" cy="4381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381000" y="2362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21018" y="20854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68" y="2085499"/>
            <a:ext cx="20753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新供应商冷启动（30/60/90天）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618" y="208549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0096500" y="2057400"/>
            <a:ext cx="381000" cy="20955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162222" y="2111216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36618" y="20854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体系建设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81000" y="2362200"/>
            <a:ext cx="114300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81000" y="2800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2101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68" y="25236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供应商考核体系对齐业务目标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618" y="2523649"/>
            <a:ext cx="4021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5-6月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0096500" y="2495550"/>
            <a:ext cx="381000" cy="20955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162222" y="2549366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36618" y="25236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需确认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2800350"/>
            <a:ext cx="11430000" cy="4381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41" name="Line 41"/>
          <p:cNvSpPr/>
          <p:nvPr/>
        </p:nvSpPr>
        <p:spPr>
          <a:xfrm>
            <a:off x="381000" y="3238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21018" y="29617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4868" y="29617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供应商备份与产能冗余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9618" y="2961799"/>
            <a:ext cx="4021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5-6月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0096500" y="2933700"/>
            <a:ext cx="381000" cy="20955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162222" y="2987516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36618" y="2961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体系建设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" y="3238500"/>
            <a:ext cx="114300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Line 49"/>
          <p:cNvSpPr/>
          <p:nvPr/>
        </p:nvSpPr>
        <p:spPr>
          <a:xfrm>
            <a:off x="381000" y="36766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21018" y="33999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4868" y="33999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供应商主管赋能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69618" y="339994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6月</a:t>
            </a:r>
          </a:p>
        </p:txBody>
      </p:sp>
      <p:sp>
        <p:nvSpPr>
          <p:cNvPr id="53" name="Rectangle 53"/>
          <p:cNvSpPr/>
          <p:nvPr/>
        </p:nvSpPr>
        <p:spPr>
          <a:xfrm>
            <a:off x="10096500" y="3371850"/>
            <a:ext cx="381000" cy="20955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162222" y="342566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36618" y="33999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深化阶段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81000" y="3676650"/>
            <a:ext cx="11430000" cy="4381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381000" y="411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521018" y="383809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4868" y="38380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合作健康度诊断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69618" y="383809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4月</a:t>
            </a:r>
          </a:p>
        </p:txBody>
      </p:sp>
      <p:sp>
        <p:nvSpPr>
          <p:cNvPr id="61" name="Rectangle 61"/>
          <p:cNvSpPr/>
          <p:nvPr/>
        </p:nvSpPr>
        <p:spPr>
          <a:xfrm>
            <a:off x="10096500" y="3810000"/>
            <a:ext cx="381000" cy="2095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162222" y="38638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036618" y="38380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立即启动</a:t>
            </a:r>
          </a:p>
        </p:txBody>
      </p:sp>
      <p:sp>
        <p:nvSpPr>
          <p:cNvPr id="64" name="Rectangle 64"/>
          <p:cNvSpPr/>
          <p:nvPr/>
        </p:nvSpPr>
        <p:spPr>
          <a:xfrm>
            <a:off x="381000" y="4114800"/>
            <a:ext cx="114300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" name="Line 65"/>
          <p:cNvSpPr/>
          <p:nvPr/>
        </p:nvSpPr>
        <p:spPr>
          <a:xfrm>
            <a:off x="381000" y="45529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21018" y="42762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44868" y="42762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核心供应商保留与激励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369618" y="427624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5月</a:t>
            </a:r>
          </a:p>
        </p:txBody>
      </p:sp>
      <p:sp>
        <p:nvSpPr>
          <p:cNvPr id="69" name="Rectangle 69"/>
          <p:cNvSpPr/>
          <p:nvPr/>
        </p:nvSpPr>
        <p:spPr>
          <a:xfrm>
            <a:off x="10096500" y="4248150"/>
            <a:ext cx="381000" cy="20955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0162222" y="4301966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036618" y="4276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需确认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81000" y="4552950"/>
            <a:ext cx="11430000" cy="4381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73" name="Line 73"/>
          <p:cNvSpPr/>
          <p:nvPr/>
        </p:nvSpPr>
        <p:spPr>
          <a:xfrm>
            <a:off x="381000" y="49911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521018" y="47143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44868" y="47143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新供应商引入效能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9618" y="471439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6月</a:t>
            </a:r>
          </a:p>
        </p:txBody>
      </p:sp>
      <p:sp>
        <p:nvSpPr>
          <p:cNvPr id="77" name="Rectangle 77"/>
          <p:cNvSpPr/>
          <p:nvPr/>
        </p:nvSpPr>
        <p:spPr>
          <a:xfrm>
            <a:off x="10096500" y="4686300"/>
            <a:ext cx="381000" cy="20955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0162222" y="47401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036618" y="47143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深化阶段</a:t>
            </a:r>
          </a:p>
        </p:txBody>
      </p:sp>
      <p:sp>
        <p:nvSpPr>
          <p:cNvPr id="80" name="Rectangle 80"/>
          <p:cNvSpPr/>
          <p:nvPr/>
        </p:nvSpPr>
        <p:spPr>
          <a:xfrm>
            <a:off x="381000" y="4991100"/>
            <a:ext cx="114300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1" name="Line 81"/>
          <p:cNvSpPr/>
          <p:nvPr/>
        </p:nvSpPr>
        <p:spPr>
          <a:xfrm>
            <a:off x="381000" y="5429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521018" y="51525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44868" y="5152549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供应商关系精细化 + 风险前置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369618" y="5152549"/>
            <a:ext cx="4021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5-6月</a:t>
            </a:r>
          </a:p>
        </p:txBody>
      </p:sp>
      <p:sp>
        <p:nvSpPr>
          <p:cNvPr id="85" name="Rectangle 85"/>
          <p:cNvSpPr/>
          <p:nvPr/>
        </p:nvSpPr>
        <p:spPr>
          <a:xfrm>
            <a:off x="10096500" y="5124450"/>
            <a:ext cx="381000" cy="20955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10162222" y="5178266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036618" y="51525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体系建设</a:t>
            </a:r>
          </a:p>
        </p:txBody>
      </p:sp>
      <p:sp>
        <p:nvSpPr>
          <p:cNvPr id="88" name="Rectangle 88"/>
          <p:cNvSpPr/>
          <p:nvPr/>
        </p:nvSpPr>
        <p:spPr>
          <a:xfrm>
            <a:off x="381000" y="5429250"/>
            <a:ext cx="11430000" cy="4381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521018" y="55906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44868" y="55906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供应商文化对齐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369618" y="5590699"/>
            <a:ext cx="245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6月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096500" y="5562600"/>
            <a:ext cx="381000" cy="20955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10162222" y="56164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P2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036618" y="5590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深化阶段</a:t>
            </a:r>
          </a:p>
        </p:txBody>
      </p:sp>
      <p:sp>
        <p:nvSpPr>
          <p:cNvPr id="95" name="Line 95"/>
          <p:cNvSpPr/>
          <p:nvPr/>
        </p:nvSpPr>
        <p:spPr>
          <a:xfrm>
            <a:off x="381000" y="6057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6" name="Rectangle 96"/>
          <p:cNvSpPr/>
          <p:nvPr/>
        </p:nvSpPr>
        <p:spPr>
          <a:xfrm>
            <a:off x="381000" y="6153150"/>
            <a:ext cx="36195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369570" y="6265545"/>
            <a:ext cx="24217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P0 立即启动 · P1 体系建设 · P2 深化阶段</a:t>
            </a:r>
          </a:p>
        </p:txBody>
      </p:sp>
      <p:sp>
        <p:nvSpPr>
          <p:cNvPr id="98" name="Line 9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三阶段推进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25595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4-6月 三阶段推进节奏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9122" y="1168241"/>
            <a:ext cx="8161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PHASE 01 · 4月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2930" y="1373505"/>
            <a:ext cx="6974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打底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18288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6265" y="20583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供应商分级盘点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7218" y="2295049"/>
            <a:ext cx="12992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30+ 供应商三维评估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7218" y="248554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输出九宫格 + 三张清单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" y="28194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96265" y="30489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合作健康度诊断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7218" y="3285649"/>
            <a:ext cx="1277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识别 Top3 协作卡点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7218" y="3476149"/>
            <a:ext cx="12636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启动 90 天改善计划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000500"/>
            <a:ext cx="32004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87718" y="42000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分析类项目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7718" y="44286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不需要额外审批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7718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立即启动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9600" y="51435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97218" y="534304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产出：分级图 + 诊断报告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7218" y="5533549"/>
            <a:ext cx="1014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+ 90天改善计划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28625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286250" y="952500"/>
            <a:ext cx="38100" cy="552450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04372" y="1168241"/>
            <a:ext cx="846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9E6A"/>
                </a:solidFill>
                <a:latin typeface="Segoe UI"/>
                <a:ea typeface="Microsoft YaHei"/>
                <a:cs typeface="Segoe UI"/>
              </a:rPr>
              <a:t>PHASE 02 · 5月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88180" y="13735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体系建设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14850" y="18288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02468" y="1990249"/>
            <a:ext cx="14914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1. 新供应商冷启动 SOP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02468" y="2333149"/>
            <a:ext cx="1648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2. 考核体系对齐业务目标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02468" y="2676049"/>
            <a:ext cx="1648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3. 核心供应商保留与激励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02468" y="3018949"/>
            <a:ext cx="1648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4. 供应商备份与产能冗余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02468" y="3361849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5. 供应商关系精细化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514850" y="3886200"/>
            <a:ext cx="3200400" cy="11430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692968" y="4085749"/>
            <a:ext cx="899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5 个项目并行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92968" y="431434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聚焦 3 个核心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92968" y="45048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其余做框架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92968" y="469534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2 项涉及制度需确认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19150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8191500" y="952500"/>
            <a:ext cx="38100" cy="552450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09622" y="1168241"/>
            <a:ext cx="846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PHASE 03 · 6月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93430" y="13735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深化闭环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420100" y="18288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07718" y="19902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1. 供应商主管赋能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07718" y="2333149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2. 新供应商引入效能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07718" y="267604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3. 供应商文化对齐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07718" y="30189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4. Q2 整体复盘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420100" y="3543300"/>
            <a:ext cx="32004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598218" y="3742849"/>
            <a:ext cx="758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收尾 + 深化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598218" y="3971449"/>
            <a:ext cx="864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为 Q3 打基础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420100" y="44577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407718" y="4657249"/>
            <a:ext cx="862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Q2 复盘要点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07718" y="48858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各项目完成度评估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07718" y="50763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量化指标达成情况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07718" y="5266849"/>
            <a:ext cx="8221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Q3 规划草案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07718" y="56859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产出：复盘报告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07718" y="5876449"/>
            <a:ext cx="943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+ Q3 计划草案</a:t>
            </a:r>
          </a:p>
        </p:txBody>
      </p:sp>
      <p:sp>
        <p:nvSpPr>
          <p:cNvPr id="63" name="Line 63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阶段一 · 供应商分级盘点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33186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30+ 供应商，一张图看清全局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九宫格方法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218" y="1380649"/>
            <a:ext cx="27517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三维评估：业绩 40% + 合规 30% + 潜力 30%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17145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7218" y="1914049"/>
            <a:ext cx="23497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横轴：综合业绩得分（业绩+合规）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7218" y="21426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低 ← ——————— → 高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" y="24765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97218" y="26760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纵轴：潜力得分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7218" y="29046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低 ← ——————— → 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9600" y="34290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7218" y="36666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九宫格落位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3962400"/>
            <a:ext cx="1638300" cy="571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2470" y="4093845"/>
            <a:ext cx="10096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高业绩 · 高潜力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422" y="429244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明星 → 重点投入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343150" y="3962400"/>
            <a:ext cx="1638300" cy="57150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446020" y="4093845"/>
            <a:ext cx="10096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中业绩 · 中潜力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46972" y="429244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中坚 → 重点培养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076700" y="3962400"/>
            <a:ext cx="1638300" cy="57150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179570" y="4093845"/>
            <a:ext cx="10096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低业绩 · 低潜力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80522" y="429244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淘汰 → 限期优化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47625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7218" y="4962049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时间：3 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7218" y="5190649"/>
            <a:ext cx="1961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第1周 数据收集 → 第2周 九宫格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7218" y="5419249"/>
            <a:ext cx="11212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→ 第3周 汇报确认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15315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36841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三张清单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381750" y="1485900"/>
            <a:ext cx="5238750" cy="123825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381750" y="1485900"/>
            <a:ext cx="38100" cy="123825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58915" y="16392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保留清单（头部）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59868" y="1875949"/>
            <a:ext cx="26876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6-10 家 · 资源倾斜 · 优先分配 · 深度绑定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9868" y="21045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策略：重点投入，确保稳定产出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59868" y="23712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代表：毅航、毛毛虫、伽玛等头部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2914650"/>
            <a:ext cx="5238750" cy="12382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381750" y="2914650"/>
            <a:ext cx="38100" cy="1238250"/>
          </a:xfrm>
          <a:prstGeom prst="rect">
            <a:avLst/>
          </a:prstGeom>
          <a:solidFill>
            <a:srgbClr val="8A5A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558915" y="306800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培养清单（腰部）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59868" y="3304699"/>
            <a:ext cx="2139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12-15 家 · 针对性辅导 · 季度跟踪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59868" y="353329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策略：明确提升方向，推动向头部转化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59868" y="3799999"/>
            <a:ext cx="19471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目标：Q2 末至少 1 家进入头部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381750" y="4343400"/>
            <a:ext cx="5238750" cy="12382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381750" y="4343400"/>
            <a:ext cx="38100" cy="1238250"/>
          </a:xfrm>
          <a:prstGeom prst="rect">
            <a:avLst/>
          </a:prstGeom>
          <a:solidFill>
            <a:srgbClr val="9C2B2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558915" y="44967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优化清单（尾部）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59868" y="4733449"/>
            <a:ext cx="19115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5-8 家 · 限期整改 · 减少份额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59868" y="49620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策略：准备替代方案，必要时清退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59868" y="52287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注意：分级是动态的，季度调整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381750" y="5810250"/>
            <a:ext cx="523875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559868" y="5952649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分级是内部管理工具，不对外公布具体排名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59868" y="6143149"/>
            <a:ext cx="24597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只告知供应商"提升方向"，不公布名次</a:t>
            </a:r>
          </a:p>
        </p:txBody>
      </p:sp>
      <p:sp>
        <p:nvSpPr>
          <p:cNvPr id="59" name="Line 5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阶段一 · 合作健康度诊断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48368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合作健康度：定量 + 定性，找准 Top3 卡点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评估方法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1485900"/>
            <a:ext cx="5200650" cy="952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7718" y="1647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定量维度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8670" y="1884045"/>
            <a:ext cx="25597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交付及时率 · 质量投诉次数 · 需求响应时长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670" y="2074545"/>
            <a:ext cx="22968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人员流失率 · 合同履约率 · 结算准确率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" y="2628900"/>
            <a:ext cx="5200650" cy="952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87718" y="2790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定性维度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8670" y="3027045"/>
            <a:ext cx="26057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内部 stakeholder 访谈（每供应商 2-3 人）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8670" y="321754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协作流程走查 · 沟通记录分析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40005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97218" y="420004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输出物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8170" y="4436745"/>
            <a:ext cx="2802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每供应商一份健康度报告（定量分 + 定性标签）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8170" y="4627245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汇总 Top3 协作卡点，责任到人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170" y="4817745"/>
            <a:ext cx="16724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90 天改善计划 + 跟踪仪表盘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9600" y="533400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97218" y="553354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时间：4 月完成初稿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7218" y="5724049"/>
            <a:ext cx="19186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方式：问卷 + 访谈 + 数据拉取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15315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368415" y="1143952"/>
            <a:ext cx="2039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Top3 协作卡点（示例框架）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381750" y="1485900"/>
            <a:ext cx="5238750" cy="10477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381750" y="1485900"/>
            <a:ext cx="38100" cy="1047750"/>
          </a:xfrm>
          <a:prstGeom prst="rect">
            <a:avLst/>
          </a:prstGeom>
          <a:solidFill>
            <a:srgbClr val="9C2B2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59868" y="1647349"/>
            <a:ext cx="1310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卡点 1：需求响应慢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0820" y="1884045"/>
            <a:ext cx="15016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从提出到确认平均 3-5 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60820" y="2074545"/>
            <a:ext cx="23757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改善：设立 SLA，48h 内响应，纳入考核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0820" y="2265045"/>
            <a:ext cx="1961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责任人：供应商对接人 + 内部 PM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381750" y="2724150"/>
            <a:ext cx="5238750" cy="10477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381750" y="2724150"/>
            <a:ext cx="38100" cy="1047750"/>
          </a:xfrm>
          <a:prstGeom prst="rect">
            <a:avLst/>
          </a:prstGeom>
          <a:solidFill>
            <a:srgbClr val="8A5A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59868" y="2885599"/>
            <a:ext cx="1497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卡点 2：人员流失频繁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0820" y="3122295"/>
            <a:ext cx="15016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核心岗位月度流失率 &gt; 8%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60820" y="3312795"/>
            <a:ext cx="2145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改善：关键岗位备案制 + 替补人才池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60820" y="350329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责任人：供应商 HR + 服务组 BP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3962400"/>
            <a:ext cx="5238750" cy="10477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381750" y="3962400"/>
            <a:ext cx="38100" cy="1047750"/>
          </a:xfrm>
          <a:prstGeom prst="rect">
            <a:avLst/>
          </a:prstGeom>
          <a:solidFill>
            <a:srgbClr val="8A5A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559868" y="4123849"/>
            <a:ext cx="1647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卡点 3：结算流程不透明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60820" y="43605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结算周期长，对账差异多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60820" y="4551045"/>
            <a:ext cx="2178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改善：月度对账模板 + 异常 48h 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60820" y="474154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责任人：财务 BP + 供应商结算对接人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381750" y="5238750"/>
            <a:ext cx="5238750" cy="66675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59868" y="5400199"/>
            <a:ext cx="9816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90 天改善闭环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0820" y="5598795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第 30 天：SLA 上线 + 首次复盘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0820" y="5789295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第 60 天：中期检查 + 调整策略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60820" y="5979795"/>
            <a:ext cx="1711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第 90 天：效果评估 + 标准化</a:t>
            </a:r>
          </a:p>
        </p:txBody>
      </p:sp>
      <p:sp>
        <p:nvSpPr>
          <p:cNvPr id="55" name="Line 5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阶段二 · 核心供应商保留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54314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核心供应商保留：健康档案 + 三级预警 + 激励包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健康档案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218" y="14568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头部 6 家建档跟踪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17907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7218" y="1990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档案字段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8170" y="22650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业绩趋势（月度 GMV）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8170" y="2455545"/>
            <a:ext cx="15804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人员稳定性（核心岗位）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8170" y="2646045"/>
            <a:ext cx="1521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合规记录（违规/整改）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8170" y="2836545"/>
            <a:ext cx="15804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合作满意度（内部反馈）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8170" y="3027045"/>
            <a:ext cx="1711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战略匹配度（方向一致性）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35433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97218" y="3742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更新频率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8170" y="397954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月度数据更新 + 季度深度复盘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286250" y="952500"/>
            <a:ext cx="38100" cy="552450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50151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E6A"/>
                </a:solidFill>
                <a:latin typeface="Segoe UI"/>
                <a:ea typeface="Microsoft YaHei"/>
                <a:cs typeface="Segoe UI"/>
              </a:rPr>
              <a:t>三级预警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514850" y="1485900"/>
            <a:ext cx="3200400" cy="7620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692968" y="1647349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绿色 · 正常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93920" y="19221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各项指标达标，无需干预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14850" y="2438400"/>
            <a:ext cx="3200400" cy="76200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692968" y="2599849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黄色 · 关注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93920" y="28746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单一指标下滑，主动沟通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14850" y="3390900"/>
            <a:ext cx="3200400" cy="76200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92968" y="3552349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红色 · 风险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93920" y="382714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多项指标异常，启动保留方案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14850" y="45339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02468" y="47334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预警触发信号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03420" y="500824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业绩环比下降 &gt; 15%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03420" y="5198745"/>
            <a:ext cx="923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核心人员离职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03420" y="538924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内部投诉 ≥ 2 次/月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9600" y="4953000"/>
            <a:ext cx="3200400" cy="1428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87718" y="51144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季度保留复盘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8670" y="5389245"/>
            <a:ext cx="10547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保留率趋势分析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88670" y="5579745"/>
            <a:ext cx="10547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预警准确率校验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88670" y="5770245"/>
            <a:ext cx="10547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激励包效果评估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8670" y="5960745"/>
            <a:ext cx="923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策略调整建议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19150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191500" y="952500"/>
            <a:ext cx="38100" cy="552450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06765" y="11439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激励包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420100" y="14859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407718" y="1685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资源倾斜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08670" y="19221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优先分配高价值业务线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08670" y="21126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联合规划季度目标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420100" y="26289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07718" y="2828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发展机会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408670" y="30651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纳入创新项目试点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08670" y="32556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联合培训 + 能力共建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420100" y="37719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407718" y="3971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合作深化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08670" y="42081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长期框架协议（年度）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08670" y="43986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高层定期对齐（季度）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420100" y="49149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407718" y="5114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认可机制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08670" y="535114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季度优秀供应商表彰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08670" y="55416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公开感谢 + 内部分享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420100" y="60579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408670" y="61893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一供应商一策略，不通用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阶段二 · 新供应商冷启动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45205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新供应商冷启动：30/60/90 天带教路径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11430000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2922" y="12730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阶段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4022" y="12730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核心目标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1022" y="12730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关键动作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1022" y="127301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交付物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67022" y="127301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否决项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81000" y="1485900"/>
            <a:ext cx="11430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381000" y="2628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0065" y="169640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30 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2922" y="19111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熟悉期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2118" y="170449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了解业务 + 熟悉流程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2118" y="18949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降低陌生感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69118" y="1704499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指定导师（老供应商对接人）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69118" y="189499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发放操作手册 + SOP 文档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69118" y="2085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参与 2 次旁听会议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69118" y="2275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完成合规培训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79118" y="17044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导师带教记录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9118" y="1894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流程测试通过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9118" y="20854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合规考核达标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65118" y="1704499"/>
            <a:ext cx="857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· 合规不合格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81000" y="2628900"/>
            <a:ext cx="11430000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381000" y="3771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0065" y="283940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60 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2922" y="30541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融入期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02118" y="284749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独立执行 + 首次交付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2118" y="30379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验证能力匹配度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69118" y="284749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独立承接小型项目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69118" y="3037999"/>
            <a:ext cx="23387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首次校准会（导师 + BP + 供应商）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69118" y="3228499"/>
            <a:ext cx="19115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收集内部 stakeholder 反馈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69118" y="3418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识别协作卡点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9118" y="28474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首次交付报告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9118" y="3037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校准会议纪要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9118" y="3228499"/>
            <a:ext cx="857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反馈汇总表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65118" y="284749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· 交付质量不达标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65118" y="3037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· 沟通严重障碍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81000" y="3771900"/>
            <a:ext cx="11430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381000" y="4914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20065" y="398240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90 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922" y="41971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转正期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02118" y="399049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全面融入 + 正式评估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02118" y="4180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决定是否保留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69118" y="39904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第二次校准会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69118" y="4180999"/>
            <a:ext cx="2182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转正评估（业绩 + 合规 + 协作）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369118" y="437149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明确后续发展方向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369118" y="4561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纳入分级体系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179118" y="39904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转正评估报告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79118" y="4180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分级落位确认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179118" y="437149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下季度目标约定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465118" y="399049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· 综合评分低于阈值</a:t>
            </a:r>
          </a:p>
        </p:txBody>
      </p:sp>
      <p:sp>
        <p:nvSpPr>
          <p:cNvPr id="59" name="Rectangle 59"/>
          <p:cNvSpPr/>
          <p:nvPr/>
        </p:nvSpPr>
        <p:spPr>
          <a:xfrm>
            <a:off x="381000" y="4914900"/>
            <a:ext cx="11430000" cy="11430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21018" y="51334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配套机制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21018" y="5400199"/>
            <a:ext cx="4218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导师责任制：每位新供应商配对 1 名老供应商导师，带教期 90 天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21018" y="5590699"/>
            <a:ext cx="5734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校准会：30/60/90 天各一次，三方参与（BP + 导师 + 供应商），记录问题 + 制定行动项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21018" y="5781199"/>
            <a:ext cx="32785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否决项：任一否决项触发即启动清退流程，不拖延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695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Q2 预期成果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42801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Q2 末交付什么：量化指标 + 质化转变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量化目标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1485900"/>
            <a:ext cx="5200650" cy="4762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7718" y="16092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指标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16618" y="1609249"/>
            <a:ext cx="7125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Q2 末目标</a:t>
            </a:r>
          </a:p>
        </p:txBody>
      </p:sp>
      <p:sp>
        <p:nvSpPr>
          <p:cNvPr id="16" name="Line 16"/>
          <p:cNvSpPr/>
          <p:nvPr/>
        </p:nvSpPr>
        <p:spPr>
          <a:xfrm>
            <a:off x="609600" y="1962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87718" y="21045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供应商分级覆盖率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16618" y="210454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19" name="Line 19"/>
          <p:cNvSpPr/>
          <p:nvPr/>
        </p:nvSpPr>
        <p:spPr>
          <a:xfrm>
            <a:off x="609600" y="2343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87718" y="24855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核心供应商保留率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16618" y="24855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≥ 95%</a:t>
            </a:r>
          </a:p>
        </p:txBody>
      </p:sp>
      <p:sp>
        <p:nvSpPr>
          <p:cNvPr id="22" name="Line 22"/>
          <p:cNvSpPr/>
          <p:nvPr/>
        </p:nvSpPr>
        <p:spPr>
          <a:xfrm>
            <a:off x="609600" y="2724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7718" y="2866549"/>
            <a:ext cx="14060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新供应商 90 天留存率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16618" y="28665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≥ 85%</a:t>
            </a:r>
          </a:p>
        </p:txBody>
      </p:sp>
      <p:sp>
        <p:nvSpPr>
          <p:cNvPr id="25" name="Line 25"/>
          <p:cNvSpPr/>
          <p:nvPr/>
        </p:nvSpPr>
        <p:spPr>
          <a:xfrm>
            <a:off x="609600" y="3105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87718" y="32475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协作卡点改善率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16618" y="3247549"/>
            <a:ext cx="12351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Top3 全部有行动项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3486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87718" y="3628549"/>
            <a:ext cx="758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SOP 覆盖率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16618" y="3628549"/>
            <a:ext cx="9147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核心流程 100%</a:t>
            </a:r>
          </a:p>
        </p:txBody>
      </p:sp>
      <p:sp>
        <p:nvSpPr>
          <p:cNvPr id="31" name="Line 31"/>
          <p:cNvSpPr/>
          <p:nvPr/>
        </p:nvSpPr>
        <p:spPr>
          <a:xfrm>
            <a:off x="609600" y="3867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87718" y="400954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供应商投诉/纠纷数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16618" y="4009549"/>
            <a:ext cx="8720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环比下降 30%</a:t>
            </a:r>
          </a:p>
        </p:txBody>
      </p:sp>
      <p:sp>
        <p:nvSpPr>
          <p:cNvPr id="34" name="Line 34"/>
          <p:cNvSpPr/>
          <p:nvPr/>
        </p:nvSpPr>
        <p:spPr>
          <a:xfrm>
            <a:off x="609600" y="4248150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87718" y="43905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数据仪表盘上线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16618" y="4390549"/>
            <a:ext cx="13917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 套（月度自动更新）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" y="4857750"/>
            <a:ext cx="520065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97218" y="50572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交付物清单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98170" y="52939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供应商分级盘点报告 + 三张清单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8170" y="5484495"/>
            <a:ext cx="23100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合作健康度诊断报告 + 90 天改善计划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8170" y="5674995"/>
            <a:ext cx="29606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5 项 SOP 文档（冷启动/考核/保留/备份/关系）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8170" y="5865495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供应商数据仪表盘（基础版）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8170" y="6055995"/>
            <a:ext cx="1757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Q2 复盘报告 + Q3 规划草案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53150" y="952500"/>
            <a:ext cx="38100" cy="552450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841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E6A"/>
                </a:solidFill>
                <a:latin typeface="Segoe UI"/>
                <a:ea typeface="Microsoft YaHei"/>
                <a:cs typeface="Segoe UI"/>
              </a:rPr>
              <a:t>质化转变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381750" y="1485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559868" y="16473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管理方式转变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60820" y="188404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 "出了问题才处理"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60820" y="2074545"/>
            <a:ext cx="1521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到 "提前预判，主动介入"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381750" y="2628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559868" y="27903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决策方式转变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0820" y="302704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 "凭感觉、凭经验"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60820" y="321754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到 "有数据、有依据"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381750" y="3771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59868" y="39333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角色定位转变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0820" y="417004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 "执行者、传话筒"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0820" y="4360545"/>
            <a:ext cx="1140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到 "BP、策略伙伴"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381750" y="4914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559868" y="50763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供应商关系转变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60820" y="5313045"/>
            <a:ext cx="9955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 "甲乙方对立"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0820" y="5503545"/>
            <a:ext cx="1521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到 "利益绑定、共同产出"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381750" y="6057900"/>
            <a:ext cx="5238750" cy="3238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560820" y="6170295"/>
            <a:ext cx="26386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四个转变是 Q2 的核心价值，不是一次性项目</a:t>
            </a:r>
          </a:p>
        </p:txBody>
      </p:sp>
      <p:sp>
        <p:nvSpPr>
          <p:cNvPr id="65" name="Line 6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基础设施建设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51151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数据基础设施：从 0 到 1 搭建供应商数据底座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数据层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218" y="14568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供应商基础信息库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17907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7218" y="199024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工商信息 / 资质 / 合同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7218" y="21807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人员编制 / 核心岗位备案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7218" y="237124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历史合作记录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" y="28956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97218" y="30951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业绩数据库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7218" y="336184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月度 GMV / 产出指标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7218" y="3552349"/>
            <a:ext cx="1648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质量指标（投诉/返工）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7218" y="3742849"/>
            <a:ext cx="857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交付及时率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" y="4267200"/>
            <a:ext cx="32004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97218" y="4466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合规与风险数据库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7218" y="47334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违规记录 / 整改记录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7218" y="492394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预警事件日志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7218" y="51144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· 纠纷 / 投诉记录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286250" y="952500"/>
            <a:ext cx="38100" cy="552450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01515" y="11439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E6A"/>
                </a:solidFill>
                <a:latin typeface="Segoe UI"/>
                <a:ea typeface="Microsoft YaHei"/>
                <a:cs typeface="Segoe UI"/>
              </a:rPr>
              <a:t>工具层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514850" y="1485900"/>
            <a:ext cx="320040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92968" y="16473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数据仪表盘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93920" y="18840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月度自动更新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93920" y="20745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核心指标一屏可见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14850" y="2628900"/>
            <a:ext cx="320040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92968" y="2790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评估模板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93920" y="30270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分级评估表（九宫格）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93920" y="32175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健康度评分表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514850" y="3771900"/>
            <a:ext cx="320040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692968" y="3933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报告模板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93920" y="41700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月度供应商简报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93920" y="43605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季度复盘报告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191500" y="952500"/>
            <a:ext cx="3619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8191500" y="952500"/>
            <a:ext cx="38100" cy="552450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0676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推进节奏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420100" y="1485900"/>
            <a:ext cx="320040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598218" y="16473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4 月 · 数据收集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99170" y="188404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手动收集 + Excel 建表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99170" y="20745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确定指标口径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99170" y="22650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完成历史数据回填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420100" y="2724150"/>
            <a:ext cx="320040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598218" y="28855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E6A"/>
                </a:solidFill>
                <a:latin typeface="Segoe UI"/>
                <a:ea typeface="Microsoft YaHei"/>
                <a:cs typeface="Segoe UI"/>
              </a:rPr>
              <a:t>5 月 · 工具搭建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99170" y="3122295"/>
            <a:ext cx="870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仪表盘 V1 上线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599170" y="33127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评估模板标准化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599170" y="35032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自动化数据接入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420100" y="3962400"/>
            <a:ext cx="320040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598218" y="41238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6 月 · 迭代优化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599170" y="4360545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仪表盘 V2（预警功能）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599170" y="45510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指标体系完善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599170" y="47415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操作文档输出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420100" y="5295900"/>
            <a:ext cx="3200400" cy="6667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598218" y="5457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当前状态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599170" y="56940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数据从 0 开始建设，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599170" y="5884545"/>
            <a:ext cx="8903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Q2 完成基础版</a:t>
            </a:r>
          </a:p>
        </p:txBody>
      </p:sp>
      <p:sp>
        <p:nvSpPr>
          <p:cNvPr id="65" name="Line 6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7122" y="66546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风险与应对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45964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风险矩阵：提前识别，不把问题留给意外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11430000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2922" y="12730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风险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9522" y="12730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影响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5522" y="12730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概率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0522" y="12730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应对策略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67022" y="12730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触发信号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81000" y="1485900"/>
            <a:ext cx="11430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381000" y="19621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1018" y="16473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核心供应商突然退出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7618" y="16473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业务中断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96000" y="1619250"/>
            <a:ext cx="476250" cy="2095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161722" y="1673066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88618" y="164734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备份供应商预案 + 产能冗余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118" y="16473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预警红色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1962150"/>
            <a:ext cx="11430000" cy="4762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381000" y="24384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21018" y="2123599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数据缺失导致无法评估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97618" y="2123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决策盲猜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0" y="2095500"/>
            <a:ext cx="476250" cy="2095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161722" y="2149316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618" y="2123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先手动收集，逐步自动化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65118" y="2123599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4月末数据缺失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81000" y="2438400"/>
            <a:ext cx="11430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81000" y="29146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21018" y="25998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制度变更审批周期长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797618" y="25998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进度延迟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0" y="2571750"/>
            <a:ext cx="476250" cy="2095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161722" y="2625566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618" y="25998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提前沟通，先框架后细节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65118" y="259984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超 2 周未批复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2914650"/>
            <a:ext cx="11430000" cy="4762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41" name="Line 41"/>
          <p:cNvSpPr/>
          <p:nvPr/>
        </p:nvSpPr>
        <p:spPr>
          <a:xfrm>
            <a:off x="381000" y="3390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21018" y="30760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7EFE0"/>
                </a:solidFill>
                <a:latin typeface="Segoe UI"/>
                <a:ea typeface="Microsoft YaHei"/>
                <a:cs typeface="Segoe UI"/>
              </a:rPr>
              <a:t>内部配合度不足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97618" y="30760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项目搁置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096000" y="3048000"/>
            <a:ext cx="476250" cy="2095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161722" y="3101816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中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88618" y="30760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明确责任人 + 向上对齐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65118" y="30760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连续 2 次未响应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" y="3390900"/>
            <a:ext cx="11430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Line 49"/>
          <p:cNvSpPr/>
          <p:nvPr/>
        </p:nvSpPr>
        <p:spPr>
          <a:xfrm>
            <a:off x="381000" y="38671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21018" y="35523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供应商抵触分级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97618" y="35523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关系紧张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096000" y="3524250"/>
            <a:ext cx="476250" cy="2095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161722" y="3578066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中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988618" y="35523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分级不对外公布，只沟通提升方向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465118" y="35523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供应商主动询问排名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81000" y="3867150"/>
            <a:ext cx="11430000" cy="47625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381000" y="43434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521018" y="40285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7EFE0"/>
                </a:solidFill>
                <a:latin typeface="Segoe UI"/>
                <a:ea typeface="Microsoft YaHei"/>
                <a:cs typeface="Segoe UI"/>
              </a:rPr>
              <a:t>业务目标突变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97618" y="4028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计划作废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096000" y="4000500"/>
            <a:ext cx="476250" cy="209550"/>
          </a:xfrm>
          <a:prstGeom prst="rect">
            <a:avLst/>
          </a:prstGeom>
          <a:solidFill>
            <a:srgbClr val="F7EFE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161722" y="4054316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5A00"/>
                </a:solidFill>
                <a:latin typeface="Segoe UI"/>
                <a:ea typeface="Microsoft YaHei"/>
                <a:cs typeface="Segoe UI"/>
              </a:rPr>
              <a:t>中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988618" y="4028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模块化设计，可快速调整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465118" y="40285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业务线战略调整</a:t>
            </a:r>
          </a:p>
        </p:txBody>
      </p:sp>
      <p:sp>
        <p:nvSpPr>
          <p:cNvPr id="64" name="Rectangle 64"/>
          <p:cNvSpPr/>
          <p:nvPr/>
        </p:nvSpPr>
        <p:spPr>
          <a:xfrm>
            <a:off x="381000" y="4533900"/>
            <a:ext cx="11430000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97218" y="47334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风险管理原则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09600" y="4991100"/>
            <a:ext cx="38100" cy="8572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787718" y="5076349"/>
            <a:ext cx="27517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1. 风险前置：不等问题发生，提前识别信号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87718" y="5266849"/>
            <a:ext cx="53362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2. 分级响应：不同风险等级对应不同响应速度，红色 24h、黄色 72h、绿色周报跟踪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87718" y="5457349"/>
            <a:ext cx="3520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3. 预案先行：每个高风险项都有 B 计划，不临时抱佛脚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87718" y="5647849"/>
            <a:ext cx="34992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4. 月度回顾：每月复盘风险矩阵，更新概率和影响评估</a:t>
            </a:r>
          </a:p>
        </p:txBody>
      </p:sp>
      <p:sp>
        <p:nvSpPr>
          <p:cNvPr id="71" name="Line 71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487245" y="665464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需要的支持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39132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推进需要确认的 4 件事 + 资源需求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952500"/>
            <a:ext cx="38100" cy="55245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265" y="11439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需要确认的事项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1485900"/>
            <a:ext cx="520065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6765" y="1639252"/>
            <a:ext cx="855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1. 权限边界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7718" y="19140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哪些项目可以直接启动？哪些需要您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7718" y="2104549"/>
            <a:ext cx="13846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先和军哥/易人确认？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670" y="230314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建议：分析类直接启动，制度类先确认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" y="2724150"/>
            <a:ext cx="520065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6765" y="287750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2. 数据源对接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7718" y="31522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供应商的业绩数据从哪个系统拉取？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7718" y="33427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谁来协助打通数据权限？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8670" y="35413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建议：先手动收集，再申请系统权限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" y="3962400"/>
            <a:ext cx="520065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86765" y="4115752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3. 考核体系对接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7718" y="43905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现有供应商考核标准是否可复用？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7718" y="45810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还是需要重新设计？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8670" y="47796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建议：先盘点现有标准，再决定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" y="5200650"/>
            <a:ext cx="5200650" cy="1047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6765" y="5354002"/>
            <a:ext cx="8961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4. 汇报节奏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7718" y="56287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是月度同步还是季度汇报？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7718" y="58192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需要什么样的汇报格式？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8670" y="6017895"/>
            <a:ext cx="18828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建议：月度简报 + 季度深度复盘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153150" y="952500"/>
            <a:ext cx="38100" cy="5524500"/>
          </a:xfrm>
          <a:prstGeom prst="rect">
            <a:avLst/>
          </a:prstGeom>
          <a:solidFill>
            <a:srgbClr val="4A9E6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368415" y="1143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9E6A"/>
                </a:solidFill>
                <a:latin typeface="Segoe UI"/>
                <a:ea typeface="Microsoft YaHei"/>
                <a:cs typeface="Segoe UI"/>
              </a:rPr>
              <a:t>资源需求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381750" y="1485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559868" y="1647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时间投入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9868" y="1875949"/>
            <a:ext cx="2708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Q2 预计 50% 精力投入供应商管理体系建设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9868" y="2066449"/>
            <a:ext cx="23173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4月打底阶段需 70%，5-6月回归 50%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81750" y="2628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59868" y="27903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跨部门协作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9868" y="30189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需要数据团队支持数据对接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59868" y="32094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需要财务团队协助结算流程优化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3771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559868" y="39333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供应商配合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59868" y="41619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需要供应商对接人参与访谈和校准会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59868" y="43524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需提前和供应商打招呼，确保配合度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381750" y="4914900"/>
            <a:ext cx="523875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559868" y="50763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工具支持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59868" y="5304949"/>
            <a:ext cx="17976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数据仪表盘需要 BI 工具支持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59868" y="5495449"/>
            <a:ext cx="2153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如无可先用 Excel + 手动看板过渡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381750" y="6057900"/>
            <a:ext cx="5238750" cy="3238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560820" y="6170295"/>
            <a:ext cx="2802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以上 4 个确认 + 4 项资源，希望本周内沟通确认</a:t>
            </a:r>
          </a:p>
        </p:txBody>
      </p:sp>
      <p:sp>
        <p:nvSpPr>
          <p:cNvPr id="54" name="Line 54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7122" y="66546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522" y="120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8776" y="1204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供应商管理BP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4345" y="488632"/>
            <a:ext cx="35210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打底 + 建体系，Q2 只做一件事</a:t>
            </a:r>
          </a:p>
        </p:txBody>
      </p:sp>
      <p:sp>
        <p:nvSpPr>
          <p:cNvPr id="9" name="Line 9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1143000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18210" y="1423035"/>
            <a:ext cx="487158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Q2 的核心目标就一句话：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8210" y="1994535"/>
            <a:ext cx="50786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677FF"/>
                </a:solidFill>
                <a:latin typeface="Times New Roman"/>
                <a:ea typeface="SimSun"/>
                <a:cs typeface="Times New Roman"/>
              </a:rPr>
              <a:t>把供应商管理从"被动响应"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42710" y="1994535"/>
            <a:ext cx="342239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677FF"/>
                </a:solidFill>
                <a:latin typeface="Times New Roman"/>
                <a:ea typeface="SimSun"/>
                <a:cs typeface="Times New Roman"/>
              </a:rPr>
              <a:t>变成"主动管理"。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81000" y="3429000"/>
            <a:ext cx="114300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5760" y="36804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两条主线：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4095750"/>
            <a:ext cx="514350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5855" y="4311968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打底（4 月）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9665" y="4649152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分级盘点 + 健康度诊断 → 看清现状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4095750"/>
            <a:ext cx="5143500" cy="952500"/>
          </a:xfrm>
          <a:prstGeom prst="rect">
            <a:avLst/>
          </a:prstGeom>
          <a:solidFill>
            <a:srgbClr val="EDF3E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50355" y="4311968"/>
            <a:ext cx="1680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建体系（5-6 月）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4165" y="4649152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SOP + 数据 + 预警 → 有法可依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81000" y="5334000"/>
            <a:ext cx="11430000" cy="9525"/>
          </a:xfrm>
          <a:prstGeom prst="rect">
            <a:avLst/>
          </a:prstGeom>
          <a:solidFill>
            <a:srgbClr val="E2E2E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65760" y="558546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Q2 末交付 5 样东西：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5905500"/>
            <a:ext cx="7620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02970" y="59893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分级图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619250" y="5905500"/>
            <a:ext cx="7620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760220" y="59893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诊断报告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476500" y="5905500"/>
            <a:ext cx="7620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617470" y="59893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SOP 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5905500"/>
            <a:ext cx="7620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474720" y="59893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仪表盘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191000" y="5905500"/>
            <a:ext cx="7620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331970" y="59893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复盘报告</a:t>
            </a:r>
          </a:p>
        </p:txBody>
      </p:sp>
      <p:sp>
        <p:nvSpPr>
          <p:cNvPr id="34" name="Line 34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70522" y="6654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来源：内部梳理 · 2026-05-04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7122" y="66546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
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3a0e5ef38249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c98b8e7cd4c453e"/>
    <p:sldId id="257" r:id="Rb086e1839cf1461a"/>
    <p:sldId id="258" r:id="R6441bb4612004d22"/>
    <p:sldId id="259" r:id="R11997dd736064e6d"/>
    <p:sldId id="260" r:id="R3ce02349f7684eb6"/>
    <p:sldId id="261" r:id="R2ea651789eb64f58"/>
    <p:sldId id="262" r:id="R88f735b7b6c74250"/>
    <p:sldId id="263" r:id="Rce98250497774253"/>
    <p:sldId id="264" r:id="Rf67cc1e39f54425d"/>
    <p:sldId id="265" r:id="Ra2c4e2acaf9e48ae"/>
    <p:sldId id="266" r:id="R31d1342415ea406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c98b8e7cd4c453e" /><Relationship Type="http://schemas.openxmlformats.org/officeDocument/2006/relationships/slide" Target="/ppt/slides/slide2.xml" Id="Rb086e1839cf1461a" /><Relationship Type="http://schemas.openxmlformats.org/officeDocument/2006/relationships/slide" Target="/ppt/slides/slide3.xml" Id="R6441bb4612004d22" /><Relationship Type="http://schemas.openxmlformats.org/officeDocument/2006/relationships/slide" Target="/ppt/slides/slide4.xml" Id="R11997dd736064e6d" /><Relationship Type="http://schemas.openxmlformats.org/officeDocument/2006/relationships/slide" Target="/ppt/slides/slide5.xml" Id="R3ce02349f7684eb6" /><Relationship Type="http://schemas.openxmlformats.org/officeDocument/2006/relationships/slide" Target="/ppt/slides/slide6.xml" Id="R2ea651789eb64f58" /><Relationship Type="http://schemas.openxmlformats.org/officeDocument/2006/relationships/slide" Target="/ppt/slides/slide7.xml" Id="R88f735b7b6c74250" /><Relationship Type="http://schemas.openxmlformats.org/officeDocument/2006/relationships/slide" Target="/ppt/slides/slide8.xml" Id="Rce98250497774253" /><Relationship Type="http://schemas.openxmlformats.org/officeDocument/2006/relationships/slide" Target="/ppt/slides/slide9.xml" Id="Rf67cc1e39f54425d" /><Relationship Type="http://schemas.openxmlformats.org/officeDocument/2006/relationships/slide" Target="/ppt/slides/slide10.xml" Id="Ra2c4e2acaf9e48ae" /><Relationship Type="http://schemas.openxmlformats.org/officeDocument/2006/relationships/slide" Target="/ppt/slides/slide11.xml" Id="R31d1342415ea406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fe25c4b464e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a9d2a64d541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738a1cc5c4b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f704d8f994a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bef934abb4ab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d3816aadadf431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327141ffa47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fb3d4c7154e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7a4d546ad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9eb82df1944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f068d1e234a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7185265dd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0029e90641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26a21116947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b01282ca446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8af9995274b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fb1519d134bae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540000" y="720000"/>
            <a:ext cx="370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引领 AI 团队</a:t>
            </a:r>
          </a:p>
        </p:txBody>
      </p:sp>
      <p:sp>
        <p:nvSpPr>
          <p:cNvPr id="3" name="TextBox 3"/>
          <p:cNvSpPr/>
          <p:nvPr/>
        </p:nvSpPr>
        <p:spPr>
          <a:xfrm>
            <a:off x="540000" y="1008000"/>
            <a:ext cx="370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长任务协作的五大习惯</a:t>
            </a:r>
          </a:p>
        </p:txBody>
      </p:sp>
      <p:sp>
        <p:nvSpPr>
          <p:cNvPr id="4" name="TextBox 4"/>
          <p:cNvSpPr/>
          <p:nvPr/>
        </p:nvSpPr>
        <p:spPr>
          <a:xfrm>
            <a:off x="540000" y="1368000"/>
            <a:ext cx="3708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基于 Gabriel Chua 协作方法论 · OpenAI Codex DX Engineer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52000"/>
            <a:ext cx="442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AI 编码工具已能连续运行数天</a:t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432000"/>
            <a:ext cx="4428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但目标漂移仍是核心难点</a:t>
            </a:r>
          </a:p>
        </p:txBody>
      </p:sp>
      <p:sp>
        <p:nvSpPr>
          <p:cNvPr id="4" name="TextBox 4"/>
          <p:cNvSpPr/>
          <p:nvPr/>
        </p:nvSpPr>
        <p:spPr>
          <a:xfrm>
            <a:off x="288000" y="792000"/>
            <a:ext cx="1872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能力已具备</a:t>
            </a:r>
          </a:p>
        </p:txBody>
      </p:sp>
      <p:sp>
        <p:nvSpPr>
          <p:cNvPr id="5" name="TextBox 5"/>
          <p:cNvSpPr/>
          <p:nvPr/>
        </p:nvSpPr>
        <p:spPr>
          <a:xfrm>
            <a:off x="288000" y="972000"/>
            <a:ext cx="1872000" cy="54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连续运行数小时至数天</a:t>
            </a:r>
          </a:p>
          <a:p>
            <a:r>
              <a:rPr lang="en-US"/>
              <a:t>▪ 长任务执行能力已落地</a:t>
            </a:r>
          </a:p>
          <a:p>
            <a:r>
              <a:rPr lang="en-US"/>
              <a:t>▪ 支持持续发现新信息</a:t>
            </a:r>
          </a:p>
        </p:txBody>
      </p:sp>
      <p:sp>
        <p:nvSpPr>
          <p:cNvPr id="6" name="TextBox 6"/>
          <p:cNvSpPr/>
          <p:nvPr/>
        </p:nvSpPr>
        <p:spPr>
          <a:xfrm>
            <a:off x="2628000" y="792000"/>
            <a:ext cx="1872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核心挑战</a:t>
            </a:r>
          </a:p>
        </p:txBody>
      </p:sp>
      <p:sp>
        <p:nvSpPr>
          <p:cNvPr id="7" name="TextBox 7"/>
          <p:cNvSpPr/>
          <p:nvPr/>
        </p:nvSpPr>
        <p:spPr>
          <a:xfrm>
            <a:off x="2628000" y="972000"/>
            <a:ext cx="1872000" cy="54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多日迭代中频繁偏离目标</a:t>
            </a:r>
          </a:p>
          <a:p>
            <a:r>
              <a:rPr lang="en-US"/>
              <a:t>▪ 缺乏系统性协作方法论</a:t>
            </a:r>
          </a:p>
          <a:p>
            <a:r>
              <a:rPr lang="en-US"/>
              <a:t>▪ 从"启动AI"到"管理AI"的转型</a:t>
            </a:r>
          </a:p>
        </p:txBody>
      </p:sp>
      <p:sp>
        <p:nvSpPr>
          <p:cNvPr id="8" name="TextBox 8"/>
          <p:cNvSpPr/>
          <p:nvPr/>
        </p:nvSpPr>
        <p:spPr>
          <a:xfrm>
            <a:off x="288000" y="1908000"/>
            <a:ext cx="900000" cy="3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89万</a:t>
            </a:r>
          </a:p>
        </p:txBody>
      </p:sp>
      <p:sp>
        <p:nvSpPr>
          <p:cNvPr id="9" name="TextBox 9"/>
          <p:cNvSpPr/>
          <p:nvPr/>
        </p:nvSpPr>
        <p:spPr>
          <a:xfrm>
            <a:off x="1188000" y="1908000"/>
            <a:ext cx="3348000" cy="3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Gabriel Chua 文章全网浏览量，验证方法论行业需求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88000"/>
            <a:ext cx="4428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这套方法适用于复杂项目</a:t>
            </a:r>
          </a:p>
        </p:txBody>
      </p:sp>
      <p:sp>
        <p:nvSpPr>
          <p:cNvPr id="3" name="TextBox 3"/>
          <p:cNvSpPr/>
          <p:nvPr/>
        </p:nvSpPr>
        <p:spPr>
          <a:xfrm>
            <a:off x="288000" y="792000"/>
            <a:ext cx="1260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持续涌现新信息</a:t>
            </a:r>
          </a:p>
        </p:txBody>
      </p:sp>
      <p:sp>
        <p:nvSpPr>
          <p:cNvPr id="4" name="TextBox 4"/>
          <p:cNvSpPr/>
          <p:nvPr/>
        </p:nvSpPr>
        <p:spPr>
          <a:xfrm>
            <a:off x="288000" y="1008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项目推进中不断有新发现，需要调整方向</a:t>
            </a:r>
          </a:p>
        </p:txBody>
      </p:sp>
      <p:sp>
        <p:nvSpPr>
          <p:cNvPr id="5" name="TextBox 5"/>
          <p:cNvSpPr/>
          <p:nvPr/>
        </p:nvSpPr>
        <p:spPr>
          <a:xfrm>
            <a:off x="1764000" y="792000"/>
            <a:ext cx="1260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多块并行工作</a:t>
            </a:r>
          </a:p>
        </p:txBody>
      </p:sp>
      <p:sp>
        <p:nvSpPr>
          <p:cNvPr id="6" name="TextBox 6"/>
          <p:cNvSpPr/>
          <p:nvPr/>
        </p:nvSpPr>
        <p:spPr>
          <a:xfrm>
            <a:off x="1764000" y="1008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涉及多个独立模块，可并行推进</a:t>
            </a:r>
          </a:p>
        </p:txBody>
      </p:sp>
      <p:sp>
        <p:nvSpPr>
          <p:cNvPr id="7" name="TextBox 7"/>
          <p:cNvSpPr/>
          <p:nvPr/>
        </p:nvSpPr>
        <p:spPr>
          <a:xfrm>
            <a:off x="3240000" y="792000"/>
            <a:ext cx="1260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多环境验证</a:t>
            </a:r>
          </a:p>
        </p:txBody>
      </p:sp>
      <p:sp>
        <p:nvSpPr>
          <p:cNvPr id="8" name="TextBox 8"/>
          <p:cNvSpPr/>
          <p:nvPr/>
        </p:nvSpPr>
        <p:spPr>
          <a:xfrm>
            <a:off x="3240000" y="1008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需要从不同环境获取验证证据</a:t>
            </a:r>
          </a:p>
        </p:txBody>
      </p:sp>
      <p:sp>
        <p:nvSpPr>
          <p:cNvPr id="9" name="TextBox 9"/>
          <p:cNvSpPr/>
          <p:nvPr/>
        </p:nvSpPr>
        <p:spPr>
          <a:xfrm>
            <a:off x="180000" y="1908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⚠ 不适用于：简单、一次性的编码任务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88000"/>
            <a:ext cx="4428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三锚点闭环</a:t>
            </a:r>
          </a:p>
        </p:txBody>
      </p:sp>
      <p:sp>
        <p:nvSpPr>
          <p:cNvPr id="3" name="TextBox 3"/>
          <p:cNvSpPr/>
          <p:nvPr/>
        </p:nvSpPr>
        <p:spPr>
          <a:xfrm>
            <a:off x="1692000" y="648000"/>
            <a:ext cx="1440000" cy="43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目标锚定</a:t>
            </a:r>
          </a:p>
          <a:p>
            <a:r>
              <a:rPr lang="en-US"/>
              <a:t>持久Goal + GOALS.md</a:t>
            </a:r>
          </a:p>
        </p:txBody>
      </p:sp>
      <p:sp>
        <p:nvSpPr>
          <p:cNvPr id="4" name="TextBox 4"/>
          <p:cNvSpPr/>
          <p:nvPr/>
        </p:nvSpPr>
        <p:spPr>
          <a:xfrm>
            <a:off x="540000" y="1368000"/>
            <a:ext cx="1620000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证据验收</a:t>
            </a:r>
          </a:p>
          <a:p>
            <a:r>
              <a:rPr lang="en-US"/>
              <a:t>完成所需证据 + 里程碑审计</a:t>
            </a:r>
          </a:p>
        </p:txBody>
      </p:sp>
      <p:sp>
        <p:nvSpPr>
          <p:cNvPr id="5" name="TextBox 5"/>
          <p:cNvSpPr/>
          <p:nvPr/>
        </p:nvSpPr>
        <p:spPr>
          <a:xfrm>
            <a:off x="2628000" y="1368000"/>
            <a:ext cx="1620000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状态外置</a:t>
            </a:r>
          </a:p>
          <a:p>
            <a:r>
              <a:rPr lang="en-US"/>
              <a:t>简报 + 仪表盘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360000"/>
            <a:ext cx="4428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让AI自主规划并维护路线图</a:t>
            </a:r>
          </a:p>
        </p:txBody>
      </p:sp>
      <p:sp>
        <p:nvSpPr>
          <p:cNvPr id="3" name="TextBox 3"/>
          <p:cNvSpPr/>
          <p:nvPr/>
        </p:nvSpPr>
        <p:spPr>
          <a:xfrm>
            <a:off x="288000" y="648000"/>
            <a:ext cx="2340000" cy="12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① 对话口述需求</a:t>
            </a:r>
          </a:p>
          <a:p>
            <a:r>
              <a:rPr lang="en-US"/>
              <a:t>② 引导AI持续提问</a:t>
            </a:r>
          </a:p>
          <a:p>
            <a:r>
              <a:rPr lang="en-US"/>
              <a:t>③ 生成初版计划</a:t>
            </a:r>
          </a:p>
          <a:p>
            <a:r>
              <a:rPr lang="en-US"/>
              <a:t>④ 设定持久Goal</a:t>
            </a:r>
          </a:p>
          <a:p>
            <a:r>
              <a:rPr lang="en-US"/>
              <a:t>⑤ 写入GOALS.md</a:t>
            </a:r>
          </a:p>
          <a:p>
            <a:r>
              <a:rPr lang="en-US"/>
              <a:t>⑥ 随项目推进动态更新</a:t>
            </a:r>
          </a:p>
        </p:txBody>
      </p:sp>
      <p:sp>
        <p:nvSpPr>
          <p:cNvPr id="4" name="TextBox 4"/>
          <p:cNvSpPr/>
          <p:nvPr/>
        </p:nvSpPr>
        <p:spPr>
          <a:xfrm>
            <a:off x="2880000" y="648000"/>
            <a:ext cx="1620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关键机制</a:t>
            </a:r>
          </a:p>
        </p:txBody>
      </p:sp>
      <p:sp>
        <p:nvSpPr>
          <p:cNvPr id="5" name="TextBox 5"/>
          <p:cNvSpPr/>
          <p:nvPr/>
        </p:nvSpPr>
        <p:spPr>
          <a:xfrm>
            <a:off x="2880000" y="828000"/>
            <a:ext cx="16200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GOALS.md 动态更新</a:t>
            </a:r>
          </a:p>
          <a:p>
            <a:r>
              <a:rPr lang="en-US"/>
              <a:t>▪ 按里程碑组织内容</a:t>
            </a:r>
          </a:p>
          <a:p>
            <a:r>
              <a:rPr lang="en-US"/>
              <a:t>▪ 同一时刻仅一个活跃Goal</a:t>
            </a:r>
          </a:p>
          <a:p>
            <a:r>
              <a:rPr lang="en-US"/>
              <a:t>▪ 记录目标产出</a:t>
            </a:r>
          </a:p>
          <a:p>
            <a:r>
              <a:rPr lang="en-US"/>
              <a:t>▪ 记录当前工作范围</a:t>
            </a:r>
          </a:p>
          <a:p>
            <a:r>
              <a:rPr lang="en-US"/>
              <a:t>▪ 记录重要决策</a:t>
            </a:r>
          </a:p>
          <a:p>
            <a:r>
              <a:rPr lang="en-US"/>
              <a:t>▪ 记录已知阻塞</a:t>
            </a:r>
          </a:p>
          <a:p>
            <a:r>
              <a:rPr lang="en-US"/>
              <a:t>▪ 记录完成所需证据</a:t>
            </a:r>
          </a:p>
        </p:txBody>
      </p:sp>
      <p:sp>
        <p:nvSpPr>
          <p:cNvPr id="6" name="TextBox 6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WHAT：早期需求高度灵活，无需提前撰写正式规格文档</a:t>
            </a:r>
          </a:p>
        </p:txBody>
      </p:sp>
      <p:sp>
        <p:nvSpPr>
          <p:cNvPr id="7" name="TextBox 7"/>
          <p:cNvSpPr/>
          <p:nvPr/>
        </p:nvSpPr>
        <p:spPr>
          <a:xfrm>
            <a:off x="180000" y="252000"/>
            <a:ext cx="720000" cy="10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习惯一</a:t>
            </a:r>
          </a:p>
        </p:txBody>
      </p:sp>
      <p:sp>
        <p:nvSpPr>
          <p:cNvPr id="8" name="TextBox 8"/>
          <p:cNvSpPr/>
          <p:nvPr/>
        </p:nvSpPr>
        <p:spPr>
          <a:xfrm>
            <a:off x="180000" y="360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让AI自主规划并维护路线图</a:t>
            </a:r>
          </a:p>
        </p:txBody>
      </p:sp>
      <p:sp>
        <p:nvSpPr>
          <p:cNvPr id="9" name="TextBox 9"/>
          <p:cNvSpPr/>
          <p:nvPr/>
        </p:nvSpPr>
        <p:spPr>
          <a:xfrm>
            <a:off x="288000" y="648000"/>
            <a:ext cx="2340000" cy="12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① 对话口述需求</a:t>
            </a:r>
          </a:p>
          <a:p>
            <a:r>
              <a:rPr lang="en-US"/>
              <a:t>② 引导AI持续提问</a:t>
            </a:r>
          </a:p>
          <a:p>
            <a:r>
              <a:rPr lang="en-US"/>
              <a:t>③ 生成初版计划</a:t>
            </a:r>
          </a:p>
          <a:p>
            <a:r>
              <a:rPr lang="en-US"/>
              <a:t>④ 设定持久Goal</a:t>
            </a:r>
          </a:p>
          <a:p>
            <a:r>
              <a:rPr lang="en-US"/>
              <a:t>⑤ 写入GOALS.md</a:t>
            </a:r>
          </a:p>
          <a:p>
            <a:r>
              <a:rPr lang="en-US"/>
              <a:t>⑥ 随项目推进动态更新</a:t>
            </a:r>
          </a:p>
        </p:txBody>
      </p:sp>
      <p:sp>
        <p:nvSpPr>
          <p:cNvPr id="10" name="TextBox 10"/>
          <p:cNvSpPr/>
          <p:nvPr/>
        </p:nvSpPr>
        <p:spPr>
          <a:xfrm>
            <a:off x="2880000" y="648000"/>
            <a:ext cx="1620000" cy="14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关键机制</a:t>
            </a:r>
          </a:p>
        </p:txBody>
      </p:sp>
      <p:sp>
        <p:nvSpPr>
          <p:cNvPr id="11" name="TextBox 11"/>
          <p:cNvSpPr/>
          <p:nvPr/>
        </p:nvSpPr>
        <p:spPr>
          <a:xfrm>
            <a:off x="2880000" y="828000"/>
            <a:ext cx="16200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GOALS.md 动态更新</a:t>
            </a:r>
          </a:p>
          <a:p>
            <a:r>
              <a:rPr lang="en-US"/>
              <a:t>▪ 按里程碑组织内容</a:t>
            </a:r>
          </a:p>
          <a:p>
            <a:r>
              <a:rPr lang="en-US"/>
              <a:t>▪ 同一时刻仅一个活跃Goal</a:t>
            </a:r>
          </a:p>
          <a:p>
            <a:r>
              <a:rPr lang="en-US"/>
              <a:t>▪ 记录目标产出</a:t>
            </a:r>
          </a:p>
          <a:p>
            <a:r>
              <a:rPr lang="en-US"/>
              <a:t>▪ 记录当前工作范围</a:t>
            </a:r>
          </a:p>
          <a:p>
            <a:r>
              <a:rPr lang="en-US"/>
              <a:t>▪ 记录重要决策</a:t>
            </a:r>
          </a:p>
          <a:p>
            <a:r>
              <a:rPr lang="en-US"/>
              <a:t>▪ 记录已知阻塞</a:t>
            </a:r>
          </a:p>
          <a:p>
            <a:r>
              <a:rPr lang="en-US"/>
              <a:t>▪ 记录完成所需证据</a:t>
            </a:r>
          </a:p>
        </p:txBody>
      </p:sp>
      <p:sp>
        <p:nvSpPr>
          <p:cNvPr id="12" name="TextBox 12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WHAT：早期需求高度灵活，无需提前撰写正式规格文档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52000"/>
            <a:ext cx="72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习惯二</a:t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360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主线程仅负责全局协调，不陷入实现细节</a:t>
            </a:r>
          </a:p>
        </p:txBody>
      </p:sp>
      <p:sp>
        <p:nvSpPr>
          <p:cNvPr id="4" name="TextBox 4"/>
          <p:cNvSpPr/>
          <p:nvPr/>
        </p:nvSpPr>
        <p:spPr>
          <a:xfrm>
            <a:off x="1512000" y="684000"/>
            <a:ext cx="1800000" cy="3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主线程</a:t>
            </a:r>
          </a:p>
          <a:p>
            <a:r>
              <a:rPr lang="en-US"/>
              <a:t>目标 / 约束 / 决策 / 状态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512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子agent A · 任务1执行</a:t>
            </a:r>
          </a:p>
        </p:txBody>
      </p:sp>
      <p:sp>
        <p:nvSpPr>
          <p:cNvPr id="6" name="TextBox 6"/>
          <p:cNvSpPr/>
          <p:nvPr/>
        </p:nvSpPr>
        <p:spPr>
          <a:xfrm>
            <a:off x="1800000" y="1512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子agent B · 任务2执行</a:t>
            </a:r>
          </a:p>
        </p:txBody>
      </p:sp>
      <p:sp>
        <p:nvSpPr>
          <p:cNvPr id="7" name="TextBox 7"/>
          <p:cNvSpPr/>
          <p:nvPr/>
        </p:nvSpPr>
        <p:spPr>
          <a:xfrm>
            <a:off x="3240000" y="1512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独立thread · 完整历史留存</a:t>
            </a:r>
          </a:p>
        </p:txBody>
      </p:sp>
      <p:sp>
        <p:nvSpPr>
          <p:cNvPr id="8" name="TextBox 8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WHAT：协调者不被细碎逻辑占用，并行工作可独立追溯</a:t>
            </a:r>
          </a:p>
        </p:txBody>
      </p:sp>
      <p:sp>
        <p:nvSpPr>
          <p:cNvPr id="9" name="TextBox 9"/>
          <p:cNvSpPr/>
          <p:nvPr/>
        </p:nvSpPr>
        <p:spPr>
          <a:xfrm>
            <a:off x="180000" y="252000"/>
            <a:ext cx="720000" cy="10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习惯二</a:t>
            </a:r>
          </a:p>
        </p:txBody>
      </p:sp>
      <p:sp>
        <p:nvSpPr>
          <p:cNvPr id="10" name="TextBox 10"/>
          <p:cNvSpPr/>
          <p:nvPr/>
        </p:nvSpPr>
        <p:spPr>
          <a:xfrm>
            <a:off x="180000" y="360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主线程仅负责全局协调，不陷入实现细节</a:t>
            </a:r>
          </a:p>
        </p:txBody>
      </p:sp>
      <p:sp>
        <p:nvSpPr>
          <p:cNvPr id="11" name="TextBox 11"/>
          <p:cNvSpPr/>
          <p:nvPr/>
        </p:nvSpPr>
        <p:spPr>
          <a:xfrm>
            <a:off x="1512000" y="684000"/>
            <a:ext cx="1800000" cy="3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主线程</a:t>
            </a:r>
          </a:p>
          <a:p>
            <a:r>
              <a:rPr lang="en-US"/>
              <a:t>目标 / 约束 / 决策 / 状态</a:t>
            </a:r>
          </a:p>
        </p:txBody>
      </p:sp>
      <p:sp>
        <p:nvSpPr>
          <p:cNvPr id="12" name="TextBox 12"/>
          <p:cNvSpPr/>
          <p:nvPr/>
        </p:nvSpPr>
        <p:spPr>
          <a:xfrm>
            <a:off x="360000" y="1512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子agent A · 任务1执行</a:t>
            </a:r>
          </a:p>
        </p:txBody>
      </p:sp>
      <p:sp>
        <p:nvSpPr>
          <p:cNvPr id="13" name="TextBox 13"/>
          <p:cNvSpPr/>
          <p:nvPr/>
        </p:nvSpPr>
        <p:spPr>
          <a:xfrm>
            <a:off x="1800000" y="1512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子agent B · 任务2执行</a:t>
            </a:r>
          </a:p>
        </p:txBody>
      </p:sp>
      <p:sp>
        <p:nvSpPr>
          <p:cNvPr id="14" name="TextBox 14"/>
          <p:cNvSpPr/>
          <p:nvPr/>
        </p:nvSpPr>
        <p:spPr>
          <a:xfrm>
            <a:off x="3240000" y="1512000"/>
            <a:ext cx="1260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独立thread · 完整历史留存</a:t>
            </a:r>
          </a:p>
        </p:txBody>
      </p:sp>
      <p:sp>
        <p:nvSpPr>
          <p:cNvPr id="15" name="TextBox 15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WHAT：协调者不被细碎逻辑占用，并行工作可独立追溯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52000"/>
            <a:ext cx="72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习惯三</a:t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360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每个里程碑完成后先审计路线图，再review代码</a:t>
            </a:r>
          </a:p>
        </p:txBody>
      </p:sp>
      <p:sp>
        <p:nvSpPr>
          <p:cNvPr id="4" name="TextBox 4"/>
          <p:cNvSpPr/>
          <p:nvPr/>
        </p:nvSpPr>
        <p:spPr>
          <a:xfrm>
            <a:off x="288000" y="648000"/>
            <a:ext cx="19800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路线图审计5项检查</a:t>
            </a:r>
          </a:p>
          <a:p>
            <a:r>
              <a:rPr lang="en-US"/>
              <a:t>□ 里程碑是否真的完成</a:t>
            </a:r>
          </a:p>
          <a:p>
            <a:r>
              <a:rPr lang="en-US"/>
              <a:t>□ 下一个目标是否合理</a:t>
            </a:r>
          </a:p>
          <a:p>
            <a:r>
              <a:rPr lang="en-US"/>
              <a:t>□ 是否遗漏里程碑</a:t>
            </a:r>
          </a:p>
          <a:p>
            <a:r>
              <a:rPr lang="en-US"/>
              <a:t>□ 新证据是否需要调整工作顺序</a:t>
            </a:r>
          </a:p>
          <a:p>
            <a:r>
              <a:rPr lang="en-US"/>
              <a:t>□ "完成定义"是否仍然成立</a:t>
            </a:r>
          </a:p>
        </p:txBody>
      </p:sp>
      <p:sp>
        <p:nvSpPr>
          <p:cNvPr id="5" name="TextBox 5"/>
          <p:cNvSpPr/>
          <p:nvPr/>
        </p:nvSpPr>
        <p:spPr>
          <a:xfrm>
            <a:off x="2520000" y="648000"/>
            <a:ext cx="19800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代码review要点</a:t>
            </a:r>
          </a:p>
          <a:p>
            <a:r>
              <a:rPr lang="en-US"/>
              <a:t>▪ 登录流程实现后发现token存储错误</a:t>
            </a:r>
          </a:p>
          <a:p>
            <a:r>
              <a:rPr lang="en-US"/>
              <a:t>▪ 浏览器端验证缺失</a:t>
            </a:r>
          </a:p>
          <a:p>
            <a:r>
              <a:rPr lang="en-US"/>
              <a:t>▪ 远程测试无法覆盖的隐藏问题</a:t>
            </a:r>
          </a:p>
          <a:p>
            <a:r>
              <a:rPr lang="en-US"/>
              <a:t>▪ 两项审计完成后再激活下一里程碑</a:t>
            </a:r>
          </a:p>
        </p:txBody>
      </p:sp>
      <p:sp>
        <p:nvSpPr>
          <p:cNvPr id="6" name="TextBox 6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WHAT：修正路线偏差 + 发现隐藏缺陷，两项完成后再推进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52000"/>
            <a:ext cx="72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习惯四</a:t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360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本机专属测试交由"本地线程"执行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684000"/>
            <a:ext cx="18000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远程线程</a:t>
            </a:r>
          </a:p>
          <a:p>
            <a:r>
              <a:rPr lang="en-US"/>
              <a:t>协调全局</a:t>
            </a:r>
          </a:p>
          <a:p>
            <a:r>
              <a:rPr lang="en-US"/>
              <a:t>委派任务</a:t>
            </a:r>
          </a:p>
          <a:p>
            <a:r>
              <a:rPr lang="en-US"/>
              <a:t>验收结果</a:t>
            </a:r>
          </a:p>
        </p:txBody>
      </p:sp>
      <p:sp>
        <p:nvSpPr>
          <p:cNvPr id="5" name="TextBox 5"/>
          <p:cNvSpPr/>
          <p:nvPr/>
        </p:nvSpPr>
        <p:spPr>
          <a:xfrm>
            <a:off x="2628000" y="684000"/>
            <a:ext cx="18000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本地线程</a:t>
            </a:r>
          </a:p>
          <a:p>
            <a:r>
              <a:rPr lang="en-US"/>
              <a:t>登录态测试</a:t>
            </a:r>
          </a:p>
          <a:p>
            <a:r>
              <a:rPr lang="en-US"/>
              <a:t>本地凭据验证</a:t>
            </a:r>
          </a:p>
          <a:p>
            <a:r>
              <a:rPr lang="en-US"/>
              <a:t>Xcode / iOS测试</a:t>
            </a:r>
          </a:p>
        </p:txBody>
      </p:sp>
      <p:sp>
        <p:nvSpPr>
          <p:cNvPr id="6" name="TextBox 6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WHAT：远程/本地能力解耦，仅必要时调用本地资源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52000"/>
            <a:ext cx="72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习惯五</a:t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360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通过简报和仪表盘同步全局进度</a:t>
            </a:r>
          </a:p>
        </p:txBody>
      </p:sp>
      <p:sp>
        <p:nvSpPr>
          <p:cNvPr id="4" name="TextBox 4"/>
          <p:cNvSpPr/>
          <p:nvPr/>
        </p:nvSpPr>
        <p:spPr>
          <a:xfrm>
            <a:off x="288000" y="648000"/>
            <a:ext cx="1980000" cy="9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极简三段式汇报</a:t>
            </a:r>
          </a:p>
          <a:p>
            <a:r>
              <a:rPr lang="en-US"/>
              <a:t>▪ What's done (已完成)</a:t>
            </a:r>
          </a:p>
          <a:p>
            <a:r>
              <a:rPr lang="en-US"/>
              <a:t>▪ What's next (下一步)</a:t>
            </a:r>
          </a:p>
          <a:p>
            <a:r>
              <a:rPr lang="en-US"/>
              <a:t>▪ Any blockers (有无阻塞)</a:t>
            </a:r>
          </a:p>
        </p:txBody>
      </p:sp>
      <p:sp>
        <p:nvSpPr>
          <p:cNvPr id="5" name="TextBox 5"/>
          <p:cNvSpPr/>
          <p:nvPr/>
        </p:nvSpPr>
        <p:spPr>
          <a:xfrm>
            <a:off x="2520000" y="648000"/>
            <a:ext cx="1980000" cy="9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progress-dashboard</a:t>
            </a:r>
          </a:p>
          <a:p>
            <a:r>
              <a:rPr lang="en-US"/>
              <a:t>仪表盘展示：</a:t>
            </a:r>
          </a:p>
          <a:p>
            <a:r>
              <a:rPr lang="en-US"/>
              <a:t>▪ 活跃目标</a:t>
            </a:r>
          </a:p>
          <a:p>
            <a:r>
              <a:rPr lang="en-US"/>
              <a:t>▪ 已完成里程碑</a:t>
            </a:r>
          </a:p>
          <a:p>
            <a:r>
              <a:rPr lang="en-US"/>
              <a:t>▪ 证据清单</a:t>
            </a:r>
          </a:p>
          <a:p>
            <a:r>
              <a:rPr lang="en-US"/>
              <a:t>▪ 阻塞项</a:t>
            </a:r>
          </a:p>
          <a:p>
            <a:r>
              <a:rPr lang="en-US"/>
              <a:t>▪ 决策记录</a:t>
            </a:r>
          </a:p>
        </p:txBody>
      </p:sp>
      <p:sp>
        <p:nvSpPr>
          <p:cNvPr id="6" name="TextBox 6"/>
          <p:cNvSpPr/>
          <p:nvPr/>
        </p:nvSpPr>
        <p:spPr>
          <a:xfrm>
            <a:off x="180000" y="2232000"/>
            <a:ext cx="4428000" cy="21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SO WHAT：随时掌握全局状态，降低长周期项目上下文重建成本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88000"/>
            <a:ext cx="4428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核心结论</a:t>
            </a:r>
          </a:p>
        </p:txBody>
      </p:sp>
      <p:sp>
        <p:nvSpPr>
          <p:cNvPr id="3" name="TextBox 3"/>
          <p:cNvSpPr/>
          <p:nvPr/>
        </p:nvSpPr>
        <p:spPr>
          <a:xfrm>
            <a:off x="540000" y="648000"/>
            <a:ext cx="37080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AI模型负责产出智能能力</a:t>
            </a:r>
          </a:p>
          <a:p>
            <a:r>
              <a:rPr lang="en-US"/>
              <a:t>人类开发者的核心价值</a:t>
            </a:r>
          </a:p>
          <a:p>
            <a:r>
              <a:rPr lang="en-US"/>
              <a:t>是引导这份智能始终锚定统一目标，</a:t>
            </a:r>
          </a:p>
          <a:p>
            <a:r>
              <a:rPr lang="en-US"/>
              <a:t>沿着验证过的证据稳步推进。</a:t>
            </a:r>
          </a:p>
        </p:txBody>
      </p:sp>
      <p:sp>
        <p:nvSpPr>
          <p:cNvPr id="4" name="TextBox 4"/>
          <p:cNvSpPr/>
          <p:nvPr/>
        </p:nvSpPr>
        <p:spPr>
          <a:xfrm>
            <a:off x="540000" y="1512000"/>
            <a:ext cx="37080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三点边界</a:t>
            </a:r>
          </a:p>
          <a:p>
            <a:r>
              <a:rPr lang="en-US"/>
              <a:t>1. 非官方定论 — OpenAI工程师个人实践总结</a:t>
            </a:r>
          </a:p>
          <a:p>
            <a:r>
              <a:rPr lang="en-US"/>
              <a:t>2. 需适配 — 其他工具需找对应替代功能</a:t>
            </a:r>
          </a:p>
          <a:p>
            <a:r>
              <a:rPr lang="en-US"/>
              <a:t>3. 自定义约定 — GOALS.md等需用户与AI共同建立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xmlns:a="http://schemas.openxmlformats.org/drawingml/2006/main">
            <a:off x="180000" y="288000"/>
            <a:ext cx="4428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参考资源</a:t>
            </a:r>
          </a:p>
        </p:txBody>
      </p:sp>
      <p:sp>
        <p:nvSpPr>
          <p:cNvPr id="3" name="TextBox 3"/>
          <p:cNvSpPr/>
          <p:nvPr/>
        </p:nvSpPr>
        <p:spPr>
          <a:xfrm>
            <a:off x="180000" y="648000"/>
            <a:ext cx="4428000" cy="50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原文推文</a:t>
            </a:r>
          </a:p>
          <a:p>
            <a:r>
              <a:rPr lang="en-US"/>
              <a:t>Gabriel Chua《Collaborating with Codex on Long-Running Tasks》</a:t>
            </a:r>
          </a:p>
          <a:p>
            <a:r>
              <a:rPr lang="en-US"/>
              <a:t>x.com/gabrielchua/status/2074505300766568563</a:t>
            </a:r>
          </a:p>
        </p:txBody>
      </p:sp>
      <p:sp>
        <p:nvSpPr>
          <p:cNvPr id="4" name="TextBox 4"/>
          <p:cNvSpPr/>
          <p:nvPr/>
        </p:nvSpPr>
        <p:spPr>
          <a:xfrm>
            <a:off x="180000" y="1224000"/>
            <a:ext cx="4428000" cy="36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作者主页</a:t>
            </a:r>
          </a:p>
          <a:p>
            <a:r>
              <a:rPr lang="en-US"/>
              <a:t>Gabriel Chua — OpenAI Codex DX Engineer</a:t>
            </a:r>
          </a:p>
          <a:p>
            <a:r>
              <a:rPr lang="en-US"/>
              <a:t>x.com/gabrielchua</a:t>
            </a:r>
          </a:p>
        </p:txBody>
      </p:sp>
      <p:sp>
        <p:nvSpPr>
          <p:cNvPr id="5" name="TextBox 5"/>
          <p:cNvSpPr/>
          <p:nvPr/>
        </p:nvSpPr>
        <p:spPr>
          <a:xfrm>
            <a:off x="180000" y="1656000"/>
            <a:ext cx="4428000" cy="28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▪ Codex开源仓库</a:t>
            </a:r>
          </a:p>
          <a:p>
            <a:r>
              <a:rPr lang="en-US"/>
              <a:t>github.com/openai/codex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
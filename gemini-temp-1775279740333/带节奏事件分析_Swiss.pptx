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1ce468354924a0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9060551150a4ec5"/>
    <p:sldId id="257" r:id="R46009a94ff6640c2"/>
    <p:sldId id="258" r:id="R28440d0271f54ea7"/>
    <p:sldId id="259" r:id="R6cf2e30ce37641ce"/>
    <p:sldId id="260" r:id="Rabd1691d625c4c1b"/>
    <p:sldId id="261" r:id="Rd6f41974e4ba480d"/>
    <p:sldId id="262" r:id="Rd6094d357fd1443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9060551150a4ec5" /><Relationship Type="http://schemas.openxmlformats.org/officeDocument/2006/relationships/slide" Target="/ppt/slides/slide2.xml" Id="R46009a94ff6640c2" /><Relationship Type="http://schemas.openxmlformats.org/officeDocument/2006/relationships/slide" Target="/ppt/slides/slide3.xml" Id="R28440d0271f54ea7" /><Relationship Type="http://schemas.openxmlformats.org/officeDocument/2006/relationships/slide" Target="/ppt/slides/slide4.xml" Id="R6cf2e30ce37641ce" /><Relationship Type="http://schemas.openxmlformats.org/officeDocument/2006/relationships/slide" Target="/ppt/slides/slide5.xml" Id="Rabd1691d625c4c1b" /><Relationship Type="http://schemas.openxmlformats.org/officeDocument/2006/relationships/slide" Target="/ppt/slides/slide6.xml" Id="Rd6f41974e4ba480d" /><Relationship Type="http://schemas.openxmlformats.org/officeDocument/2006/relationships/slide" Target="/ppt/slides/slide7.xml" Id="Rd6094d357fd1443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04efc873447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28374c04442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cc75319924e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2b4661cd84b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d99ad314245a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f7e64ea65c0424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3ad221af847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20656c8c5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7a12021fe4e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835a7037340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f731c77f42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15526808f44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3e8e15ce348ce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3420000"/>
            <a:ext cx="12193200" cy="54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08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08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08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08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2960000" y="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2960000" y="36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2960000" y="180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2960000" y="252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296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2960000" y="432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2960000" y="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2960000" y="10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12960000" y="16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2960000" y="39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2960000" y="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2960000" y="144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2960000" y="180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12960000" y="23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12960000" y="27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12960000" y="30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2960000" y="36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2960000" y="39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12960000" y="432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2960000" y="48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2960000" y="52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12960000" y="10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12960000" y="14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2960000" y="19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12960000" y="28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12960000" y="32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2960000" y="37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2960000" y="41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2960000" y="46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00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2960000" y="50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2960000" y="7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2960000" y="21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2960000" y="30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296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296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296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296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08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080000" y="180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08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080000" y="396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080000" y="46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080000" y="57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2960000" y="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12960000" y="72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12960000" y="162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12960000" y="252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2960000" y="10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12960000" y="16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2960000" y="39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2960000" y="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2960000" y="144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2960000" y="180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12960000" y="23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12960000" y="27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12960000" y="30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2960000" y="36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2960000" y="39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12960000" y="432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2960000" y="48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2960000" y="52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12960000" y="10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12960000" y="14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2960000" y="19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12960000" y="28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12960000" y="32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2960000" y="37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2960000" y="41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2960000" y="46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00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2960000" y="50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2960000" y="7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2960000" y="21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2960000" y="30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6120000"/>
            <a:ext cx="12193200" cy="720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296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296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296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296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2960000" y="180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296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2960000" y="396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2960000" y="46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2960000" y="57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08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08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08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08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08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360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360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360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360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612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612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612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612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864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864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864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864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2960000" y="10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12960000" y="16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2960000" y="39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2960000" y="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2960000" y="144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2960000" y="180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12960000" y="23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12960000" y="27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12960000" y="30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2960000" y="36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2960000" y="39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12960000" y="432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2960000" y="48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2960000" y="52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12960000" y="10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12960000" y="14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2960000" y="19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12960000" y="28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12960000" y="32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2960000" y="37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2960000" y="41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2960000" y="46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00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2960000" y="50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2960000" y="7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2960000" y="21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2960000" y="30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3420000"/>
            <a:ext cx="12193200" cy="36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296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296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296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296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2960000" y="180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296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2960000" y="396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2960000" y="46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2960000" y="57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296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080000" y="72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08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648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08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648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080000" y="43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2960000" y="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2960000" y="144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2960000" y="180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12960000" y="23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12960000" y="27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12960000" y="30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2960000" y="36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2960000" y="39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12960000" y="432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2960000" y="48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2960000" y="52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12960000" y="10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12960000" y="14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2960000" y="19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12960000" y="28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12960000" y="32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2960000" y="37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2960000" y="41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2960000" y="46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00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2960000" y="50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2960000" y="7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2960000" y="21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2960000" y="30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2160000"/>
            <a:ext cx="12193200" cy="1440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296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296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296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296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2960000" y="180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296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2960000" y="396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2960000" y="46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2960000" y="57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296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2960000" y="72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2960000" y="43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08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080000" y="39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080000" y="45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080000" y="504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6480000" y="39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6480000" y="45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6480000" y="504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080000" y="57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080000" y="612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6480000" y="57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2960000" y="48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2960000" y="52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2960000" y="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12960000" y="10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12960000" y="14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2960000" y="19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2960000" y="23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12960000" y="28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12960000" y="32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2960000" y="37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2960000" y="41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2960000" y="46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00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2960000" y="50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2960000" y="7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2960000" y="21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2960000" y="30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6120000"/>
            <a:ext cx="12193200" cy="720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296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296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296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296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2960000" y="180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296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2960000" y="396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2960000" y="46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2960000" y="57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296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2960000" y="72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2960000" y="43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296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2960000" y="39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2960000" y="45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2960000" y="504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12960000" y="39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12960000" y="45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12960000" y="504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2960000" y="57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2960000" y="612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12960000" y="57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080000" y="5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080000" y="16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08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6480000" y="16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6480000" y="21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080000" y="306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080000" y="36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6480000" y="30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6480000" y="36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080000" y="45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080000" y="50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2960000" y="46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00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2960000" y="50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2960000" y="7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2960000" y="21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2960000" y="30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itle-main"/>
          <p:cNvSpPr/>
          <p:nvPr/>
        </p:nvSpPr>
        <p:spPr>
          <a:xfrm>
            <a:off x="12960000" y="1440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000000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title-sub"/>
          <p:cNvSpPr/>
          <p:nvPr/>
        </p:nvSpPr>
        <p:spPr>
          <a:xfrm>
            <a:off x="12960000" y="30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666666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hero-context"/>
          <p:cNvSpPr/>
          <p:nvPr/>
        </p:nvSpPr>
        <p:spPr>
          <a:xfrm>
            <a:off x="12960000" y="504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2026年3月29日 | 群聊密集同步金条 | 预警激励问题</a:t>
            </a:r>
          </a:p>
        </p:txBody>
      </p:sp>
      <p:sp>
        <p:nvSpPr>
          <p:cNvPr id="6" name="!!hero-contradiction"/>
          <p:cNvSpPr/>
          <p:nvPr/>
        </p:nvSpPr>
        <p:spPr>
          <a:xfrm>
            <a:off x="12960000" y="558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核心矛盾：激励是策略组定的，但只攻击服务组同事</a:t>
            </a:r>
          </a:p>
        </p:txBody>
      </p:sp>
      <p:sp>
        <p:nvSpPr>
          <p:cNvPr id="7" name="!!s2-label"/>
          <p:cNvSpPr/>
          <p:nvPr/>
        </p:nvSpPr>
        <p:spPr>
          <a:xfrm>
            <a:off x="12960000" y="1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8" name="!!s2-main"/>
          <p:cNvSpPr/>
          <p:nvPr/>
        </p:nvSpPr>
        <p:spPr>
          <a:xfrm>
            <a:off x="12960000" y="180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00000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9" name="!!s2-pattern1"/>
          <p:cNvSpPr/>
          <p:nvPr/>
        </p:nvSpPr>
        <p:spPr>
          <a:xfrm>
            <a:off x="12960000" y="32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表演型预警</a:t>
            </a:r>
          </a:p>
        </p:txBody>
      </p:sp>
      <p:sp>
        <p:nvSpPr>
          <p:cNvPr id="10" name="!!s2-pattern2"/>
          <p:cNvSpPr/>
          <p:nvPr/>
        </p:nvSpPr>
        <p:spPr>
          <a:xfrm>
            <a:off x="12960000" y="396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1" name="!!s2-pattern3"/>
          <p:cNvSpPr/>
          <p:nvPr/>
        </p:nvSpPr>
        <p:spPr>
          <a:xfrm>
            <a:off x="12960000" y="46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  <a:latin typeface="Helvetica"/>
                <a:ea typeface="Helvetica"/>
              </a:rPr>
              <a:t>保护关系网</a:t>
            </a:r>
          </a:p>
        </p:txBody>
      </p:sp>
      <p:sp>
        <p:nvSpPr>
          <p:cNvPr id="12" name="!!s2-principles"/>
          <p:cNvSpPr/>
          <p:nvPr/>
        </p:nvSpPr>
        <p:spPr>
          <a:xfrm>
            <a:off x="12960000" y="57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应对原则：不接靶子 | 回归根本原因 | 保护安全感 | 用数据说话</a:t>
            </a:r>
          </a:p>
        </p:txBody>
      </p:sp>
      <p:sp>
        <p:nvSpPr>
          <p:cNvPr id="13" name="!!s3-title"/>
          <p:cNvSpPr/>
          <p:nvPr/>
        </p:nvSpPr>
        <p:spPr>
          <a:xfrm>
            <a:off x="1296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14" name="!!s3-p1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0000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5" name="!!s3-p1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6" name="!!s3-p1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只攻击服务组同事，不攻击策略组（刘伟佳）</a:t>
            </a:r>
          </a:p>
        </p:txBody>
      </p:sp>
      <p:sp>
        <p:nvSpPr>
          <p:cNvPr id="17" name="!!s3-p1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证据：密集同步金条时只@服务组，从不质疑策略制定方</a:t>
            </a:r>
          </a:p>
        </p:txBody>
      </p:sp>
      <p:sp>
        <p:nvSpPr>
          <p:cNvPr id="18" name="!!s3-p2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9" name="!!s3-p2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20" name="!!s3-p2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把交接期信息真空，转移到激励方案问题</a:t>
            </a:r>
          </a:p>
        </p:txBody>
      </p:sp>
      <p:sp>
        <p:nvSpPr>
          <p:cNvPr id="21" name="!!s3-p2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真相：3.11-3.28交接期无数据支撑，3.29突然发现问题</a:t>
            </a:r>
          </a:p>
        </p:txBody>
      </p:sp>
      <p:sp>
        <p:nvSpPr>
          <p:cNvPr id="22" name="!!s3-p3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23" name="!!s3-p3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24" name="!!s3-p3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用情绪数字制造压力：1400工人、5000家庭</a:t>
            </a:r>
          </a:p>
        </p:txBody>
      </p:sp>
      <p:sp>
        <p:nvSpPr>
          <p:cNvPr id="25" name="!!s3-p3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问题：情绪化数字无法核实，制造紧迫感和道德压力</a:t>
            </a:r>
          </a:p>
        </p:txBody>
      </p:sp>
      <p:sp>
        <p:nvSpPr>
          <p:cNvPr id="26" name="!!s3-p4-num"/>
          <p:cNvSpPr/>
          <p:nvPr/>
        </p:nvSpPr>
        <p:spPr>
          <a:xfrm>
            <a:off x="12960000" y="1440000"/>
            <a:ext cx="1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000000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27" name="!!s3-p4-title"/>
          <p:cNvSpPr/>
          <p:nvPr/>
        </p:nvSpPr>
        <p:spPr>
          <a:xfrm>
            <a:off x="12960000" y="21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000000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8" name="!!s3-p4-desc"/>
          <p:cNvSpPr/>
          <p:nvPr/>
        </p:nvSpPr>
        <p:spPr>
          <a:xfrm>
            <a:off x="12960000" y="27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不私下沟通，直接在群聊公开表演</a:t>
            </a:r>
          </a:p>
        </p:txBody>
      </p:sp>
      <p:sp>
        <p:nvSpPr>
          <p:cNvPr id="29" name="!!s3-p4-evidence"/>
          <p:cNvSpPr/>
          <p:nvPr/>
        </p:nvSpPr>
        <p:spPr>
          <a:xfrm>
            <a:off x="12960000" y="36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0000"/>
                </a:solidFill>
                <a:latin typeface="Helvetica"/>
                <a:ea typeface="Helvetica"/>
              </a:rPr>
              <a:t>反常：正常工作方式应先私下对齐，而非群聊施压</a:t>
            </a:r>
          </a:p>
        </p:txBody>
      </p:sp>
      <p:sp>
        <p:nvSpPr>
          <p:cNvPr id="30" name="!!s4-title"/>
          <p:cNvSpPr/>
          <p:nvPr/>
        </p:nvSpPr>
        <p:spPr>
          <a:xfrm>
            <a:off x="12960000" y="72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数据对比：真实 vs 夸张</a:t>
            </a:r>
          </a:p>
        </p:txBody>
      </p:sp>
      <p:sp>
        <p:nvSpPr>
          <p:cNvPr id="31" name="!!s4-claim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刘乾坤：大量流失</a:t>
            </a:r>
          </a:p>
        </p:txBody>
      </p:sp>
      <p:sp>
        <p:nvSpPr>
          <p:cNvPr id="32" name="!!s4-fact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实际：头部个别问题</a:t>
            </a:r>
          </a:p>
        </p:txBody>
      </p:sp>
      <p:sp>
        <p:nvSpPr>
          <p:cNvPr id="33" name="!!s4-claim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刘乾坤：拿不到钱</a:t>
            </a:r>
          </a:p>
        </p:txBody>
      </p:sp>
      <p:sp>
        <p:nvSpPr>
          <p:cNvPr id="34" name="!!s4-fact2"/>
          <p:cNvSpPr/>
          <p:nvPr/>
        </p:nvSpPr>
        <p:spPr>
          <a:xfrm>
            <a:off x="12960000" y="28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0000"/>
                </a:solidFill>
                <a:latin typeface="Helvetica"/>
                <a:ea typeface="Helvetica"/>
              </a:rPr>
              <a:t>实际：60-70%可以达成</a:t>
            </a:r>
          </a:p>
        </p:txBody>
      </p:sp>
      <p:sp>
        <p:nvSpPr>
          <p:cNvPr id="35" name="!!s4-note"/>
          <p:cNvSpPr/>
          <p:nvPr/>
        </p:nvSpPr>
        <p:spPr>
          <a:xfrm>
            <a:off x="12960000" y="43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承认：激励目标确实偏高（3.1-3.10数据制定）</a:t>
            </a:r>
          </a:p>
        </p:txBody>
      </p:sp>
      <p:sp>
        <p:nvSpPr>
          <p:cNvPr id="36" name="!!s5-title"/>
          <p:cNvSpPr/>
          <p:nvPr/>
        </p:nvSpPr>
        <p:spPr>
          <a:xfrm>
            <a:off x="12960000" y="54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00000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37" name="!!s5-i1-name"/>
          <p:cNvSpPr/>
          <p:nvPr/>
        </p:nvSpPr>
        <p:spPr>
          <a:xfrm>
            <a:off x="12960000" y="39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团队安全感</a:t>
            </a:r>
          </a:p>
        </p:txBody>
      </p:sp>
      <p:sp>
        <p:nvSpPr>
          <p:cNvPr id="38" name="!!s5-i1-level"/>
          <p:cNvSpPr/>
          <p:nvPr/>
        </p:nvSpPr>
        <p:spPr>
          <a:xfrm>
            <a:off x="12960000" y="45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39" name="!!s5-i1-desc"/>
          <p:cNvSpPr/>
          <p:nvPr/>
        </p:nvSpPr>
        <p:spPr>
          <a:xfrm>
            <a:off x="12960000" y="504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被破坏，大家紧绷，影响长期协作氛围</a:t>
            </a:r>
          </a:p>
        </p:txBody>
      </p:sp>
      <p:sp>
        <p:nvSpPr>
          <p:cNvPr id="40" name="!!s5-i2-name"/>
          <p:cNvSpPr/>
          <p:nvPr/>
        </p:nvSpPr>
        <p:spPr>
          <a:xfrm>
            <a:off x="12960000" y="39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李吉斌</a:t>
            </a:r>
          </a:p>
        </p:txBody>
      </p:sp>
      <p:sp>
        <p:nvSpPr>
          <p:cNvPr id="41" name="!!s5-i2-level"/>
          <p:cNvSpPr/>
          <p:nvPr/>
        </p:nvSpPr>
        <p:spPr>
          <a:xfrm>
            <a:off x="12960000" y="45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0000"/>
                </a:solidFill>
                <a:latin typeface="Helvetica"/>
                <a:ea typeface="Helvetica"/>
              </a:rPr>
              <a:t>高影响</a:t>
            </a:r>
          </a:p>
        </p:txBody>
      </p:sp>
      <p:sp>
        <p:nvSpPr>
          <p:cNvPr id="42" name="!!s5-i2-desc"/>
          <p:cNvSpPr/>
          <p:nvPr/>
        </p:nvSpPr>
        <p:spPr>
          <a:xfrm>
            <a:off x="12960000" y="504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Q1责任确实在他，但公开攻击方式有问题</a:t>
            </a:r>
          </a:p>
        </p:txBody>
      </p:sp>
      <p:sp>
        <p:nvSpPr>
          <p:cNvPr id="43" name="!!s5-i3-name"/>
          <p:cNvSpPr/>
          <p:nvPr/>
        </p:nvSpPr>
        <p:spPr>
          <a:xfrm>
            <a:off x="12960000" y="57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王易人</a:t>
            </a:r>
          </a:p>
        </p:txBody>
      </p:sp>
      <p:sp>
        <p:nvSpPr>
          <p:cNvPr id="44" name="!!s5-i3-level"/>
          <p:cNvSpPr/>
          <p:nvPr/>
        </p:nvSpPr>
        <p:spPr>
          <a:xfrm>
            <a:off x="12960000" y="612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  <a:latin typeface="Helvetica"/>
                <a:ea typeface="Helvetica"/>
              </a:rPr>
              <a:t>中等影响</a:t>
            </a:r>
          </a:p>
        </p:txBody>
      </p:sp>
      <p:sp>
        <p:nvSpPr>
          <p:cNvPr id="45" name="!!s5-i3-desc"/>
          <p:cNvSpPr/>
          <p:nvPr/>
        </p:nvSpPr>
        <p:spPr>
          <a:xfrm>
            <a:off x="12960000" y="5760000"/>
            <a:ext cx="54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团队管理被公开质疑</a:t>
            </a:r>
          </a:p>
        </p:txBody>
      </p:sp>
      <p:sp>
        <p:nvSpPr>
          <p:cNvPr id="46" name="!!s5-i4-name"/>
          <p:cNvSpPr/>
          <p:nvPr/>
        </p:nvSpPr>
        <p:spPr>
          <a:xfrm>
            <a:off x="12960000" y="5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Helvetica"/>
                <a:ea typeface="Helvetica"/>
              </a:rPr>
              <a:t>刘伟佳/策略组</a:t>
            </a:r>
          </a:p>
        </p:txBody>
      </p:sp>
      <p:sp>
        <p:nvSpPr>
          <p:cNvPr id="47" name="!!s5-i4-level"/>
          <p:cNvSpPr/>
          <p:nvPr/>
        </p:nvSpPr>
        <p:spPr>
          <a:xfrm>
            <a:off x="12960000" y="16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66666"/>
                </a:solidFill>
                <a:latin typeface="Helvetica"/>
                <a:ea typeface="Helvetica"/>
              </a:rPr>
              <a:t>无影响（被保护）</a:t>
            </a:r>
          </a:p>
        </p:txBody>
      </p:sp>
      <p:sp>
        <p:nvSpPr>
          <p:cNvPr id="48" name="!!s6-title"/>
          <p:cNvSpPr/>
          <p:nvPr/>
        </p:nvSpPr>
        <p:spPr>
          <a:xfrm>
            <a:off x="1296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Helvetica"/>
                <a:ea typeface="Helvetica"/>
              </a:rPr>
              <a:t>应对策略：REACT 框架</a:t>
            </a:r>
          </a:p>
        </p:txBody>
      </p:sp>
      <p:sp>
        <p:nvSpPr>
          <p:cNvPr id="49" name="!!s6-r-title"/>
          <p:cNvSpPr/>
          <p:nvPr/>
        </p:nvSpPr>
        <p:spPr>
          <a:xfrm>
            <a:off x="12960000" y="16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50" name="!!s6-r-desc"/>
          <p:cNvSpPr/>
          <p:nvPr/>
        </p:nvSpPr>
        <p:spPr>
          <a:xfrm>
            <a:off x="12960000" y="21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先认可担忧，再理性回应</a:t>
            </a:r>
          </a:p>
        </p:txBody>
      </p:sp>
      <p:sp>
        <p:nvSpPr>
          <p:cNvPr id="51" name="!!s6-e-title"/>
          <p:cNvSpPr/>
          <p:nvPr/>
        </p:nvSpPr>
        <p:spPr>
          <a:xfrm>
            <a:off x="12960000" y="306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52" name="!!s6-e-desc"/>
          <p:cNvSpPr/>
          <p:nvPr/>
        </p:nvSpPr>
        <p:spPr>
          <a:xfrm>
            <a:off x="12960000" y="36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指出交接期信息真空是真正问题</a:t>
            </a:r>
          </a:p>
        </p:txBody>
      </p:sp>
      <p:sp>
        <p:nvSpPr>
          <p:cNvPr id="53" name="!!s6-a-title"/>
          <p:cNvSpPr/>
          <p:nvPr/>
        </p:nvSpPr>
        <p:spPr>
          <a:xfrm>
            <a:off x="12960000" y="30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54" name="!!s6-a-desc"/>
          <p:cNvSpPr/>
          <p:nvPr/>
        </p:nvSpPr>
        <p:spPr>
          <a:xfrm>
            <a:off x="12960000" y="36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说明正在做的改进措施</a:t>
            </a:r>
          </a:p>
        </p:txBody>
      </p:sp>
      <p:sp>
        <p:nvSpPr>
          <p:cNvPr id="55" name="!!s6-c-title"/>
          <p:cNvSpPr/>
          <p:nvPr/>
        </p:nvSpPr>
        <p:spPr>
          <a:xfrm>
            <a:off x="12960000" y="45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56" name="!!s6-c-desc"/>
          <p:cNvSpPr/>
          <p:nvPr/>
        </p:nvSpPr>
        <p:spPr>
          <a:xfrm>
            <a:off x="12960000" y="50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拒绝道德绑架，要求具体数据</a:t>
            </a:r>
          </a:p>
        </p:txBody>
      </p:sp>
      <p:sp>
        <p:nvSpPr>
          <p:cNvPr id="57" name="!!s6-t-title"/>
          <p:cNvSpPr/>
          <p:nvPr/>
        </p:nvSpPr>
        <p:spPr>
          <a:xfrm>
            <a:off x="1080000" y="10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58" name="!!s6-t-desc"/>
          <p:cNvSpPr/>
          <p:nvPr/>
        </p:nvSpPr>
        <p:spPr>
          <a:xfrm>
            <a:off x="108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66666"/>
                </a:solidFill>
                <a:latin typeface="Helvetica"/>
                <a:ea typeface="Helvetica"/>
              </a:rPr>
              <a:t>引导回归正常工作方式</a:t>
            </a:r>
          </a:p>
        </p:txBody>
      </p:sp>
      <p:sp>
        <p:nvSpPr>
          <p:cNvPr id="59" name="!!s7-title"/>
          <p:cNvSpPr/>
          <p:nvPr/>
        </p:nvSpPr>
        <p:spPr>
          <a:xfrm>
            <a:off x="1080000" y="360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60" name="!!s7-line1"/>
          <p:cNvSpPr/>
          <p:nvPr/>
        </p:nvSpPr>
        <p:spPr>
          <a:xfrm>
            <a:off x="1080000" y="450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FFFFFF"/>
                </a:solidFill>
                <a:latin typeface="Helvetica"/>
                <a:ea typeface="Helvetica"/>
              </a:rPr>
              <a:t>表演型预警 + 转移视线 + 保护关系网 的三重组合</a:t>
            </a:r>
          </a:p>
        </p:txBody>
      </p:sp>
      <p:sp>
        <p:nvSpPr>
          <p:cNvPr id="61" name="!!s7-line2"/>
          <p:cNvSpPr/>
          <p:nvPr/>
        </p:nvSpPr>
        <p:spPr>
          <a:xfrm>
            <a:off x="1080000" y="57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666666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62" name="!!s7-line3"/>
          <p:cNvSpPr/>
          <p:nvPr/>
        </p:nvSpPr>
        <p:spPr>
          <a:xfrm>
            <a:off x="12960000" y="37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Helvetica"/>
                <a:ea typeface="Helvetica"/>
              </a:rPr>
              <a:t>拒绝道德绑架，保护团队安全感</a:t>
            </a:r>
          </a:p>
        </p:txBody>
      </p:sp>
      <p:sp>
        <p:nvSpPr>
          <p:cNvPr id="63" name="!!s7-date"/>
          <p:cNvSpPr/>
          <p:nvPr/>
        </p:nvSpPr>
        <p:spPr>
          <a:xfrm>
            <a:off x="1296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66666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
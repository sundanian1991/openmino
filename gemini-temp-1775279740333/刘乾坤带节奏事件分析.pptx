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36f31adb05542c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25786430f43b463d"/>
    <p:sldId id="257" r:id="R35052d9f86d549d4"/>
    <p:sldId id="258" r:id="Rc7dd4ab7185340e0"/>
    <p:sldId id="259" r:id="R1182d9fad864413c"/>
    <p:sldId id="260" r:id="Ra858ddf92b0441b6"/>
    <p:sldId id="261" r:id="Rcfac4a40d32b4684"/>
    <p:sldId id="262" r:id="Rbbbedd943b8b4a6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5786430f43b463d" /><Relationship Type="http://schemas.openxmlformats.org/officeDocument/2006/relationships/slide" Target="/ppt/slides/slide2.xml" Id="R35052d9f86d549d4" /><Relationship Type="http://schemas.openxmlformats.org/officeDocument/2006/relationships/slide" Target="/ppt/slides/slide3.xml" Id="Rc7dd4ab7185340e0" /><Relationship Type="http://schemas.openxmlformats.org/officeDocument/2006/relationships/slide" Target="/ppt/slides/slide4.xml" Id="R1182d9fad864413c" /><Relationship Type="http://schemas.openxmlformats.org/officeDocument/2006/relationships/slide" Target="/ppt/slides/slide5.xml" Id="Ra858ddf92b0441b6" /><Relationship Type="http://schemas.openxmlformats.org/officeDocument/2006/relationships/slide" Target="/ppt/slides/slide6.xml" Id="Rcfac4a40d32b4684" /><Relationship Type="http://schemas.openxmlformats.org/officeDocument/2006/relationships/slide" Target="/ppt/slides/slide7.xml" Id="Rbbbedd943b8b4a6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5c88572b1e4a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e5496c505149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b8b7ad21684f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e5c003984345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e1672d27f423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53c21ec668c415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a926e866f43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409cd6fda41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40b81a2904e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81616f18f46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fd9532ddc48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2708b9b7a47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23bf031ec4018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A1F2E"/>
        </a:solidFill>
      </p:bgPr>
    </p:bg>
    <p:spTree>
      <p:nvGrpSpPr>
        <p:cNvPr id="1" name=""/>
        <p:cNvGrpSpPr/>
        <p:nvPr/>
      </p:nvGrpSpPr>
      <p:grpSpPr/>
      <p:sp>
        <p:nvSpPr>
          <p:cNvPr id="2" name="!!ring-accent"/>
          <p:cNvSpPr/>
          <p:nvPr/>
        </p:nvSpPr>
        <p:spPr>
          <a:xfrm>
            <a:off x="720000" y="720000"/>
            <a:ext cx="4320000" cy="4320000"/>
          </a:xfrm>
          <a:prstGeom prst="ellipse">
            <a:avLst/>
          </a:prstGeom>
          <a:solidFill>
            <a:srgbClr val="3B82F6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dot-main"/>
          <p:cNvSpPr/>
          <p:nvPr/>
        </p:nvSpPr>
        <p:spPr>
          <a:xfrm>
            <a:off x="10080000" y="1440000"/>
            <a:ext cx="540000" cy="540000"/>
          </a:xfrm>
          <a:prstGeom prst="ellipse">
            <a:avLst/>
          </a:prstGeom>
          <a:solidFill>
            <a:srgbClr val="60A5FA">
              <a:alpha val="8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line-top"/>
          <p:cNvSpPr/>
          <p:nvPr/>
        </p:nvSpPr>
        <p:spPr>
          <a:xfrm>
            <a:off x="9000000" y="720000"/>
            <a:ext cx="2160000" cy="108000"/>
          </a:xfrm>
          <a:prstGeom prst="rect">
            <a:avLst/>
          </a:prstGeom>
          <a:solidFill>
            <a:srgbClr val="60A5FA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#s1-title"/>
          <p:cNvSpPr/>
          <p:nvPr/>
        </p:nvSpPr>
        <p:spPr>
          <a:xfrm>
            <a:off x="2880000" y="2160000"/>
            <a:ext cx="936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7200" b="1">
                <a:solidFill>
                  <a:srgbClr val="FFFFFF"/>
                </a:solidFill>
                <a:latin typeface="Microsoft YaHei"/>
                <a:ea typeface="Microsoft YaHei"/>
              </a:rPr>
              <a:t>带节奏事件分析</a:t>
            </a:r>
          </a:p>
        </p:txBody>
      </p:sp>
      <p:sp>
        <p:nvSpPr>
          <p:cNvPr id="6" name="!!#s1-subtitle"/>
          <p:cNvSpPr/>
          <p:nvPr/>
        </p:nvSpPr>
        <p:spPr>
          <a:xfrm>
            <a:off x="2880000" y="3780000"/>
            <a:ext cx="936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>
                <a:solidFill>
                  <a:srgbClr val="94A3B8"/>
                </a:solidFill>
                <a:latin typeface="Microsoft YaHei"/>
                <a:ea typeface="Microsoft YaHei"/>
              </a:rPr>
              <a:t>刘乾坤开门红激励预警行为深度拆解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1A1F2E"/>
        </a:solidFill>
      </p:bgPr>
    </p:bg>
    <p:spTree>
      <p:nvGrpSpPr>
        <p:cNvPr id="1" name=""/>
        <p:cNvGrpSpPr/>
        <p:nvPr/>
      </p:nvGrpSpPr>
      <p:grpSpPr/>
      <p:sp>
        <p:nvSpPr>
          <p:cNvPr id="2" name="!!ring-accent"/>
          <p:cNvSpPr/>
          <p:nvPr/>
        </p:nvSpPr>
        <p:spPr>
          <a:xfrm>
            <a:off x="8640000" y="360000"/>
            <a:ext cx="4320000" cy="4320000"/>
          </a:xfrm>
          <a:prstGeom prst="ellipse">
            <a:avLst/>
          </a:prstGeom>
          <a:solidFill>
            <a:srgbClr val="3B82F6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dot-main"/>
          <p:cNvSpPr/>
          <p:nvPr/>
        </p:nvSpPr>
        <p:spPr>
          <a:xfrm>
            <a:off x="1440000" y="5400000"/>
            <a:ext cx="540000" cy="540000"/>
          </a:xfrm>
          <a:prstGeom prst="ellipse">
            <a:avLst/>
          </a:prstGeom>
          <a:solidFill>
            <a:srgbClr val="60A5FA">
              <a:alpha val="8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line-top"/>
          <p:cNvSpPr/>
          <p:nvPr/>
        </p:nvSpPr>
        <p:spPr>
          <a:xfrm>
            <a:off x="720000" y="2880000"/>
            <a:ext cx="2160000" cy="108000"/>
          </a:xfrm>
          <a:prstGeom prst="rect">
            <a:avLst/>
          </a:prstGeom>
          <a:solidFill>
            <a:srgbClr val="60A5FA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#s1-title"/>
          <p:cNvSpPr/>
          <p:nvPr/>
        </p:nvSpPr>
        <p:spPr>
          <a:xfrm>
            <a:off x="12960000" y="2160000"/>
            <a:ext cx="936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7200" b="1">
                <a:solidFill>
                  <a:srgbClr val="FFFFFF"/>
                </a:solidFill>
                <a:latin typeface="Microsoft YaHei"/>
                <a:ea typeface="Microsoft YaHei"/>
              </a:rPr>
              <a:t>带节奏事件分析</a:t>
            </a:r>
          </a:p>
        </p:txBody>
      </p:sp>
      <p:sp>
        <p:nvSpPr>
          <p:cNvPr id="6" name="!!#s1-subtitle"/>
          <p:cNvSpPr/>
          <p:nvPr/>
        </p:nvSpPr>
        <p:spPr>
          <a:xfrm>
            <a:off x="12960000" y="3780000"/>
            <a:ext cx="936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>
                <a:solidFill>
                  <a:srgbClr val="94A3B8"/>
                </a:solidFill>
                <a:latin typeface="Microsoft YaHei"/>
                <a:ea typeface="Microsoft YaHei"/>
              </a:rPr>
              <a:t>刘乾坤开门红激励预警行为深度拆解</a:t>
            </a:r>
          </a:p>
        </p:txBody>
      </p:sp>
      <p:sp>
        <p:nvSpPr>
          <p:cNvPr id="7" name="!!#s2-title"/>
          <p:cNvSpPr/>
          <p:nvPr/>
        </p:nvSpPr>
        <p:spPr>
          <a:xfrm>
            <a:off x="2160000" y="1080000"/>
            <a:ext cx="108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核心发现：这不是正常的预警方式</a:t>
            </a:r>
          </a:p>
        </p:txBody>
      </p:sp>
      <p:sp>
        <p:nvSpPr>
          <p:cNvPr id="8" name="!!#s2-judgment"/>
          <p:cNvSpPr/>
          <p:nvPr/>
        </p:nvSpPr>
        <p:spPr>
          <a:xfrm>
            <a:off x="2160000" y="2340000"/>
            <a:ext cx="1080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60A5FA"/>
                </a:solidFill>
                <a:latin typeface="Microsoft YaHei"/>
                <a:ea typeface="Microsoft YaHei"/>
              </a:rPr>
              <a:t>表演型预警 + 转移视线 + 保护关系网</a:t>
            </a:r>
          </a:p>
        </p:txBody>
      </p:sp>
      <p:sp>
        <p:nvSpPr>
          <p:cNvPr id="9" name="!!#s2-principles"/>
          <p:cNvSpPr/>
          <p:nvPr/>
        </p:nvSpPr>
        <p:spPr>
          <a:xfrm>
            <a:off x="2160000" y="3600000"/>
            <a:ext cx="10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94A3B8"/>
                </a:solidFill>
                <a:latin typeface="Microsoft YaHei"/>
                <a:ea typeface="Microsoft YaHei"/>
              </a:rPr>
              <a:t>不接靶子  回归根本原因  保护安全感  用数据说话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1A1F2E"/>
        </a:solidFill>
      </p:bgPr>
    </p:bg>
    <p:spTree>
      <p:nvGrpSpPr>
        <p:cNvPr id="1" name=""/>
        <p:cNvGrpSpPr/>
        <p:nvPr/>
      </p:nvGrpSpPr>
      <p:grpSpPr/>
      <p:sp>
        <p:nvSpPr>
          <p:cNvPr id="2" name="!!ring-accent"/>
          <p:cNvSpPr/>
          <p:nvPr/>
        </p:nvSpPr>
        <p:spPr>
          <a:xfrm>
            <a:off x="360000" y="5040000"/>
            <a:ext cx="4320000" cy="4320000"/>
          </a:xfrm>
          <a:prstGeom prst="ellipse">
            <a:avLst/>
          </a:prstGeom>
          <a:solidFill>
            <a:srgbClr val="3B82F6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dot-main"/>
          <p:cNvSpPr/>
          <p:nvPr/>
        </p:nvSpPr>
        <p:spPr>
          <a:xfrm>
            <a:off x="10800000" y="720000"/>
            <a:ext cx="540000" cy="540000"/>
          </a:xfrm>
          <a:prstGeom prst="ellipse">
            <a:avLst/>
          </a:prstGeom>
          <a:solidFill>
            <a:srgbClr val="60A5FA">
              <a:alpha val="8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line-top"/>
          <p:cNvSpPr/>
          <p:nvPr/>
        </p:nvSpPr>
        <p:spPr>
          <a:xfrm>
            <a:off x="10080000" y="5760000"/>
            <a:ext cx="2160000" cy="108000"/>
          </a:xfrm>
          <a:prstGeom prst="rect">
            <a:avLst/>
          </a:prstGeom>
          <a:solidFill>
            <a:srgbClr val="60A5FA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#s1-title"/>
          <p:cNvSpPr/>
          <p:nvPr/>
        </p:nvSpPr>
        <p:spPr>
          <a:xfrm>
            <a:off x="12960000" y="2160000"/>
            <a:ext cx="936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7200" b="1">
                <a:solidFill>
                  <a:srgbClr val="FFFFFF"/>
                </a:solidFill>
                <a:latin typeface="Microsoft YaHei"/>
                <a:ea typeface="Microsoft YaHei"/>
              </a:rPr>
              <a:t>带节奏事件分析</a:t>
            </a:r>
          </a:p>
        </p:txBody>
      </p:sp>
      <p:sp>
        <p:nvSpPr>
          <p:cNvPr id="6" name="!!#s1-subtitle"/>
          <p:cNvSpPr/>
          <p:nvPr/>
        </p:nvSpPr>
        <p:spPr>
          <a:xfrm>
            <a:off x="12960000" y="3780000"/>
            <a:ext cx="936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>
                <a:solidFill>
                  <a:srgbClr val="94A3B8"/>
                </a:solidFill>
                <a:latin typeface="Microsoft YaHei"/>
                <a:ea typeface="Microsoft YaHei"/>
              </a:rPr>
              <a:t>刘乾坤开门红激励预警行为深度拆解</a:t>
            </a:r>
          </a:p>
        </p:txBody>
      </p:sp>
      <p:sp>
        <p:nvSpPr>
          <p:cNvPr id="7" name="!!#s2-title"/>
          <p:cNvSpPr/>
          <p:nvPr/>
        </p:nvSpPr>
        <p:spPr>
          <a:xfrm>
            <a:off x="12960000" y="1080000"/>
            <a:ext cx="108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核心发现：这不是正常的预警方式</a:t>
            </a:r>
          </a:p>
        </p:txBody>
      </p:sp>
      <p:sp>
        <p:nvSpPr>
          <p:cNvPr id="8" name="!!#s2-judgment"/>
          <p:cNvSpPr/>
          <p:nvPr/>
        </p:nvSpPr>
        <p:spPr>
          <a:xfrm>
            <a:off x="2160000" y="2340000"/>
            <a:ext cx="1080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60A5FA"/>
                </a:solidFill>
                <a:latin typeface="Microsoft YaHei"/>
                <a:ea typeface="Microsoft YaHei"/>
              </a:rPr>
              <a:t>表演型预警 + 转移视线 + 保护关系网</a:t>
            </a:r>
          </a:p>
        </p:txBody>
      </p:sp>
      <p:sp>
        <p:nvSpPr>
          <p:cNvPr id="9" name="!!#s2-principles"/>
          <p:cNvSpPr/>
          <p:nvPr/>
        </p:nvSpPr>
        <p:spPr>
          <a:xfrm>
            <a:off x="2160000" y="3600000"/>
            <a:ext cx="10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94A3B8"/>
                </a:solidFill>
                <a:latin typeface="Microsoft YaHei"/>
                <a:ea typeface="Microsoft YaHei"/>
              </a:rPr>
              <a:t>不接靶子  回归根本原因  保护安全感  用数据说话</a:t>
            </a:r>
          </a:p>
        </p:txBody>
      </p:sp>
      <p:sp>
        <p:nvSpPr>
          <p:cNvPr id="10" name="!!#s3-title"/>
          <p:cNvSpPr/>
          <p:nvPr/>
        </p:nvSpPr>
        <p:spPr>
          <a:xfrm>
            <a:off x="2160000" y="540000"/>
            <a:ext cx="100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Microsoft YaHei"/>
                <a:ea typeface="Microsoft YaHei"/>
              </a:rPr>
              <a:t>行为模式拆解：四重组合拳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1A1F2E"/>
        </a:solidFill>
      </p:bgPr>
    </p:bg>
    <p:spTree>
      <p:nvGrpSpPr>
        <p:cNvPr id="1" name=""/>
        <p:cNvGrpSpPr/>
        <p:nvPr/>
      </p:nvGrpSpPr>
      <p:grpSpPr/>
      <p:sp>
        <p:nvSpPr>
          <p:cNvPr id="2" name="!!ring-accent"/>
          <p:cNvSpPr/>
          <p:nvPr/>
        </p:nvSpPr>
        <p:spPr>
          <a:xfrm>
            <a:off x="9360000" y="4320000"/>
            <a:ext cx="4320000" cy="4320000"/>
          </a:xfrm>
          <a:prstGeom prst="ellipse">
            <a:avLst/>
          </a:prstGeom>
          <a:solidFill>
            <a:srgbClr val="3B82F6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dot-main"/>
          <p:cNvSpPr/>
          <p:nvPr/>
        </p:nvSpPr>
        <p:spPr>
          <a:xfrm>
            <a:off x="1080000" y="1080000"/>
            <a:ext cx="540000" cy="540000"/>
          </a:xfrm>
          <a:prstGeom prst="ellipse">
            <a:avLst/>
          </a:prstGeom>
          <a:solidFill>
            <a:srgbClr val="60A5FA">
              <a:alpha val="8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line-top"/>
          <p:cNvSpPr/>
          <p:nvPr/>
        </p:nvSpPr>
        <p:spPr>
          <a:xfrm>
            <a:off x="360000" y="5760000"/>
            <a:ext cx="2160000" cy="108000"/>
          </a:xfrm>
          <a:prstGeom prst="rect">
            <a:avLst/>
          </a:prstGeom>
          <a:solidFill>
            <a:srgbClr val="60A5FA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#s1-title"/>
          <p:cNvSpPr/>
          <p:nvPr/>
        </p:nvSpPr>
        <p:spPr>
          <a:xfrm>
            <a:off x="12960000" y="2160000"/>
            <a:ext cx="936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7200" b="1">
                <a:solidFill>
                  <a:srgbClr val="FFFFFF"/>
                </a:solidFill>
                <a:latin typeface="Microsoft YaHei"/>
                <a:ea typeface="Microsoft YaHei"/>
              </a:rPr>
              <a:t>带节奏事件分析</a:t>
            </a:r>
          </a:p>
        </p:txBody>
      </p:sp>
      <p:sp>
        <p:nvSpPr>
          <p:cNvPr id="6" name="!!#s1-subtitle"/>
          <p:cNvSpPr/>
          <p:nvPr/>
        </p:nvSpPr>
        <p:spPr>
          <a:xfrm>
            <a:off x="12960000" y="3780000"/>
            <a:ext cx="936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>
                <a:solidFill>
                  <a:srgbClr val="94A3B8"/>
                </a:solidFill>
                <a:latin typeface="Microsoft YaHei"/>
                <a:ea typeface="Microsoft YaHei"/>
              </a:rPr>
              <a:t>刘乾坤开门红激励预警行为深度拆解</a:t>
            </a:r>
          </a:p>
        </p:txBody>
      </p:sp>
      <p:sp>
        <p:nvSpPr>
          <p:cNvPr id="7" name="!!#s2-title"/>
          <p:cNvSpPr/>
          <p:nvPr/>
        </p:nvSpPr>
        <p:spPr>
          <a:xfrm>
            <a:off x="12960000" y="1080000"/>
            <a:ext cx="108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核心发现：这不是正常的预警方式</a:t>
            </a:r>
          </a:p>
        </p:txBody>
      </p:sp>
      <p:sp>
        <p:nvSpPr>
          <p:cNvPr id="8" name="!!#s2-judgment"/>
          <p:cNvSpPr/>
          <p:nvPr/>
        </p:nvSpPr>
        <p:spPr>
          <a:xfrm>
            <a:off x="2160000" y="2340000"/>
            <a:ext cx="1080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60A5FA"/>
                </a:solidFill>
                <a:latin typeface="Microsoft YaHei"/>
                <a:ea typeface="Microsoft YaHei"/>
              </a:rPr>
              <a:t>表演型预警 + 转移视线 + 保护关系网</a:t>
            </a:r>
          </a:p>
        </p:txBody>
      </p:sp>
      <p:sp>
        <p:nvSpPr>
          <p:cNvPr id="9" name="!!#s2-principles"/>
          <p:cNvSpPr/>
          <p:nvPr/>
        </p:nvSpPr>
        <p:spPr>
          <a:xfrm>
            <a:off x="2160000" y="3600000"/>
            <a:ext cx="10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94A3B8"/>
                </a:solidFill>
                <a:latin typeface="Microsoft YaHei"/>
                <a:ea typeface="Microsoft YaHei"/>
              </a:rPr>
              <a:t>不接靶子  回归根本原因  保护安全感  用数据说话</a:t>
            </a:r>
          </a:p>
        </p:txBody>
      </p:sp>
      <p:sp>
        <p:nvSpPr>
          <p:cNvPr id="10" name="!!#s3-title"/>
          <p:cNvSpPr/>
          <p:nvPr/>
        </p:nvSpPr>
        <p:spPr>
          <a:xfrm>
            <a:off x="2160000" y="540000"/>
            <a:ext cx="100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Microsoft YaHei"/>
                <a:ea typeface="Microsoft YaHei"/>
              </a:rPr>
              <a:t>行为模式拆解：四重组合拳</a:t>
            </a:r>
          </a:p>
        </p:txBody>
      </p:sp>
      <p:sp>
        <p:nvSpPr>
          <p:cNvPr id="11" name="!!#s4-title"/>
          <p:cNvSpPr/>
          <p:nvPr/>
        </p:nvSpPr>
        <p:spPr>
          <a:xfrm>
            <a:off x="2160000" y="540000"/>
            <a:ext cx="100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Microsoft YaHei"/>
                <a:ea typeface="Microsoft YaHei"/>
              </a:rPr>
              <a:t>数据对比：真实 vs 夸张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1A1F2E"/>
        </a:solidFill>
      </p:bgPr>
    </p:bg>
    <p:spTree>
      <p:nvGrpSpPr>
        <p:cNvPr id="1" name=""/>
        <p:cNvGrpSpPr/>
        <p:nvPr/>
      </p:nvGrpSpPr>
      <p:grpSpPr/>
      <p:sp>
        <p:nvSpPr>
          <p:cNvPr id="2" name="!!ring-accent"/>
          <p:cNvSpPr/>
          <p:nvPr/>
        </p:nvSpPr>
        <p:spPr>
          <a:xfrm>
            <a:off x="1440000" y="360000"/>
            <a:ext cx="4320000" cy="4320000"/>
          </a:xfrm>
          <a:prstGeom prst="ellipse">
            <a:avLst/>
          </a:prstGeom>
          <a:solidFill>
            <a:srgbClr val="3B82F6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dot-main"/>
          <p:cNvSpPr/>
          <p:nvPr/>
        </p:nvSpPr>
        <p:spPr>
          <a:xfrm>
            <a:off x="10440000" y="5040000"/>
            <a:ext cx="540000" cy="540000"/>
          </a:xfrm>
          <a:prstGeom prst="ellipse">
            <a:avLst/>
          </a:prstGeom>
          <a:solidFill>
            <a:srgbClr val="60A5FA">
              <a:alpha val="8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line-top"/>
          <p:cNvSpPr/>
          <p:nvPr/>
        </p:nvSpPr>
        <p:spPr>
          <a:xfrm>
            <a:off x="9360000" y="1080000"/>
            <a:ext cx="2160000" cy="108000"/>
          </a:xfrm>
          <a:prstGeom prst="rect">
            <a:avLst/>
          </a:prstGeom>
          <a:solidFill>
            <a:srgbClr val="60A5FA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#s1-title"/>
          <p:cNvSpPr/>
          <p:nvPr/>
        </p:nvSpPr>
        <p:spPr>
          <a:xfrm>
            <a:off x="12960000" y="2160000"/>
            <a:ext cx="936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7200" b="1">
                <a:solidFill>
                  <a:srgbClr val="FFFFFF"/>
                </a:solidFill>
                <a:latin typeface="Microsoft YaHei"/>
                <a:ea typeface="Microsoft YaHei"/>
              </a:rPr>
              <a:t>带节奏事件分析</a:t>
            </a:r>
          </a:p>
        </p:txBody>
      </p:sp>
      <p:sp>
        <p:nvSpPr>
          <p:cNvPr id="6" name="!!#s1-subtitle"/>
          <p:cNvSpPr/>
          <p:nvPr/>
        </p:nvSpPr>
        <p:spPr>
          <a:xfrm>
            <a:off x="12960000" y="3780000"/>
            <a:ext cx="936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>
                <a:solidFill>
                  <a:srgbClr val="94A3B8"/>
                </a:solidFill>
                <a:latin typeface="Microsoft YaHei"/>
                <a:ea typeface="Microsoft YaHei"/>
              </a:rPr>
              <a:t>刘乾坤开门红激励预警行为深度拆解</a:t>
            </a:r>
          </a:p>
        </p:txBody>
      </p:sp>
      <p:sp>
        <p:nvSpPr>
          <p:cNvPr id="7" name="!!#s2-title"/>
          <p:cNvSpPr/>
          <p:nvPr/>
        </p:nvSpPr>
        <p:spPr>
          <a:xfrm>
            <a:off x="12960000" y="1080000"/>
            <a:ext cx="108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核心发现：这不是正常的预警方式</a:t>
            </a:r>
          </a:p>
        </p:txBody>
      </p:sp>
      <p:sp>
        <p:nvSpPr>
          <p:cNvPr id="8" name="!!#s2-judgment"/>
          <p:cNvSpPr/>
          <p:nvPr/>
        </p:nvSpPr>
        <p:spPr>
          <a:xfrm>
            <a:off x="2160000" y="2340000"/>
            <a:ext cx="1080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60A5FA"/>
                </a:solidFill>
                <a:latin typeface="Microsoft YaHei"/>
                <a:ea typeface="Microsoft YaHei"/>
              </a:rPr>
              <a:t>表演型预警 + 转移视线 + 保护关系网</a:t>
            </a:r>
          </a:p>
        </p:txBody>
      </p:sp>
      <p:sp>
        <p:nvSpPr>
          <p:cNvPr id="9" name="!!#s2-principles"/>
          <p:cNvSpPr/>
          <p:nvPr/>
        </p:nvSpPr>
        <p:spPr>
          <a:xfrm>
            <a:off x="2160000" y="3600000"/>
            <a:ext cx="10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94A3B8"/>
                </a:solidFill>
                <a:latin typeface="Microsoft YaHei"/>
                <a:ea typeface="Microsoft YaHei"/>
              </a:rPr>
              <a:t>不接靶子  回归根本原因  保护安全感  用数据说话</a:t>
            </a:r>
          </a:p>
        </p:txBody>
      </p:sp>
      <p:sp>
        <p:nvSpPr>
          <p:cNvPr id="10" name="!!#s3-title"/>
          <p:cNvSpPr/>
          <p:nvPr/>
        </p:nvSpPr>
        <p:spPr>
          <a:xfrm>
            <a:off x="2160000" y="540000"/>
            <a:ext cx="100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Microsoft YaHei"/>
                <a:ea typeface="Microsoft YaHei"/>
              </a:rPr>
              <a:t>行为模式拆解：四重组合拳</a:t>
            </a:r>
          </a:p>
        </p:txBody>
      </p:sp>
      <p:sp>
        <p:nvSpPr>
          <p:cNvPr id="11" name="!!#s4-title"/>
          <p:cNvSpPr/>
          <p:nvPr/>
        </p:nvSpPr>
        <p:spPr>
          <a:xfrm>
            <a:off x="2160000" y="540000"/>
            <a:ext cx="100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Microsoft YaHei"/>
                <a:ea typeface="Microsoft YaHei"/>
              </a:rPr>
              <a:t>数据对比：真实 vs 夸张</a:t>
            </a:r>
          </a:p>
        </p:txBody>
      </p:sp>
      <p:sp>
        <p:nvSpPr>
          <p:cNvPr id="12" name="!!#s5-title"/>
          <p:cNvSpPr/>
          <p:nvPr/>
        </p:nvSpPr>
        <p:spPr>
          <a:xfrm>
            <a:off x="2160000" y="540000"/>
            <a:ext cx="100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Microsoft YaHei"/>
                <a:ea typeface="Microsoft YaHei"/>
              </a:rPr>
              <a:t>影响评估：各方受影响程度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1A1F2E"/>
        </a:solidFill>
      </p:bgPr>
    </p:bg>
    <p:spTree>
      <p:nvGrpSpPr>
        <p:cNvPr id="1" name=""/>
        <p:cNvGrpSpPr/>
        <p:nvPr/>
      </p:nvGrpSpPr>
      <p:grpSpPr/>
      <p:sp>
        <p:nvSpPr>
          <p:cNvPr id="2" name="!!ring-accent"/>
          <p:cNvSpPr/>
          <p:nvPr/>
        </p:nvSpPr>
        <p:spPr>
          <a:xfrm>
            <a:off x="7200000" y="5040000"/>
            <a:ext cx="4320000" cy="4320000"/>
          </a:xfrm>
          <a:prstGeom prst="ellipse">
            <a:avLst/>
          </a:prstGeom>
          <a:solidFill>
            <a:srgbClr val="3B82F6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dot-main"/>
          <p:cNvSpPr/>
          <p:nvPr/>
        </p:nvSpPr>
        <p:spPr>
          <a:xfrm>
            <a:off x="720000" y="720000"/>
            <a:ext cx="540000" cy="540000"/>
          </a:xfrm>
          <a:prstGeom prst="ellipse">
            <a:avLst/>
          </a:prstGeom>
          <a:solidFill>
            <a:srgbClr val="60A5FA">
              <a:alpha val="8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line-top"/>
          <p:cNvSpPr/>
          <p:nvPr/>
        </p:nvSpPr>
        <p:spPr>
          <a:xfrm>
            <a:off x="10080000" y="2880000"/>
            <a:ext cx="2160000" cy="108000"/>
          </a:xfrm>
          <a:prstGeom prst="rect">
            <a:avLst/>
          </a:prstGeom>
          <a:solidFill>
            <a:srgbClr val="60A5FA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#s1-title"/>
          <p:cNvSpPr/>
          <p:nvPr/>
        </p:nvSpPr>
        <p:spPr>
          <a:xfrm>
            <a:off x="12960000" y="2160000"/>
            <a:ext cx="936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7200" b="1">
                <a:solidFill>
                  <a:srgbClr val="FFFFFF"/>
                </a:solidFill>
                <a:latin typeface="Microsoft YaHei"/>
                <a:ea typeface="Microsoft YaHei"/>
              </a:rPr>
              <a:t>带节奏事件分析</a:t>
            </a:r>
          </a:p>
        </p:txBody>
      </p:sp>
      <p:sp>
        <p:nvSpPr>
          <p:cNvPr id="6" name="!!#s1-subtitle"/>
          <p:cNvSpPr/>
          <p:nvPr/>
        </p:nvSpPr>
        <p:spPr>
          <a:xfrm>
            <a:off x="12960000" y="3780000"/>
            <a:ext cx="936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>
                <a:solidFill>
                  <a:srgbClr val="94A3B8"/>
                </a:solidFill>
                <a:latin typeface="Microsoft YaHei"/>
                <a:ea typeface="Microsoft YaHei"/>
              </a:rPr>
              <a:t>刘乾坤开门红激励预警行为深度拆解</a:t>
            </a:r>
          </a:p>
        </p:txBody>
      </p:sp>
      <p:sp>
        <p:nvSpPr>
          <p:cNvPr id="7" name="!!#s2-title"/>
          <p:cNvSpPr/>
          <p:nvPr/>
        </p:nvSpPr>
        <p:spPr>
          <a:xfrm>
            <a:off x="12960000" y="1080000"/>
            <a:ext cx="108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核心发现：这不是正常的预警方式</a:t>
            </a:r>
          </a:p>
        </p:txBody>
      </p:sp>
      <p:sp>
        <p:nvSpPr>
          <p:cNvPr id="8" name="!!#s2-judgment"/>
          <p:cNvSpPr/>
          <p:nvPr/>
        </p:nvSpPr>
        <p:spPr>
          <a:xfrm>
            <a:off x="2160000" y="2340000"/>
            <a:ext cx="1080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60A5FA"/>
                </a:solidFill>
                <a:latin typeface="Microsoft YaHei"/>
                <a:ea typeface="Microsoft YaHei"/>
              </a:rPr>
              <a:t>表演型预警 + 转移视线 + 保护关系网</a:t>
            </a:r>
          </a:p>
        </p:txBody>
      </p:sp>
      <p:sp>
        <p:nvSpPr>
          <p:cNvPr id="9" name="!!#s2-principles"/>
          <p:cNvSpPr/>
          <p:nvPr/>
        </p:nvSpPr>
        <p:spPr>
          <a:xfrm>
            <a:off x="2160000" y="3600000"/>
            <a:ext cx="10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94A3B8"/>
                </a:solidFill>
                <a:latin typeface="Microsoft YaHei"/>
                <a:ea typeface="Microsoft YaHei"/>
              </a:rPr>
              <a:t>不接靶子  回归根本原因  保护安全感  用数据说话</a:t>
            </a:r>
          </a:p>
        </p:txBody>
      </p:sp>
      <p:sp>
        <p:nvSpPr>
          <p:cNvPr id="10" name="!!#s3-title"/>
          <p:cNvSpPr/>
          <p:nvPr/>
        </p:nvSpPr>
        <p:spPr>
          <a:xfrm>
            <a:off x="2160000" y="540000"/>
            <a:ext cx="100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Microsoft YaHei"/>
                <a:ea typeface="Microsoft YaHei"/>
              </a:rPr>
              <a:t>行为模式拆解：四重组合拳</a:t>
            </a:r>
          </a:p>
        </p:txBody>
      </p:sp>
      <p:sp>
        <p:nvSpPr>
          <p:cNvPr id="11" name="!!#s4-title"/>
          <p:cNvSpPr/>
          <p:nvPr/>
        </p:nvSpPr>
        <p:spPr>
          <a:xfrm>
            <a:off x="2160000" y="540000"/>
            <a:ext cx="100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Microsoft YaHei"/>
                <a:ea typeface="Microsoft YaHei"/>
              </a:rPr>
              <a:t>数据对比：真实 vs 夸张</a:t>
            </a:r>
          </a:p>
        </p:txBody>
      </p:sp>
      <p:sp>
        <p:nvSpPr>
          <p:cNvPr id="12" name="!!#s5-title"/>
          <p:cNvSpPr/>
          <p:nvPr/>
        </p:nvSpPr>
        <p:spPr>
          <a:xfrm>
            <a:off x="2160000" y="540000"/>
            <a:ext cx="100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Microsoft YaHei"/>
                <a:ea typeface="Microsoft YaHei"/>
              </a:rPr>
              <a:t>影响评估：各方受影响程度</a:t>
            </a:r>
          </a:p>
        </p:txBody>
      </p:sp>
      <p:sp>
        <p:nvSpPr>
          <p:cNvPr id="13" name="!!#s6-title"/>
          <p:cNvSpPr/>
          <p:nvPr/>
        </p:nvSpPr>
        <p:spPr>
          <a:xfrm>
            <a:off x="2160000" y="540000"/>
            <a:ext cx="100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Microsoft YaHei"/>
                <a:ea typeface="Microsoft YaHei"/>
              </a:rPr>
              <a:t>应对策略：REACT 框架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1A1F2E"/>
        </a:solidFill>
      </p:bgPr>
    </p:bg>
    <p:spTree>
      <p:nvGrpSpPr>
        <p:cNvPr id="1" name=""/>
        <p:cNvGrpSpPr/>
        <p:nvPr/>
      </p:nvGrpSpPr>
      <p:grpSpPr/>
      <p:sp>
        <p:nvSpPr>
          <p:cNvPr id="2" name="!!ring-accent"/>
          <p:cNvSpPr/>
          <p:nvPr/>
        </p:nvSpPr>
        <p:spPr>
          <a:xfrm>
            <a:off x="5400000" y="2520000"/>
            <a:ext cx="4320000" cy="4320000"/>
          </a:xfrm>
          <a:prstGeom prst="ellipse">
            <a:avLst/>
          </a:prstGeom>
          <a:solidFill>
            <a:srgbClr val="3B82F6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dot-main"/>
          <p:cNvSpPr/>
          <p:nvPr/>
        </p:nvSpPr>
        <p:spPr>
          <a:xfrm>
            <a:off x="1080000" y="5400000"/>
            <a:ext cx="540000" cy="540000"/>
          </a:xfrm>
          <a:prstGeom prst="ellipse">
            <a:avLst/>
          </a:prstGeom>
          <a:solidFill>
            <a:srgbClr val="60A5FA">
              <a:alpha val="8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line-top"/>
          <p:cNvSpPr/>
          <p:nvPr/>
        </p:nvSpPr>
        <p:spPr>
          <a:xfrm>
            <a:off x="10080000" y="720000"/>
            <a:ext cx="2160000" cy="108000"/>
          </a:xfrm>
          <a:prstGeom prst="rect">
            <a:avLst/>
          </a:prstGeom>
          <a:solidFill>
            <a:srgbClr val="60A5FA">
              <a:alpha val="6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#s1-title"/>
          <p:cNvSpPr/>
          <p:nvPr/>
        </p:nvSpPr>
        <p:spPr>
          <a:xfrm>
            <a:off x="12960000" y="2160000"/>
            <a:ext cx="936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7200" b="1">
                <a:solidFill>
                  <a:srgbClr val="FFFFFF"/>
                </a:solidFill>
                <a:latin typeface="Microsoft YaHei"/>
                <a:ea typeface="Microsoft YaHei"/>
              </a:rPr>
              <a:t>带节奏事件分析</a:t>
            </a:r>
          </a:p>
        </p:txBody>
      </p:sp>
      <p:sp>
        <p:nvSpPr>
          <p:cNvPr id="6" name="!!#s1-subtitle"/>
          <p:cNvSpPr/>
          <p:nvPr/>
        </p:nvSpPr>
        <p:spPr>
          <a:xfrm>
            <a:off x="12960000" y="3780000"/>
            <a:ext cx="936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>
                <a:solidFill>
                  <a:srgbClr val="94A3B8"/>
                </a:solidFill>
                <a:latin typeface="Microsoft YaHei"/>
                <a:ea typeface="Microsoft YaHei"/>
              </a:rPr>
              <a:t>刘乾坤开门红激励预警行为深度拆解</a:t>
            </a:r>
          </a:p>
        </p:txBody>
      </p:sp>
      <p:sp>
        <p:nvSpPr>
          <p:cNvPr id="7" name="!!#s2-title"/>
          <p:cNvSpPr/>
          <p:nvPr/>
        </p:nvSpPr>
        <p:spPr>
          <a:xfrm>
            <a:off x="12960000" y="1080000"/>
            <a:ext cx="108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核心发现：这不是正常的预警方式</a:t>
            </a:r>
          </a:p>
        </p:txBody>
      </p:sp>
      <p:sp>
        <p:nvSpPr>
          <p:cNvPr id="8" name="!!#s2-judgment"/>
          <p:cNvSpPr/>
          <p:nvPr/>
        </p:nvSpPr>
        <p:spPr>
          <a:xfrm>
            <a:off x="2160000" y="2340000"/>
            <a:ext cx="1080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60A5FA"/>
                </a:solidFill>
                <a:latin typeface="Microsoft YaHei"/>
                <a:ea typeface="Microsoft YaHei"/>
              </a:rPr>
              <a:t>表演型预警 + 转移视线 + 保护关系网</a:t>
            </a:r>
          </a:p>
        </p:txBody>
      </p:sp>
      <p:sp>
        <p:nvSpPr>
          <p:cNvPr id="9" name="!!#s2-principles"/>
          <p:cNvSpPr/>
          <p:nvPr/>
        </p:nvSpPr>
        <p:spPr>
          <a:xfrm>
            <a:off x="2160000" y="3600000"/>
            <a:ext cx="10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>
                <a:solidFill>
                  <a:srgbClr val="94A3B8"/>
                </a:solidFill>
                <a:latin typeface="Microsoft YaHei"/>
                <a:ea typeface="Microsoft YaHei"/>
              </a:rPr>
              <a:t>不接靶子  回归根本原因  保护安全感  用数据说话</a:t>
            </a:r>
          </a:p>
        </p:txBody>
      </p:sp>
      <p:sp>
        <p:nvSpPr>
          <p:cNvPr id="10" name="!!#s3-title"/>
          <p:cNvSpPr/>
          <p:nvPr/>
        </p:nvSpPr>
        <p:spPr>
          <a:xfrm>
            <a:off x="2160000" y="540000"/>
            <a:ext cx="100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Microsoft YaHei"/>
                <a:ea typeface="Microsoft YaHei"/>
              </a:rPr>
              <a:t>行为模式拆解：四重组合拳</a:t>
            </a:r>
          </a:p>
        </p:txBody>
      </p:sp>
      <p:sp>
        <p:nvSpPr>
          <p:cNvPr id="11" name="!!#s4-title"/>
          <p:cNvSpPr/>
          <p:nvPr/>
        </p:nvSpPr>
        <p:spPr>
          <a:xfrm>
            <a:off x="2160000" y="540000"/>
            <a:ext cx="100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Microsoft YaHei"/>
                <a:ea typeface="Microsoft YaHei"/>
              </a:rPr>
              <a:t>数据对比：真实 vs 夸张</a:t>
            </a:r>
          </a:p>
        </p:txBody>
      </p:sp>
      <p:sp>
        <p:nvSpPr>
          <p:cNvPr id="12" name="!!#s5-title"/>
          <p:cNvSpPr/>
          <p:nvPr/>
        </p:nvSpPr>
        <p:spPr>
          <a:xfrm>
            <a:off x="2160000" y="540000"/>
            <a:ext cx="100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Microsoft YaHei"/>
                <a:ea typeface="Microsoft YaHei"/>
              </a:rPr>
              <a:t>影响评估：各方受影响程度</a:t>
            </a:r>
          </a:p>
        </p:txBody>
      </p:sp>
      <p:sp>
        <p:nvSpPr>
          <p:cNvPr id="13" name="!!#s6-title"/>
          <p:cNvSpPr/>
          <p:nvPr/>
        </p:nvSpPr>
        <p:spPr>
          <a:xfrm>
            <a:off x="2160000" y="540000"/>
            <a:ext cx="100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Microsoft YaHei"/>
                <a:ea typeface="Microsoft YaHei"/>
              </a:rPr>
              <a:t>应对策略：REACT 框架</a:t>
            </a:r>
          </a:p>
        </p:txBody>
      </p:sp>
      <p:sp>
        <p:nvSpPr>
          <p:cNvPr id="14" name="!!#s7-conclusion"/>
          <p:cNvSpPr/>
          <p:nvPr/>
        </p:nvSpPr>
        <p:spPr>
          <a:xfrm>
            <a:off x="2160000" y="900000"/>
            <a:ext cx="100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60A5FA"/>
                </a:solidFill>
                <a:latin typeface="Microsoft YaHei"/>
                <a:ea typeface="Microsoft YaHei"/>
              </a:rPr>
              <a:t>核心结论</a:t>
            </a:r>
          </a:p>
        </p:txBody>
      </p:sp>
      <p:sp>
        <p:nvSpPr>
          <p:cNvPr id="15" name="!!#s7-statement"/>
          <p:cNvSpPr/>
          <p:nvPr/>
        </p:nvSpPr>
        <p:spPr>
          <a:xfrm>
            <a:off x="2160000" y="1800000"/>
            <a:ext cx="100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FFFFFF"/>
                </a:solidFill>
                <a:latin typeface="Microsoft YaHei"/>
                <a:ea typeface="Microsoft YaHei"/>
              </a:rPr>
              <a:t>表演型预警 + 转移视线 + 保护关系网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
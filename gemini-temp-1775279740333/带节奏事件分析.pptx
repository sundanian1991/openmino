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c7ba7acce78437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ef7bf5706ec4946"/>
    <p:sldId id="257" r:id="R36e728125b6e4820"/>
    <p:sldId id="258" r:id="Rc95cbc27385248af"/>
    <p:sldId id="259" r:id="R0580ad9cd77148b6"/>
    <p:sldId id="260" r:id="R78b8e7db81b2487f"/>
    <p:sldId id="261" r:id="R557eac5255a648bc"/>
    <p:sldId id="262" r:id="R35a2adc5b43c4a2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ef7bf5706ec4946" /><Relationship Type="http://schemas.openxmlformats.org/officeDocument/2006/relationships/slide" Target="/ppt/slides/slide2.xml" Id="R36e728125b6e4820" /><Relationship Type="http://schemas.openxmlformats.org/officeDocument/2006/relationships/slide" Target="/ppt/slides/slide3.xml" Id="Rc95cbc27385248af" /><Relationship Type="http://schemas.openxmlformats.org/officeDocument/2006/relationships/slide" Target="/ppt/slides/slide4.xml" Id="R0580ad9cd77148b6" /><Relationship Type="http://schemas.openxmlformats.org/officeDocument/2006/relationships/slide" Target="/ppt/slides/slide5.xml" Id="R78b8e7db81b2487f" /><Relationship Type="http://schemas.openxmlformats.org/officeDocument/2006/relationships/slide" Target="/ppt/slides/slide6.xml" Id="R557eac5255a648bc" /><Relationship Type="http://schemas.openxmlformats.org/officeDocument/2006/relationships/slide" Target="/ppt/slides/slide7.xml" Id="R35a2adc5b43c4a2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f2a17b5db40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3f9f23f2f4e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90dce3fca43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a8ab9cebd47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79589f76b459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c881653737542a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8cd8311840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89ba9082f47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291b0022944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6e723426048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7bc103f534d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a9b534fb941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5fc5101fa4b7b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>
            <a:off x="1440000" y="3060000"/>
            <a:ext cx="1080000" cy="28800"/>
          </a:xfrm>
          <a:prstGeom prst="rect">
            <a:avLst/>
          </a:prstGeom>
          <a:solidFill>
            <a:srgbClr val="D4AF37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main-title"/>
          <p:cNvSpPr/>
          <p:nvPr/>
        </p:nvSpPr>
        <p:spPr>
          <a:xfrm>
            <a:off x="1440000" y="3240000"/>
            <a:ext cx="90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sub-title"/>
          <p:cNvSpPr/>
          <p:nvPr/>
        </p:nvSpPr>
        <p:spPr>
          <a:xfrm>
            <a:off x="1440000" y="45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888888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statement-label"/>
          <p:cNvSpPr/>
          <p:nvPr/>
        </p:nvSpPr>
        <p:spPr>
          <a:xfrm>
            <a:off x="12960000" y="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6" name="!!statement-main"/>
          <p:cNvSpPr/>
          <p:nvPr/>
        </p:nvSpPr>
        <p:spPr>
          <a:xfrm>
            <a:off x="12960000" y="3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7" name="!!statement-sub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表演型预警 + 转移视线 + 保护关系网</a:t>
            </a:r>
          </a:p>
        </p:txBody>
      </p:sp>
      <p:sp>
        <p:nvSpPr>
          <p:cNvPr id="8" name="!!pillar-title"/>
          <p:cNvSpPr/>
          <p:nvPr/>
        </p:nvSpPr>
        <p:spPr>
          <a:xfrm>
            <a:off x="12960000" y="10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9" name="!!p1-num"/>
          <p:cNvSpPr/>
          <p:nvPr/>
        </p:nvSpPr>
        <p:spPr>
          <a:xfrm>
            <a:off x="12960000" y="144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0" name="!!p1-title"/>
          <p:cNvSpPr/>
          <p:nvPr/>
        </p:nvSpPr>
        <p:spPr>
          <a:xfrm>
            <a:off x="12960000" y="180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1" name="!!p1-desc"/>
          <p:cNvSpPr/>
          <p:nvPr/>
        </p:nvSpPr>
        <p:spPr>
          <a:xfrm>
            <a:off x="12960000" y="216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只攻击服务组，不攻击策略组</a:t>
            </a:r>
          </a:p>
        </p:txBody>
      </p:sp>
      <p:sp>
        <p:nvSpPr>
          <p:cNvPr id="12" name="!!p2-num"/>
          <p:cNvSpPr/>
          <p:nvPr/>
        </p:nvSpPr>
        <p:spPr>
          <a:xfrm>
            <a:off x="12960000" y="252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3" name="!!p2-title"/>
          <p:cNvSpPr/>
          <p:nvPr/>
        </p:nvSpPr>
        <p:spPr>
          <a:xfrm>
            <a:off x="12960000" y="288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4" name="!!p2-desc"/>
          <p:cNvSpPr/>
          <p:nvPr/>
        </p:nvSpPr>
        <p:spPr>
          <a:xfrm>
            <a:off x="12960000" y="324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把交接期信息真空转移到激励问题</a:t>
            </a:r>
          </a:p>
        </p:txBody>
      </p:sp>
      <p:sp>
        <p:nvSpPr>
          <p:cNvPr id="15" name="!!p3-num"/>
          <p:cNvSpPr/>
          <p:nvPr/>
        </p:nvSpPr>
        <p:spPr>
          <a:xfrm>
            <a:off x="12960000" y="36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16" name="!!p3-title"/>
          <p:cNvSpPr/>
          <p:nvPr/>
        </p:nvSpPr>
        <p:spPr>
          <a:xfrm>
            <a:off x="12960000" y="39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17" name="!!p3-desc"/>
          <p:cNvSpPr/>
          <p:nvPr/>
        </p:nvSpPr>
        <p:spPr>
          <a:xfrm>
            <a:off x="12960000" y="432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1400工人、5000家庭制造道德压力</a:t>
            </a:r>
          </a:p>
        </p:txBody>
      </p:sp>
      <p:sp>
        <p:nvSpPr>
          <p:cNvPr id="18" name="!!p4-num"/>
          <p:cNvSpPr/>
          <p:nvPr/>
        </p:nvSpPr>
        <p:spPr>
          <a:xfrm>
            <a:off x="12960000" y="468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19" name="!!p4-title"/>
          <p:cNvSpPr/>
          <p:nvPr/>
        </p:nvSpPr>
        <p:spPr>
          <a:xfrm>
            <a:off x="12960000" y="504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0" name="!!p4-desc"/>
          <p:cNvSpPr/>
          <p:nvPr/>
        </p:nvSpPr>
        <p:spPr>
          <a:xfrm>
            <a:off x="12960000" y="54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不私下沟通，直接群聊表演</a:t>
            </a:r>
          </a:p>
        </p:txBody>
      </p:sp>
      <p:sp>
        <p:nvSpPr>
          <p:cNvPr id="21" name="!!ev-title"/>
          <p:cNvSpPr/>
          <p:nvPr/>
        </p:nvSpPr>
        <p:spPr>
          <a:xfrm>
            <a:off x="12960000" y="57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数据对比</a:t>
            </a:r>
          </a:p>
        </p:txBody>
      </p:sp>
      <p:sp>
        <p:nvSpPr>
          <p:cNvPr id="22" name="!!ev-subtitle"/>
          <p:cNvSpPr/>
          <p:nvPr/>
        </p:nvSpPr>
        <p:spPr>
          <a:xfrm>
            <a:off x="12960000" y="612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真实 vs 夸张</a:t>
            </a:r>
          </a:p>
        </p:txBody>
      </p:sp>
      <p:sp>
        <p:nvSpPr>
          <p:cNvPr id="23" name="!!ev-claim1"/>
          <p:cNvSpPr/>
          <p:nvPr/>
        </p:nvSpPr>
        <p:spPr>
          <a:xfrm>
            <a:off x="12960000" y="64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刘乾坤：大量流失、拿不到钱</a:t>
            </a:r>
          </a:p>
        </p:txBody>
      </p:sp>
      <p:sp>
        <p:nvSpPr>
          <p:cNvPr id="24" name="!!ev-fact1"/>
          <p:cNvSpPr/>
          <p:nvPr/>
        </p:nvSpPr>
        <p:spPr>
          <a:xfrm>
            <a:off x="12960000" y="68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实际：头部个别问题，60-70%可达</a:t>
            </a:r>
          </a:p>
        </p:txBody>
      </p:sp>
      <p:sp>
        <p:nvSpPr>
          <p:cNvPr id="25" name="!!impact-title"/>
          <p:cNvSpPr/>
          <p:nvPr/>
        </p:nvSpPr>
        <p:spPr>
          <a:xfrm>
            <a:off x="12960000" y="720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26" name="!!impact-item1"/>
          <p:cNvSpPr/>
          <p:nvPr/>
        </p:nvSpPr>
        <p:spPr>
          <a:xfrm>
            <a:off x="12960000" y="756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团队安全感 — 高影响</a:t>
            </a:r>
          </a:p>
        </p:txBody>
      </p:sp>
      <p:sp>
        <p:nvSpPr>
          <p:cNvPr id="27" name="!!impact-item2"/>
          <p:cNvSpPr/>
          <p:nvPr/>
        </p:nvSpPr>
        <p:spPr>
          <a:xfrm>
            <a:off x="12960000" y="79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李吉斌 — 高影响</a:t>
            </a:r>
          </a:p>
        </p:txBody>
      </p:sp>
      <p:sp>
        <p:nvSpPr>
          <p:cNvPr id="28" name="!!impact-item3"/>
          <p:cNvSpPr/>
          <p:nvPr/>
        </p:nvSpPr>
        <p:spPr>
          <a:xfrm>
            <a:off x="12960000" y="82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王易人 — 中等影响</a:t>
            </a:r>
          </a:p>
        </p:txBody>
      </p:sp>
      <p:sp>
        <p:nvSpPr>
          <p:cNvPr id="29" name="!!strategy-title"/>
          <p:cNvSpPr/>
          <p:nvPr/>
        </p:nvSpPr>
        <p:spPr>
          <a:xfrm>
            <a:off x="12960000" y="86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应对策略</a:t>
            </a:r>
          </a:p>
        </p:txBody>
      </p:sp>
      <p:sp>
        <p:nvSpPr>
          <p:cNvPr id="30" name="!!strategy-subtitle"/>
          <p:cNvSpPr/>
          <p:nvPr/>
        </p:nvSpPr>
        <p:spPr>
          <a:xfrm>
            <a:off x="12960000" y="90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D4AF37"/>
                </a:solidFill>
                <a:latin typeface="Helvetica"/>
                <a:ea typeface="Helvetica"/>
              </a:rPr>
              <a:t>REACT 框架</a:t>
            </a:r>
          </a:p>
        </p:txBody>
      </p:sp>
      <p:sp>
        <p:nvSpPr>
          <p:cNvPr id="31" name="!!strategy-r"/>
          <p:cNvSpPr/>
          <p:nvPr/>
        </p:nvSpPr>
        <p:spPr>
          <a:xfrm>
            <a:off x="12960000" y="93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32" name="!!strategy-e"/>
          <p:cNvSpPr/>
          <p:nvPr/>
        </p:nvSpPr>
        <p:spPr>
          <a:xfrm>
            <a:off x="12960000" y="97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33" name="!!strategy-a"/>
          <p:cNvSpPr/>
          <p:nvPr/>
        </p:nvSpPr>
        <p:spPr>
          <a:xfrm>
            <a:off x="12960000" y="10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34" name="!!strategy-c"/>
          <p:cNvSpPr/>
          <p:nvPr/>
        </p:nvSpPr>
        <p:spPr>
          <a:xfrm>
            <a:off x="12960000" y="10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35" name="!!strategy-t"/>
          <p:cNvSpPr/>
          <p:nvPr/>
        </p:nvSpPr>
        <p:spPr>
          <a:xfrm>
            <a:off x="12960000" y="10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36" name="!!cta-title"/>
          <p:cNvSpPr/>
          <p:nvPr/>
        </p:nvSpPr>
        <p:spPr>
          <a:xfrm>
            <a:off x="12960000" y="11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>
                <a:solidFill>
                  <a:srgbClr val="FFFFFF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37" name="!!cta-line1"/>
          <p:cNvSpPr/>
          <p:nvPr/>
        </p:nvSpPr>
        <p:spPr>
          <a:xfrm>
            <a:off x="12960000" y="115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38" name="!!cta-line2"/>
          <p:cNvSpPr/>
          <p:nvPr/>
        </p:nvSpPr>
        <p:spPr>
          <a:xfrm>
            <a:off x="12960000" y="118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拒绝道德绑架，保护安全感</a:t>
            </a:r>
          </a:p>
        </p:txBody>
      </p:sp>
      <p:sp>
        <p:nvSpPr>
          <p:cNvPr id="39" name="!!cta-date"/>
          <p:cNvSpPr/>
          <p:nvPr/>
        </p:nvSpPr>
        <p:spPr>
          <a:xfrm>
            <a:off x="12960000" y="122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55555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>
            <a:off x="1440000" y="2160000"/>
            <a:ext cx="540000" cy="28800"/>
          </a:xfrm>
          <a:prstGeom prst="rect">
            <a:avLst/>
          </a:prstGeom>
          <a:solidFill>
            <a:srgbClr val="D4AF37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main-title"/>
          <p:cNvSpPr/>
          <p:nvPr/>
        </p:nvSpPr>
        <p:spPr>
          <a:xfrm>
            <a:off x="12960000" y="3240000"/>
            <a:ext cx="90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sub-title"/>
          <p:cNvSpPr/>
          <p:nvPr/>
        </p:nvSpPr>
        <p:spPr>
          <a:xfrm>
            <a:off x="12960000" y="45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888888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statement-label"/>
          <p:cNvSpPr/>
          <p:nvPr/>
        </p:nvSpPr>
        <p:spPr>
          <a:xfrm>
            <a:off x="1440000" y="1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6" name="!!statement-main"/>
          <p:cNvSpPr/>
          <p:nvPr/>
        </p:nvSpPr>
        <p:spPr>
          <a:xfrm>
            <a:off x="1440000" y="2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7" name="!!statement-sub"/>
          <p:cNvSpPr/>
          <p:nvPr/>
        </p:nvSpPr>
        <p:spPr>
          <a:xfrm>
            <a:off x="1440000" y="32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表演型预警 + 转移视线 + 保护关系网</a:t>
            </a:r>
          </a:p>
        </p:txBody>
      </p:sp>
      <p:sp>
        <p:nvSpPr>
          <p:cNvPr id="8" name="!!pillar-title"/>
          <p:cNvSpPr/>
          <p:nvPr/>
        </p:nvSpPr>
        <p:spPr>
          <a:xfrm>
            <a:off x="12960000" y="10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9" name="!!p1-num"/>
          <p:cNvSpPr/>
          <p:nvPr/>
        </p:nvSpPr>
        <p:spPr>
          <a:xfrm>
            <a:off x="12960000" y="144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0" name="!!p1-title"/>
          <p:cNvSpPr/>
          <p:nvPr/>
        </p:nvSpPr>
        <p:spPr>
          <a:xfrm>
            <a:off x="12960000" y="180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1" name="!!p1-desc"/>
          <p:cNvSpPr/>
          <p:nvPr/>
        </p:nvSpPr>
        <p:spPr>
          <a:xfrm>
            <a:off x="12960000" y="216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只攻击服务组，不攻击策略组</a:t>
            </a:r>
          </a:p>
        </p:txBody>
      </p:sp>
      <p:sp>
        <p:nvSpPr>
          <p:cNvPr id="12" name="!!p2-num"/>
          <p:cNvSpPr/>
          <p:nvPr/>
        </p:nvSpPr>
        <p:spPr>
          <a:xfrm>
            <a:off x="12960000" y="252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3" name="!!p2-title"/>
          <p:cNvSpPr/>
          <p:nvPr/>
        </p:nvSpPr>
        <p:spPr>
          <a:xfrm>
            <a:off x="12960000" y="288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4" name="!!p2-desc"/>
          <p:cNvSpPr/>
          <p:nvPr/>
        </p:nvSpPr>
        <p:spPr>
          <a:xfrm>
            <a:off x="12960000" y="324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把交接期信息真空转移到激励问题</a:t>
            </a:r>
          </a:p>
        </p:txBody>
      </p:sp>
      <p:sp>
        <p:nvSpPr>
          <p:cNvPr id="15" name="!!p3-num"/>
          <p:cNvSpPr/>
          <p:nvPr/>
        </p:nvSpPr>
        <p:spPr>
          <a:xfrm>
            <a:off x="12960000" y="36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16" name="!!p3-title"/>
          <p:cNvSpPr/>
          <p:nvPr/>
        </p:nvSpPr>
        <p:spPr>
          <a:xfrm>
            <a:off x="12960000" y="39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17" name="!!p3-desc"/>
          <p:cNvSpPr/>
          <p:nvPr/>
        </p:nvSpPr>
        <p:spPr>
          <a:xfrm>
            <a:off x="12960000" y="432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1400工人、5000家庭制造道德压力</a:t>
            </a:r>
          </a:p>
        </p:txBody>
      </p:sp>
      <p:sp>
        <p:nvSpPr>
          <p:cNvPr id="18" name="!!p4-num"/>
          <p:cNvSpPr/>
          <p:nvPr/>
        </p:nvSpPr>
        <p:spPr>
          <a:xfrm>
            <a:off x="12960000" y="468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19" name="!!p4-title"/>
          <p:cNvSpPr/>
          <p:nvPr/>
        </p:nvSpPr>
        <p:spPr>
          <a:xfrm>
            <a:off x="12960000" y="504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0" name="!!p4-desc"/>
          <p:cNvSpPr/>
          <p:nvPr/>
        </p:nvSpPr>
        <p:spPr>
          <a:xfrm>
            <a:off x="12960000" y="54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不私下沟通，直接群聊表演</a:t>
            </a:r>
          </a:p>
        </p:txBody>
      </p:sp>
      <p:sp>
        <p:nvSpPr>
          <p:cNvPr id="21" name="!!ev-title"/>
          <p:cNvSpPr/>
          <p:nvPr/>
        </p:nvSpPr>
        <p:spPr>
          <a:xfrm>
            <a:off x="12960000" y="57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数据对比</a:t>
            </a:r>
          </a:p>
        </p:txBody>
      </p:sp>
      <p:sp>
        <p:nvSpPr>
          <p:cNvPr id="22" name="!!ev-subtitle"/>
          <p:cNvSpPr/>
          <p:nvPr/>
        </p:nvSpPr>
        <p:spPr>
          <a:xfrm>
            <a:off x="12960000" y="612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真实 vs 夸张</a:t>
            </a:r>
          </a:p>
        </p:txBody>
      </p:sp>
      <p:sp>
        <p:nvSpPr>
          <p:cNvPr id="23" name="!!ev-claim1"/>
          <p:cNvSpPr/>
          <p:nvPr/>
        </p:nvSpPr>
        <p:spPr>
          <a:xfrm>
            <a:off x="12960000" y="64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刘乾坤：大量流失、拿不到钱</a:t>
            </a:r>
          </a:p>
        </p:txBody>
      </p:sp>
      <p:sp>
        <p:nvSpPr>
          <p:cNvPr id="24" name="!!ev-fact1"/>
          <p:cNvSpPr/>
          <p:nvPr/>
        </p:nvSpPr>
        <p:spPr>
          <a:xfrm>
            <a:off x="12960000" y="68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实际：头部个别问题，60-70%可达</a:t>
            </a:r>
          </a:p>
        </p:txBody>
      </p:sp>
      <p:sp>
        <p:nvSpPr>
          <p:cNvPr id="25" name="!!impact-title"/>
          <p:cNvSpPr/>
          <p:nvPr/>
        </p:nvSpPr>
        <p:spPr>
          <a:xfrm>
            <a:off x="12960000" y="720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26" name="!!impact-item1"/>
          <p:cNvSpPr/>
          <p:nvPr/>
        </p:nvSpPr>
        <p:spPr>
          <a:xfrm>
            <a:off x="12960000" y="756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团队安全感 — 高影响</a:t>
            </a:r>
          </a:p>
        </p:txBody>
      </p:sp>
      <p:sp>
        <p:nvSpPr>
          <p:cNvPr id="27" name="!!impact-item2"/>
          <p:cNvSpPr/>
          <p:nvPr/>
        </p:nvSpPr>
        <p:spPr>
          <a:xfrm>
            <a:off x="12960000" y="79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李吉斌 — 高影响</a:t>
            </a:r>
          </a:p>
        </p:txBody>
      </p:sp>
      <p:sp>
        <p:nvSpPr>
          <p:cNvPr id="28" name="!!impact-item3"/>
          <p:cNvSpPr/>
          <p:nvPr/>
        </p:nvSpPr>
        <p:spPr>
          <a:xfrm>
            <a:off x="12960000" y="82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王易人 — 中等影响</a:t>
            </a:r>
          </a:p>
        </p:txBody>
      </p:sp>
      <p:sp>
        <p:nvSpPr>
          <p:cNvPr id="29" name="!!strategy-title"/>
          <p:cNvSpPr/>
          <p:nvPr/>
        </p:nvSpPr>
        <p:spPr>
          <a:xfrm>
            <a:off x="12960000" y="86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应对策略</a:t>
            </a:r>
          </a:p>
        </p:txBody>
      </p:sp>
      <p:sp>
        <p:nvSpPr>
          <p:cNvPr id="30" name="!!strategy-subtitle"/>
          <p:cNvSpPr/>
          <p:nvPr/>
        </p:nvSpPr>
        <p:spPr>
          <a:xfrm>
            <a:off x="12960000" y="90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D4AF37"/>
                </a:solidFill>
                <a:latin typeface="Helvetica"/>
                <a:ea typeface="Helvetica"/>
              </a:rPr>
              <a:t>REACT 框架</a:t>
            </a:r>
          </a:p>
        </p:txBody>
      </p:sp>
      <p:sp>
        <p:nvSpPr>
          <p:cNvPr id="31" name="!!strategy-r"/>
          <p:cNvSpPr/>
          <p:nvPr/>
        </p:nvSpPr>
        <p:spPr>
          <a:xfrm>
            <a:off x="12960000" y="93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32" name="!!strategy-e"/>
          <p:cNvSpPr/>
          <p:nvPr/>
        </p:nvSpPr>
        <p:spPr>
          <a:xfrm>
            <a:off x="12960000" y="97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33" name="!!strategy-a"/>
          <p:cNvSpPr/>
          <p:nvPr/>
        </p:nvSpPr>
        <p:spPr>
          <a:xfrm>
            <a:off x="12960000" y="10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34" name="!!strategy-c"/>
          <p:cNvSpPr/>
          <p:nvPr/>
        </p:nvSpPr>
        <p:spPr>
          <a:xfrm>
            <a:off x="12960000" y="10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35" name="!!strategy-t"/>
          <p:cNvSpPr/>
          <p:nvPr/>
        </p:nvSpPr>
        <p:spPr>
          <a:xfrm>
            <a:off x="12960000" y="10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36" name="!!cta-title"/>
          <p:cNvSpPr/>
          <p:nvPr/>
        </p:nvSpPr>
        <p:spPr>
          <a:xfrm>
            <a:off x="12960000" y="11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>
                <a:solidFill>
                  <a:srgbClr val="FFFFFF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37" name="!!cta-line1"/>
          <p:cNvSpPr/>
          <p:nvPr/>
        </p:nvSpPr>
        <p:spPr>
          <a:xfrm>
            <a:off x="12960000" y="115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38" name="!!cta-line2"/>
          <p:cNvSpPr/>
          <p:nvPr/>
        </p:nvSpPr>
        <p:spPr>
          <a:xfrm>
            <a:off x="12960000" y="118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拒绝道德绑架，保护安全感</a:t>
            </a:r>
          </a:p>
        </p:txBody>
      </p:sp>
      <p:sp>
        <p:nvSpPr>
          <p:cNvPr id="39" name="!!cta-date"/>
          <p:cNvSpPr/>
          <p:nvPr/>
        </p:nvSpPr>
        <p:spPr>
          <a:xfrm>
            <a:off x="12960000" y="122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55555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>
            <a:off x="1440000" y="1260000"/>
            <a:ext cx="1440000" cy="28800"/>
          </a:xfrm>
          <a:prstGeom prst="rect">
            <a:avLst/>
          </a:prstGeom>
          <a:solidFill>
            <a:srgbClr val="D4AF37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main-title"/>
          <p:cNvSpPr/>
          <p:nvPr/>
        </p:nvSpPr>
        <p:spPr>
          <a:xfrm>
            <a:off x="12960000" y="3240000"/>
            <a:ext cx="90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sub-title"/>
          <p:cNvSpPr/>
          <p:nvPr/>
        </p:nvSpPr>
        <p:spPr>
          <a:xfrm>
            <a:off x="12960000" y="45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888888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statement-label"/>
          <p:cNvSpPr/>
          <p:nvPr/>
        </p:nvSpPr>
        <p:spPr>
          <a:xfrm>
            <a:off x="12960000" y="1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6" name="!!statement-main"/>
          <p:cNvSpPr/>
          <p:nvPr/>
        </p:nvSpPr>
        <p:spPr>
          <a:xfrm>
            <a:off x="12960000" y="2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7" name="!!statement-sub"/>
          <p:cNvSpPr/>
          <p:nvPr/>
        </p:nvSpPr>
        <p:spPr>
          <a:xfrm>
            <a:off x="12960000" y="32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表演型预警 + 转移视线 + 保护关系网</a:t>
            </a:r>
          </a:p>
        </p:txBody>
      </p:sp>
      <p:sp>
        <p:nvSpPr>
          <p:cNvPr id="8" name="!!pillar-title"/>
          <p:cNvSpPr/>
          <p:nvPr/>
        </p:nvSpPr>
        <p:spPr>
          <a:xfrm>
            <a:off x="144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9" name="!!p1-num"/>
          <p:cNvSpPr/>
          <p:nvPr/>
        </p:nvSpPr>
        <p:spPr>
          <a:xfrm>
            <a:off x="144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0" name="!!p1-title"/>
          <p:cNvSpPr/>
          <p:nvPr/>
        </p:nvSpPr>
        <p:spPr>
          <a:xfrm>
            <a:off x="144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1" name="!!p1-desc"/>
          <p:cNvSpPr/>
          <p:nvPr/>
        </p:nvSpPr>
        <p:spPr>
          <a:xfrm>
            <a:off x="144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只攻击服务组，不攻击策略组</a:t>
            </a:r>
          </a:p>
        </p:txBody>
      </p:sp>
      <p:sp>
        <p:nvSpPr>
          <p:cNvPr id="12" name="!!p2-num"/>
          <p:cNvSpPr/>
          <p:nvPr/>
        </p:nvSpPr>
        <p:spPr>
          <a:xfrm>
            <a:off x="3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3" name="!!p2-title"/>
          <p:cNvSpPr/>
          <p:nvPr/>
        </p:nvSpPr>
        <p:spPr>
          <a:xfrm>
            <a:off x="3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4" name="!!p2-desc"/>
          <p:cNvSpPr/>
          <p:nvPr/>
        </p:nvSpPr>
        <p:spPr>
          <a:xfrm>
            <a:off x="3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把交接期信息真空转移到激励问题</a:t>
            </a:r>
          </a:p>
        </p:txBody>
      </p:sp>
      <p:sp>
        <p:nvSpPr>
          <p:cNvPr id="15" name="!!p3-num"/>
          <p:cNvSpPr/>
          <p:nvPr/>
        </p:nvSpPr>
        <p:spPr>
          <a:xfrm>
            <a:off x="648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16" name="!!p3-title"/>
          <p:cNvSpPr/>
          <p:nvPr/>
        </p:nvSpPr>
        <p:spPr>
          <a:xfrm>
            <a:off x="648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17" name="!!p3-desc"/>
          <p:cNvSpPr/>
          <p:nvPr/>
        </p:nvSpPr>
        <p:spPr>
          <a:xfrm>
            <a:off x="648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1400工人、5000家庭制造道德压力</a:t>
            </a:r>
          </a:p>
        </p:txBody>
      </p:sp>
      <p:sp>
        <p:nvSpPr>
          <p:cNvPr id="18" name="!!p4-num"/>
          <p:cNvSpPr/>
          <p:nvPr/>
        </p:nvSpPr>
        <p:spPr>
          <a:xfrm>
            <a:off x="900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19" name="!!p4-title"/>
          <p:cNvSpPr/>
          <p:nvPr/>
        </p:nvSpPr>
        <p:spPr>
          <a:xfrm>
            <a:off x="900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0" name="!!p4-desc"/>
          <p:cNvSpPr/>
          <p:nvPr/>
        </p:nvSpPr>
        <p:spPr>
          <a:xfrm>
            <a:off x="900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不私下沟通，直接群聊表演</a:t>
            </a:r>
          </a:p>
        </p:txBody>
      </p:sp>
      <p:sp>
        <p:nvSpPr>
          <p:cNvPr id="21" name="!!ev-title"/>
          <p:cNvSpPr/>
          <p:nvPr/>
        </p:nvSpPr>
        <p:spPr>
          <a:xfrm>
            <a:off x="12960000" y="57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数据对比</a:t>
            </a:r>
          </a:p>
        </p:txBody>
      </p:sp>
      <p:sp>
        <p:nvSpPr>
          <p:cNvPr id="22" name="!!ev-subtitle"/>
          <p:cNvSpPr/>
          <p:nvPr/>
        </p:nvSpPr>
        <p:spPr>
          <a:xfrm>
            <a:off x="12960000" y="612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真实 vs 夸张</a:t>
            </a:r>
          </a:p>
        </p:txBody>
      </p:sp>
      <p:sp>
        <p:nvSpPr>
          <p:cNvPr id="23" name="!!ev-claim1"/>
          <p:cNvSpPr/>
          <p:nvPr/>
        </p:nvSpPr>
        <p:spPr>
          <a:xfrm>
            <a:off x="12960000" y="64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刘乾坤：大量流失、拿不到钱</a:t>
            </a:r>
          </a:p>
        </p:txBody>
      </p:sp>
      <p:sp>
        <p:nvSpPr>
          <p:cNvPr id="24" name="!!ev-fact1"/>
          <p:cNvSpPr/>
          <p:nvPr/>
        </p:nvSpPr>
        <p:spPr>
          <a:xfrm>
            <a:off x="12960000" y="68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实际：头部个别问题，60-70%可达</a:t>
            </a:r>
          </a:p>
        </p:txBody>
      </p:sp>
      <p:sp>
        <p:nvSpPr>
          <p:cNvPr id="25" name="!!impact-title"/>
          <p:cNvSpPr/>
          <p:nvPr/>
        </p:nvSpPr>
        <p:spPr>
          <a:xfrm>
            <a:off x="12960000" y="720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26" name="!!impact-item1"/>
          <p:cNvSpPr/>
          <p:nvPr/>
        </p:nvSpPr>
        <p:spPr>
          <a:xfrm>
            <a:off x="12960000" y="756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团队安全感 — 高影响</a:t>
            </a:r>
          </a:p>
        </p:txBody>
      </p:sp>
      <p:sp>
        <p:nvSpPr>
          <p:cNvPr id="27" name="!!impact-item2"/>
          <p:cNvSpPr/>
          <p:nvPr/>
        </p:nvSpPr>
        <p:spPr>
          <a:xfrm>
            <a:off x="12960000" y="79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李吉斌 — 高影响</a:t>
            </a:r>
          </a:p>
        </p:txBody>
      </p:sp>
      <p:sp>
        <p:nvSpPr>
          <p:cNvPr id="28" name="!!impact-item3"/>
          <p:cNvSpPr/>
          <p:nvPr/>
        </p:nvSpPr>
        <p:spPr>
          <a:xfrm>
            <a:off x="12960000" y="82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王易人 — 中等影响</a:t>
            </a:r>
          </a:p>
        </p:txBody>
      </p:sp>
      <p:sp>
        <p:nvSpPr>
          <p:cNvPr id="29" name="!!strategy-title"/>
          <p:cNvSpPr/>
          <p:nvPr/>
        </p:nvSpPr>
        <p:spPr>
          <a:xfrm>
            <a:off x="12960000" y="86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应对策略</a:t>
            </a:r>
          </a:p>
        </p:txBody>
      </p:sp>
      <p:sp>
        <p:nvSpPr>
          <p:cNvPr id="30" name="!!strategy-subtitle"/>
          <p:cNvSpPr/>
          <p:nvPr/>
        </p:nvSpPr>
        <p:spPr>
          <a:xfrm>
            <a:off x="12960000" y="90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D4AF37"/>
                </a:solidFill>
                <a:latin typeface="Helvetica"/>
                <a:ea typeface="Helvetica"/>
              </a:rPr>
              <a:t>REACT 框架</a:t>
            </a:r>
          </a:p>
        </p:txBody>
      </p:sp>
      <p:sp>
        <p:nvSpPr>
          <p:cNvPr id="31" name="!!strategy-r"/>
          <p:cNvSpPr/>
          <p:nvPr/>
        </p:nvSpPr>
        <p:spPr>
          <a:xfrm>
            <a:off x="12960000" y="93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32" name="!!strategy-e"/>
          <p:cNvSpPr/>
          <p:nvPr/>
        </p:nvSpPr>
        <p:spPr>
          <a:xfrm>
            <a:off x="12960000" y="97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33" name="!!strategy-a"/>
          <p:cNvSpPr/>
          <p:nvPr/>
        </p:nvSpPr>
        <p:spPr>
          <a:xfrm>
            <a:off x="12960000" y="10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34" name="!!strategy-c"/>
          <p:cNvSpPr/>
          <p:nvPr/>
        </p:nvSpPr>
        <p:spPr>
          <a:xfrm>
            <a:off x="12960000" y="10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35" name="!!strategy-t"/>
          <p:cNvSpPr/>
          <p:nvPr/>
        </p:nvSpPr>
        <p:spPr>
          <a:xfrm>
            <a:off x="12960000" y="10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36" name="!!cta-title"/>
          <p:cNvSpPr/>
          <p:nvPr/>
        </p:nvSpPr>
        <p:spPr>
          <a:xfrm>
            <a:off x="12960000" y="11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>
                <a:solidFill>
                  <a:srgbClr val="FFFFFF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37" name="!!cta-line1"/>
          <p:cNvSpPr/>
          <p:nvPr/>
        </p:nvSpPr>
        <p:spPr>
          <a:xfrm>
            <a:off x="12960000" y="115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38" name="!!cta-line2"/>
          <p:cNvSpPr/>
          <p:nvPr/>
        </p:nvSpPr>
        <p:spPr>
          <a:xfrm>
            <a:off x="12960000" y="118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拒绝道德绑架，保护安全感</a:t>
            </a:r>
          </a:p>
        </p:txBody>
      </p:sp>
      <p:sp>
        <p:nvSpPr>
          <p:cNvPr id="39" name="!!cta-date"/>
          <p:cNvSpPr/>
          <p:nvPr/>
        </p:nvSpPr>
        <p:spPr>
          <a:xfrm>
            <a:off x="12960000" y="122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55555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>
            <a:off x="1440000" y="3600000"/>
            <a:ext cx="720000" cy="28800"/>
          </a:xfrm>
          <a:prstGeom prst="rect">
            <a:avLst/>
          </a:prstGeom>
          <a:solidFill>
            <a:srgbClr val="D4AF37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main-title"/>
          <p:cNvSpPr/>
          <p:nvPr/>
        </p:nvSpPr>
        <p:spPr>
          <a:xfrm>
            <a:off x="12960000" y="3240000"/>
            <a:ext cx="90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sub-title"/>
          <p:cNvSpPr/>
          <p:nvPr/>
        </p:nvSpPr>
        <p:spPr>
          <a:xfrm>
            <a:off x="12960000" y="45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888888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statement-label"/>
          <p:cNvSpPr/>
          <p:nvPr/>
        </p:nvSpPr>
        <p:spPr>
          <a:xfrm>
            <a:off x="12960000" y="1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6" name="!!statement-main"/>
          <p:cNvSpPr/>
          <p:nvPr/>
        </p:nvSpPr>
        <p:spPr>
          <a:xfrm>
            <a:off x="12960000" y="2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7" name="!!statement-sub"/>
          <p:cNvSpPr/>
          <p:nvPr/>
        </p:nvSpPr>
        <p:spPr>
          <a:xfrm>
            <a:off x="12960000" y="32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表演型预警 + 转移视线 + 保护关系网</a:t>
            </a:r>
          </a:p>
        </p:txBody>
      </p:sp>
      <p:sp>
        <p:nvSpPr>
          <p:cNvPr id="8" name="!!pillar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9" name="!!p1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0" name="!!p1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1" name="!!p1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只攻击服务组，不攻击策略组</a:t>
            </a:r>
          </a:p>
        </p:txBody>
      </p:sp>
      <p:sp>
        <p:nvSpPr>
          <p:cNvPr id="12" name="!!p2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3" name="!!p2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4" name="!!p2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把交接期信息真空转移到激励问题</a:t>
            </a:r>
          </a:p>
        </p:txBody>
      </p:sp>
      <p:sp>
        <p:nvSpPr>
          <p:cNvPr id="15" name="!!p3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16" name="!!p3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17" name="!!p3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1400工人、5000家庭制造道德压力</a:t>
            </a:r>
          </a:p>
        </p:txBody>
      </p:sp>
      <p:sp>
        <p:nvSpPr>
          <p:cNvPr id="18" name="!!p4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19" name="!!p4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0" name="!!p4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不私下沟通，直接群聊表演</a:t>
            </a:r>
          </a:p>
        </p:txBody>
      </p:sp>
      <p:sp>
        <p:nvSpPr>
          <p:cNvPr id="21" name="!!ev-title"/>
          <p:cNvSpPr/>
          <p:nvPr/>
        </p:nvSpPr>
        <p:spPr>
          <a:xfrm>
            <a:off x="144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数据对比</a:t>
            </a:r>
          </a:p>
        </p:txBody>
      </p:sp>
      <p:sp>
        <p:nvSpPr>
          <p:cNvPr id="22" name="!!ev-subtitle"/>
          <p:cNvSpPr/>
          <p:nvPr/>
        </p:nvSpPr>
        <p:spPr>
          <a:xfrm>
            <a:off x="1440000" y="126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真实 vs 夸张</a:t>
            </a:r>
          </a:p>
        </p:txBody>
      </p:sp>
      <p:sp>
        <p:nvSpPr>
          <p:cNvPr id="23" name="!!ev-claim1"/>
          <p:cNvSpPr/>
          <p:nvPr/>
        </p:nvSpPr>
        <p:spPr>
          <a:xfrm>
            <a:off x="1440000" y="19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刘乾坤：大量流失、拿不到钱</a:t>
            </a:r>
          </a:p>
        </p:txBody>
      </p:sp>
      <p:sp>
        <p:nvSpPr>
          <p:cNvPr id="24" name="!!ev-fact1"/>
          <p:cNvSpPr/>
          <p:nvPr/>
        </p:nvSpPr>
        <p:spPr>
          <a:xfrm>
            <a:off x="144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实际：头部个别问题，60-70%可达</a:t>
            </a:r>
          </a:p>
        </p:txBody>
      </p:sp>
      <p:sp>
        <p:nvSpPr>
          <p:cNvPr id="25" name="!!impact-title"/>
          <p:cNvSpPr/>
          <p:nvPr/>
        </p:nvSpPr>
        <p:spPr>
          <a:xfrm>
            <a:off x="12960000" y="720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26" name="!!impact-item1"/>
          <p:cNvSpPr/>
          <p:nvPr/>
        </p:nvSpPr>
        <p:spPr>
          <a:xfrm>
            <a:off x="12960000" y="756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团队安全感 — 高影响</a:t>
            </a:r>
          </a:p>
        </p:txBody>
      </p:sp>
      <p:sp>
        <p:nvSpPr>
          <p:cNvPr id="27" name="!!impact-item2"/>
          <p:cNvSpPr/>
          <p:nvPr/>
        </p:nvSpPr>
        <p:spPr>
          <a:xfrm>
            <a:off x="12960000" y="79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李吉斌 — 高影响</a:t>
            </a:r>
          </a:p>
        </p:txBody>
      </p:sp>
      <p:sp>
        <p:nvSpPr>
          <p:cNvPr id="28" name="!!impact-item3"/>
          <p:cNvSpPr/>
          <p:nvPr/>
        </p:nvSpPr>
        <p:spPr>
          <a:xfrm>
            <a:off x="12960000" y="828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王易人 — 中等影响</a:t>
            </a:r>
          </a:p>
        </p:txBody>
      </p:sp>
      <p:sp>
        <p:nvSpPr>
          <p:cNvPr id="29" name="!!strategy-title"/>
          <p:cNvSpPr/>
          <p:nvPr/>
        </p:nvSpPr>
        <p:spPr>
          <a:xfrm>
            <a:off x="12960000" y="86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应对策略</a:t>
            </a:r>
          </a:p>
        </p:txBody>
      </p:sp>
      <p:sp>
        <p:nvSpPr>
          <p:cNvPr id="30" name="!!strategy-subtitle"/>
          <p:cNvSpPr/>
          <p:nvPr/>
        </p:nvSpPr>
        <p:spPr>
          <a:xfrm>
            <a:off x="12960000" y="90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D4AF37"/>
                </a:solidFill>
                <a:latin typeface="Helvetica"/>
                <a:ea typeface="Helvetica"/>
              </a:rPr>
              <a:t>REACT 框架</a:t>
            </a:r>
          </a:p>
        </p:txBody>
      </p:sp>
      <p:sp>
        <p:nvSpPr>
          <p:cNvPr id="31" name="!!strategy-r"/>
          <p:cNvSpPr/>
          <p:nvPr/>
        </p:nvSpPr>
        <p:spPr>
          <a:xfrm>
            <a:off x="12960000" y="93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32" name="!!strategy-e"/>
          <p:cNvSpPr/>
          <p:nvPr/>
        </p:nvSpPr>
        <p:spPr>
          <a:xfrm>
            <a:off x="12960000" y="97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33" name="!!strategy-a"/>
          <p:cNvSpPr/>
          <p:nvPr/>
        </p:nvSpPr>
        <p:spPr>
          <a:xfrm>
            <a:off x="12960000" y="10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34" name="!!strategy-c"/>
          <p:cNvSpPr/>
          <p:nvPr/>
        </p:nvSpPr>
        <p:spPr>
          <a:xfrm>
            <a:off x="12960000" y="10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35" name="!!strategy-t"/>
          <p:cNvSpPr/>
          <p:nvPr/>
        </p:nvSpPr>
        <p:spPr>
          <a:xfrm>
            <a:off x="12960000" y="10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36" name="!!cta-title"/>
          <p:cNvSpPr/>
          <p:nvPr/>
        </p:nvSpPr>
        <p:spPr>
          <a:xfrm>
            <a:off x="12960000" y="11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>
                <a:solidFill>
                  <a:srgbClr val="FFFFFF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37" name="!!cta-line1"/>
          <p:cNvSpPr/>
          <p:nvPr/>
        </p:nvSpPr>
        <p:spPr>
          <a:xfrm>
            <a:off x="12960000" y="115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38" name="!!cta-line2"/>
          <p:cNvSpPr/>
          <p:nvPr/>
        </p:nvSpPr>
        <p:spPr>
          <a:xfrm>
            <a:off x="12960000" y="118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拒绝道德绑架，保护安全感</a:t>
            </a:r>
          </a:p>
        </p:txBody>
      </p:sp>
      <p:sp>
        <p:nvSpPr>
          <p:cNvPr id="39" name="!!cta-date"/>
          <p:cNvSpPr/>
          <p:nvPr/>
        </p:nvSpPr>
        <p:spPr>
          <a:xfrm>
            <a:off x="12960000" y="122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55555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>
            <a:off x="1440000" y="1800000"/>
            <a:ext cx="540000" cy="28800"/>
          </a:xfrm>
          <a:prstGeom prst="rect">
            <a:avLst/>
          </a:prstGeom>
          <a:solidFill>
            <a:srgbClr val="D4AF37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main-title"/>
          <p:cNvSpPr/>
          <p:nvPr/>
        </p:nvSpPr>
        <p:spPr>
          <a:xfrm>
            <a:off x="12960000" y="3240000"/>
            <a:ext cx="90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sub-title"/>
          <p:cNvSpPr/>
          <p:nvPr/>
        </p:nvSpPr>
        <p:spPr>
          <a:xfrm>
            <a:off x="12960000" y="45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888888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statement-label"/>
          <p:cNvSpPr/>
          <p:nvPr/>
        </p:nvSpPr>
        <p:spPr>
          <a:xfrm>
            <a:off x="12960000" y="1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6" name="!!statement-main"/>
          <p:cNvSpPr/>
          <p:nvPr/>
        </p:nvSpPr>
        <p:spPr>
          <a:xfrm>
            <a:off x="12960000" y="2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7" name="!!statement-sub"/>
          <p:cNvSpPr/>
          <p:nvPr/>
        </p:nvSpPr>
        <p:spPr>
          <a:xfrm>
            <a:off x="12960000" y="32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表演型预警 + 转移视线 + 保护关系网</a:t>
            </a:r>
          </a:p>
        </p:txBody>
      </p:sp>
      <p:sp>
        <p:nvSpPr>
          <p:cNvPr id="8" name="!!pillar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9" name="!!p1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0" name="!!p1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1" name="!!p1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只攻击服务组，不攻击策略组</a:t>
            </a:r>
          </a:p>
        </p:txBody>
      </p:sp>
      <p:sp>
        <p:nvSpPr>
          <p:cNvPr id="12" name="!!p2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3" name="!!p2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4" name="!!p2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把交接期信息真空转移到激励问题</a:t>
            </a:r>
          </a:p>
        </p:txBody>
      </p:sp>
      <p:sp>
        <p:nvSpPr>
          <p:cNvPr id="15" name="!!p3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16" name="!!p3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17" name="!!p3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1400工人、5000家庭制造道德压力</a:t>
            </a:r>
          </a:p>
        </p:txBody>
      </p:sp>
      <p:sp>
        <p:nvSpPr>
          <p:cNvPr id="18" name="!!p4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19" name="!!p4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0" name="!!p4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不私下沟通，直接群聊表演</a:t>
            </a:r>
          </a:p>
        </p:txBody>
      </p:sp>
      <p:sp>
        <p:nvSpPr>
          <p:cNvPr id="21" name="!!ev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数据对比</a:t>
            </a:r>
          </a:p>
        </p:txBody>
      </p:sp>
      <p:sp>
        <p:nvSpPr>
          <p:cNvPr id="22" name="!!ev-subtitle"/>
          <p:cNvSpPr/>
          <p:nvPr/>
        </p:nvSpPr>
        <p:spPr>
          <a:xfrm>
            <a:off x="12960000" y="126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真实 vs 夸张</a:t>
            </a:r>
          </a:p>
        </p:txBody>
      </p:sp>
      <p:sp>
        <p:nvSpPr>
          <p:cNvPr id="23" name="!!ev-claim1"/>
          <p:cNvSpPr/>
          <p:nvPr/>
        </p:nvSpPr>
        <p:spPr>
          <a:xfrm>
            <a:off x="12960000" y="19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刘乾坤：大量流失、拿不到钱</a:t>
            </a:r>
          </a:p>
        </p:txBody>
      </p:sp>
      <p:sp>
        <p:nvSpPr>
          <p:cNvPr id="24" name="!!ev-fact1"/>
          <p:cNvSpPr/>
          <p:nvPr/>
        </p:nvSpPr>
        <p:spPr>
          <a:xfrm>
            <a:off x="1296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实际：头部个别问题，60-70%可达</a:t>
            </a:r>
          </a:p>
        </p:txBody>
      </p:sp>
      <p:sp>
        <p:nvSpPr>
          <p:cNvPr id="25" name="!!impact-title"/>
          <p:cNvSpPr/>
          <p:nvPr/>
        </p:nvSpPr>
        <p:spPr>
          <a:xfrm>
            <a:off x="144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26" name="!!impact-item1"/>
          <p:cNvSpPr/>
          <p:nvPr/>
        </p:nvSpPr>
        <p:spPr>
          <a:xfrm>
            <a:off x="144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团队安全感 — 高影响</a:t>
            </a:r>
          </a:p>
        </p:txBody>
      </p:sp>
      <p:sp>
        <p:nvSpPr>
          <p:cNvPr id="27" name="!!impact-item2"/>
          <p:cNvSpPr/>
          <p:nvPr/>
        </p:nvSpPr>
        <p:spPr>
          <a:xfrm>
            <a:off x="144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李吉斌 — 高影响</a:t>
            </a:r>
          </a:p>
        </p:txBody>
      </p:sp>
      <p:sp>
        <p:nvSpPr>
          <p:cNvPr id="28" name="!!impact-item3"/>
          <p:cNvSpPr/>
          <p:nvPr/>
        </p:nvSpPr>
        <p:spPr>
          <a:xfrm>
            <a:off x="1440000" y="32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王易人 — 中等影响</a:t>
            </a:r>
          </a:p>
        </p:txBody>
      </p:sp>
      <p:sp>
        <p:nvSpPr>
          <p:cNvPr id="29" name="!!strategy-title"/>
          <p:cNvSpPr/>
          <p:nvPr/>
        </p:nvSpPr>
        <p:spPr>
          <a:xfrm>
            <a:off x="12960000" y="86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应对策略</a:t>
            </a:r>
          </a:p>
        </p:txBody>
      </p:sp>
      <p:sp>
        <p:nvSpPr>
          <p:cNvPr id="30" name="!!strategy-subtitle"/>
          <p:cNvSpPr/>
          <p:nvPr/>
        </p:nvSpPr>
        <p:spPr>
          <a:xfrm>
            <a:off x="12960000" y="90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D4AF37"/>
                </a:solidFill>
                <a:latin typeface="Helvetica"/>
                <a:ea typeface="Helvetica"/>
              </a:rPr>
              <a:t>REACT 框架</a:t>
            </a:r>
          </a:p>
        </p:txBody>
      </p:sp>
      <p:sp>
        <p:nvSpPr>
          <p:cNvPr id="31" name="!!strategy-r"/>
          <p:cNvSpPr/>
          <p:nvPr/>
        </p:nvSpPr>
        <p:spPr>
          <a:xfrm>
            <a:off x="12960000" y="93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32" name="!!strategy-e"/>
          <p:cNvSpPr/>
          <p:nvPr/>
        </p:nvSpPr>
        <p:spPr>
          <a:xfrm>
            <a:off x="12960000" y="97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33" name="!!strategy-a"/>
          <p:cNvSpPr/>
          <p:nvPr/>
        </p:nvSpPr>
        <p:spPr>
          <a:xfrm>
            <a:off x="12960000" y="100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34" name="!!strategy-c"/>
          <p:cNvSpPr/>
          <p:nvPr/>
        </p:nvSpPr>
        <p:spPr>
          <a:xfrm>
            <a:off x="12960000" y="10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35" name="!!strategy-t"/>
          <p:cNvSpPr/>
          <p:nvPr/>
        </p:nvSpPr>
        <p:spPr>
          <a:xfrm>
            <a:off x="12960000" y="10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36" name="!!cta-title"/>
          <p:cNvSpPr/>
          <p:nvPr/>
        </p:nvSpPr>
        <p:spPr>
          <a:xfrm>
            <a:off x="12960000" y="11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>
                <a:solidFill>
                  <a:srgbClr val="FFFFFF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37" name="!!cta-line1"/>
          <p:cNvSpPr/>
          <p:nvPr/>
        </p:nvSpPr>
        <p:spPr>
          <a:xfrm>
            <a:off x="12960000" y="115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38" name="!!cta-line2"/>
          <p:cNvSpPr/>
          <p:nvPr/>
        </p:nvSpPr>
        <p:spPr>
          <a:xfrm>
            <a:off x="12960000" y="118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拒绝道德绑架，保护安全感</a:t>
            </a:r>
          </a:p>
        </p:txBody>
      </p:sp>
      <p:sp>
        <p:nvSpPr>
          <p:cNvPr id="39" name="!!cta-date"/>
          <p:cNvSpPr/>
          <p:nvPr/>
        </p:nvSpPr>
        <p:spPr>
          <a:xfrm>
            <a:off x="12960000" y="122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55555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>
            <a:off x="1440000" y="4320000"/>
            <a:ext cx="900000" cy="28800"/>
          </a:xfrm>
          <a:prstGeom prst="rect">
            <a:avLst/>
          </a:prstGeom>
          <a:solidFill>
            <a:srgbClr val="D4AF37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main-title"/>
          <p:cNvSpPr/>
          <p:nvPr/>
        </p:nvSpPr>
        <p:spPr>
          <a:xfrm>
            <a:off x="12960000" y="3240000"/>
            <a:ext cx="90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sub-title"/>
          <p:cNvSpPr/>
          <p:nvPr/>
        </p:nvSpPr>
        <p:spPr>
          <a:xfrm>
            <a:off x="12960000" y="45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888888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statement-label"/>
          <p:cNvSpPr/>
          <p:nvPr/>
        </p:nvSpPr>
        <p:spPr>
          <a:xfrm>
            <a:off x="12960000" y="1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6" name="!!statement-main"/>
          <p:cNvSpPr/>
          <p:nvPr/>
        </p:nvSpPr>
        <p:spPr>
          <a:xfrm>
            <a:off x="12960000" y="2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7" name="!!statement-sub"/>
          <p:cNvSpPr/>
          <p:nvPr/>
        </p:nvSpPr>
        <p:spPr>
          <a:xfrm>
            <a:off x="12960000" y="32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表演型预警 + 转移视线 + 保护关系网</a:t>
            </a:r>
          </a:p>
        </p:txBody>
      </p:sp>
      <p:sp>
        <p:nvSpPr>
          <p:cNvPr id="8" name="!!pillar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9" name="!!p1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0" name="!!p1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1" name="!!p1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只攻击服务组，不攻击策略组</a:t>
            </a:r>
          </a:p>
        </p:txBody>
      </p:sp>
      <p:sp>
        <p:nvSpPr>
          <p:cNvPr id="12" name="!!p2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3" name="!!p2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4" name="!!p2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把交接期信息真空转移到激励问题</a:t>
            </a:r>
          </a:p>
        </p:txBody>
      </p:sp>
      <p:sp>
        <p:nvSpPr>
          <p:cNvPr id="15" name="!!p3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16" name="!!p3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17" name="!!p3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1400工人、5000家庭制造道德压力</a:t>
            </a:r>
          </a:p>
        </p:txBody>
      </p:sp>
      <p:sp>
        <p:nvSpPr>
          <p:cNvPr id="18" name="!!p4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19" name="!!p4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0" name="!!p4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不私下沟通，直接群聊表演</a:t>
            </a:r>
          </a:p>
        </p:txBody>
      </p:sp>
      <p:sp>
        <p:nvSpPr>
          <p:cNvPr id="21" name="!!ev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数据对比</a:t>
            </a:r>
          </a:p>
        </p:txBody>
      </p:sp>
      <p:sp>
        <p:nvSpPr>
          <p:cNvPr id="22" name="!!ev-subtitle"/>
          <p:cNvSpPr/>
          <p:nvPr/>
        </p:nvSpPr>
        <p:spPr>
          <a:xfrm>
            <a:off x="12960000" y="126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真实 vs 夸张</a:t>
            </a:r>
          </a:p>
        </p:txBody>
      </p:sp>
      <p:sp>
        <p:nvSpPr>
          <p:cNvPr id="23" name="!!ev-claim1"/>
          <p:cNvSpPr/>
          <p:nvPr/>
        </p:nvSpPr>
        <p:spPr>
          <a:xfrm>
            <a:off x="12960000" y="19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刘乾坤：大量流失、拿不到钱</a:t>
            </a:r>
          </a:p>
        </p:txBody>
      </p:sp>
      <p:sp>
        <p:nvSpPr>
          <p:cNvPr id="24" name="!!ev-fact1"/>
          <p:cNvSpPr/>
          <p:nvPr/>
        </p:nvSpPr>
        <p:spPr>
          <a:xfrm>
            <a:off x="1296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实际：头部个别问题，60-70%可达</a:t>
            </a:r>
          </a:p>
        </p:txBody>
      </p:sp>
      <p:sp>
        <p:nvSpPr>
          <p:cNvPr id="25" name="!!impact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26" name="!!impact-item1"/>
          <p:cNvSpPr/>
          <p:nvPr/>
        </p:nvSpPr>
        <p:spPr>
          <a:xfrm>
            <a:off x="1296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团队安全感 — 高影响</a:t>
            </a:r>
          </a:p>
        </p:txBody>
      </p:sp>
      <p:sp>
        <p:nvSpPr>
          <p:cNvPr id="27" name="!!impact-item2"/>
          <p:cNvSpPr/>
          <p:nvPr/>
        </p:nvSpPr>
        <p:spPr>
          <a:xfrm>
            <a:off x="1296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李吉斌 — 高影响</a:t>
            </a:r>
          </a:p>
        </p:txBody>
      </p:sp>
      <p:sp>
        <p:nvSpPr>
          <p:cNvPr id="28" name="!!impact-item3"/>
          <p:cNvSpPr/>
          <p:nvPr/>
        </p:nvSpPr>
        <p:spPr>
          <a:xfrm>
            <a:off x="12960000" y="32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王易人 — 中等影响</a:t>
            </a:r>
          </a:p>
        </p:txBody>
      </p:sp>
      <p:sp>
        <p:nvSpPr>
          <p:cNvPr id="29" name="!!strategy-title"/>
          <p:cNvSpPr/>
          <p:nvPr/>
        </p:nvSpPr>
        <p:spPr>
          <a:xfrm>
            <a:off x="144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应对策略</a:t>
            </a:r>
          </a:p>
        </p:txBody>
      </p:sp>
      <p:sp>
        <p:nvSpPr>
          <p:cNvPr id="30" name="!!strategy-subtitle"/>
          <p:cNvSpPr/>
          <p:nvPr/>
        </p:nvSpPr>
        <p:spPr>
          <a:xfrm>
            <a:off x="1440000" y="126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D4AF37"/>
                </a:solidFill>
                <a:latin typeface="Helvetica"/>
                <a:ea typeface="Helvetica"/>
              </a:rPr>
              <a:t>REACT 框架</a:t>
            </a:r>
          </a:p>
        </p:txBody>
      </p:sp>
      <p:sp>
        <p:nvSpPr>
          <p:cNvPr id="31" name="!!strategy-r"/>
          <p:cNvSpPr/>
          <p:nvPr/>
        </p:nvSpPr>
        <p:spPr>
          <a:xfrm>
            <a:off x="1440000" y="19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32" name="!!strategy-e"/>
          <p:cNvSpPr/>
          <p:nvPr/>
        </p:nvSpPr>
        <p:spPr>
          <a:xfrm>
            <a:off x="144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33" name="!!strategy-a"/>
          <p:cNvSpPr/>
          <p:nvPr/>
        </p:nvSpPr>
        <p:spPr>
          <a:xfrm>
            <a:off x="1440000" y="30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34" name="!!strategy-c"/>
          <p:cNvSpPr/>
          <p:nvPr/>
        </p:nvSpPr>
        <p:spPr>
          <a:xfrm>
            <a:off x="1440000" y="360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35" name="!!strategy-t"/>
          <p:cNvSpPr/>
          <p:nvPr/>
        </p:nvSpPr>
        <p:spPr>
          <a:xfrm>
            <a:off x="1440000" y="41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36" name="!!cta-title"/>
          <p:cNvSpPr/>
          <p:nvPr/>
        </p:nvSpPr>
        <p:spPr>
          <a:xfrm>
            <a:off x="12960000" y="11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>
                <a:solidFill>
                  <a:srgbClr val="FFFFFF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37" name="!!cta-line1"/>
          <p:cNvSpPr/>
          <p:nvPr/>
        </p:nvSpPr>
        <p:spPr>
          <a:xfrm>
            <a:off x="12960000" y="115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38" name="!!cta-line2"/>
          <p:cNvSpPr/>
          <p:nvPr/>
        </p:nvSpPr>
        <p:spPr>
          <a:xfrm>
            <a:off x="12960000" y="1188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拒绝道德绑架，保护安全感</a:t>
            </a:r>
          </a:p>
        </p:txBody>
      </p:sp>
      <p:sp>
        <p:nvSpPr>
          <p:cNvPr id="39" name="!!cta-date"/>
          <p:cNvSpPr/>
          <p:nvPr/>
        </p:nvSpPr>
        <p:spPr>
          <a:xfrm>
            <a:off x="12960000" y="122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55555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>
            <a:off x="1440000" y="2880000"/>
            <a:ext cx="720000" cy="28800"/>
          </a:xfrm>
          <a:prstGeom prst="rect">
            <a:avLst/>
          </a:prstGeom>
          <a:solidFill>
            <a:srgbClr val="D4AF37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main-title"/>
          <p:cNvSpPr/>
          <p:nvPr/>
        </p:nvSpPr>
        <p:spPr>
          <a:xfrm>
            <a:off x="12960000" y="3240000"/>
            <a:ext cx="90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Helvetica"/>
                <a:ea typeface="Helvetica"/>
              </a:rPr>
              <a:t>带节奏事件分析</a:t>
            </a:r>
          </a:p>
        </p:txBody>
      </p:sp>
      <p:sp>
        <p:nvSpPr>
          <p:cNvPr id="4" name="!!sub-title"/>
          <p:cNvSpPr/>
          <p:nvPr/>
        </p:nvSpPr>
        <p:spPr>
          <a:xfrm>
            <a:off x="12960000" y="450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888888"/>
                </a:solidFill>
                <a:latin typeface="Helvetica"/>
                <a:ea typeface="Helvetica"/>
              </a:rPr>
              <a:t>刘乾坤开门红激励预警行为拆解</a:t>
            </a:r>
          </a:p>
        </p:txBody>
      </p:sp>
      <p:sp>
        <p:nvSpPr>
          <p:cNvPr id="5" name="!!statement-label"/>
          <p:cNvSpPr/>
          <p:nvPr/>
        </p:nvSpPr>
        <p:spPr>
          <a:xfrm>
            <a:off x="12960000" y="14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核心发现</a:t>
            </a:r>
          </a:p>
        </p:txBody>
      </p:sp>
      <p:sp>
        <p:nvSpPr>
          <p:cNvPr id="6" name="!!statement-main"/>
          <p:cNvSpPr/>
          <p:nvPr/>
        </p:nvSpPr>
        <p:spPr>
          <a:xfrm>
            <a:off x="12960000" y="2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Helvetica"/>
                <a:ea typeface="Helvetica"/>
              </a:rPr>
              <a:t>这不是正常的工作方式</a:t>
            </a:r>
          </a:p>
        </p:txBody>
      </p:sp>
      <p:sp>
        <p:nvSpPr>
          <p:cNvPr id="7" name="!!statement-sub"/>
          <p:cNvSpPr/>
          <p:nvPr/>
        </p:nvSpPr>
        <p:spPr>
          <a:xfrm>
            <a:off x="12960000" y="32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表演型预警 + 转移视线 + 保护关系网</a:t>
            </a:r>
          </a:p>
        </p:txBody>
      </p:sp>
      <p:sp>
        <p:nvSpPr>
          <p:cNvPr id="8" name="!!pillar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行为模式拆解</a:t>
            </a:r>
          </a:p>
        </p:txBody>
      </p:sp>
      <p:sp>
        <p:nvSpPr>
          <p:cNvPr id="9" name="!!p1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01</a:t>
            </a:r>
          </a:p>
        </p:txBody>
      </p:sp>
      <p:sp>
        <p:nvSpPr>
          <p:cNvPr id="10" name="!!p1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选择性攻击</a:t>
            </a:r>
          </a:p>
        </p:txBody>
      </p:sp>
      <p:sp>
        <p:nvSpPr>
          <p:cNvPr id="11" name="!!p1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只攻击服务组，不攻击策略组</a:t>
            </a:r>
          </a:p>
        </p:txBody>
      </p:sp>
      <p:sp>
        <p:nvSpPr>
          <p:cNvPr id="12" name="!!p2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02</a:t>
            </a:r>
          </a:p>
        </p:txBody>
      </p:sp>
      <p:sp>
        <p:nvSpPr>
          <p:cNvPr id="13" name="!!p2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转移视线</a:t>
            </a:r>
          </a:p>
        </p:txBody>
      </p:sp>
      <p:sp>
        <p:nvSpPr>
          <p:cNvPr id="14" name="!!p2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把交接期信息真空转移到激励问题</a:t>
            </a:r>
          </a:p>
        </p:txBody>
      </p:sp>
      <p:sp>
        <p:nvSpPr>
          <p:cNvPr id="15" name="!!p3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03</a:t>
            </a:r>
          </a:p>
        </p:txBody>
      </p:sp>
      <p:sp>
        <p:nvSpPr>
          <p:cNvPr id="16" name="!!p3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道德绑架</a:t>
            </a:r>
          </a:p>
        </p:txBody>
      </p:sp>
      <p:sp>
        <p:nvSpPr>
          <p:cNvPr id="17" name="!!p3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1400工人、5000家庭制造道德压力</a:t>
            </a:r>
          </a:p>
        </p:txBody>
      </p:sp>
      <p:sp>
        <p:nvSpPr>
          <p:cNvPr id="18" name="!!p4-num"/>
          <p:cNvSpPr/>
          <p:nvPr/>
        </p:nvSpPr>
        <p:spPr>
          <a:xfrm>
            <a:off x="12960000" y="1800000"/>
            <a:ext cx="1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D4AF37"/>
                </a:solidFill>
                <a:latin typeface="Helvetica"/>
                <a:ea typeface="Helvetica"/>
              </a:rPr>
              <a:t>04</a:t>
            </a:r>
          </a:p>
        </p:txBody>
      </p:sp>
      <p:sp>
        <p:nvSpPr>
          <p:cNvPr id="19" name="!!p4-title"/>
          <p:cNvSpPr/>
          <p:nvPr/>
        </p:nvSpPr>
        <p:spPr>
          <a:xfrm>
            <a:off x="12960000" y="2160000"/>
            <a:ext cx="28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Helvetica"/>
                <a:ea typeface="Helvetica"/>
              </a:rPr>
              <a:t>群里放炮</a:t>
            </a:r>
          </a:p>
        </p:txBody>
      </p:sp>
      <p:sp>
        <p:nvSpPr>
          <p:cNvPr id="20" name="!!p4-desc"/>
          <p:cNvSpPr/>
          <p:nvPr/>
        </p:nvSpPr>
        <p:spPr>
          <a:xfrm>
            <a:off x="12960000" y="2700000"/>
            <a:ext cx="2520000" cy="1080000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不私下沟通，直接群聊表演</a:t>
            </a:r>
          </a:p>
        </p:txBody>
      </p:sp>
      <p:sp>
        <p:nvSpPr>
          <p:cNvPr id="21" name="!!ev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数据对比</a:t>
            </a:r>
          </a:p>
        </p:txBody>
      </p:sp>
      <p:sp>
        <p:nvSpPr>
          <p:cNvPr id="22" name="!!ev-subtitle"/>
          <p:cNvSpPr/>
          <p:nvPr/>
        </p:nvSpPr>
        <p:spPr>
          <a:xfrm>
            <a:off x="12960000" y="126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真实 vs 夸张</a:t>
            </a:r>
          </a:p>
        </p:txBody>
      </p:sp>
      <p:sp>
        <p:nvSpPr>
          <p:cNvPr id="23" name="!!ev-claim1"/>
          <p:cNvSpPr/>
          <p:nvPr/>
        </p:nvSpPr>
        <p:spPr>
          <a:xfrm>
            <a:off x="12960000" y="198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刘乾坤：大量流失、拿不到钱</a:t>
            </a:r>
          </a:p>
        </p:txBody>
      </p:sp>
      <p:sp>
        <p:nvSpPr>
          <p:cNvPr id="24" name="!!ev-fact1"/>
          <p:cNvSpPr/>
          <p:nvPr/>
        </p:nvSpPr>
        <p:spPr>
          <a:xfrm>
            <a:off x="1296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D4AF37"/>
                </a:solidFill>
                <a:latin typeface="Helvetica"/>
                <a:ea typeface="Helvetica"/>
              </a:rPr>
              <a:t>实际：头部个别问题，60-70%可达</a:t>
            </a:r>
          </a:p>
        </p:txBody>
      </p:sp>
      <p:sp>
        <p:nvSpPr>
          <p:cNvPr id="25" name="!!impact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影响评估</a:t>
            </a:r>
          </a:p>
        </p:txBody>
      </p:sp>
      <p:sp>
        <p:nvSpPr>
          <p:cNvPr id="26" name="!!impact-item1"/>
          <p:cNvSpPr/>
          <p:nvPr/>
        </p:nvSpPr>
        <p:spPr>
          <a:xfrm>
            <a:off x="12960000" y="180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团队安全感 — 高影响</a:t>
            </a:r>
          </a:p>
        </p:txBody>
      </p:sp>
      <p:sp>
        <p:nvSpPr>
          <p:cNvPr id="27" name="!!impact-item2"/>
          <p:cNvSpPr/>
          <p:nvPr/>
        </p:nvSpPr>
        <p:spPr>
          <a:xfrm>
            <a:off x="1296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李吉斌 — 高影响</a:t>
            </a:r>
          </a:p>
        </p:txBody>
      </p:sp>
      <p:sp>
        <p:nvSpPr>
          <p:cNvPr id="28" name="!!impact-item3"/>
          <p:cNvSpPr/>
          <p:nvPr/>
        </p:nvSpPr>
        <p:spPr>
          <a:xfrm>
            <a:off x="12960000" y="32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王易人 — 中等影响</a:t>
            </a:r>
          </a:p>
        </p:txBody>
      </p:sp>
      <p:sp>
        <p:nvSpPr>
          <p:cNvPr id="29" name="!!strategy-title"/>
          <p:cNvSpPr/>
          <p:nvPr/>
        </p:nvSpPr>
        <p:spPr>
          <a:xfrm>
            <a:off x="12960000" y="72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FFFFFF"/>
                </a:solidFill>
                <a:latin typeface="Helvetica"/>
                <a:ea typeface="Helvetica"/>
              </a:rPr>
              <a:t>应对策略</a:t>
            </a:r>
          </a:p>
        </p:txBody>
      </p:sp>
      <p:sp>
        <p:nvSpPr>
          <p:cNvPr id="30" name="!!strategy-subtitle"/>
          <p:cNvSpPr/>
          <p:nvPr/>
        </p:nvSpPr>
        <p:spPr>
          <a:xfrm>
            <a:off x="12960000" y="1260000"/>
            <a:ext cx="90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D4AF37"/>
                </a:solidFill>
                <a:latin typeface="Helvetica"/>
                <a:ea typeface="Helvetica"/>
              </a:rPr>
              <a:t>REACT 框架</a:t>
            </a:r>
          </a:p>
        </p:txBody>
      </p:sp>
      <p:sp>
        <p:nvSpPr>
          <p:cNvPr id="31" name="!!strategy-r"/>
          <p:cNvSpPr/>
          <p:nvPr/>
        </p:nvSpPr>
        <p:spPr>
          <a:xfrm>
            <a:off x="12960000" y="198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R — 承认情绪</a:t>
            </a:r>
          </a:p>
        </p:txBody>
      </p:sp>
      <p:sp>
        <p:nvSpPr>
          <p:cNvPr id="32" name="!!strategy-e"/>
          <p:cNvSpPr/>
          <p:nvPr/>
        </p:nvSpPr>
        <p:spPr>
          <a:xfrm>
            <a:off x="12960000" y="252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E — 回归根本原因</a:t>
            </a:r>
          </a:p>
        </p:txBody>
      </p:sp>
      <p:sp>
        <p:nvSpPr>
          <p:cNvPr id="33" name="!!strategy-a"/>
          <p:cNvSpPr/>
          <p:nvPr/>
        </p:nvSpPr>
        <p:spPr>
          <a:xfrm>
            <a:off x="12960000" y="306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A — 展示行动</a:t>
            </a:r>
          </a:p>
        </p:txBody>
      </p:sp>
      <p:sp>
        <p:nvSpPr>
          <p:cNvPr id="34" name="!!strategy-c"/>
          <p:cNvSpPr/>
          <p:nvPr/>
        </p:nvSpPr>
        <p:spPr>
          <a:xfrm>
            <a:off x="12960000" y="360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C — 明确边界</a:t>
            </a:r>
          </a:p>
        </p:txBody>
      </p:sp>
      <p:sp>
        <p:nvSpPr>
          <p:cNvPr id="35" name="!!strategy-t"/>
          <p:cNvSpPr/>
          <p:nvPr/>
        </p:nvSpPr>
        <p:spPr>
          <a:xfrm>
            <a:off x="12960000" y="4140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T — 建议私下对齐</a:t>
            </a:r>
          </a:p>
        </p:txBody>
      </p:sp>
      <p:sp>
        <p:nvSpPr>
          <p:cNvPr id="36" name="!!cta-title"/>
          <p:cNvSpPr/>
          <p:nvPr/>
        </p:nvSpPr>
        <p:spPr>
          <a:xfrm>
            <a:off x="1440000" y="2160000"/>
            <a:ext cx="90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>
                <a:solidFill>
                  <a:srgbClr val="FFFFFF"/>
                </a:solidFill>
                <a:latin typeface="Helvetica"/>
                <a:ea typeface="Helvetica"/>
              </a:rPr>
              <a:t>核心结论</a:t>
            </a:r>
          </a:p>
        </p:txBody>
      </p:sp>
      <p:sp>
        <p:nvSpPr>
          <p:cNvPr id="37" name="!!cta-line1"/>
          <p:cNvSpPr/>
          <p:nvPr/>
        </p:nvSpPr>
        <p:spPr>
          <a:xfrm>
            <a:off x="1440000" y="324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不接靶子，回归根本原因</a:t>
            </a:r>
          </a:p>
        </p:txBody>
      </p:sp>
      <p:sp>
        <p:nvSpPr>
          <p:cNvPr id="38" name="!!cta-line2"/>
          <p:cNvSpPr/>
          <p:nvPr/>
        </p:nvSpPr>
        <p:spPr>
          <a:xfrm>
            <a:off x="1440000" y="39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888888"/>
                </a:solidFill>
                <a:latin typeface="Helvetica"/>
                <a:ea typeface="Helvetica"/>
              </a:rPr>
              <a:t>拒绝道德绑架，保护安全感</a:t>
            </a:r>
          </a:p>
        </p:txBody>
      </p:sp>
      <p:sp>
        <p:nvSpPr>
          <p:cNvPr id="39" name="!!cta-date"/>
          <p:cNvSpPr/>
          <p:nvPr/>
        </p:nvSpPr>
        <p:spPr>
          <a:xfrm>
            <a:off x="1440000" y="504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55555"/>
                </a:solidFill>
                <a:latin typeface="Helvetica"/>
                <a:ea typeface="Helvetica"/>
              </a:rPr>
              <a:t>2026年4月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
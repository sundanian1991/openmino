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刘乾坤人物深度分析报告，v10.2版本，年老师于2026年3月19日建档。本报告从权力框架、行为模式、应对策略三个维度进行系统分析，帮助理解他的行为逻辑并找到有效的应对方式。</a:t>
            </a:r>
          </a:p>
          <a:p>
            <a:endParaRPr lang="zh-CN" dirty="0"/>
          </a:p>
          <a:p>
            <a:r>
              <a:rPr lang="zh-CN" dirty="0"/>
              <a:t>这份档案不是简单的观察记录，而是经过一个多月持续追踪、24条案例验证的系统性分析。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刘乾坤的核心定位：高压管理型业管，擅长立规矩加三要素法，对上表演、对下施压、信息管控。</a:t>
            </a:r>
          </a:p>
          <a:p>
            <a:endParaRPr lang="zh-CN" dirty="0"/>
          </a:p>
          <a:p>
            <a:r>
              <a:rPr lang="zh-CN" dirty="0"/>
              <a:t>他的所有行为都围绕三个核心诉求展开：</a:t>
            </a:r>
          </a:p>
          <a:p>
            <a:r>
              <a:rPr lang="zh-CN" dirty="0"/>
              <a:t>• 控制权：刚接手新业务时，通过立规矩、阻断信息、责任下放来建立"我在管"的信号。这是他首要的需求，秩序是他安全感的基础。</a:t>
            </a:r>
          </a:p>
          <a:p>
            <a:r>
              <a:rPr lang="zh-CN" dirty="0"/>
              <a:t>• 展示权：最在意的是"老板知不知道我在解决"。群内表演、打鸡血、CC上级，观众从来不是平级而是上级。</a:t>
            </a:r>
          </a:p>
          <a:p>
            <a:r>
              <a:rPr lang="zh-CN" dirty="0"/>
              <a:t>• 安全感：怕被替代，所以要让别人依赖自己。信息管控就是掌控不可替代性。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三个核心诉求缺一不可：</a:t>
            </a:r>
          </a:p>
          <a:p>
            <a:endParaRPr lang="zh-CN" dirty="0"/>
          </a:p>
          <a:p>
            <a:r>
              <a:rPr lang="zh-CN" dirty="0"/>
              <a:t>控制权是他的第一需求。刚接管业务时频繁宣布新规则，强调"按规则办事"。典型动作包括立规矩、阻断信息、责任下放。动机是刚接手需要建立"我在管"的信号。应对方式是确认规则的合理性，不盲目接受所有规则。</a:t>
            </a:r>
          </a:p>
          <a:p>
            <a:endParaRPr lang="zh-CN" dirty="0"/>
          </a:p>
          <a:p>
            <a:r>
              <a:rPr lang="zh-CN" dirty="0"/>
              <a:t>展示权是他最在意的部分。群聊中高频@上级，汇报"进展"，语气偏向"我在推动解决"。表演给上级看，不是给平级看。应对方式是不抢戏，专注自身边界。</a:t>
            </a:r>
          </a:p>
          <a:p>
            <a:endParaRPr lang="zh-CN" dirty="0"/>
          </a:p>
          <a:p>
            <a:r>
              <a:rPr lang="zh-CN" dirty="0"/>
              <a:t>安全感是他最底层的恐惧。阻断他与上级的直接沟通时会触发，"别找供应商，我来对接"。应对方式是建立独立渠道，不依赖他拿数据。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五种权力来源，从底层规则到表层施压，层层递进：</a:t>
            </a:r>
          </a:p>
          <a:p>
            <a:endParaRPr lang="zh-CN" dirty="0"/>
          </a:p>
          <a:p>
            <a:r>
              <a:rPr lang="zh-CN" dirty="0"/>
              <a:t>规则权是最顶层的权力。立规矩、机制先行，让后续管理变成"按规则办事"而非"个人施压"。应对方式是确认规则合理性，不盲目接受。</a:t>
            </a:r>
          </a:p>
          <a:p>
            <a:endParaRPr lang="zh-CN" dirty="0"/>
          </a:p>
          <a:p>
            <a:r>
              <a:rPr lang="zh-CN" dirty="0"/>
              <a:t>信息权控制信息流动。两头堵、阻断信息，让对手只能依赖自己获取数据。应对方式是建立独立渠道，"我需要一线真实反馈"。</a:t>
            </a:r>
          </a:p>
          <a:p>
            <a:endParaRPr lang="zh-CN" dirty="0"/>
          </a:p>
          <a:p>
            <a:r>
              <a:rPr lang="zh-CN" dirty="0"/>
              <a:t>关系权用关系绑定利益。拉拢圈人、人情债管理，主动帮助建立人情。应对方式是接受但不欠人情，区分工作与私交。</a:t>
            </a:r>
          </a:p>
          <a:p>
            <a:endParaRPr lang="zh-CN" dirty="0"/>
          </a:p>
          <a:p>
            <a:r>
              <a:rPr lang="zh-CN" dirty="0"/>
              <a:t>注意权刷存在感给上级看。群内表演、打鸡血，消息多发在有上级的群。应对方式是不抢戏，专注自身边界。</a:t>
            </a:r>
          </a:p>
          <a:p>
            <a:endParaRPr lang="zh-CN" dirty="0"/>
          </a:p>
          <a:p>
            <a:r>
              <a:rPr lang="zh-CN" dirty="0"/>
              <a:t>施压权是最底层的权力。公开锁定、高压管理，制造回复压力。应对方式是反问回去，不接任务。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18种模式按权力来源分组，风险等级用颜色区分：</a:t>
            </a:r>
          </a:p>
          <a:p>
            <a:endParaRPr lang="zh-CN" dirty="0"/>
          </a:p>
          <a:p>
            <a:r>
              <a:rPr lang="zh-CN" dirty="0"/>
              <a:t>规则权：立规矩——这是最值得学习的手法，先定规则后办事。</a:t>
            </a:r>
          </a:p>
          <a:p>
            <a:endParaRPr lang="zh-CN" dirty="0"/>
          </a:p>
          <a:p>
            <a:r>
              <a:rPr lang="zh-CN" dirty="0"/>
              <a:t>信息权和关系权：两头堵是高危险手法，阻断信息渠道；拉拢圈人和人情债管理是施压手法，主动让利换取配合。</a:t>
            </a:r>
          </a:p>
          <a:p>
            <a:endParaRPr lang="zh-CN" dirty="0"/>
          </a:p>
          <a:p>
            <a:r>
              <a:rPr lang="zh-CN" dirty="0"/>
              <a:t>注意权和施压权：这是最密集的区域。群内表演、任务下放加CC展示是施压手法；公开锁定、高压管理、追责转嫁、加压链都是高危险手法。</a:t>
            </a:r>
          </a:p>
          <a:p>
            <a:endParaRPr lang="zh-CN" dirty="0"/>
          </a:p>
          <a:p>
            <a:r>
              <a:rPr lang="zh-CN" dirty="0"/>
              <a:t>组合拳：抛问题、正面对冲、借力打力是中性手法；群聊闹事、选择性攻击是高危险手法；质疑数据降温、挖人试探、镜像过敏是中性手法。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刘乾坤的关系网络清晰反映他的权力策略：</a:t>
            </a:r>
          </a:p>
          <a:p>
            <a:endParaRPr lang="zh-CN" dirty="0"/>
          </a:p>
          <a:p>
            <a:r>
              <a:rPr lang="zh-CN" dirty="0"/>
              <a:t>同盟：郭鑫（前同事）——"用你的嘴，出我的力"；马贵贤（前同事）——"你的工作，我的成果"。通过前同事建立同盟网络。</a:t>
            </a:r>
          </a:p>
          <a:p>
            <a:endParaRPr lang="zh-CN" dirty="0"/>
          </a:p>
          <a:p>
            <a:r>
              <a:rPr lang="zh-CN" dirty="0"/>
              <a:t>上级：王易人（服务组负责人）是主要的CC对象，所有表演最终观众是他。刘伟佳（策略组负责人）是师承关系，刘乾坤学的是"形"，刘伟佳掌握的是"神"。</a:t>
            </a:r>
          </a:p>
          <a:p>
            <a:endParaRPr lang="zh-CN" dirty="0"/>
          </a:p>
          <a:p>
            <a:r>
              <a:rPr lang="zh-CN" dirty="0"/>
              <a:t>配合：年老师——"兄弟"称呼加拉拢，试图建立人情债。年老师的策略是接受但不欠人情，合作但不依赖。</a:t>
            </a:r>
          </a:p>
          <a:p>
            <a:endParaRPr lang="zh-CN" dirty="0"/>
          </a:p>
          <a:p>
            <a:r>
              <a:rPr lang="zh-CN" dirty="0"/>
              <a:t>下属：张世跃（实习生）——任务下放加功劳上报；供应商——利益驱动加责任下放。</a:t>
            </a:r>
          </a:p>
          <a:p>
            <a:endParaRPr lang="zh-CN" dirty="0"/>
          </a:p>
          <a:p>
            <a:r>
              <a:rPr lang="zh-CN" dirty="0"/>
              <a:t>对手：李吉斌（前任）——公开质疑加双重标准，刚接手就甩锅。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四种驱动方式，让供应商自己动起来：</a:t>
            </a:r>
          </a:p>
          <a:p>
            <a:endParaRPr lang="zh-CN" dirty="0"/>
          </a:p>
          <a:p>
            <a:r>
              <a:rPr lang="zh-CN" dirty="0"/>
              <a:t>质问式：核心话术"汰换机制是什么？"直接提问，让供应商解释问题，制造"必须回答"的压力。可学之处在于精准提问，不给模糊空间。</a:t>
            </a:r>
          </a:p>
          <a:p>
            <a:endParaRPr lang="zh-CN" dirty="0"/>
          </a:p>
          <a:p>
            <a:r>
              <a:rPr lang="zh-CN" dirty="0"/>
              <a:t>驱动式：核心话术"3.4亿才有奖金"。用利益让供应商自己急，"为自己干"不是"为我干"。利益绑定比命令更有效。</a:t>
            </a:r>
          </a:p>
          <a:p>
            <a:endParaRPr lang="zh-CN" dirty="0"/>
          </a:p>
          <a:p>
            <a:r>
              <a:rPr lang="zh-CN" dirty="0"/>
              <a:t>要求式：核心话术"本月人力计划、周度计划"。要求具体计划，不模糊，明确时间节点和交付物。要求要具体可考核。</a:t>
            </a:r>
          </a:p>
          <a:p>
            <a:endParaRPr lang="zh-CN" dirty="0"/>
          </a:p>
          <a:p>
            <a:r>
              <a:rPr lang="zh-CN" dirty="0"/>
              <a:t>改进式（最值得学习）：三要素法——原因加提升目标加举措。让供应商自己承诺，完不成有把柄。这是刘乾坤最成熟的管理手法。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四步建立管理基础：</a:t>
            </a:r>
          </a:p>
          <a:p>
            <a:endParaRPr lang="zh-CN" dirty="0"/>
          </a:p>
          <a:p>
            <a:r>
              <a:rPr lang="zh-CN" dirty="0"/>
              <a:t>第一步 立规矩：刚接手宣布7条规则——30分钟回复、10点报出勤、昵称格式规范、数据日报格式、群内沟通规范。目的：后续是"按规则办事"。</a:t>
            </a:r>
          </a:p>
          <a:p>
            <a:endParaRPr lang="zh-CN" dirty="0"/>
          </a:p>
          <a:p>
            <a:r>
              <a:rPr lang="zh-CN" dirty="0"/>
              <a:t>第二步 数据切入：摆数据不出结论，让别人背锅。5分钟连发两条数据，精确到小数点，责任完美分散，自己居功。</a:t>
            </a:r>
          </a:p>
          <a:p>
            <a:endParaRPr lang="zh-CN" dirty="0"/>
          </a:p>
          <a:p>
            <a:r>
              <a:rPr lang="zh-CN" dirty="0"/>
              <a:t>第三步 公开锁定：群里@具体人，所有人看着不得不接。不私聊，公开@，制造回复压力，连环追加施压。</a:t>
            </a:r>
          </a:p>
          <a:p>
            <a:endParaRPr lang="zh-CN" dirty="0"/>
          </a:p>
          <a:p>
            <a:r>
              <a:rPr lang="zh-CN" dirty="0"/>
              <a:t>第四步 建立预期：按规则办事的形象确立，后续引用初始规则，持续执行。</a:t>
            </a:r>
          </a:p>
          <a:p>
            <a:endParaRPr lang="zh-CN" dirty="0"/>
          </a:p>
          <a:p>
            <a:r>
              <a:rPr lang="zh-CN" dirty="0"/>
              <a:t>高明之处：后续所有管理行为都是"执行既定规则"，不是"个人施压"。规则一旦建立，管理就变成"按章办事"而非"个人意志"。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核心原则四条：</a:t>
            </a:r>
          </a:p>
          <a:p>
            <a:endParaRPr lang="zh-CN" dirty="0"/>
          </a:p>
          <a:p>
            <a:r>
              <a:rPr lang="zh-CN" dirty="0"/>
              <a:t>1. 不主动背锅：刘乾坤的问题直接传递，不接"帮我看下"</a:t>
            </a:r>
          </a:p>
          <a:p>
            <a:r>
              <a:rPr lang="zh-CN" dirty="0"/>
              <a:t>2. 边界清晰：周末不接@，工作日按流程</a:t>
            </a:r>
          </a:p>
          <a:p>
            <a:r>
              <a:rPr lang="zh-CN" dirty="0"/>
              <a:t>3. 信息独立：建立独立渠道，不依赖他拿数据</a:t>
            </a:r>
          </a:p>
          <a:p>
            <a:r>
              <a:rPr lang="zh-CN" dirty="0"/>
              <a:t>4. 学习技巧：立规矩、三要素法、数据说话</a:t>
            </a:r>
          </a:p>
          <a:p>
            <a:endParaRPr lang="zh-CN" dirty="0"/>
          </a:p>
          <a:p>
            <a:r>
              <a:rPr lang="zh-CN" dirty="0"/>
              <a:t>话术对照：</a:t>
            </a:r>
          </a:p>
          <a:p>
            <a:r>
              <a:rPr lang="zh-CN" dirty="0"/>
              <a:t>• "帮我看下，我该如何解答" → "你的想法是什么？我先听你的"——不接任务，反问回去</a:t>
            </a:r>
          </a:p>
          <a:p>
            <a:r>
              <a:rPr lang="zh-CN" dirty="0"/>
              <a:t>• 周末@处理供应商问题 → "收到，周一处理"——边界清晰，不解释</a:t>
            </a:r>
          </a:p>
          <a:p>
            <a:r>
              <a:rPr lang="zh-CN" dirty="0"/>
              <a:t>• "别找供应商，他们不如我们清楚" → "理解，但我需要一线真实反馈"——建立独立渠道</a:t>
            </a:r>
          </a:p>
          <a:p>
            <a:r>
              <a:rPr lang="zh-CN" dirty="0"/>
              <a:t>• "辛苦兄弟多费心" → "8个供应商，担心盯不细"——示弱加边界，刘乾坤会退让</a:t>
            </a:r>
          </a:p>
          <a:p>
            <a:r>
              <a:rPr lang="zh-CN" dirty="0"/>
              <a:t>• 危机渲染加责任锁定 → 事实压危机、锁定卡点、踢球给方案——用专业语言说话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四种核心技巧值得学习：</a:t>
            </a:r>
          </a:p>
          <a:p>
            <a:endParaRPr lang="zh-CN" dirty="0"/>
          </a:p>
          <a:p>
            <a:r>
              <a:rPr lang="zh-CN" dirty="0"/>
              <a:t>立规矩：先定规则后办事，后续是"执行既定规则"。适用场景是接手新业务、管理新团队。规则越具体越好，可考核可追溯。</a:t>
            </a:r>
          </a:p>
          <a:p>
            <a:endParaRPr lang="zh-CN" dirty="0"/>
          </a:p>
          <a:p>
            <a:r>
              <a:rPr lang="zh-CN" dirty="0"/>
              <a:t>三要素法：问题→原因+目标+举措，让别人承诺。适用场景是供应商管理、推动执行。让对方承诺比直接给方案更有约束力。</a:t>
            </a:r>
          </a:p>
          <a:p>
            <a:endParaRPr lang="zh-CN" dirty="0"/>
          </a:p>
          <a:p>
            <a:r>
              <a:rPr lang="zh-CN" dirty="0"/>
              <a:t>数据说话：精确数据展示加公开施压。适用场景是汇报、驱动、施压。数据是最好的武器，比任何道理都有力。</a:t>
            </a:r>
          </a:p>
          <a:p>
            <a:endParaRPr lang="zh-CN" dirty="0"/>
          </a:p>
          <a:p>
            <a:r>
              <a:rPr lang="zh-CN" dirty="0"/>
              <a:t>机制先行：先建机制再谈业务。适用场景是建立长期管理体系。让供应商自己建系统，干不好有把柄。</a:t>
            </a:r>
          </a:p>
          <a:p>
            <a:endParaRPr lang="zh-CN" dirty="0"/>
          </a:p>
          <a:p>
            <a:r>
              <a:rPr lang="zh-CN" dirty="0"/>
              <a:t>核心差异：</a:t>
            </a:r>
          </a:p>
          <a:p>
            <a:r>
              <a:rPr lang="zh-CN" dirty="0"/>
              <a:t>• 刘乾坤：摆问题→施压→让供应商自己想办法</a:t>
            </a:r>
          </a:p>
          <a:p>
            <a:r>
              <a:rPr lang="zh-CN" dirty="0"/>
              <a:t>• 年老师：摆问题→提要求→给支持→让供应商自己想办法→长期合作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三个争议事件暴露他的真实性格：</a:t>
            </a:r>
          </a:p>
          <a:p>
            <a:endParaRPr lang="zh-CN" dirty="0"/>
          </a:p>
          <a:p>
            <a:r>
              <a:rPr lang="zh-CN" dirty="0"/>
              <a:t>双重标准（03-25）：自己违规推动供应商拿钱被内审查过，反过来质疑李吉斌的激励方案。年老师感受："挺可怕的，真的不可交"。</a:t>
            </a:r>
          </a:p>
          <a:p>
            <a:endParaRPr lang="zh-CN" dirty="0"/>
          </a:p>
          <a:p>
            <a:r>
              <a:rPr lang="zh-CN" dirty="0"/>
              <a:t>公开攻击前任（03-25 深夜）：@李吉斌加CC上级，让前任在所有人面前难堪。刚接手就甩锅。李吉斌反击后刘乾坤软化退让——教训是面对强硬反击他会退让。</a:t>
            </a:r>
          </a:p>
          <a:p>
            <a:endParaRPr lang="zh-CN" dirty="0"/>
          </a:p>
          <a:p>
            <a:r>
              <a:rPr lang="zh-CN" dirty="0"/>
              <a:t>开门红带节奏（03-29）：群内密集同步激励问题，道德绑架"影响1400个制鞋工人"。选择性攻击：只攻击服务组，不攻击策略组。夸大其词：实际"不会出现批量离职"。教训是核实数据，不被情绪带节奏。</a:t>
            </a:r>
          </a:p>
          <a:p>
            <a:endParaRPr lang="zh-CN" dirty="0"/>
          </a:p>
          <a:p>
            <a:r>
              <a:rPr lang="zh-CN" dirty="0"/>
              <a:t>核心洞察：他对别人做的事，自己可能也在做。双重标准是最大破绽。面对事实反击和强硬态度，他会退让。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总结三句话：</a:t>
            </a:r>
          </a:p>
          <a:p>
            <a:endParaRPr lang="zh-CN" dirty="0"/>
          </a:p>
          <a:p>
            <a:r>
              <a:rPr lang="zh-CN" dirty="0"/>
              <a:t>他不是在管理，是在表演管理——最在意的是"老板知不知道我在解决"。</a:t>
            </a:r>
          </a:p>
          <a:p>
            <a:endParaRPr lang="zh-CN" dirty="0"/>
          </a:p>
          <a:p>
            <a:r>
              <a:rPr lang="zh-CN" dirty="0"/>
              <a:t>边界清晰是最好的防御——周末不接@，工作日按流程，信息独立。</a:t>
            </a:r>
          </a:p>
          <a:p>
            <a:endParaRPr lang="zh-CN" dirty="0"/>
          </a:p>
          <a:p>
            <a:r>
              <a:rPr lang="zh-CN" dirty="0"/>
              <a:t>取其精华，做温和但坚定的管理者——学立规矩、三要素法、数据说话；加上给支持、温和但坚决、长期合作的伙伴关系。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4AF37">
                  <a:alpha val="30000"/>
                </a:srgbClr>
              </a:gs>
              <a:gs pos="10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572500" y="0"/>
            <a:ext cx="3619500" cy="6858000"/>
          </a:xfrm>
          <a:prstGeom prst="rect">
            <a:avLst/>
          </a:prstGeom>
          <a:gradFill>
            <a:gsLst>
              <a:gs pos="0">
                <a:srgbClr val="D4AF37">
                  <a:alpha val="15000"/>
                </a:srgbClr>
              </a:gs>
              <a:gs pos="100000">
                <a:srgbClr val="1A1A2E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noFill/>
          <a:ln w="4762">
            <a:solidFill>
              <a:srgbClr val="D4AF37">
                <a:alpha val="15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3714750" y="1047750"/>
            <a:ext cx="4762500" cy="4762500"/>
          </a:xfrm>
          <a:prstGeom prst="ellipse">
            <a:avLst/>
          </a:prstGeom>
          <a:noFill/>
          <a:ln w="4762">
            <a:solidFill>
              <a:srgbClr val="D4AF37">
                <a:alpha val="1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noFill/>
          <a:ln w="4762">
            <a:solidFill>
              <a:srgbClr val="D4AF37">
                <a:alpha val="7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52500" y="952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4762">
            <a:solidFill>
              <a:srgbClr val="D4AF37">
                <a:alpha val="3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366880" y="19983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PROFILE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30902" y="2434590"/>
            <a:ext cx="233019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11" name="Line 11"/>
          <p:cNvSpPr/>
          <p:nvPr/>
        </p:nvSpPr>
        <p:spPr>
          <a:xfrm>
            <a:off x="5143500" y="3238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gradFill>
              <a:gsLst>
                <a:gs pos="0">
                  <a:srgbClr val="D4AF37"/>
                </a:gs>
                <a:gs pos="100000">
                  <a:srgbClr val="F2D06B"/>
                </a:gs>
              </a:gsLst>
              <a:lin ang="2700000" scaled="1"/>
            </a:gradFill>
          </a:ln>
        </p:spPr>
      </p:sp>
      <p:sp>
        <p:nvSpPr>
          <p:cNvPr id="12" name="TextBox 12"/>
          <p:cNvSpPr txBox="1"/>
          <p:nvPr/>
        </p:nvSpPr>
        <p:spPr>
          <a:xfrm>
            <a:off x="5111115" y="353663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人物深度分析报告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4636" y="4839652"/>
            <a:ext cx="3162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权力框架 · 行为模式 · 应对策略 · 可学习内容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070" y="6189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v10.2 · 年老师建档 · 2026-03-19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41432" y="620553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1354" y="6189345"/>
            <a:ext cx="11795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Mino · 2026-04-09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4AF37">
                  <a:alpha val="10000"/>
                </a:srgbClr>
              </a:gs>
              <a:gs pos="10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387191"/>
            <a:ext cx="786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CORE INSIGHT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61912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56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一句话定位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425892"/>
            <a:ext cx="3612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高压管理型业管，擅长</a:t>
            </a:r>
            <a:r>
              <a:rPr lang="zh-CN" sz="13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立规矩 + 三要素法</a:t>
            </a:r>
          </a:p>
        </p:txBody>
      </p:sp>
      <p:sp>
        <p:nvSpPr>
          <p:cNvPr id="8" name="Ellipse 8"/>
          <p:cNvSpPr/>
          <p:nvPr/>
        </p:nvSpPr>
        <p:spPr>
          <a:xfrm>
            <a:off x="6667500" y="1333500"/>
            <a:ext cx="3810000" cy="3810000"/>
          </a:xfrm>
          <a:prstGeom prst="ellipse">
            <a:avLst/>
          </a:prstGeom>
          <a:solidFill>
            <a:srgbClr val="1F2937"/>
          </a:solidFill>
          <a:ln w="14288">
            <a:solidFill>
              <a:srgbClr val="6B7280"/>
            </a:solidFill>
            <a:custDash>
              <a:ds d="533333" sp="400000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8329136" y="15059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10775" y="1720691"/>
            <a:ext cx="1123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怕被替代 · 建立依赖</a:t>
            </a:r>
          </a:p>
        </p:txBody>
      </p:sp>
      <p:sp>
        <p:nvSpPr>
          <p:cNvPr id="11" name="Ellipse 11"/>
          <p:cNvSpPr/>
          <p:nvPr/>
        </p:nvSpPr>
        <p:spPr>
          <a:xfrm>
            <a:off x="7286625" y="1952625"/>
            <a:ext cx="2571750" cy="2571750"/>
          </a:xfrm>
          <a:prstGeom prst="ellipse">
            <a:avLst/>
          </a:prstGeom>
          <a:solidFill>
            <a:srgbClr val="1F2937"/>
          </a:solidFill>
          <a:ln w="14288">
            <a:solidFill>
              <a:srgbClr val="D4AF37">
                <a:alpha val="6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281226" y="20612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7273" y="2284095"/>
            <a:ext cx="13504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最在意"老板知不知道"</a:t>
            </a:r>
          </a:p>
        </p:txBody>
      </p:sp>
      <p:sp>
        <p:nvSpPr>
          <p:cNvPr id="14" name="Ellipse 14"/>
          <p:cNvSpPr/>
          <p:nvPr/>
        </p:nvSpPr>
        <p:spPr>
          <a:xfrm>
            <a:off x="7858125" y="2524125"/>
            <a:ext cx="1428750" cy="1428750"/>
          </a:xfrm>
          <a:prstGeom prst="ellipse">
            <a:avLst/>
          </a:prstGeom>
          <a:solidFill>
            <a:srgbClr val="D4AF37">
              <a:alpha val="20000"/>
            </a:srgbClr>
          </a:solidFill>
          <a:ln w="19050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08407" y="302895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21040" y="33399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首要需求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6260" y="21564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三个核心诉求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7212" y="25455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他所有行为都围绕这三个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7212" y="278368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核心诉求展开，缺一不可。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8165" y="322040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控制权是基础——刚接手需要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8165" y="345852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建立"我在管"的信号，秩序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8165" y="36966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是安全感的基础。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8165" y="4172902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展示权是最在意的——"老板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8165" y="44110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知不知道我在解决"比解决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8165" y="46491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本身更重要。表演给上级看。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8165" y="512540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安全感是最底层的——怕被替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8165" y="5363528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代，所以要让别人依赖自己。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8165" y="56016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信息管控就是掌控不可替代性。</a:t>
            </a:r>
          </a:p>
        </p:txBody>
      </p:sp>
      <p:sp>
        <p:nvSpPr>
          <p:cNvPr id="29" name="Line 29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61975" y="649128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761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POWER CORE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285875" cy="9525"/>
          </a:xfrm>
          <a:custGeom>
            <a:avLst/>
            <a:gdLst/>
            <a:ahLst/>
            <a:cxnLst/>
            <a:rect l="l" t="t" r="r" b="b"/>
            <a:pathLst>
              <a:path w="1285875" h="952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权力内核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他想要什么？</a:t>
            </a:r>
          </a:p>
        </p:txBody>
      </p:sp>
      <p:sp>
        <p:nvSpPr>
          <p:cNvPr id="7" name="Polygon 7"/>
          <p:cNvSpPr/>
          <p:nvPr/>
        </p:nvSpPr>
        <p:spPr>
          <a:xfrm>
            <a:off x="762000" y="1905000"/>
            <a:ext cx="3238500" cy="2095500"/>
          </a:xfrm>
          <a:custGeom>
            <a:avLst/>
            <a:gdLst/>
            <a:ahLst/>
            <a:cxnLst/>
            <a:rect l="l" t="t" r="r" b="b"/>
            <a:pathLst>
              <a:path w="3238500" h="2095500">
                <a:moveTo>
                  <a:pt x="0" y="0"/>
                </a:moveTo>
                <a:lnTo>
                  <a:pt x="3238500" y="0"/>
                </a:lnTo>
                <a:lnTo>
                  <a:pt x="3238500" y="2095500"/>
                </a:lnTo>
                <a:close/>
              </a:path>
            </a:pathLst>
          </a:custGeom>
          <a:solidFill>
            <a:srgbClr val="D4AF37">
              <a:alpha val="8000"/>
            </a:srgbClr>
          </a:solidFill>
          <a:ln w="14288">
            <a:solidFill>
              <a:srgbClr val="D4AF3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16330" y="2249805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712" y="26884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30299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刚接手新业务，需要建立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3220402"/>
            <a:ext cx="11154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"我在管"的信号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0618" y="365712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应对：确认合理性，不盲目接受</a:t>
            </a:r>
          </a:p>
        </p:txBody>
      </p:sp>
      <p:sp>
        <p:nvSpPr>
          <p:cNvPr id="13" name="Polygon 13"/>
          <p:cNvSpPr/>
          <p:nvPr/>
        </p:nvSpPr>
        <p:spPr>
          <a:xfrm>
            <a:off x="4381500" y="1714500"/>
            <a:ext cx="3238500" cy="2095500"/>
          </a:xfrm>
          <a:custGeom>
            <a:avLst/>
            <a:gdLst/>
            <a:ahLst/>
            <a:cxnLst/>
            <a:rect l="l" t="t" r="r" b="b"/>
            <a:pathLst>
              <a:path w="3238500" h="2095500">
                <a:moveTo>
                  <a:pt x="0" y="0"/>
                </a:moveTo>
                <a:lnTo>
                  <a:pt x="3238500" y="0"/>
                </a:lnTo>
                <a:lnTo>
                  <a:pt x="3238500" y="2095500"/>
                </a:lnTo>
                <a:lnTo>
                  <a:pt x="0" y="2095500"/>
                </a:lnTo>
                <a:close/>
              </a:path>
            </a:pathLst>
          </a:custGeom>
          <a:solidFill>
            <a:srgbClr val="D4AF37">
              <a:alpha val="5000"/>
            </a:srgbClr>
          </a:solidFill>
          <a:ln w="9525">
            <a:solidFill>
              <a:srgbClr val="F2D06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735830" y="2059305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48212" y="2497931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9165" y="283940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最在意"老板知不知道我在解决"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49165" y="30299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表演给上级看，不是给平级看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50118" y="3466624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应对：不抢戏，专注自身边界</a:t>
            </a:r>
          </a:p>
        </p:txBody>
      </p:sp>
      <p:sp>
        <p:nvSpPr>
          <p:cNvPr id="19" name="Polygon 19"/>
          <p:cNvSpPr/>
          <p:nvPr/>
        </p:nvSpPr>
        <p:spPr>
          <a:xfrm>
            <a:off x="2857500" y="4191000"/>
            <a:ext cx="6286500" cy="1143000"/>
          </a:xfrm>
          <a:custGeom>
            <a:avLst/>
            <a:gdLst/>
            <a:ahLst/>
            <a:cxnLst/>
            <a:rect l="l" t="t" r="r" b="b"/>
            <a:pathLst>
              <a:path w="6286500" h="1143000">
                <a:moveTo>
                  <a:pt x="0" y="0"/>
                </a:moveTo>
                <a:lnTo>
                  <a:pt x="6286500" y="0"/>
                </a:lnTo>
                <a:lnTo>
                  <a:pt x="6286500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1F2937"/>
          </a:solidFill>
          <a:ln w="9525">
            <a:solidFill>
              <a:srgbClr val="6B7280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215640" y="442531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25165" y="4792028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信息管控、建立依赖 — 怕被替代，让别人依赖自己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26118" y="503824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应对：建立独立渠道，不依赖他拿数据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77657" y="933450"/>
            <a:ext cx="457614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0" b="1" dirty="0">
                <a:solidFill>
                  <a:srgbClr val="D4AF37">
                    <a:alpha val="5000"/>
                  </a:srgbClr>
                </a:solidFill>
                <a:latin typeface="Arial"/>
                <a:ea typeface="Microsoft YaHei"/>
                <a:cs typeface="Arial"/>
              </a:rPr>
              <a:t>POWER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12786" y="2076450"/>
            <a:ext cx="3541014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0" b="1" dirty="0">
                <a:solidFill>
                  <a:srgbClr val="D4AF37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CORE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5810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59118" y="60859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破绽：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0618" y="6085999"/>
            <a:ext cx="4859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表演型管理→真实能力可能不足 · 信息管控→信任缺失 · 施压过度→易引发抵触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 · 权力内核章节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9698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POWER SOURCES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权力来源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 种权力来源，从底层规则到表层施压</a:t>
            </a:r>
          </a:p>
        </p:txBody>
      </p:sp>
      <p:sp>
        <p:nvSpPr>
          <p:cNvPr id="7" name="Freeform 7"/>
          <p:cNvSpPr/>
          <p:nvPr/>
        </p:nvSpPr>
        <p:spPr>
          <a:xfrm>
            <a:off x="9525000" y="1905000"/>
            <a:ext cx="2095500" cy="3810000"/>
          </a:xfrm>
          <a:custGeom>
            <a:avLst/>
            <a:gdLst/>
            <a:ahLst/>
            <a:cxnLst/>
            <a:rect l="l" t="t" r="r" b="b"/>
            <a:pathLst>
              <a:path w="2095500" h="3810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3733800"/>
                </a:lnTo>
                <a:cubicBezTo>
                  <a:pt x="2095500" y="3775884"/>
                  <a:pt x="2061384" y="3810000"/>
                  <a:pt x="2019300" y="3810000"/>
                </a:cubicBezTo>
                <a:lnTo>
                  <a:pt x="76200" y="3810000"/>
                </a:lnTo>
                <a:cubicBezTo>
                  <a:pt x="34116" y="3810000"/>
                  <a:pt x="0" y="3775884"/>
                  <a:pt x="0" y="3733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19050">
            <a:solidFill>
              <a:srgbClr val="B91C1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172248" y="2203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33171" y="26093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最底层的权力</a:t>
            </a:r>
          </a:p>
        </p:txBody>
      </p:sp>
      <p:sp>
        <p:nvSpPr>
          <p:cNvPr id="10" name="Line 10"/>
          <p:cNvSpPr/>
          <p:nvPr/>
        </p:nvSpPr>
        <p:spPr>
          <a:xfrm>
            <a:off x="9810750" y="2905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B91C1C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798368" y="3133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8368" y="3371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高压管理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98368" y="36094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加压链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98368" y="38476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追责转嫁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99320" y="42843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制造回复压力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99320" y="51415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反问回去，不接任务</a:t>
            </a:r>
          </a:p>
        </p:txBody>
      </p:sp>
      <p:sp>
        <p:nvSpPr>
          <p:cNvPr id="17" name="Freeform 17"/>
          <p:cNvSpPr/>
          <p:nvPr/>
        </p:nvSpPr>
        <p:spPr>
          <a:xfrm>
            <a:off x="7239000" y="2286000"/>
            <a:ext cx="2095500" cy="3429000"/>
          </a:xfrm>
          <a:custGeom>
            <a:avLst/>
            <a:gdLst/>
            <a:ahLst/>
            <a:cxnLst/>
            <a:rect l="l" t="t" r="r" b="b"/>
            <a:pathLst>
              <a:path w="2095500" h="3429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3352800"/>
                </a:lnTo>
                <a:cubicBezTo>
                  <a:pt x="2095500" y="3394884"/>
                  <a:pt x="2061384" y="3429000"/>
                  <a:pt x="2019300" y="3429000"/>
                </a:cubicBezTo>
                <a:lnTo>
                  <a:pt x="76200" y="3429000"/>
                </a:lnTo>
                <a:cubicBezTo>
                  <a:pt x="34116" y="3429000"/>
                  <a:pt x="0" y="3394884"/>
                  <a:pt x="0" y="3352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14288">
            <a:solidFill>
              <a:srgbClr val="C41E3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886248" y="2584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9570" y="2990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刷存在感</a:t>
            </a:r>
          </a:p>
        </p:txBody>
      </p:sp>
      <p:sp>
        <p:nvSpPr>
          <p:cNvPr id="20" name="Line 20"/>
          <p:cNvSpPr/>
          <p:nvPr/>
        </p:nvSpPr>
        <p:spPr>
          <a:xfrm>
            <a:off x="7524750" y="3286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C41E3A">
                <a:alpha val="3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512368" y="3514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群内表演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2368" y="3752374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打鸡血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12368" y="3990499"/>
            <a:ext cx="8293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任务下放+CC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3320" y="44272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在上级面前建立形象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13320" y="52368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不抢戏，专注边界</a:t>
            </a:r>
          </a:p>
        </p:txBody>
      </p:sp>
      <p:sp>
        <p:nvSpPr>
          <p:cNvPr id="26" name="Freeform 26"/>
          <p:cNvSpPr/>
          <p:nvPr/>
        </p:nvSpPr>
        <p:spPr>
          <a:xfrm>
            <a:off x="4953000" y="2667000"/>
            <a:ext cx="2095500" cy="3048000"/>
          </a:xfrm>
          <a:custGeom>
            <a:avLst/>
            <a:gdLst/>
            <a:ahLst/>
            <a:cxnLst/>
            <a:rect l="l" t="t" r="r" b="b"/>
            <a:pathLst>
              <a:path w="2095500" h="3048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2971800"/>
                </a:lnTo>
                <a:cubicBezTo>
                  <a:pt x="2095500" y="3013884"/>
                  <a:pt x="2061384" y="3048000"/>
                  <a:pt x="2019300" y="3048000"/>
                </a:cubicBezTo>
                <a:lnTo>
                  <a:pt x="76200" y="3048000"/>
                </a:lnTo>
                <a:cubicBezTo>
                  <a:pt x="34116" y="3048000"/>
                  <a:pt x="0" y="3013884"/>
                  <a:pt x="0" y="2971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D4AF37">
                <a:alpha val="6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600248" y="2965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74769" y="3371374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人情债</a:t>
            </a:r>
          </a:p>
        </p:txBody>
      </p:sp>
      <p:sp>
        <p:nvSpPr>
          <p:cNvPr id="29" name="Line 29"/>
          <p:cNvSpPr/>
          <p:nvPr/>
        </p:nvSpPr>
        <p:spPr>
          <a:xfrm>
            <a:off x="5238750" y="3667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D4AF37">
                <a:alpha val="3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226368" y="3895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拉拢圈人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26368" y="41333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人情债管理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27320" y="45700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用关系绑定利益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27320" y="52368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接受但不欠人情</a:t>
            </a:r>
          </a:p>
        </p:txBody>
      </p:sp>
      <p:sp>
        <p:nvSpPr>
          <p:cNvPr id="34" name="Freeform 34"/>
          <p:cNvSpPr/>
          <p:nvPr/>
        </p:nvSpPr>
        <p:spPr>
          <a:xfrm>
            <a:off x="2667000" y="3048000"/>
            <a:ext cx="2095500" cy="2667000"/>
          </a:xfrm>
          <a:custGeom>
            <a:avLst/>
            <a:gdLst/>
            <a:ahLst/>
            <a:cxnLst/>
            <a:rect l="l" t="t" r="r" b="b"/>
            <a:pathLst>
              <a:path w="2095500" h="2667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2590800"/>
                </a:lnTo>
                <a:cubicBezTo>
                  <a:pt x="2095500" y="2632884"/>
                  <a:pt x="2061384" y="2667000"/>
                  <a:pt x="20193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F2D06B">
                <a:alpha val="50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314248" y="3346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17570" y="3752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信息管控</a:t>
            </a:r>
          </a:p>
        </p:txBody>
      </p:sp>
      <p:sp>
        <p:nvSpPr>
          <p:cNvPr id="37" name="Line 37"/>
          <p:cNvSpPr/>
          <p:nvPr/>
        </p:nvSpPr>
        <p:spPr>
          <a:xfrm>
            <a:off x="2952750" y="4048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F2D06B">
                <a:alpha val="3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940368" y="4276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两头堵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40368" y="4514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阻断信息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41320" y="4951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对手只能依赖自己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41320" y="5236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42" name="Freeform 42"/>
          <p:cNvSpPr/>
          <p:nvPr/>
        </p:nvSpPr>
        <p:spPr>
          <a:xfrm>
            <a:off x="571500" y="3429000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2209800"/>
                </a:lnTo>
                <a:cubicBezTo>
                  <a:pt x="1905000" y="2251884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14288">
            <a:solidFill>
              <a:srgbClr val="D4AF37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23498" y="3727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26820" y="4133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顶层权力</a:t>
            </a:r>
          </a:p>
        </p:txBody>
      </p:sp>
      <p:sp>
        <p:nvSpPr>
          <p:cNvPr id="45" name="Line 45"/>
          <p:cNvSpPr/>
          <p:nvPr/>
        </p:nvSpPr>
        <p:spPr>
          <a:xfrm>
            <a:off x="809625" y="4429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4762">
            <a:solidFill>
              <a:srgbClr val="D4AF37">
                <a:alpha val="3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97242" y="4657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7242" y="4895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机制先行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8195" y="53320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确认合理性</a:t>
            </a:r>
          </a:p>
        </p:txBody>
      </p:sp>
      <p:sp>
        <p:nvSpPr>
          <p:cNvPr id="49" name="Polygon 49"/>
          <p:cNvSpPr/>
          <p:nvPr/>
        </p:nvSpPr>
        <p:spPr>
          <a:xfrm>
            <a:off x="9334500" y="3714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D4AF37">
              <a:alpha val="40000"/>
            </a:srgbClr>
          </a:solidFill>
          <a:ln>
            <a:noFill/>
          </a:ln>
        </p:spPr>
      </p:sp>
      <p:sp>
        <p:nvSpPr>
          <p:cNvPr id="50" name="Polygon 50"/>
          <p:cNvSpPr/>
          <p:nvPr/>
        </p:nvSpPr>
        <p:spPr>
          <a:xfrm>
            <a:off x="7048500" y="3905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D4AF37">
              <a:alpha val="30000"/>
            </a:srgbClr>
          </a:solidFill>
          <a:ln>
            <a:noFill/>
          </a:ln>
        </p:spPr>
      </p:sp>
      <p:sp>
        <p:nvSpPr>
          <p:cNvPr id="51" name="Polygon 51"/>
          <p:cNvSpPr/>
          <p:nvPr/>
        </p:nvSpPr>
        <p:spPr>
          <a:xfrm>
            <a:off x="4762500" y="4095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D4AF37">
              <a:alpha val="25000"/>
            </a:srgbClr>
          </a:solidFill>
          <a:ln>
            <a:noFill/>
          </a:ln>
        </p:spPr>
      </p:sp>
      <p:sp>
        <p:nvSpPr>
          <p:cNvPr id="52" name="Polygon 52"/>
          <p:cNvSpPr/>
          <p:nvPr/>
        </p:nvSpPr>
        <p:spPr>
          <a:xfrm>
            <a:off x="2476500" y="4286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D4AF37">
              <a:alpha val="20000"/>
            </a:srgbClr>
          </a:solidFill>
          <a:ln>
            <a:noFill/>
          </a:ln>
        </p:spPr>
      </p:sp>
      <p:sp>
        <p:nvSpPr>
          <p:cNvPr id="53" name="Line 53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 · 权力框架章节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1659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BEHAVIOR PATTERNS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809750" cy="9525"/>
          </a:xfrm>
          <a:custGeom>
            <a:avLst/>
            <a:gdLst/>
            <a:ahLst/>
            <a:cxnLst/>
            <a:rect l="l" t="t" r="r" b="b"/>
            <a:pathLst>
              <a:path w="1809750" h="9525">
                <a:moveTo>
                  <a:pt x="0" y="0"/>
                </a:moveTo>
                <a:lnTo>
                  <a:pt x="180975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行为模式概览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18种模式，按权力来源 + 风险等级分布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000500" y="1900238"/>
            <a:ext cx="4191000" cy="3629025"/>
            <a:chOff x="4000500" y="1900238"/>
            <a:chExt cx="4191000" cy="3629025"/>
          </a:xfrm>
        </p:grpSpPr>
        <p:sp>
          <p:nvSpPr>
            <p:cNvPr id="7" name="Polygon 7"/>
            <p:cNvSpPr/>
            <p:nvPr/>
          </p:nvSpPr>
          <p:spPr>
            <a:xfrm>
              <a:off x="4000500" y="1900238"/>
              <a:ext cx="4191000" cy="3629025"/>
            </a:xfrm>
            <a:custGeom>
              <a:avLst/>
              <a:gdLst/>
              <a:ahLst/>
              <a:cxnLst/>
              <a:rect l="l" t="t" r="r" b="b"/>
              <a:pathLst>
                <a:path w="4191000" h="3629025">
                  <a:moveTo>
                    <a:pt x="4191000" y="1814512"/>
                  </a:moveTo>
                  <a:lnTo>
                    <a:pt x="3143250" y="3629025"/>
                  </a:lnTo>
                  <a:lnTo>
                    <a:pt x="1047750" y="3629025"/>
                  </a:lnTo>
                  <a:lnTo>
                    <a:pt x="0" y="1814512"/>
                  </a:lnTo>
                  <a:lnTo>
                    <a:pt x="1047750" y="0"/>
                  </a:lnTo>
                  <a:lnTo>
                    <a:pt x="3143250" y="0"/>
                  </a:lnTo>
                  <a:close/>
                </a:path>
              </a:pathLst>
            </a:custGeom>
            <a:noFill/>
            <a:ln w="4762">
              <a:solidFill>
                <a:srgbClr val="2D2D44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4524375" y="2353628"/>
              <a:ext cx="3143250" cy="2722245"/>
            </a:xfrm>
            <a:custGeom>
              <a:avLst/>
              <a:gdLst/>
              <a:ahLst/>
              <a:cxnLst/>
              <a:rect l="l" t="t" r="r" b="b"/>
              <a:pathLst>
                <a:path w="3143250" h="2722245">
                  <a:moveTo>
                    <a:pt x="3143250" y="1361122"/>
                  </a:moveTo>
                  <a:lnTo>
                    <a:pt x="2357438" y="2722245"/>
                  </a:lnTo>
                  <a:lnTo>
                    <a:pt x="785812" y="2722245"/>
                  </a:lnTo>
                  <a:lnTo>
                    <a:pt x="0" y="1361122"/>
                  </a:lnTo>
                  <a:lnTo>
                    <a:pt x="785812" y="0"/>
                  </a:lnTo>
                  <a:lnTo>
                    <a:pt x="2357438" y="0"/>
                  </a:lnTo>
                  <a:close/>
                </a:path>
              </a:pathLst>
            </a:custGeom>
            <a:noFill/>
            <a:ln w="4762">
              <a:solidFill>
                <a:srgbClr val="2D2D44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5048250" y="2807018"/>
              <a:ext cx="2095500" cy="1815465"/>
            </a:xfrm>
            <a:custGeom>
              <a:avLst/>
              <a:gdLst/>
              <a:ahLst/>
              <a:cxnLst/>
              <a:rect l="l" t="t" r="r" b="b"/>
              <a:pathLst>
                <a:path w="2095500" h="1815465">
                  <a:moveTo>
                    <a:pt x="2095500" y="907733"/>
                  </a:moveTo>
                  <a:lnTo>
                    <a:pt x="1571625" y="1815465"/>
                  </a:lnTo>
                  <a:lnTo>
                    <a:pt x="523875" y="1815465"/>
                  </a:lnTo>
                  <a:lnTo>
                    <a:pt x="0" y="907733"/>
                  </a:lnTo>
                  <a:lnTo>
                    <a:pt x="523875" y="0"/>
                  </a:lnTo>
                  <a:lnTo>
                    <a:pt x="1571625" y="0"/>
                  </a:lnTo>
                  <a:close/>
                </a:path>
              </a:pathLst>
            </a:custGeom>
            <a:noFill/>
            <a:ln w="4762">
              <a:solidFill>
                <a:srgbClr val="2D2D44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5572125" y="3261360"/>
              <a:ext cx="1047750" cy="906780"/>
            </a:xfrm>
            <a:custGeom>
              <a:avLst/>
              <a:gdLst/>
              <a:ahLst/>
              <a:cxnLst/>
              <a:rect l="l" t="t" r="r" b="b"/>
              <a:pathLst>
                <a:path w="1047750" h="906780">
                  <a:moveTo>
                    <a:pt x="1047750" y="453390"/>
                  </a:moveTo>
                  <a:lnTo>
                    <a:pt x="785812" y="906780"/>
                  </a:lnTo>
                  <a:lnTo>
                    <a:pt x="261938" y="906780"/>
                  </a:lnTo>
                  <a:lnTo>
                    <a:pt x="0" y="453390"/>
                  </a:lnTo>
                  <a:lnTo>
                    <a:pt x="261938" y="0"/>
                  </a:lnTo>
                  <a:lnTo>
                    <a:pt x="785812" y="0"/>
                  </a:lnTo>
                  <a:close/>
                </a:path>
              </a:pathLst>
            </a:custGeom>
            <a:noFill/>
            <a:ln w="4762">
              <a:solidFill>
                <a:srgbClr val="2D2D44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000500" y="1900238"/>
            <a:ext cx="4191000" cy="3629024"/>
            <a:chOff x="4000500" y="1900238"/>
            <a:chExt cx="4191000" cy="3629024"/>
          </a:xfrm>
        </p:grpSpPr>
        <p:sp>
          <p:nvSpPr>
            <p:cNvPr id="12" name="Line 12"/>
            <p:cNvSpPr/>
            <p:nvPr/>
          </p:nvSpPr>
          <p:spPr>
            <a:xfrm>
              <a:off x="6096000" y="3714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4762">
              <a:solidFill>
                <a:srgbClr val="3D3D5C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714750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0" y="0"/>
                  </a:moveTo>
                  <a:lnTo>
                    <a:pt x="1047750" y="1814512"/>
                  </a:lnTo>
                </a:path>
              </a:pathLst>
            </a:custGeom>
            <a:noFill/>
            <a:ln w="4762">
              <a:solidFill>
                <a:srgbClr val="3D3D5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048250" y="3714750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1047750" y="0"/>
                  </a:moveTo>
                  <a:lnTo>
                    <a:pt x="0" y="1814512"/>
                  </a:lnTo>
                </a:path>
              </a:pathLst>
            </a:custGeom>
            <a:noFill/>
            <a:ln w="4762">
              <a:solidFill>
                <a:srgbClr val="3D3D5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000500" y="3714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2095500" y="0"/>
                  </a:moveTo>
                  <a:lnTo>
                    <a:pt x="0" y="0"/>
                  </a:lnTo>
                </a:path>
              </a:pathLst>
            </a:custGeom>
            <a:noFill/>
            <a:ln w="4762">
              <a:solidFill>
                <a:srgbClr val="3D3D5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048250" y="1900238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1047750" y="1814512"/>
                  </a:moveTo>
                  <a:lnTo>
                    <a:pt x="0" y="0"/>
                  </a:lnTo>
                </a:path>
              </a:pathLst>
            </a:custGeom>
            <a:noFill/>
            <a:ln w="4762">
              <a:solidFill>
                <a:srgbClr val="3D3D5C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1900238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0" y="1814512"/>
                  </a:moveTo>
                  <a:lnTo>
                    <a:pt x="1047750" y="0"/>
                  </a:lnTo>
                </a:path>
              </a:pathLst>
            </a:custGeom>
            <a:noFill/>
            <a:ln w="4762">
              <a:solidFill>
                <a:srgbClr val="3D3D5C"/>
              </a:solidFill>
            </a:ln>
          </p:spPr>
        </p:sp>
      </p:grpSp>
      <p:sp>
        <p:nvSpPr>
          <p:cNvPr id="19" name="Polygon 19"/>
          <p:cNvSpPr/>
          <p:nvPr/>
        </p:nvSpPr>
        <p:spPr>
          <a:xfrm>
            <a:off x="4629150" y="2626042"/>
            <a:ext cx="2724150" cy="2359342"/>
          </a:xfrm>
          <a:custGeom>
            <a:avLst/>
            <a:gdLst/>
            <a:ahLst/>
            <a:cxnLst/>
            <a:rect l="l" t="t" r="r" b="b"/>
            <a:pathLst>
              <a:path w="2724150" h="2359342">
                <a:moveTo>
                  <a:pt x="2724150" y="1088708"/>
                </a:moveTo>
                <a:lnTo>
                  <a:pt x="2200275" y="2359342"/>
                </a:lnTo>
                <a:lnTo>
                  <a:pt x="838200" y="2177415"/>
                </a:lnTo>
                <a:lnTo>
                  <a:pt x="0" y="1088708"/>
                </a:lnTo>
                <a:lnTo>
                  <a:pt x="1047750" y="362903"/>
                </a:lnTo>
                <a:lnTo>
                  <a:pt x="2095500" y="0"/>
                </a:lnTo>
                <a:close/>
              </a:path>
            </a:pathLst>
          </a:custGeom>
          <a:solidFill>
            <a:srgbClr val="D4AF37">
              <a:alpha val="20000"/>
            </a:srgbClr>
          </a:solidFill>
          <a:ln w="14288">
            <a:solidFill>
              <a:srgbClr val="D4AF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732249" y="151399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施压权 · 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51499" y="5609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注意权 · 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12999" y="5609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关系权 · 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94880" y="3704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信息权 ·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2688" y="1799749"/>
            <a:ext cx="690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规则权 ·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0499" y="1799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组合拳 · 5</a:t>
            </a:r>
          </a:p>
        </p:txBody>
      </p:sp>
      <p:sp>
        <p:nvSpPr>
          <p:cNvPr id="26" name="Freeform 26"/>
          <p:cNvSpPr/>
          <p:nvPr/>
        </p:nvSpPr>
        <p:spPr>
          <a:xfrm>
            <a:off x="9525000" y="2095500"/>
            <a:ext cx="2095500" cy="2667000"/>
          </a:xfrm>
          <a:custGeom>
            <a:avLst/>
            <a:gdLst/>
            <a:ahLst/>
            <a:cxnLst/>
            <a:rect l="l" t="t" r="r" b="b"/>
            <a:pathLst>
              <a:path w="2095500" h="2667000">
                <a:moveTo>
                  <a:pt x="57150" y="0"/>
                </a:moveTo>
                <a:lnTo>
                  <a:pt x="2038350" y="0"/>
                </a:lnTo>
                <a:cubicBezTo>
                  <a:pt x="2069913" y="0"/>
                  <a:pt x="2095500" y="25587"/>
                  <a:pt x="2095500" y="57150"/>
                </a:cubicBezTo>
                <a:lnTo>
                  <a:pt x="2095500" y="2609850"/>
                </a:lnTo>
                <a:cubicBezTo>
                  <a:pt x="2095500" y="2641413"/>
                  <a:pt x="2069913" y="2667000"/>
                  <a:pt x="2038350" y="2667000"/>
                </a:cubicBezTo>
                <a:lnTo>
                  <a:pt x="57150" y="2667000"/>
                </a:lnTo>
                <a:cubicBezTo>
                  <a:pt x="25587" y="2667000"/>
                  <a:pt x="0" y="2641413"/>
                  <a:pt x="0" y="2609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2937"/>
          </a:solidFill>
          <a:ln w="4762">
            <a:solidFill>
              <a:srgbClr val="D4AF3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01212" y="2355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风险等级</a:t>
            </a:r>
          </a:p>
        </p:txBody>
      </p:sp>
      <p:sp>
        <p:nvSpPr>
          <p:cNvPr id="28" name="Line 28"/>
          <p:cNvSpPr/>
          <p:nvPr/>
        </p:nvSpPr>
        <p:spPr>
          <a:xfrm>
            <a:off x="9715500" y="26193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715500" y="28098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942195" y="281749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高危险 · 6种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34962" y="28255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33%</a:t>
            </a:r>
          </a:p>
        </p:txBody>
      </p:sp>
      <p:sp>
        <p:nvSpPr>
          <p:cNvPr id="32" name="Freeform 32"/>
          <p:cNvSpPr/>
          <p:nvPr/>
        </p:nvSpPr>
        <p:spPr>
          <a:xfrm>
            <a:off x="9715500" y="3095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942195" y="3103245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施压手法 · 4种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34962" y="31113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22%</a:t>
            </a:r>
          </a:p>
        </p:txBody>
      </p:sp>
      <p:sp>
        <p:nvSpPr>
          <p:cNvPr id="35" name="Freeform 35"/>
          <p:cNvSpPr/>
          <p:nvPr/>
        </p:nvSpPr>
        <p:spPr>
          <a:xfrm>
            <a:off x="9715500" y="3381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4AF3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942195" y="3388995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中性手法 · 5种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34962" y="33970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28%</a:t>
            </a:r>
          </a:p>
        </p:txBody>
      </p:sp>
      <p:sp>
        <p:nvSpPr>
          <p:cNvPr id="38" name="Freeform 38"/>
          <p:cNvSpPr/>
          <p:nvPr/>
        </p:nvSpPr>
        <p:spPr>
          <a:xfrm>
            <a:off x="9715500" y="3667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942195" y="3674745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值得学习 · 3种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65085" y="3682841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17%</a:t>
            </a:r>
          </a:p>
        </p:txBody>
      </p:sp>
      <p:sp>
        <p:nvSpPr>
          <p:cNvPr id="41" name="Line 41"/>
          <p:cNvSpPr/>
          <p:nvPr/>
        </p:nvSpPr>
        <p:spPr>
          <a:xfrm>
            <a:off x="9715500" y="40005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704070" y="4141470"/>
            <a:ext cx="16724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施压密集区：注意权+施压权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04070" y="4331970"/>
            <a:ext cx="16724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最值得学：立规矩+三要素法</a:t>
            </a:r>
          </a:p>
        </p:txBody>
      </p:sp>
      <p:sp>
        <p:nvSpPr>
          <p:cNvPr id="44" name="Line 44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 · 行为模式章节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4AF37">
                  <a:alpha val="15000"/>
                </a:srgbClr>
              </a:gs>
              <a:gs pos="10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387191"/>
            <a:ext cx="12734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RELATIONSHIP GALAXY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61912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关系网络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1563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以他为中心的星系，每段关系都有策略</a:t>
            </a:r>
          </a:p>
        </p:txBody>
      </p:sp>
      <p:sp>
        <p:nvSpPr>
          <p:cNvPr id="8" name="Ellipse 8"/>
          <p:cNvSpPr/>
          <p:nvPr/>
        </p:nvSpPr>
        <p:spPr>
          <a:xfrm>
            <a:off x="5715000" y="3048000"/>
            <a:ext cx="762000" cy="762000"/>
          </a:xfrm>
          <a:prstGeom prst="ellipse">
            <a:avLst/>
          </a:prstGeom>
          <a:solidFill>
            <a:srgbClr val="D4AF37">
              <a:alpha val="30000"/>
            </a:srgbClr>
          </a:solidFill>
          <a:ln w="19050">
            <a:solidFill>
              <a:srgbClr val="D4AF3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804726" y="325183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67400" y="34718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权力核心</a:t>
            </a:r>
          </a:p>
        </p:txBody>
      </p:sp>
      <p:sp>
        <p:nvSpPr>
          <p:cNvPr id="11" name="Ellipse 11"/>
          <p:cNvSpPr/>
          <p:nvPr/>
        </p:nvSpPr>
        <p:spPr>
          <a:xfrm>
            <a:off x="4667250" y="2476500"/>
            <a:ext cx="2857500" cy="1905000"/>
          </a:xfrm>
          <a:prstGeom prst="ellipse">
            <a:avLst/>
          </a:prstGeom>
          <a:noFill/>
          <a:ln w="4762">
            <a:solidFill>
              <a:srgbClr val="D4AF37">
                <a:alpha val="30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3619500" y="1809750"/>
            <a:ext cx="4953000" cy="3238500"/>
          </a:xfrm>
          <a:prstGeom prst="ellipse">
            <a:avLst/>
          </a:prstGeom>
          <a:noFill/>
          <a:ln w="4762">
            <a:solidFill>
              <a:srgbClr val="D4AF37">
                <a:alpha val="20000"/>
              </a:srgbClr>
            </a:solidFill>
          </a:ln>
        </p:spPr>
      </p:sp>
      <p:sp>
        <p:nvSpPr>
          <p:cNvPr id="13" name="Ellipse 13"/>
          <p:cNvSpPr/>
          <p:nvPr/>
        </p:nvSpPr>
        <p:spPr>
          <a:xfrm>
            <a:off x="2571750" y="1143000"/>
            <a:ext cx="7048500" cy="4572000"/>
          </a:xfrm>
          <a:prstGeom prst="ellipse">
            <a:avLst/>
          </a:prstGeom>
          <a:noFill/>
          <a:ln w="4762">
            <a:solidFill>
              <a:srgbClr val="6B7280">
                <a:alpha val="15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5810250" y="1714500"/>
            <a:ext cx="571500" cy="571500"/>
          </a:xfrm>
          <a:prstGeom prst="ellipse">
            <a:avLst/>
          </a:prstGeom>
          <a:solidFill>
            <a:srgbClr val="1F2937"/>
          </a:solidFill>
          <a:ln w="14288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95749" y="188261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王易人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25490" y="2040255"/>
            <a:ext cx="54102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服务组负责人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0" y="2286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D4AF37"/>
            </a:solidFill>
            <a:custDash>
              <a:ds d="300000" sp="300000"/>
            </a:custDash>
          </a:ln>
        </p:spPr>
      </p:sp>
      <p:sp>
        <p:nvSpPr>
          <p:cNvPr id="18" name="Ellipse 18"/>
          <p:cNvSpPr/>
          <p:nvPr/>
        </p:nvSpPr>
        <p:spPr>
          <a:xfrm>
            <a:off x="3848100" y="2419350"/>
            <a:ext cx="495300" cy="495300"/>
          </a:xfrm>
          <a:prstGeom prst="ellipse">
            <a:avLst/>
          </a:prstGeom>
          <a:solidFill>
            <a:srgbClr val="1F2937"/>
          </a:solidFill>
          <a:ln w="9525">
            <a:solidFill>
              <a:srgbClr val="22C55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958757" y="25493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郭鑫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56685" y="27070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前同事</a:t>
            </a:r>
          </a:p>
        </p:txBody>
      </p:sp>
      <p:sp>
        <p:nvSpPr>
          <p:cNvPr id="21" name="Line 21"/>
          <p:cNvSpPr/>
          <p:nvPr/>
        </p:nvSpPr>
        <p:spPr>
          <a:xfrm>
            <a:off x="4343400" y="2809875"/>
            <a:ext cx="1466850" cy="428625"/>
          </a:xfrm>
          <a:custGeom>
            <a:avLst/>
            <a:gdLst/>
            <a:ahLst/>
            <a:cxnLst/>
            <a:rect l="l" t="t" r="r" b="b"/>
            <a:pathLst>
              <a:path w="1466850" h="428625">
                <a:moveTo>
                  <a:pt x="0" y="0"/>
                </a:moveTo>
                <a:lnTo>
                  <a:pt x="1466850" y="428625"/>
                </a:lnTo>
              </a:path>
            </a:pathLst>
          </a:custGeom>
          <a:noFill/>
          <a:ln w="4762">
            <a:solidFill>
              <a:srgbClr val="22C55E">
                <a:alpha val="40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848600" y="2419350"/>
            <a:ext cx="495300" cy="495300"/>
          </a:xfrm>
          <a:prstGeom prst="ellipse">
            <a:avLst/>
          </a:prstGeom>
          <a:solidFill>
            <a:srgbClr val="1F2937"/>
          </a:solidFill>
          <a:ln w="952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95999" y="25493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马贵贤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7185" y="27070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前同事</a:t>
            </a:r>
          </a:p>
        </p:txBody>
      </p:sp>
      <p:sp>
        <p:nvSpPr>
          <p:cNvPr id="25" name="Line 25"/>
          <p:cNvSpPr/>
          <p:nvPr/>
        </p:nvSpPr>
        <p:spPr>
          <a:xfrm>
            <a:off x="6381750" y="2809875"/>
            <a:ext cx="1466850" cy="428625"/>
          </a:xfrm>
          <a:custGeom>
            <a:avLst/>
            <a:gdLst/>
            <a:ahLst/>
            <a:cxnLst/>
            <a:rect l="l" t="t" r="r" b="b"/>
            <a:pathLst>
              <a:path w="1466850" h="428625">
                <a:moveTo>
                  <a:pt x="1466850" y="0"/>
                </a:moveTo>
                <a:lnTo>
                  <a:pt x="0" y="428625"/>
                </a:lnTo>
              </a:path>
            </a:pathLst>
          </a:custGeom>
          <a:noFill/>
          <a:ln w="4762">
            <a:solidFill>
              <a:srgbClr val="22C55E">
                <a:alpha val="40000"/>
              </a:srgbClr>
            </a:solidFill>
          </a:ln>
        </p:spPr>
      </p:sp>
      <p:sp>
        <p:nvSpPr>
          <p:cNvPr id="26" name="Ellipse 26"/>
          <p:cNvSpPr/>
          <p:nvPr/>
        </p:nvSpPr>
        <p:spPr>
          <a:xfrm>
            <a:off x="3467100" y="3943350"/>
            <a:ext cx="495300" cy="495300"/>
          </a:xfrm>
          <a:prstGeom prst="ellipse">
            <a:avLst/>
          </a:prstGeom>
          <a:solidFill>
            <a:srgbClr val="1F2937"/>
          </a:solidFill>
          <a:ln w="9525">
            <a:solidFill>
              <a:srgbClr val="9CA3A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514499" y="40733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刘伟佳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75685" y="42310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策略组</a:t>
            </a:r>
          </a:p>
        </p:txBody>
      </p:sp>
      <p:sp>
        <p:nvSpPr>
          <p:cNvPr id="29" name="Line 29"/>
          <p:cNvSpPr/>
          <p:nvPr/>
        </p:nvSpPr>
        <p:spPr>
          <a:xfrm>
            <a:off x="3962400" y="3619500"/>
            <a:ext cx="1847850" cy="476250"/>
          </a:xfrm>
          <a:custGeom>
            <a:avLst/>
            <a:gdLst/>
            <a:ahLst/>
            <a:cxnLst/>
            <a:rect l="l" t="t" r="r" b="b"/>
            <a:pathLst>
              <a:path w="1847850" h="476250">
                <a:moveTo>
                  <a:pt x="0" y="476250"/>
                </a:moveTo>
                <a:lnTo>
                  <a:pt x="1847850" y="0"/>
                </a:lnTo>
              </a:path>
            </a:pathLst>
          </a:custGeom>
          <a:noFill/>
          <a:ln w="4762">
            <a:solidFill>
              <a:srgbClr val="9CA3AF">
                <a:alpha val="30000"/>
              </a:srgbClr>
            </a:solidFill>
          </a:ln>
        </p:spPr>
      </p:sp>
      <p:sp>
        <p:nvSpPr>
          <p:cNvPr id="30" name="Ellipse 30"/>
          <p:cNvSpPr/>
          <p:nvPr/>
        </p:nvSpPr>
        <p:spPr>
          <a:xfrm>
            <a:off x="2305050" y="2209800"/>
            <a:ext cx="533400" cy="533400"/>
          </a:xfrm>
          <a:prstGeom prst="ellipse">
            <a:avLst/>
          </a:prstGeom>
          <a:solidFill>
            <a:srgbClr val="1F2937"/>
          </a:solidFill>
          <a:ln w="9525">
            <a:solidFill>
              <a:srgbClr val="F2D06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371499" y="23588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20957" y="2516505"/>
            <a:ext cx="501586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拉拢+人情债</a:t>
            </a:r>
          </a:p>
        </p:txBody>
      </p:sp>
      <p:sp>
        <p:nvSpPr>
          <p:cNvPr id="33" name="Line 33"/>
          <p:cNvSpPr/>
          <p:nvPr/>
        </p:nvSpPr>
        <p:spPr>
          <a:xfrm>
            <a:off x="2838450" y="2571750"/>
            <a:ext cx="2971800" cy="666750"/>
          </a:xfrm>
          <a:custGeom>
            <a:avLst/>
            <a:gdLst/>
            <a:ahLst/>
            <a:cxnLst/>
            <a:rect l="l" t="t" r="r" b="b"/>
            <a:pathLst>
              <a:path w="2971800" h="666750">
                <a:moveTo>
                  <a:pt x="0" y="0"/>
                </a:moveTo>
                <a:lnTo>
                  <a:pt x="2971800" y="666750"/>
                </a:lnTo>
              </a:path>
            </a:pathLst>
          </a:custGeom>
          <a:noFill/>
          <a:ln w="4762">
            <a:solidFill>
              <a:srgbClr val="F2D06B">
                <a:alpha val="20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8229600" y="4514850"/>
            <a:ext cx="495300" cy="495300"/>
          </a:xfrm>
          <a:prstGeom prst="ellipse">
            <a:avLst/>
          </a:prstGeom>
          <a:solidFill>
            <a:srgbClr val="1F2937"/>
          </a:solidFill>
          <a:ln w="9525">
            <a:solidFill>
              <a:srgbClr val="6B728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276999" y="46448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张世跃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185" y="48025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实习生</a:t>
            </a:r>
          </a:p>
        </p:txBody>
      </p:sp>
      <p:sp>
        <p:nvSpPr>
          <p:cNvPr id="37" name="Line 37"/>
          <p:cNvSpPr/>
          <p:nvPr/>
        </p:nvSpPr>
        <p:spPr>
          <a:xfrm>
            <a:off x="6381750" y="3714750"/>
            <a:ext cx="1847850" cy="952500"/>
          </a:xfrm>
          <a:custGeom>
            <a:avLst/>
            <a:gdLst/>
            <a:ahLst/>
            <a:cxnLst/>
            <a:rect l="l" t="t" r="r" b="b"/>
            <a:pathLst>
              <a:path w="1847850" h="952500">
                <a:moveTo>
                  <a:pt x="1847850" y="95250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6B7280">
                <a:alpha val="20000"/>
              </a:srgbClr>
            </a:solidFill>
          </a:ln>
        </p:spPr>
      </p:sp>
      <p:sp>
        <p:nvSpPr>
          <p:cNvPr id="38" name="Ellipse 38"/>
          <p:cNvSpPr/>
          <p:nvPr/>
        </p:nvSpPr>
        <p:spPr>
          <a:xfrm>
            <a:off x="9353550" y="2209800"/>
            <a:ext cx="533400" cy="533400"/>
          </a:xfrm>
          <a:prstGeom prst="ellipse">
            <a:avLst/>
          </a:prstGeom>
          <a:solidFill>
            <a:srgbClr val="1F2937"/>
          </a:solidFill>
          <a:ln w="9525">
            <a:solidFill>
              <a:srgbClr val="B91C1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419999" y="23588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李吉斌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25000" y="2516505"/>
            <a:ext cx="19050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前任</a:t>
            </a:r>
          </a:p>
        </p:txBody>
      </p:sp>
      <p:sp>
        <p:nvSpPr>
          <p:cNvPr id="41" name="Line 41"/>
          <p:cNvSpPr/>
          <p:nvPr/>
        </p:nvSpPr>
        <p:spPr>
          <a:xfrm>
            <a:off x="6381750" y="2571750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2971800" y="0"/>
                </a:moveTo>
                <a:lnTo>
                  <a:pt x="0" y="762000"/>
                </a:lnTo>
              </a:path>
            </a:pathLst>
          </a:custGeom>
          <a:noFill/>
          <a:ln w="4762">
            <a:solidFill>
              <a:srgbClr val="B91C1C">
                <a:alpha val="30000"/>
              </a:srgbClr>
            </a:solidFill>
          </a:ln>
        </p:spPr>
      </p:sp>
      <p:sp>
        <p:nvSpPr>
          <p:cNvPr id="42" name="Ellipse 42"/>
          <p:cNvSpPr/>
          <p:nvPr/>
        </p:nvSpPr>
        <p:spPr>
          <a:xfrm>
            <a:off x="4476750" y="5048250"/>
            <a:ext cx="571500" cy="571500"/>
          </a:xfrm>
          <a:prstGeom prst="ellipse">
            <a:avLst/>
          </a:prstGeom>
          <a:solidFill>
            <a:srgbClr val="1F2937"/>
          </a:solidFill>
          <a:ln w="9525">
            <a:solidFill>
              <a:srgbClr val="6B728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498991" y="521636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供应商群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79620" y="5374005"/>
            <a:ext cx="36576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利益驱动</a:t>
            </a:r>
          </a:p>
        </p:txBody>
      </p:sp>
      <p:sp>
        <p:nvSpPr>
          <p:cNvPr id="45" name="Line 45"/>
          <p:cNvSpPr/>
          <p:nvPr/>
        </p:nvSpPr>
        <p:spPr>
          <a:xfrm>
            <a:off x="4953000" y="3810000"/>
            <a:ext cx="952500" cy="1333500"/>
          </a:xfrm>
          <a:custGeom>
            <a:avLst/>
            <a:gdLst/>
            <a:ahLst/>
            <a:cxnLst/>
            <a:rect l="l" t="t" r="r" b="b"/>
            <a:pathLst>
              <a:path w="952500" h="1333500">
                <a:moveTo>
                  <a:pt x="0" y="1333500"/>
                </a:moveTo>
                <a:lnTo>
                  <a:pt x="952500" y="0"/>
                </a:lnTo>
              </a:path>
            </a:pathLst>
          </a:custGeom>
          <a:noFill/>
          <a:ln w="4762">
            <a:solidFill>
              <a:srgbClr val="6B7280">
                <a:alpha val="20000"/>
              </a:srgbClr>
            </a:solidFill>
          </a:ln>
        </p:spPr>
      </p:sp>
      <p:sp>
        <p:nvSpPr>
          <p:cNvPr id="46" name="Line 46"/>
          <p:cNvSpPr/>
          <p:nvPr/>
        </p:nvSpPr>
        <p:spPr>
          <a:xfrm>
            <a:off x="571500" y="6096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60070" y="63322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策略洞察：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2070" y="6332220"/>
            <a:ext cx="40976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同盟用嘴出力 · 上级是最终观众 · 对手公开攻击 · 年老师拉拢+人情债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1975" y="658653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30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SUPPLIER MANAGEMENT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供应商管理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四种驱动方式，让供应商自己动起来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61925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1805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质问式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118" y="21807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"汰换机制是什么？"</a:t>
            </a:r>
          </a:p>
        </p:txBody>
      </p:sp>
      <p:sp>
        <p:nvSpPr>
          <p:cNvPr id="11" name="Line 11"/>
          <p:cNvSpPr/>
          <p:nvPr/>
        </p:nvSpPr>
        <p:spPr>
          <a:xfrm>
            <a:off x="952500" y="24288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9165" y="260127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直接提问，制造"必须回答"的压力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83940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让供应商解释问题，不给模糊空间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327612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可学：精准提问，不给模糊空间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070" y="35699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风险：高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161925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6286500" y="161925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44640" y="1805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驱动式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55118" y="2180749"/>
            <a:ext cx="1128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"3.4亿才有奖金"</a:t>
            </a:r>
          </a:p>
        </p:txBody>
      </p:sp>
      <p:sp>
        <p:nvSpPr>
          <p:cNvPr id="20" name="Line 20"/>
          <p:cNvSpPr/>
          <p:nvPr/>
        </p:nvSpPr>
        <p:spPr>
          <a:xfrm>
            <a:off x="6667500" y="24288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54165" y="26012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用利益让供应商自己急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4165" y="2839402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"为自己干"不是"为我干"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5118" y="3276124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利益绑定比命令更有效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6070" y="35699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风险：中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0005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71500" y="400050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2D06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29640" y="41871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要求式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0118" y="4561999"/>
            <a:ext cx="17477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"本月人力计划、周度计划"</a:t>
            </a:r>
          </a:p>
        </p:txBody>
      </p:sp>
      <p:sp>
        <p:nvSpPr>
          <p:cNvPr id="29" name="Line 29"/>
          <p:cNvSpPr/>
          <p:nvPr/>
        </p:nvSpPr>
        <p:spPr>
          <a:xfrm>
            <a:off x="952500" y="48101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39165" y="49825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要求具体计划，不模糊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9165" y="5220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明确时间节点和交付物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118" y="56573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要求要具体可考核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1070" y="59512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风险：低</a:t>
            </a:r>
          </a:p>
        </p:txBody>
      </p:sp>
      <p:sp>
        <p:nvSpPr>
          <p:cNvPr id="34" name="Freeform 34"/>
          <p:cNvSpPr/>
          <p:nvPr/>
        </p:nvSpPr>
        <p:spPr>
          <a:xfrm>
            <a:off x="6286500" y="40005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6286500" y="400050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44640" y="4187190"/>
            <a:ext cx="22954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改进式 ★ 最值得学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5118" y="4561999"/>
            <a:ext cx="20325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三要素法：原因+提升目标+举措</a:t>
            </a:r>
          </a:p>
        </p:txBody>
      </p:sp>
      <p:sp>
        <p:nvSpPr>
          <p:cNvPr id="38" name="Line 38"/>
          <p:cNvSpPr/>
          <p:nvPr/>
        </p:nvSpPr>
        <p:spPr>
          <a:xfrm>
            <a:off x="6667500" y="48101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654165" y="498252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让供应商自己承诺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54165" y="5220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完不成有把柄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55118" y="56573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最成熟的管理手法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6070" y="59512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风险：低，效果：高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1975" y="6491288"/>
            <a:ext cx="22207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 · 供应商管理章节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81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ONBOARDING PLAYBOOK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接手新业务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四步建立管理基础</a:t>
            </a:r>
          </a:p>
        </p:txBody>
      </p:sp>
      <p:sp>
        <p:nvSpPr>
          <p:cNvPr id="7" name="Freeform 7"/>
          <p:cNvSpPr/>
          <p:nvPr/>
        </p:nvSpPr>
        <p:spPr>
          <a:xfrm>
            <a:off x="1524000" y="2476500"/>
            <a:ext cx="9334500" cy="1492250"/>
          </a:xfrm>
          <a:custGeom>
            <a:avLst/>
            <a:gdLst/>
            <a:ahLst/>
            <a:cxnLst/>
            <a:rect l="l" t="t" r="r" b="b"/>
            <a:pathLst>
              <a:path w="9334500" h="1492250">
                <a:moveTo>
                  <a:pt x="0" y="1333500"/>
                </a:moveTo>
                <a:cubicBezTo>
                  <a:pt x="1270000" y="381000"/>
                  <a:pt x="2540000" y="222250"/>
                  <a:pt x="3810000" y="857250"/>
                </a:cubicBezTo>
                <a:cubicBezTo>
                  <a:pt x="5080000" y="1492250"/>
                  <a:pt x="6350000" y="1333500"/>
                  <a:pt x="7620000" y="381000"/>
                </a:cubicBezTo>
                <a:cubicBezTo>
                  <a:pt x="8255000" y="0"/>
                  <a:pt x="8826500" y="0"/>
                  <a:pt x="9334500" y="381000"/>
                </a:cubicBezTo>
              </a:path>
            </a:pathLst>
          </a:custGeom>
          <a:noFill/>
          <a:ln w="23812">
            <a:gradFill>
              <a:gsLst>
                <a:gs pos="0">
                  <a:srgbClr val="D4AF37"/>
                </a:gs>
                <a:gs pos="100000">
                  <a:srgbClr val="F2D06B"/>
                </a:gs>
              </a:gsLst>
              <a:lin ang="2700000" scaled="1"/>
            </a:gradFill>
            <a:custDash>
              <a:ds d="240000" sp="160000"/>
            </a:custDash>
          </a:ln>
        </p:spPr>
      </p:sp>
      <p:sp>
        <p:nvSpPr>
          <p:cNvPr id="8" name="Ellipse 8"/>
          <p:cNvSpPr/>
          <p:nvPr/>
        </p:nvSpPr>
        <p:spPr>
          <a:xfrm>
            <a:off x="1314450" y="3600450"/>
            <a:ext cx="419100" cy="419100"/>
          </a:xfrm>
          <a:prstGeom prst="ellipse">
            <a:avLst/>
          </a:prstGeom>
          <a:solidFill>
            <a:srgbClr val="D4AF37">
              <a:alpha val="30000"/>
            </a:srgbClr>
          </a:solidFill>
          <a:ln w="19050">
            <a:solidFill>
              <a:srgbClr val="D4AF3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475801" y="362616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2000" y="1619250"/>
            <a:ext cx="2286000" cy="1714500"/>
          </a:xfrm>
          <a:custGeom>
            <a:avLst/>
            <a:gdLst/>
            <a:ahLst/>
            <a:cxnLst/>
            <a:rect l="l" t="t" r="r" b="b"/>
            <a:pathLst>
              <a:path w="2286000" h="1714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638300"/>
                </a:lnTo>
                <a:cubicBezTo>
                  <a:pt x="2286000" y="1680384"/>
                  <a:pt x="2251884" y="1714500"/>
                  <a:pt x="2209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D4AF3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31545" y="1822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0118" y="2180749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宣布7条规则：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0118" y="2390299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30分钟回复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2599849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10点报出勤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118" y="28093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昵称格式规范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0118" y="30189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数据日报格式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1070" y="3236595"/>
            <a:ext cx="13504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后续变成"按规则办事"</a:t>
            </a:r>
          </a:p>
        </p:txBody>
      </p:sp>
      <p:sp>
        <p:nvSpPr>
          <p:cNvPr id="18" name="Line 18"/>
          <p:cNvSpPr/>
          <p:nvPr/>
        </p:nvSpPr>
        <p:spPr>
          <a:xfrm>
            <a:off x="1571625" y="3333750"/>
            <a:ext cx="333375" cy="285750"/>
          </a:xfrm>
          <a:custGeom>
            <a:avLst/>
            <a:gdLst/>
            <a:ahLst/>
            <a:cxnLst/>
            <a:rect l="l" t="t" r="r" b="b"/>
            <a:pathLst>
              <a:path w="333375" h="285750">
                <a:moveTo>
                  <a:pt x="333375" y="0"/>
                </a:moveTo>
                <a:lnTo>
                  <a:pt x="0" y="285750"/>
                </a:lnTo>
              </a:path>
            </a:pathLst>
          </a:custGeom>
          <a:noFill/>
          <a:ln w="4762">
            <a:solidFill>
              <a:srgbClr val="D4AF37">
                <a:alpha val="30000"/>
              </a:srgbClr>
            </a:solidFill>
          </a:ln>
        </p:spPr>
      </p:sp>
      <p:sp>
        <p:nvSpPr>
          <p:cNvPr id="19" name="Ellipse 19"/>
          <p:cNvSpPr/>
          <p:nvPr/>
        </p:nvSpPr>
        <p:spPr>
          <a:xfrm>
            <a:off x="5124450" y="3124200"/>
            <a:ext cx="419100" cy="419100"/>
          </a:xfrm>
          <a:prstGeom prst="ellipse">
            <a:avLst/>
          </a:prstGeom>
          <a:solidFill>
            <a:srgbClr val="1F2937"/>
          </a:solidFill>
          <a:ln w="14288">
            <a:solidFill>
              <a:srgbClr val="F2D06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259923" y="32356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1" name="Freeform 21"/>
          <p:cNvSpPr/>
          <p:nvPr/>
        </p:nvSpPr>
        <p:spPr>
          <a:xfrm>
            <a:off x="4191000" y="4191000"/>
            <a:ext cx="2286000" cy="1714500"/>
          </a:xfrm>
          <a:custGeom>
            <a:avLst/>
            <a:gdLst/>
            <a:ahLst/>
            <a:cxnLst/>
            <a:rect l="l" t="t" r="r" b="b"/>
            <a:pathLst>
              <a:path w="2286000" h="1714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638300"/>
                </a:lnTo>
                <a:cubicBezTo>
                  <a:pt x="2286000" y="1680384"/>
                  <a:pt x="2251884" y="1714500"/>
                  <a:pt x="2209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F2D06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360545" y="4393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数据切入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69118" y="475249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5分钟连发两条数据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69118" y="49620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精确到小数点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69118" y="51715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责任完美分散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69118" y="53811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摆数据，不出结论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70070" y="56178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让别人背锅，自己居功</a:t>
            </a:r>
          </a:p>
        </p:txBody>
      </p:sp>
      <p:sp>
        <p:nvSpPr>
          <p:cNvPr id="28" name="Line 28"/>
          <p:cNvSpPr/>
          <p:nvPr/>
        </p:nvSpPr>
        <p:spPr>
          <a:xfrm>
            <a:off x="5334000" y="3543300"/>
            <a:ext cx="9525" cy="647700"/>
          </a:xfrm>
          <a:custGeom>
            <a:avLst/>
            <a:gdLst/>
            <a:ahLst/>
            <a:cxnLst/>
            <a:rect l="l" t="t" r="r" b="b"/>
            <a:pathLst>
              <a:path w="9525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/>
          <a:ln w="4762">
            <a:solidFill>
              <a:srgbClr val="F2D06B">
                <a:alpha val="30000"/>
              </a:srgbClr>
            </a:solidFill>
          </a:ln>
        </p:spPr>
      </p:sp>
      <p:sp>
        <p:nvSpPr>
          <p:cNvPr id="29" name="Ellipse 29"/>
          <p:cNvSpPr/>
          <p:nvPr/>
        </p:nvSpPr>
        <p:spPr>
          <a:xfrm>
            <a:off x="8934450" y="2647950"/>
            <a:ext cx="419100" cy="419100"/>
          </a:xfrm>
          <a:prstGeom prst="ellipse">
            <a:avLst/>
          </a:prstGeom>
          <a:solidFill>
            <a:srgbClr val="1F2937"/>
          </a:solidFill>
          <a:ln w="14288">
            <a:solidFill>
              <a:srgbClr val="B91C1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69923" y="27593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1" name="Freeform 31"/>
          <p:cNvSpPr/>
          <p:nvPr/>
        </p:nvSpPr>
        <p:spPr>
          <a:xfrm>
            <a:off x="8001000" y="1619250"/>
            <a:ext cx="2286000" cy="1714500"/>
          </a:xfrm>
          <a:custGeom>
            <a:avLst/>
            <a:gdLst/>
            <a:ahLst/>
            <a:cxnLst/>
            <a:rect l="l" t="t" r="r" b="b"/>
            <a:pathLst>
              <a:path w="2286000" h="1714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638300"/>
                </a:lnTo>
                <a:cubicBezTo>
                  <a:pt x="2286000" y="1680384"/>
                  <a:pt x="2251884" y="1714500"/>
                  <a:pt x="2209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B91C1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170545" y="1822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9118" y="2180749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群里@具体人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9118" y="23902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所有人看着不得不接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9118" y="2599849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不私聊，公开@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9118" y="28093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连环追加施压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80070" y="3046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制造回复压力</a:t>
            </a:r>
          </a:p>
        </p:txBody>
      </p:sp>
      <p:sp>
        <p:nvSpPr>
          <p:cNvPr id="38" name="Line 38"/>
          <p:cNvSpPr/>
          <p:nvPr/>
        </p:nvSpPr>
        <p:spPr>
          <a:xfrm>
            <a:off x="9144000" y="26670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4762">
            <a:solidFill>
              <a:srgbClr val="B91C1C">
                <a:alpha val="30000"/>
              </a:srgbClr>
            </a:solidFill>
          </a:ln>
        </p:spPr>
      </p:sp>
      <p:sp>
        <p:nvSpPr>
          <p:cNvPr id="39" name="Ellipse 39"/>
          <p:cNvSpPr/>
          <p:nvPr/>
        </p:nvSpPr>
        <p:spPr>
          <a:xfrm>
            <a:off x="10648950" y="2647950"/>
            <a:ext cx="419100" cy="419100"/>
          </a:xfrm>
          <a:prstGeom prst="ellipse">
            <a:avLst/>
          </a:prstGeom>
          <a:solidFill>
            <a:srgbClr val="1F2937"/>
          </a:solidFill>
          <a:ln w="14288">
            <a:solidFill>
              <a:srgbClr val="22C55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784423" y="27593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41" name="Freeform 41"/>
          <p:cNvSpPr/>
          <p:nvPr/>
        </p:nvSpPr>
        <p:spPr>
          <a:xfrm>
            <a:off x="8953500" y="4191000"/>
            <a:ext cx="2286000" cy="1714500"/>
          </a:xfrm>
          <a:custGeom>
            <a:avLst/>
            <a:gdLst/>
            <a:ahLst/>
            <a:cxnLst/>
            <a:rect l="l" t="t" r="r" b="b"/>
            <a:pathLst>
              <a:path w="2286000" h="1714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638300"/>
                </a:lnTo>
                <a:cubicBezTo>
                  <a:pt x="2286000" y="1680384"/>
                  <a:pt x="2251884" y="1714500"/>
                  <a:pt x="2209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22C55E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123045" y="4393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建立预期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31618" y="47524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按规则办事的形象确立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31618" y="49620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后续引用初始规则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31618" y="5171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持续执行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32570" y="5522595"/>
            <a:ext cx="956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从"个人意志"变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32570" y="5713095"/>
            <a:ext cx="824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为"按章办事"</a:t>
            </a:r>
          </a:p>
        </p:txBody>
      </p:sp>
      <p:sp>
        <p:nvSpPr>
          <p:cNvPr id="48" name="Freeform 48"/>
          <p:cNvSpPr/>
          <p:nvPr/>
        </p:nvSpPr>
        <p:spPr>
          <a:xfrm>
            <a:off x="571500" y="6191250"/>
            <a:ext cx="5715000" cy="381000"/>
          </a:xfrm>
          <a:custGeom>
            <a:avLst/>
            <a:gdLst/>
            <a:ahLst/>
            <a:cxnLst/>
            <a:rect l="l" t="t" r="r" b="b"/>
            <a:pathLst>
              <a:path w="5715000" h="381000">
                <a:moveTo>
                  <a:pt x="57150" y="0"/>
                </a:moveTo>
                <a:lnTo>
                  <a:pt x="5657850" y="0"/>
                </a:lnTo>
                <a:cubicBezTo>
                  <a:pt x="5689413" y="0"/>
                  <a:pt x="5715000" y="25587"/>
                  <a:pt x="5715000" y="57150"/>
                </a:cubicBezTo>
                <a:lnTo>
                  <a:pt x="5715000" y="323850"/>
                </a:lnTo>
                <a:cubicBezTo>
                  <a:pt x="5715000" y="355413"/>
                  <a:pt x="5689413" y="381000"/>
                  <a:pt x="5657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F37">
              <a:alpha val="10000"/>
            </a:srgbClr>
          </a:solidFill>
          <a:ln w="4762">
            <a:solidFill>
              <a:srgbClr val="D4AF37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49618" y="6324124"/>
            <a:ext cx="37556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高明：后续所有管理都是"执行既定规则"，不是"个人施压"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1975" y="6634162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71409" y="6634162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2355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COUNTER STRATEGIES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话术对照 — 他说什么 vs 你怎么回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3810000" cy="2571750"/>
          </a:xfrm>
          <a:custGeom>
            <a:avLst/>
            <a:gdLst/>
            <a:ahLst/>
            <a:cxnLst/>
            <a:rect l="l" t="t" r="r" b="b"/>
            <a:pathLst>
              <a:path w="3810000" h="2571750">
                <a:moveTo>
                  <a:pt x="0" y="0"/>
                </a:moveTo>
                <a:lnTo>
                  <a:pt x="3810000" y="0"/>
                </a:lnTo>
                <a:lnTo>
                  <a:pt x="3810000" y="1905000"/>
                </a:lnTo>
                <a:lnTo>
                  <a:pt x="1905000" y="2571750"/>
                </a:lnTo>
                <a:lnTo>
                  <a:pt x="0" y="1905000"/>
                </a:lnTo>
                <a:close/>
              </a:path>
            </a:pathLst>
          </a:custGeom>
          <a:solidFill>
            <a:srgbClr val="1F2937"/>
          </a:solidFill>
          <a:ln w="14288">
            <a:solidFill>
              <a:srgbClr val="D4AF3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696450" y="1822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四大核心原则</a:t>
            </a:r>
          </a:p>
        </p:txBody>
      </p:sp>
      <p:sp>
        <p:nvSpPr>
          <p:cNvPr id="9" name="Line 9"/>
          <p:cNvSpPr/>
          <p:nvPr/>
        </p:nvSpPr>
        <p:spPr>
          <a:xfrm>
            <a:off x="952500" y="214312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38212" y="2355056"/>
            <a:ext cx="2123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 不主动背锅 — 问题直接传递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212" y="2688431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2 边界清晰 — 周末不接@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30218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3 信息独立 — 建独立渠道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3355181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4 学习技巧 — 立规矩+三要素法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28260" y="1727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话术对照表</a:t>
            </a:r>
          </a:p>
        </p:txBody>
      </p:sp>
      <p:sp>
        <p:nvSpPr>
          <p:cNvPr id="15" name="Line 15"/>
          <p:cNvSpPr/>
          <p:nvPr/>
        </p:nvSpPr>
        <p:spPr>
          <a:xfrm>
            <a:off x="5143500" y="1952625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5143500" y="2095500"/>
            <a:ext cx="6286500" cy="762000"/>
          </a:xfrm>
          <a:custGeom>
            <a:avLst/>
            <a:gdLst/>
            <a:ahLst/>
            <a:cxnLst/>
            <a:rect l="l" t="t" r="r" b="b"/>
            <a:pathLst>
              <a:path w="6286500" h="762000">
                <a:moveTo>
                  <a:pt x="57150" y="0"/>
                </a:moveTo>
                <a:lnTo>
                  <a:pt x="6229350" y="0"/>
                </a:lnTo>
                <a:cubicBezTo>
                  <a:pt x="6260913" y="0"/>
                  <a:pt x="6286500" y="25587"/>
                  <a:pt x="6286500" y="57150"/>
                </a:cubicBezTo>
                <a:lnTo>
                  <a:pt x="6286500" y="704850"/>
                </a:lnTo>
                <a:cubicBezTo>
                  <a:pt x="6286500" y="736413"/>
                  <a:pt x="6260913" y="762000"/>
                  <a:pt x="6229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274945" y="2236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73040" y="241077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"帮我看下，我该如何解答"</a:t>
            </a:r>
          </a:p>
        </p:txBody>
      </p:sp>
      <p:sp>
        <p:nvSpPr>
          <p:cNvPr id="19" name="Line 19"/>
          <p:cNvSpPr/>
          <p:nvPr/>
        </p:nvSpPr>
        <p:spPr>
          <a:xfrm>
            <a:off x="8382000" y="219075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513445" y="2236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11540" y="2410778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"你的想法是什么？我先听你的"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14398" y="265414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不接任务，反问回去</a:t>
            </a:r>
          </a:p>
        </p:txBody>
      </p:sp>
      <p:sp>
        <p:nvSpPr>
          <p:cNvPr id="23" name="Freeform 23"/>
          <p:cNvSpPr/>
          <p:nvPr/>
        </p:nvSpPr>
        <p:spPr>
          <a:xfrm>
            <a:off x="5143500" y="2952750"/>
            <a:ext cx="6286500" cy="762000"/>
          </a:xfrm>
          <a:custGeom>
            <a:avLst/>
            <a:gdLst/>
            <a:ahLst/>
            <a:cxnLst/>
            <a:rect l="l" t="t" r="r" b="b"/>
            <a:pathLst>
              <a:path w="6286500" h="762000">
                <a:moveTo>
                  <a:pt x="57150" y="0"/>
                </a:moveTo>
                <a:lnTo>
                  <a:pt x="6229350" y="0"/>
                </a:lnTo>
                <a:cubicBezTo>
                  <a:pt x="6260913" y="0"/>
                  <a:pt x="6286500" y="25587"/>
                  <a:pt x="6286500" y="57150"/>
                </a:cubicBezTo>
                <a:lnTo>
                  <a:pt x="6286500" y="704850"/>
                </a:lnTo>
                <a:cubicBezTo>
                  <a:pt x="6286500" y="736413"/>
                  <a:pt x="6260913" y="762000"/>
                  <a:pt x="6229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274945" y="3093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73040" y="3268028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周末@处理供应商问题</a:t>
            </a:r>
          </a:p>
        </p:txBody>
      </p:sp>
      <p:sp>
        <p:nvSpPr>
          <p:cNvPr id="26" name="Line 26"/>
          <p:cNvSpPr/>
          <p:nvPr/>
        </p:nvSpPr>
        <p:spPr>
          <a:xfrm>
            <a:off x="8382000" y="3048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13445" y="3093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11540" y="3268028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"收到，周一处理"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14398" y="351139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边界清晰，不解释</a:t>
            </a:r>
          </a:p>
        </p:txBody>
      </p:sp>
      <p:sp>
        <p:nvSpPr>
          <p:cNvPr id="30" name="Freeform 30"/>
          <p:cNvSpPr/>
          <p:nvPr/>
        </p:nvSpPr>
        <p:spPr>
          <a:xfrm>
            <a:off x="5143500" y="3810000"/>
            <a:ext cx="6286500" cy="762000"/>
          </a:xfrm>
          <a:custGeom>
            <a:avLst/>
            <a:gdLst/>
            <a:ahLst/>
            <a:cxnLst/>
            <a:rect l="l" t="t" r="r" b="b"/>
            <a:pathLst>
              <a:path w="6286500" h="762000">
                <a:moveTo>
                  <a:pt x="57150" y="0"/>
                </a:moveTo>
                <a:lnTo>
                  <a:pt x="6229350" y="0"/>
                </a:lnTo>
                <a:cubicBezTo>
                  <a:pt x="6260913" y="0"/>
                  <a:pt x="6286500" y="25587"/>
                  <a:pt x="6286500" y="57150"/>
                </a:cubicBezTo>
                <a:lnTo>
                  <a:pt x="6286500" y="704850"/>
                </a:lnTo>
                <a:cubicBezTo>
                  <a:pt x="6286500" y="736413"/>
                  <a:pt x="6260913" y="762000"/>
                  <a:pt x="6229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274945" y="3950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73040" y="412527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"别找供应商，他们不如我们清楚"</a:t>
            </a:r>
          </a:p>
        </p:txBody>
      </p:sp>
      <p:sp>
        <p:nvSpPr>
          <p:cNvPr id="33" name="Line 33"/>
          <p:cNvSpPr/>
          <p:nvPr/>
        </p:nvSpPr>
        <p:spPr>
          <a:xfrm>
            <a:off x="8382000" y="390525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13445" y="3950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11540" y="4125278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"理解，但我需要一线真实反馈"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14398" y="43686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37" name="Freeform 37"/>
          <p:cNvSpPr/>
          <p:nvPr/>
        </p:nvSpPr>
        <p:spPr>
          <a:xfrm>
            <a:off x="5143500" y="4667250"/>
            <a:ext cx="6286500" cy="762000"/>
          </a:xfrm>
          <a:custGeom>
            <a:avLst/>
            <a:gdLst/>
            <a:ahLst/>
            <a:cxnLst/>
            <a:rect l="l" t="t" r="r" b="b"/>
            <a:pathLst>
              <a:path w="6286500" h="762000">
                <a:moveTo>
                  <a:pt x="57150" y="0"/>
                </a:moveTo>
                <a:lnTo>
                  <a:pt x="6229350" y="0"/>
                </a:lnTo>
                <a:cubicBezTo>
                  <a:pt x="6260913" y="0"/>
                  <a:pt x="6286500" y="25587"/>
                  <a:pt x="6286500" y="57150"/>
                </a:cubicBezTo>
                <a:lnTo>
                  <a:pt x="6286500" y="704850"/>
                </a:lnTo>
                <a:cubicBezTo>
                  <a:pt x="6286500" y="736413"/>
                  <a:pt x="6260913" y="762000"/>
                  <a:pt x="6229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274945" y="48082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73040" y="4982528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"辛苦兄弟多费心"</a:t>
            </a:r>
          </a:p>
        </p:txBody>
      </p:sp>
      <p:sp>
        <p:nvSpPr>
          <p:cNvPr id="40" name="Line 40"/>
          <p:cNvSpPr/>
          <p:nvPr/>
        </p:nvSpPr>
        <p:spPr>
          <a:xfrm>
            <a:off x="8382000" y="4762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513445" y="48082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11540" y="4982528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"8个供应商，担心盯不细"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514398" y="522589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示弱加边界，刘乾坤会退让</a:t>
            </a:r>
          </a:p>
        </p:txBody>
      </p:sp>
      <p:sp>
        <p:nvSpPr>
          <p:cNvPr id="44" name="Freeform 44"/>
          <p:cNvSpPr/>
          <p:nvPr/>
        </p:nvSpPr>
        <p:spPr>
          <a:xfrm>
            <a:off x="5143500" y="5524500"/>
            <a:ext cx="6286500" cy="762000"/>
          </a:xfrm>
          <a:custGeom>
            <a:avLst/>
            <a:gdLst/>
            <a:ahLst/>
            <a:cxnLst/>
            <a:rect l="l" t="t" r="r" b="b"/>
            <a:pathLst>
              <a:path w="6286500" h="762000">
                <a:moveTo>
                  <a:pt x="57150" y="0"/>
                </a:moveTo>
                <a:lnTo>
                  <a:pt x="6229350" y="0"/>
                </a:lnTo>
                <a:cubicBezTo>
                  <a:pt x="6260913" y="0"/>
                  <a:pt x="6286500" y="25587"/>
                  <a:pt x="6286500" y="57150"/>
                </a:cubicBezTo>
                <a:lnTo>
                  <a:pt x="6286500" y="704850"/>
                </a:lnTo>
                <a:cubicBezTo>
                  <a:pt x="6286500" y="736413"/>
                  <a:pt x="6260913" y="762000"/>
                  <a:pt x="6229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274945" y="5665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73040" y="5839778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危机渲染 + 责任锁定</a:t>
            </a:r>
          </a:p>
        </p:txBody>
      </p:sp>
      <p:sp>
        <p:nvSpPr>
          <p:cNvPr id="47" name="Line 47"/>
          <p:cNvSpPr/>
          <p:nvPr/>
        </p:nvSpPr>
        <p:spPr>
          <a:xfrm>
            <a:off x="8382000" y="561975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374151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513445" y="5665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11540" y="5839778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事实压危机、锁定卡点、踢球给方案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14398" y="60831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用专业语言说话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 · 应对策略章节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071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LEARNABLE SKILLS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可学习内容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四种核心技巧 + 核心差异对比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457200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D4AF3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1045" y="47748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51144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先定规则后办事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618" y="5323999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后续是"执行既定规则"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57130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接手新业务、管理新团队</a:t>
            </a:r>
          </a:p>
        </p:txBody>
      </p:sp>
      <p:sp>
        <p:nvSpPr>
          <p:cNvPr id="12" name="Polygon 12"/>
          <p:cNvSpPr/>
          <p:nvPr/>
        </p:nvSpPr>
        <p:spPr>
          <a:xfrm>
            <a:off x="3333750" y="4476750"/>
            <a:ext cx="190500" cy="571500"/>
          </a:xfrm>
          <a:custGeom>
            <a:avLst/>
            <a:gdLst/>
            <a:ahLst/>
            <a:cxnLst/>
            <a:rect l="l" t="t" r="r" b="b"/>
            <a:pathLst>
              <a:path w="190500" h="571500">
                <a:moveTo>
                  <a:pt x="0" y="285750"/>
                </a:moveTo>
                <a:lnTo>
                  <a:pt x="190500" y="0"/>
                </a:lnTo>
                <a:lnTo>
                  <a:pt x="190500" y="571500"/>
                </a:lnTo>
                <a:close/>
              </a:path>
            </a:pathLst>
          </a:custGeom>
          <a:solidFill>
            <a:srgbClr val="D4AF37">
              <a:alpha val="30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3619500" y="342900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F2D06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789045" y="3631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97618" y="397144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问题→原因+目标+举措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97618" y="41809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让别人承诺，完不成有把柄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98570" y="45700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供应商管理、推动执行</a:t>
            </a:r>
          </a:p>
        </p:txBody>
      </p:sp>
      <p:sp>
        <p:nvSpPr>
          <p:cNvPr id="18" name="Polygon 18"/>
          <p:cNvSpPr/>
          <p:nvPr/>
        </p:nvSpPr>
        <p:spPr>
          <a:xfrm>
            <a:off x="6381750" y="3333750"/>
            <a:ext cx="190500" cy="571500"/>
          </a:xfrm>
          <a:custGeom>
            <a:avLst/>
            <a:gdLst/>
            <a:ahLst/>
            <a:cxnLst/>
            <a:rect l="l" t="t" r="r" b="b"/>
            <a:pathLst>
              <a:path w="190500" h="571500">
                <a:moveTo>
                  <a:pt x="0" y="285750"/>
                </a:moveTo>
                <a:lnTo>
                  <a:pt x="190500" y="0"/>
                </a:lnTo>
                <a:lnTo>
                  <a:pt x="190500" y="571500"/>
                </a:lnTo>
                <a:close/>
              </a:path>
            </a:pathLst>
          </a:custGeom>
          <a:solidFill>
            <a:srgbClr val="F2D06B">
              <a:alpha val="30000"/>
            </a:srgbClr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667500" y="228600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9525">
            <a:solidFill>
              <a:srgbClr val="D4AF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837045" y="2488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数据说话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5618" y="2828449"/>
            <a:ext cx="1527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精确数据展示+公开施压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45618" y="30379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数据是最好的武器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46570" y="3427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汇报、驱动、施压</a:t>
            </a:r>
          </a:p>
        </p:txBody>
      </p:sp>
      <p:sp>
        <p:nvSpPr>
          <p:cNvPr id="24" name="Polygon 24"/>
          <p:cNvSpPr/>
          <p:nvPr/>
        </p:nvSpPr>
        <p:spPr>
          <a:xfrm>
            <a:off x="9429750" y="2190750"/>
            <a:ext cx="190500" cy="571500"/>
          </a:xfrm>
          <a:custGeom>
            <a:avLst/>
            <a:gdLst/>
            <a:ahLst/>
            <a:cxnLst/>
            <a:rect l="l" t="t" r="r" b="b"/>
            <a:pathLst>
              <a:path w="190500" h="571500">
                <a:moveTo>
                  <a:pt x="0" y="285750"/>
                </a:moveTo>
                <a:lnTo>
                  <a:pt x="190500" y="0"/>
                </a:lnTo>
                <a:lnTo>
                  <a:pt x="190500" y="571500"/>
                </a:lnTo>
                <a:close/>
              </a:path>
            </a:pathLst>
          </a:custGeom>
          <a:solidFill>
            <a:srgbClr val="D4AF37">
              <a:alpha val="30000"/>
            </a:srgbClr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9715500" y="1143000"/>
            <a:ext cx="2095500" cy="1524000"/>
          </a:xfrm>
          <a:custGeom>
            <a:avLst/>
            <a:gdLst/>
            <a:ahLst/>
            <a:cxnLst/>
            <a:rect l="l" t="t" r="r" b="b"/>
            <a:pathLst>
              <a:path w="2095500" h="1524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1447800"/>
                </a:lnTo>
                <a:cubicBezTo>
                  <a:pt x="2095500" y="1489884"/>
                  <a:pt x="2061384" y="1524000"/>
                  <a:pt x="20193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14288">
            <a:solidFill>
              <a:srgbClr val="22C55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789795" y="1345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机制先行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8368" y="16854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先建机制再谈业务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98368" y="1894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干不好有把柄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99320" y="2284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建立长期管理体系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15240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066800"/>
                </a:lnTo>
                <a:cubicBezTo>
                  <a:pt x="5143500" y="1108884"/>
                  <a:pt x="5109384" y="1143000"/>
                  <a:pt x="5067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4762">
            <a:solidFill>
              <a:srgbClr val="B91C1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47712" y="17359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8665" y="2029778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摆问题 → 施压 → 让供应商自己想办法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0570" y="2331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施压型管理</a:t>
            </a:r>
          </a:p>
        </p:txBody>
      </p:sp>
      <p:sp>
        <p:nvSpPr>
          <p:cNvPr id="34" name="Freeform 34"/>
          <p:cNvSpPr/>
          <p:nvPr/>
        </p:nvSpPr>
        <p:spPr>
          <a:xfrm>
            <a:off x="5905500" y="15240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066800"/>
                </a:lnTo>
                <a:cubicBezTo>
                  <a:pt x="5143500" y="1108884"/>
                  <a:pt x="5109384" y="1143000"/>
                  <a:pt x="5067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 w="4762">
            <a:solidFill>
              <a:srgbClr val="22C55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81712" y="17359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82665" y="2029778"/>
            <a:ext cx="41058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摆问题 → 提要求 → 给支持 → 让供应商自己想办法 → 长期合作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84570" y="2331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伙伴型管理</a:t>
            </a:r>
          </a:p>
        </p:txBody>
      </p:sp>
      <p:sp>
        <p:nvSpPr>
          <p:cNvPr id="38" name="Line 38"/>
          <p:cNvSpPr/>
          <p:nvPr/>
        </p:nvSpPr>
        <p:spPr>
          <a:xfrm>
            <a:off x="571500" y="6334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60070" y="65227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进化方向：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69695" y="6522720"/>
            <a:ext cx="48863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学他的术（立规矩、三要素法、数据说话），用年老师的心（给支持、温和但坚决）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8793" y="6538912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30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CONTROVERSIAL CASES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857375" cy="9525"/>
          </a:xfrm>
          <a:custGeom>
            <a:avLst/>
            <a:gdLst/>
            <a:ahLst/>
            <a:cxnLst/>
            <a:rect l="l" t="t" r="r" b="b"/>
            <a:pathLst>
              <a:path w="1857375" h="9525">
                <a:moveTo>
                  <a:pt x="0" y="0"/>
                </a:moveTo>
                <a:lnTo>
                  <a:pt x="1857375" y="0"/>
                </a:lnTo>
              </a:path>
            </a:pathLst>
          </a:custGeom>
          <a:noFill/>
          <a:ln w="9525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争议事件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三个事件暴露真实性格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1714500"/>
            <a:ext cx="5334000" cy="1905000"/>
            <a:chOff x="571500" y="1714500"/>
            <a:chExt cx="5334000" cy="19050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847850"/>
                  </a:lnTo>
                  <a:cubicBezTo>
                    <a:pt x="5334000" y="1879413"/>
                    <a:pt x="5308413" y="1905000"/>
                    <a:pt x="52768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2000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91C1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62000" y="1866900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90500"/>
                  </a:lnTo>
                  <a:cubicBezTo>
                    <a:pt x="762000" y="211542"/>
                    <a:pt x="744942" y="228600"/>
                    <a:pt x="723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1C1C">
                <a:alpha val="2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820" y="1931670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03-25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9140" y="21869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双重标准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601278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自己违规推动供应商拿钱被内审查过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839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反过来质疑李吉斌的激励方案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32284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年老师："挺可怕的，真的不可交"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28272" y="1939766"/>
              <a:ext cx="5523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HIGH RISK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1714500"/>
            <a:ext cx="5334000" cy="1905000"/>
            <a:chOff x="6286500" y="1714500"/>
            <a:chExt cx="5334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6286500" y="1714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847850"/>
                  </a:lnTo>
                  <a:cubicBezTo>
                    <a:pt x="5334000" y="1879413"/>
                    <a:pt x="5308413" y="1905000"/>
                    <a:pt x="52768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6286500" y="2000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477000" y="186690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190500"/>
                  </a:lnTo>
                  <a:cubicBezTo>
                    <a:pt x="952500" y="211542"/>
                    <a:pt x="935442" y="228600"/>
                    <a:pt x="9144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D97706">
                <a:alpha val="2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60820" y="1931670"/>
              <a:ext cx="7198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03-25 深夜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54140" y="21869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公开攻击前任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2601278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@李吉斌+CC上级，让前任难堪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3665" y="28394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刚接手就甩锅，李吉斌反击后软化退让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322849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教训：面对强硬反击，他会退让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43272" y="1939766"/>
              <a:ext cx="4574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MEDIUM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000500"/>
            <a:ext cx="5334000" cy="2140744"/>
            <a:chOff x="571500" y="4000500"/>
            <a:chExt cx="5334000" cy="2140744"/>
          </a:xfrm>
        </p:grpSpPr>
        <p:sp>
          <p:nvSpPr>
            <p:cNvPr id="27" name="Freeform 27"/>
            <p:cNvSpPr/>
            <p:nvPr/>
          </p:nvSpPr>
          <p:spPr>
            <a:xfrm>
              <a:off x="571500" y="400050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2038350"/>
                  </a:lnTo>
                  <a:cubicBezTo>
                    <a:pt x="5334000" y="2069913"/>
                    <a:pt x="5308413" y="2095500"/>
                    <a:pt x="5276850" y="2095500"/>
                  </a:cubicBezTo>
                  <a:lnTo>
                    <a:pt x="57150" y="2095500"/>
                  </a:lnTo>
                  <a:cubicBezTo>
                    <a:pt x="25587" y="2095500"/>
                    <a:pt x="0" y="2069913"/>
                    <a:pt x="0" y="2038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4286250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504950"/>
                  </a:lnTo>
                  <a:cubicBezTo>
                    <a:pt x="38100" y="1515471"/>
                    <a:pt x="29571" y="1524000"/>
                    <a:pt x="19050" y="1524000"/>
                  </a:cubicBezTo>
                  <a:lnTo>
                    <a:pt x="19050" y="1524000"/>
                  </a:lnTo>
                  <a:cubicBezTo>
                    <a:pt x="8529" y="1524000"/>
                    <a:pt x="0" y="1515471"/>
                    <a:pt x="0" y="1504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91C1C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62000" y="4152900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90500"/>
                  </a:lnTo>
                  <a:cubicBezTo>
                    <a:pt x="762000" y="211542"/>
                    <a:pt x="744942" y="228600"/>
                    <a:pt x="723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1C1C">
                <a:alpha val="2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820" y="4217670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03-29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9140" y="44729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开门红带节奏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8665" y="488727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群内密集同步激励问题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665" y="5125402"/>
              <a:ext cx="21812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道德绑架"影响1400个制鞋工人"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8665" y="5363528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选择性攻击：只攻击服务组，不攻击策略组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8665" y="5601652"/>
              <a:ext cx="24956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夸大其词：实际"不会出现批量离职"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594312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教训：核实数据，不被情绪带节奏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28272" y="4225766"/>
              <a:ext cx="5523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HIGH RISK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4000500"/>
            <a:ext cx="5334000" cy="2095500"/>
            <a:chOff x="6286500" y="4000500"/>
            <a:chExt cx="5334000" cy="2095500"/>
          </a:xfrm>
        </p:grpSpPr>
        <p:sp>
          <p:nvSpPr>
            <p:cNvPr id="39" name="Freeform 39"/>
            <p:cNvSpPr/>
            <p:nvPr/>
          </p:nvSpPr>
          <p:spPr>
            <a:xfrm>
              <a:off x="6286500" y="400050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2019300"/>
                  </a:lnTo>
                  <a:cubicBezTo>
                    <a:pt x="5334000" y="2061384"/>
                    <a:pt x="5299884" y="2095500"/>
                    <a:pt x="5257800" y="2095500"/>
                  </a:cubicBezTo>
                  <a:lnTo>
                    <a:pt x="76200" y="2095500"/>
                  </a:lnTo>
                  <a:cubicBezTo>
                    <a:pt x="34116" y="2095500"/>
                    <a:pt x="0" y="2061384"/>
                    <a:pt x="0" y="2019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 w="14288">
              <a:solidFill>
                <a:srgbClr val="D4AF3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3200" y="4314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AF37"/>
                  </a:solidFill>
                  <a:latin typeface="Arial"/>
                  <a:ea typeface="Microsoft YaHei"/>
                  <a:cs typeface="Arial"/>
                </a:rPr>
                <a:t>核心洞察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572250" y="46196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4762">
              <a:solidFill>
                <a:srgbClr val="D4AF37">
                  <a:alpha val="30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7962" y="483155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他对别人做的事，自己可能也在做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7962" y="516493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双重标准是最大破绽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7962" y="54983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5E7EB"/>
                  </a:solidFill>
                  <a:latin typeface="Arial"/>
                  <a:ea typeface="Microsoft YaHei"/>
                  <a:cs typeface="Arial"/>
                </a:rPr>
                <a:t>面对事实反击和强硬态度，他会退让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9868" y="584787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AF37"/>
                  </a:solidFill>
                  <a:latin typeface="Arial"/>
                  <a:ea typeface="Microsoft YaHei"/>
                  <a:cs typeface="Arial"/>
                </a:rPr>
                <a:t>用事实反击，态度强硬，他就会退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61975" y="639603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Source: 刘乾坤档案 v10.2 · 争议事件章节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26178" y="6396038"/>
            <a:ext cx="3038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4AF37">
                  <a:alpha val="8000"/>
                </a:srgbClr>
              </a:gs>
              <a:gs pos="10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71500" y="571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4AF37">
                <a:alpha val="2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61022" y="387191"/>
            <a:ext cx="7357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3450" y="15525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总结三句话</a:t>
            </a:r>
          </a:p>
        </p:txBody>
      </p:sp>
      <p:sp>
        <p:nvSpPr>
          <p:cNvPr id="7" name="Freeform 7"/>
          <p:cNvSpPr/>
          <p:nvPr/>
        </p:nvSpPr>
        <p:spPr>
          <a:xfrm>
            <a:off x="952500" y="2000250"/>
            <a:ext cx="10287000" cy="1143000"/>
          </a:xfrm>
          <a:custGeom>
            <a:avLst/>
            <a:gdLst/>
            <a:ahLst/>
            <a:cxnLst/>
            <a:rect l="l" t="t" r="r" b="b"/>
            <a:pathLst>
              <a:path w="10287000" h="1143000">
                <a:moveTo>
                  <a:pt x="38100" y="0"/>
                </a:moveTo>
                <a:lnTo>
                  <a:pt x="10248900" y="0"/>
                </a:lnTo>
                <a:cubicBezTo>
                  <a:pt x="10269942" y="0"/>
                  <a:pt x="10287000" y="17058"/>
                  <a:pt x="10287000" y="38100"/>
                </a:cubicBezTo>
                <a:lnTo>
                  <a:pt x="10287000" y="1104900"/>
                </a:lnTo>
                <a:cubicBezTo>
                  <a:pt x="10287000" y="1125942"/>
                  <a:pt x="10269942" y="1143000"/>
                  <a:pt x="10248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4762">
            <a:solidFill>
              <a:srgbClr val="D4AF37">
                <a:alpha val="2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87880"/>
            <a:ext cx="56069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D4AF37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59330" y="22498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他不是在管理，是在表演管理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0760" y="2727960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最在意的是"老板知不知道我在解决"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2500" y="3333750"/>
            <a:ext cx="10287000" cy="1143000"/>
          </a:xfrm>
          <a:custGeom>
            <a:avLst/>
            <a:gdLst/>
            <a:ahLst/>
            <a:cxnLst/>
            <a:rect l="l" t="t" r="r" b="b"/>
            <a:pathLst>
              <a:path w="10287000" h="1143000">
                <a:moveTo>
                  <a:pt x="38100" y="0"/>
                </a:moveTo>
                <a:lnTo>
                  <a:pt x="10248900" y="0"/>
                </a:lnTo>
                <a:cubicBezTo>
                  <a:pt x="10269942" y="0"/>
                  <a:pt x="10287000" y="17058"/>
                  <a:pt x="10287000" y="38100"/>
                </a:cubicBezTo>
                <a:lnTo>
                  <a:pt x="10287000" y="1104900"/>
                </a:lnTo>
                <a:cubicBezTo>
                  <a:pt x="10287000" y="1125942"/>
                  <a:pt x="10269942" y="1143000"/>
                  <a:pt x="10248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4762">
            <a:solidFill>
              <a:srgbClr val="F2D06B">
                <a:alpha val="15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287780" y="3421380"/>
            <a:ext cx="698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2D06B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9330" y="35833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边界清晰是最好的防御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0760" y="4061460"/>
            <a:ext cx="29310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周末不接@，工作日按流程，信息独立</a:t>
            </a:r>
          </a:p>
        </p:txBody>
      </p:sp>
      <p:sp>
        <p:nvSpPr>
          <p:cNvPr id="15" name="Freeform 15"/>
          <p:cNvSpPr/>
          <p:nvPr/>
        </p:nvSpPr>
        <p:spPr>
          <a:xfrm>
            <a:off x="952500" y="4667250"/>
            <a:ext cx="10287000" cy="1143000"/>
          </a:xfrm>
          <a:custGeom>
            <a:avLst/>
            <a:gdLst/>
            <a:ahLst/>
            <a:cxnLst/>
            <a:rect l="l" t="t" r="r" b="b"/>
            <a:pathLst>
              <a:path w="10287000" h="1143000">
                <a:moveTo>
                  <a:pt x="38100" y="0"/>
                </a:moveTo>
                <a:lnTo>
                  <a:pt x="10248900" y="0"/>
                </a:lnTo>
                <a:cubicBezTo>
                  <a:pt x="10269942" y="0"/>
                  <a:pt x="10287000" y="17058"/>
                  <a:pt x="10287000" y="38100"/>
                </a:cubicBezTo>
                <a:lnTo>
                  <a:pt x="10287000" y="1104900"/>
                </a:lnTo>
                <a:cubicBezTo>
                  <a:pt x="10287000" y="1125942"/>
                  <a:pt x="10269942" y="1143000"/>
                  <a:pt x="10248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4762">
            <a:solidFill>
              <a:srgbClr val="D4AF37">
                <a:alpha val="1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287780" y="4754880"/>
            <a:ext cx="698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D4AF37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59330" y="4916805"/>
            <a:ext cx="48839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取其精华，做温和但坚定的管理者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70760" y="5394960"/>
            <a:ext cx="44119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学立规矩、三要素法、数据说话；加上给支持、长期合作</a:t>
            </a:r>
          </a:p>
        </p:txBody>
      </p:sp>
      <p:sp>
        <p:nvSpPr>
          <p:cNvPr id="19" name="Line 19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D2D4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1975" y="6491288"/>
            <a:ext cx="2998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v10.2 · 年老师建档 · 2026-03-19 · 刘乾坤人物深度分析报告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98793" y="649128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12 / 12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
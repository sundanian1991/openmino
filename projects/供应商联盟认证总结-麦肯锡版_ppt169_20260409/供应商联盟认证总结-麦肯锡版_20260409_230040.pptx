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gradFill>
            <a:gsLst>
              <a:gs pos="0">
                <a:srgbClr val="005587"/>
              </a:gs>
              <a:gs pos="100000">
                <a:srgbClr val="0076A8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" y="0"/>
            <a:ext cx="28575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523875"/>
            <a:ext cx="1714500" cy="47625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619125"/>
            <a:ext cx="952500" cy="28575"/>
          </a:xfrm>
          <a:prstGeom prst="rect">
            <a:avLst/>
          </a:prstGeom>
          <a:solidFill>
            <a:srgbClr val="0076A8">
              <a:alpha val="50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429500" y="0"/>
            <a:ext cx="4762500" cy="6858000"/>
          </a:xfrm>
          <a:prstGeom prst="rect">
            <a:avLst/>
          </a:prstGeom>
          <a:gradFill>
            <a:gsLst>
              <a:gs pos="0">
                <a:srgbClr val="005587">
                  <a:alpha val="12000"/>
                </a:srgbClr>
              </a:gs>
              <a:gs pos="100000">
                <a:srgbClr val="0076A8">
                  <a:alpha val="4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096250" y="1143000"/>
            <a:ext cx="3429000" cy="3429000"/>
          </a:xfrm>
          <a:prstGeom prst="rect">
            <a:avLst/>
          </a:prstGeom>
          <a:noFill/>
          <a:ln w="9525">
            <a:solidFill>
              <a:srgbClr val="005587">
                <a:alpha val="15000"/>
              </a:srgb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0" y="1619250"/>
            <a:ext cx="2476500" cy="2476500"/>
          </a:xfrm>
          <a:prstGeom prst="rect">
            <a:avLst/>
          </a:prstGeom>
          <a:noFill/>
          <a:ln w="9525">
            <a:solidFill>
              <a:srgbClr val="005587">
                <a:alpha val="10000"/>
              </a:srgbClr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9048750" y="2095500"/>
            <a:ext cx="1524000" cy="1524000"/>
          </a:xfrm>
          <a:prstGeom prst="rect">
            <a:avLst/>
          </a:prstGeom>
          <a:solidFill>
            <a:srgbClr val="005587">
              <a:alpha val="3000"/>
            </a:srgbClr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10001250" y="1333500"/>
            <a:ext cx="1619250" cy="1714500"/>
          </a:xfrm>
          <a:custGeom>
            <a:avLst/>
            <a:gdLst/>
            <a:ahLst/>
            <a:cxnLst/>
            <a:rect l="l" t="t" r="r" b="b"/>
            <a:pathLst>
              <a:path w="1619250" h="1714500">
                <a:moveTo>
                  <a:pt x="0" y="0"/>
                </a:moveTo>
                <a:lnTo>
                  <a:pt x="1619250" y="0"/>
                </a:lnTo>
                <a:lnTo>
                  <a:pt x="809625" y="1714500"/>
                </a:lnTo>
                <a:close/>
              </a:path>
            </a:pathLst>
          </a:custGeom>
          <a:solidFill>
            <a:srgbClr val="005587">
              <a:alpha val="6000"/>
            </a:srgbClr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8382000" y="38100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0" y="0"/>
                </a:moveTo>
                <a:lnTo>
                  <a:pt x="1143000" y="0"/>
                </a:lnTo>
                <a:lnTo>
                  <a:pt x="571500" y="1143000"/>
                </a:lnTo>
                <a:close/>
              </a:path>
            </a:pathLst>
          </a:custGeom>
          <a:solidFill>
            <a:srgbClr val="0076A8">
              <a:alpha val="5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18160" y="2023110"/>
            <a:ext cx="4711856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BPO 供应商联盟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8160" y="2689860"/>
            <a:ext cx="332708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认证总结会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6735" y="3599498"/>
            <a:ext cx="375189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标准化运营方法论与落地实践</a:t>
            </a:r>
          </a:p>
        </p:txBody>
      </p:sp>
      <p:sp>
        <p:nvSpPr>
          <p:cNvPr id="16" name="Line 16"/>
          <p:cNvSpPr/>
          <p:nvPr/>
        </p:nvSpPr>
        <p:spPr>
          <a:xfrm>
            <a:off x="571500" y="428625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ECF0F1"/>
            </a:solidFill>
          </a:ln>
        </p:spPr>
      </p:sp>
      <p:sp>
        <p:nvSpPr>
          <p:cNvPr id="17" name="Line 17"/>
          <p:cNvSpPr/>
          <p:nvPr/>
        </p:nvSpPr>
        <p:spPr>
          <a:xfrm>
            <a:off x="571500" y="434340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005587"/>
            </a:solidFill>
          </a:ln>
        </p:spPr>
      </p:sp>
      <p:sp>
        <p:nvSpPr>
          <p:cNvPr id="18" name="Freeform 18"/>
          <p:cNvSpPr/>
          <p:nvPr/>
        </p:nvSpPr>
        <p:spPr>
          <a:xfrm>
            <a:off x="571500" y="4953000"/>
            <a:ext cx="3810000" cy="952500"/>
          </a:xfrm>
          <a:custGeom>
            <a:avLst/>
            <a:gdLst/>
            <a:ahLst/>
            <a:cxnLst/>
            <a:rect l="l" t="t" r="r" b="b"/>
            <a:pathLst>
              <a:path w="3810000" h="95250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914400"/>
                </a:lnTo>
                <a:cubicBezTo>
                  <a:pt x="3810000" y="935442"/>
                  <a:pt x="3792942" y="952500"/>
                  <a:pt x="3771900" y="952500"/>
                </a:cubicBezTo>
                <a:lnTo>
                  <a:pt x="38100" y="952500"/>
                </a:lnTo>
                <a:cubicBezTo>
                  <a:pt x="17058" y="952500"/>
                  <a:pt x="0" y="935442"/>
                  <a:pt x="0" y="914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>
            <a:noFill/>
          </a:ln>
        </p:spPr>
      </p:sp>
      <p:sp>
        <p:nvSpPr>
          <p:cNvPr id="19" name="Freeform 19"/>
          <p:cNvSpPr/>
          <p:nvPr/>
        </p:nvSpPr>
        <p:spPr>
          <a:xfrm>
            <a:off x="571500" y="49530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933450"/>
                </a:lnTo>
                <a:cubicBezTo>
                  <a:pt x="38100" y="943971"/>
                  <a:pt x="29571" y="952500"/>
                  <a:pt x="19050" y="952500"/>
                </a:cubicBezTo>
                <a:lnTo>
                  <a:pt x="19050" y="952500"/>
                </a:lnTo>
                <a:cubicBezTo>
                  <a:pt x="8529" y="952500"/>
                  <a:pt x="0" y="943971"/>
                  <a:pt x="0" y="933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86765" y="5173028"/>
            <a:ext cx="6477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PROJECT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2955" y="5378768"/>
            <a:ext cx="12350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BPO Alliance</a:t>
            </a:r>
          </a:p>
        </p:txBody>
      </p:sp>
      <p:sp>
        <p:nvSpPr>
          <p:cNvPr id="22" name="Line 22"/>
          <p:cNvSpPr/>
          <p:nvPr/>
        </p:nvSpPr>
        <p:spPr>
          <a:xfrm>
            <a:off x="2476500" y="5095875"/>
            <a:ext cx="9525" cy="666750"/>
          </a:xfrm>
          <a:custGeom>
            <a:avLst/>
            <a:gdLst/>
            <a:ahLst/>
            <a:cxnLst/>
            <a:rect l="l" t="t" r="r" b="b"/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9525">
            <a:solidFill>
              <a:srgbClr val="ECF0F1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2691765" y="5173028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DATE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687955" y="5378768"/>
            <a:ext cx="831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2026.04</a:t>
            </a:r>
          </a:p>
        </p:txBody>
      </p:sp>
      <p:sp>
        <p:nvSpPr>
          <p:cNvPr id="25" name="Line 25"/>
          <p:cNvSpPr/>
          <p:nvPr/>
        </p:nvSpPr>
        <p:spPr>
          <a:xfrm>
            <a:off x="571500" y="6477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CF0F1"/>
            </a:solidFill>
          </a:ln>
        </p:spPr>
      </p:sp>
      <p:sp>
        <p:nvSpPr>
          <p:cNvPr id="26" name="Freeform 26"/>
          <p:cNvSpPr/>
          <p:nvPr/>
        </p:nvSpPr>
        <p:spPr>
          <a:xfrm>
            <a:off x="10287000" y="6238875"/>
            <a:ext cx="1333500" cy="266700"/>
          </a:xfrm>
          <a:custGeom>
            <a:avLst/>
            <a:gdLst/>
            <a:ahLst/>
            <a:cxnLst/>
            <a:rect l="l" t="t" r="r" b="b"/>
            <a:pathLst>
              <a:path w="1333500" h="266700">
                <a:moveTo>
                  <a:pt x="38100" y="0"/>
                </a:moveTo>
                <a:lnTo>
                  <a:pt x="1295400" y="0"/>
                </a:lnTo>
                <a:cubicBezTo>
                  <a:pt x="1316442" y="0"/>
                  <a:pt x="1333500" y="17058"/>
                  <a:pt x="1333500" y="38100"/>
                </a:cubicBezTo>
                <a:lnTo>
                  <a:pt x="1333500" y="228600"/>
                </a:lnTo>
                <a:cubicBezTo>
                  <a:pt x="1333500" y="249642"/>
                  <a:pt x="1316442" y="266700"/>
                  <a:pt x="12954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>
              <a:alpha val="8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0507566" y="6332220"/>
            <a:ext cx="8923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58165" y="6554152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5587"/>
              </a:gs>
              <a:gs pos="100000">
                <a:srgbClr val="0076A8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601028"/>
            <a:ext cx="7673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3400" y="771525"/>
            <a:ext cx="159439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Agenda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285875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38100">
            <a:solidFill>
              <a:srgbClr val="005587"/>
            </a:solidFill>
          </a:ln>
        </p:spPr>
      </p:sp>
      <p:sp>
        <p:nvSpPr>
          <p:cNvPr id="7" name="Line 7"/>
          <p:cNvSpPr/>
          <p:nvPr/>
        </p:nvSpPr>
        <p:spPr>
          <a:xfrm>
            <a:off x="1571625" y="1285875"/>
            <a:ext cx="523875" cy="9525"/>
          </a:xfrm>
          <a:custGeom>
            <a:avLst/>
            <a:gdLst/>
            <a:ahLst/>
            <a:cxnLst/>
            <a:rect l="l" t="t" r="r" b="b"/>
            <a:pathLst>
              <a:path w="523875" h="9525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/>
          <a:ln w="38100">
            <a:solidFill>
              <a:srgbClr val="F5A623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571500" y="1619250"/>
            <a:ext cx="5334000" cy="1047750"/>
          </a:xfrm>
          <a:custGeom>
            <a:avLst/>
            <a:gdLst/>
            <a:ahLst/>
            <a:cxnLst/>
            <a:rect l="l" t="t" r="r" b="b"/>
            <a:pathLst>
              <a:path w="5334000" h="104775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990600"/>
                </a:lnTo>
                <a:cubicBezTo>
                  <a:pt x="5334000" y="1022163"/>
                  <a:pt x="5308413" y="1047750"/>
                  <a:pt x="5276850" y="1047750"/>
                </a:cubicBezTo>
                <a:lnTo>
                  <a:pt x="57150" y="1047750"/>
                </a:lnTo>
                <a:cubicBezTo>
                  <a:pt x="25587" y="1047750"/>
                  <a:pt x="0" y="1022163"/>
                  <a:pt x="0" y="990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571500" y="1619250"/>
            <a:ext cx="57150" cy="1047750"/>
          </a:xfrm>
          <a:custGeom>
            <a:avLst/>
            <a:gdLst/>
            <a:ahLst/>
            <a:cxnLst/>
            <a:rect l="l" t="t" r="r" b="b"/>
            <a:pathLst>
              <a:path w="57150" h="1047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019175"/>
                </a:lnTo>
                <a:cubicBezTo>
                  <a:pt x="57150" y="1034957"/>
                  <a:pt x="44357" y="1047750"/>
                  <a:pt x="28575" y="1047750"/>
                </a:cubicBezTo>
                <a:lnTo>
                  <a:pt x="28575" y="1047750"/>
                </a:lnTo>
                <a:cubicBezTo>
                  <a:pt x="12793" y="1047750"/>
                  <a:pt x="0" y="1034957"/>
                  <a:pt x="0" y="1019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762000" y="18097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38100" y="0"/>
                </a:moveTo>
                <a:lnTo>
                  <a:pt x="533400" y="0"/>
                </a:lnTo>
                <a:cubicBezTo>
                  <a:pt x="554442" y="0"/>
                  <a:pt x="571500" y="17058"/>
                  <a:pt x="571500" y="38100"/>
                </a:cubicBezTo>
                <a:lnTo>
                  <a:pt x="571500" y="533400"/>
                </a:lnTo>
                <a:cubicBezTo>
                  <a:pt x="571500" y="554442"/>
                  <a:pt x="554442" y="571500"/>
                  <a:pt x="533400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>
              <a:alpha val="8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84213" y="1983105"/>
            <a:ext cx="32707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52575" y="1914525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核心方法论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58290" y="224885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电销管理六大核心模块体系</a:t>
            </a:r>
          </a:p>
        </p:txBody>
      </p:sp>
      <p:sp>
        <p:nvSpPr>
          <p:cNvPr id="14" name="Freeform 14"/>
          <p:cNvSpPr/>
          <p:nvPr/>
        </p:nvSpPr>
        <p:spPr>
          <a:xfrm>
            <a:off x="6286500" y="1619250"/>
            <a:ext cx="5334000" cy="1047750"/>
          </a:xfrm>
          <a:custGeom>
            <a:avLst/>
            <a:gdLst/>
            <a:ahLst/>
            <a:cxnLst/>
            <a:rect l="l" t="t" r="r" b="b"/>
            <a:pathLst>
              <a:path w="5334000" h="104775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990600"/>
                </a:lnTo>
                <a:cubicBezTo>
                  <a:pt x="5334000" y="1022163"/>
                  <a:pt x="5308413" y="1047750"/>
                  <a:pt x="5276850" y="1047750"/>
                </a:cubicBezTo>
                <a:lnTo>
                  <a:pt x="57150" y="1047750"/>
                </a:lnTo>
                <a:cubicBezTo>
                  <a:pt x="25587" y="1047750"/>
                  <a:pt x="0" y="1022163"/>
                  <a:pt x="0" y="990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15" name="Freeform 15"/>
          <p:cNvSpPr/>
          <p:nvPr/>
        </p:nvSpPr>
        <p:spPr>
          <a:xfrm>
            <a:off x="6286500" y="1619250"/>
            <a:ext cx="57150" cy="1047750"/>
          </a:xfrm>
          <a:custGeom>
            <a:avLst/>
            <a:gdLst/>
            <a:ahLst/>
            <a:cxnLst/>
            <a:rect l="l" t="t" r="r" b="b"/>
            <a:pathLst>
              <a:path w="57150" h="1047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019175"/>
                </a:lnTo>
                <a:cubicBezTo>
                  <a:pt x="57150" y="1034957"/>
                  <a:pt x="44357" y="1047750"/>
                  <a:pt x="28575" y="1047750"/>
                </a:cubicBezTo>
                <a:lnTo>
                  <a:pt x="28575" y="1047750"/>
                </a:lnTo>
                <a:cubicBezTo>
                  <a:pt x="12793" y="1047750"/>
                  <a:pt x="0" y="1034957"/>
                  <a:pt x="0" y="1019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76A8"/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6477000" y="18097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38100" y="0"/>
                </a:moveTo>
                <a:lnTo>
                  <a:pt x="533400" y="0"/>
                </a:lnTo>
                <a:cubicBezTo>
                  <a:pt x="554442" y="0"/>
                  <a:pt x="571500" y="17058"/>
                  <a:pt x="571500" y="38100"/>
                </a:cubicBezTo>
                <a:lnTo>
                  <a:pt x="571500" y="533400"/>
                </a:lnTo>
                <a:cubicBezTo>
                  <a:pt x="571500" y="554442"/>
                  <a:pt x="554442" y="571500"/>
                  <a:pt x="533400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76A8">
              <a:alpha val="8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558958" y="198310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076A8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67575" y="19145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认证结果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73290" y="224885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供应商认证评分与核心收获</a:t>
            </a:r>
          </a:p>
        </p:txBody>
      </p:sp>
      <p:sp>
        <p:nvSpPr>
          <p:cNvPr id="20" name="Freeform 20"/>
          <p:cNvSpPr/>
          <p:nvPr/>
        </p:nvSpPr>
        <p:spPr>
          <a:xfrm>
            <a:off x="571500" y="2857500"/>
            <a:ext cx="5334000" cy="1047750"/>
          </a:xfrm>
          <a:custGeom>
            <a:avLst/>
            <a:gdLst/>
            <a:ahLst/>
            <a:cxnLst/>
            <a:rect l="l" t="t" r="r" b="b"/>
            <a:pathLst>
              <a:path w="5334000" h="104775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990600"/>
                </a:lnTo>
                <a:cubicBezTo>
                  <a:pt x="5334000" y="1022163"/>
                  <a:pt x="5308413" y="1047750"/>
                  <a:pt x="5276850" y="1047750"/>
                </a:cubicBezTo>
                <a:lnTo>
                  <a:pt x="57150" y="1047750"/>
                </a:lnTo>
                <a:cubicBezTo>
                  <a:pt x="25587" y="1047750"/>
                  <a:pt x="0" y="1022163"/>
                  <a:pt x="0" y="990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571500" y="2857500"/>
            <a:ext cx="57150" cy="1047750"/>
          </a:xfrm>
          <a:custGeom>
            <a:avLst/>
            <a:gdLst/>
            <a:ahLst/>
            <a:cxnLst/>
            <a:rect l="l" t="t" r="r" b="b"/>
            <a:pathLst>
              <a:path w="57150" h="1047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019175"/>
                </a:lnTo>
                <a:cubicBezTo>
                  <a:pt x="57150" y="1034957"/>
                  <a:pt x="44357" y="1047750"/>
                  <a:pt x="28575" y="1047750"/>
                </a:cubicBezTo>
                <a:lnTo>
                  <a:pt x="28575" y="1047750"/>
                </a:lnTo>
                <a:cubicBezTo>
                  <a:pt x="12793" y="1047750"/>
                  <a:pt x="0" y="1034957"/>
                  <a:pt x="0" y="1019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4D5C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762000" y="30480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38100" y="0"/>
                </a:moveTo>
                <a:lnTo>
                  <a:pt x="533400" y="0"/>
                </a:lnTo>
                <a:cubicBezTo>
                  <a:pt x="554442" y="0"/>
                  <a:pt x="571500" y="17058"/>
                  <a:pt x="571500" y="38100"/>
                </a:cubicBezTo>
                <a:lnTo>
                  <a:pt x="571500" y="533400"/>
                </a:lnTo>
                <a:cubicBezTo>
                  <a:pt x="571500" y="554442"/>
                  <a:pt x="554442" y="571500"/>
                  <a:pt x="533400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4D5C">
              <a:alpha val="8000"/>
            </a:srgbClr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43958" y="32213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04D5C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52575" y="31527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落地方案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58290" y="348710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三阶段推进计划与关键指标</a:t>
            </a:r>
          </a:p>
        </p:txBody>
      </p:sp>
      <p:sp>
        <p:nvSpPr>
          <p:cNvPr id="26" name="Freeform 26"/>
          <p:cNvSpPr/>
          <p:nvPr/>
        </p:nvSpPr>
        <p:spPr>
          <a:xfrm>
            <a:off x="6286500" y="2857500"/>
            <a:ext cx="5334000" cy="1047750"/>
          </a:xfrm>
          <a:custGeom>
            <a:avLst/>
            <a:gdLst/>
            <a:ahLst/>
            <a:cxnLst/>
            <a:rect l="l" t="t" r="r" b="b"/>
            <a:pathLst>
              <a:path w="5334000" h="104775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990600"/>
                </a:lnTo>
                <a:cubicBezTo>
                  <a:pt x="5334000" y="1022163"/>
                  <a:pt x="5308413" y="1047750"/>
                  <a:pt x="5276850" y="1047750"/>
                </a:cubicBezTo>
                <a:lnTo>
                  <a:pt x="57150" y="1047750"/>
                </a:lnTo>
                <a:cubicBezTo>
                  <a:pt x="25587" y="1047750"/>
                  <a:pt x="0" y="1022163"/>
                  <a:pt x="0" y="990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27" name="Freeform 27"/>
          <p:cNvSpPr/>
          <p:nvPr/>
        </p:nvSpPr>
        <p:spPr>
          <a:xfrm>
            <a:off x="6286500" y="2857500"/>
            <a:ext cx="57150" cy="1047750"/>
          </a:xfrm>
          <a:custGeom>
            <a:avLst/>
            <a:gdLst/>
            <a:ahLst/>
            <a:cxnLst/>
            <a:rect l="l" t="t" r="r" b="b"/>
            <a:pathLst>
              <a:path w="57150" h="1047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019175"/>
                </a:lnTo>
                <a:cubicBezTo>
                  <a:pt x="57150" y="1034957"/>
                  <a:pt x="44357" y="1047750"/>
                  <a:pt x="28575" y="1047750"/>
                </a:cubicBezTo>
                <a:lnTo>
                  <a:pt x="28575" y="1047750"/>
                </a:lnTo>
                <a:cubicBezTo>
                  <a:pt x="12793" y="1047750"/>
                  <a:pt x="0" y="1034957"/>
                  <a:pt x="0" y="1019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6477000" y="30480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38100" y="0"/>
                </a:moveTo>
                <a:lnTo>
                  <a:pt x="533400" y="0"/>
                </a:lnTo>
                <a:cubicBezTo>
                  <a:pt x="554442" y="0"/>
                  <a:pt x="571500" y="17058"/>
                  <a:pt x="571500" y="38100"/>
                </a:cubicBezTo>
                <a:lnTo>
                  <a:pt x="571500" y="533400"/>
                </a:lnTo>
                <a:cubicBezTo>
                  <a:pt x="571500" y="554442"/>
                  <a:pt x="554442" y="571500"/>
                  <a:pt x="533400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A623">
              <a:alpha val="8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558958" y="32213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5A623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267575" y="31527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总结展望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273290" y="34871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联盟持续开放共享推进</a:t>
            </a:r>
          </a:p>
        </p:txBody>
      </p:sp>
      <p:sp>
        <p:nvSpPr>
          <p:cNvPr id="32" name="Freeform 32"/>
          <p:cNvSpPr/>
          <p:nvPr/>
        </p:nvSpPr>
        <p:spPr>
          <a:xfrm>
            <a:off x="571500" y="4381500"/>
            <a:ext cx="11049000" cy="571500"/>
          </a:xfrm>
          <a:custGeom>
            <a:avLst/>
            <a:gdLst/>
            <a:ahLst/>
            <a:cxnLst/>
            <a:rect l="l" t="t" r="r" b="b"/>
            <a:pathLst>
              <a:path w="11049000" h="5715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514350"/>
                </a:lnTo>
                <a:cubicBezTo>
                  <a:pt x="11049000" y="545913"/>
                  <a:pt x="11023413" y="571500"/>
                  <a:pt x="1099185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8F9FA"/>
          </a:solidFill>
          <a:ln>
            <a:noFill/>
          </a:ln>
        </p:spPr>
      </p:sp>
      <p:sp>
        <p:nvSpPr>
          <p:cNvPr id="33" name="Freeform 33"/>
          <p:cNvSpPr/>
          <p:nvPr/>
        </p:nvSpPr>
        <p:spPr>
          <a:xfrm>
            <a:off x="571500" y="4381500"/>
            <a:ext cx="47625" cy="571500"/>
          </a:xfrm>
          <a:custGeom>
            <a:avLst/>
            <a:gdLst/>
            <a:ahLst/>
            <a:cxnLst/>
            <a:rect l="l" t="t" r="r" b="b"/>
            <a:pathLst>
              <a:path w="47625" h="57150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552450"/>
                </a:lnTo>
                <a:cubicBezTo>
                  <a:pt x="47625" y="562971"/>
                  <a:pt x="39096" y="571500"/>
                  <a:pt x="28575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39165" y="4630102"/>
            <a:ext cx="8156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89207"/>
                </a:solidFill>
                <a:latin typeface="Arial"/>
                <a:ea typeface="Microsoft YaHei"/>
                <a:cs typeface="Arial"/>
              </a:rPr>
              <a:t>KEY FOCUS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177415" y="4630102"/>
            <a:ext cx="59000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本次总结会聚焦：标准化运营方法论提炼 + 各供应商差异化落地方案 + 三个月推进计划</a:t>
            </a:r>
          </a:p>
        </p:txBody>
      </p:sp>
      <p:sp>
        <p:nvSpPr>
          <p:cNvPr id="36" name="Line 36"/>
          <p:cNvSpPr/>
          <p:nvPr/>
        </p:nvSpPr>
        <p:spPr>
          <a:xfrm>
            <a:off x="571500" y="6334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CF0F1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558165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168061" y="6522720"/>
            <a:ext cx="8923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5587"/>
              </a:gs>
              <a:gs pos="50000">
                <a:srgbClr val="004A75"/>
              </a:gs>
              <a:gs pos="100000">
                <a:srgbClr val="003A5C"/>
              </a:gs>
            </a:gsLst>
            <a:lin ang="2700000" scaled="1"/>
          </a:gra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1714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0" y="3429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0" y="5143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8763000" y="-571500"/>
            <a:ext cx="3429000" cy="3429000"/>
          </a:xfrm>
          <a:prstGeom prst="ellipse">
            <a:avLst/>
          </a:prstGeom>
          <a:gradFill>
            <a:gsLst>
              <a:gs pos="0">
                <a:srgbClr val="FFFFFF">
                  <a:alpha val="8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-381000" y="3619500"/>
            <a:ext cx="4191000" cy="4191000"/>
          </a:xfrm>
          <a:prstGeom prst="ellipse">
            <a:avLst/>
          </a:prstGeom>
          <a:gradFill>
            <a:gsLst>
              <a:gs pos="0">
                <a:srgbClr val="FFFFFF">
                  <a:alpha val="8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10001250" y="4286250"/>
            <a:ext cx="1428750" cy="1428750"/>
          </a:xfrm>
          <a:custGeom>
            <a:avLst/>
            <a:gdLst/>
            <a:ahLst/>
            <a:cxnLst/>
            <a:rect l="l" t="t" r="r" b="b"/>
            <a:pathLst>
              <a:path w="1428750" h="1428750">
                <a:moveTo>
                  <a:pt x="38100" y="0"/>
                </a:moveTo>
                <a:lnTo>
                  <a:pt x="1390650" y="0"/>
                </a:lnTo>
                <a:cubicBezTo>
                  <a:pt x="1411692" y="0"/>
                  <a:pt x="1428750" y="17058"/>
                  <a:pt x="1428750" y="38100"/>
                </a:cubicBezTo>
                <a:lnTo>
                  <a:pt x="1428750" y="1390650"/>
                </a:lnTo>
                <a:cubicBezTo>
                  <a:pt x="1428750" y="1411692"/>
                  <a:pt x="1411692" y="1428750"/>
                  <a:pt x="1390650" y="1428750"/>
                </a:cubicBezTo>
                <a:lnTo>
                  <a:pt x="38100" y="1428750"/>
                </a:lnTo>
                <a:cubicBezTo>
                  <a:pt x="17058" y="1428750"/>
                  <a:pt x="0" y="1411692"/>
                  <a:pt x="0" y="1390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>
              <a:alpha val="2000"/>
            </a:srgbClr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762000" y="952500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38100" y="0"/>
                </a:moveTo>
                <a:lnTo>
                  <a:pt x="914400" y="0"/>
                </a:lnTo>
                <a:cubicBezTo>
                  <a:pt x="935442" y="0"/>
                  <a:pt x="952500" y="17058"/>
                  <a:pt x="952500" y="38100"/>
                </a:cubicBezTo>
                <a:lnTo>
                  <a:pt x="952500" y="914400"/>
                </a:lnTo>
                <a:cubicBezTo>
                  <a:pt x="952500" y="935442"/>
                  <a:pt x="935442" y="952500"/>
                  <a:pt x="914400" y="952500"/>
                </a:cubicBezTo>
                <a:lnTo>
                  <a:pt x="38100" y="952500"/>
                </a:lnTo>
                <a:cubicBezTo>
                  <a:pt x="17058" y="952500"/>
                  <a:pt x="0" y="935442"/>
                  <a:pt x="0" y="914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>
              <a:alpha val="2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571500" y="2667000"/>
            <a:ext cx="47625" cy="1524000"/>
          </a:xfrm>
          <a:prstGeom prst="rect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460629" y="781050"/>
            <a:ext cx="3270742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0" b="1" dirty="0">
                <a:solidFill>
                  <a:srgbClr val="FFFFFF">
                    <a:alpha val="5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66466" y="2711768"/>
            <a:ext cx="10590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5A623"/>
                </a:solidFill>
                <a:latin typeface="Arial"/>
                <a:ea typeface="Microsoft YaHei"/>
                <a:cs typeface="Arial"/>
              </a:rPr>
              <a:t>SECTION 01</a:t>
            </a:r>
          </a:p>
        </p:txBody>
      </p:sp>
      <p:sp>
        <p:nvSpPr>
          <p:cNvPr id="16" name="Line 16"/>
          <p:cNvSpPr/>
          <p:nvPr/>
        </p:nvSpPr>
        <p:spPr>
          <a:xfrm>
            <a:off x="4762500" y="3238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19050">
            <a:solidFill>
              <a:srgbClr val="FFFFFF">
                <a:alpha val="40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6286500" y="3238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19050">
            <a:solidFill>
              <a:srgbClr val="FFFFFF">
                <a:alpha val="40000"/>
              </a:srgbClr>
            </a:solidFill>
          </a:ln>
        </p:spPr>
      </p:sp>
      <p:sp>
        <p:nvSpPr>
          <p:cNvPr id="18" name="Ellipse 18"/>
          <p:cNvSpPr/>
          <p:nvPr/>
        </p:nvSpPr>
        <p:spPr>
          <a:xfrm>
            <a:off x="6038850" y="3181350"/>
            <a:ext cx="114300" cy="1143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670108" y="3611880"/>
            <a:ext cx="285178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核心方法论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634264" y="4362450"/>
            <a:ext cx="49234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>
                    <a:alpha val="65000"/>
                  </a:srgbClr>
                </a:solidFill>
                <a:latin typeface="Arial"/>
                <a:ea typeface="Microsoft YaHei"/>
                <a:cs typeface="Arial"/>
              </a:rPr>
              <a:t>电销管理六大模块 + 三会标准流程 + 名单管控策略</a:t>
            </a:r>
          </a:p>
        </p:txBody>
      </p:sp>
      <p:sp>
        <p:nvSpPr>
          <p:cNvPr id="21" name="Rectangle 21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</p:sp>
      <p:sp>
        <p:nvSpPr>
          <p:cNvPr id="22" name="Line 22"/>
          <p:cNvSpPr/>
          <p:nvPr/>
        </p:nvSpPr>
        <p:spPr>
          <a:xfrm>
            <a:off x="0" y="6477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FFFFFF">
                <a:alpha val="10000"/>
              </a:srgbClr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58165" y="660177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 val="50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780966" y="6617970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FFFFFF">
                    <a:alpha val="40000"/>
                  </a:srgbClr>
                </a:solidFill>
                <a:latin typeface="Arial"/>
                <a:ea typeface="Microsoft YaHei"/>
                <a:cs typeface="Arial"/>
              </a:rPr>
              <a:t>BPO ALLIANCE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005587"/>
              </a:gs>
              <a:gs pos="100000">
                <a:srgbClr val="0076A8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"/>
            <a:ext cx="12192000" cy="714375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6" name="Freeform 6"/>
          <p:cNvSpPr/>
          <p:nvPr/>
        </p:nvSpPr>
        <p:spPr>
          <a:xfrm>
            <a:off x="571500" y="20955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8100" y="0"/>
                </a:moveTo>
                <a:lnTo>
                  <a:pt x="438150" y="0"/>
                </a:lnTo>
                <a:cubicBezTo>
                  <a:pt x="459192" y="0"/>
                  <a:pt x="476250" y="17058"/>
                  <a:pt x="476250" y="38100"/>
                </a:cubicBezTo>
                <a:lnTo>
                  <a:pt x="476250" y="342900"/>
                </a:lnTo>
                <a:cubicBezTo>
                  <a:pt x="476250" y="363942"/>
                  <a:pt x="459192" y="381000"/>
                  <a:pt x="43815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04494" y="330518"/>
            <a:ext cx="2102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1580" y="268605"/>
            <a:ext cx="32737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电销管理六大核心模块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68902" y="3819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核心方法论</a:t>
            </a:r>
          </a:p>
        </p:txBody>
      </p:sp>
      <p:sp>
        <p:nvSpPr>
          <p:cNvPr id="10" name="Freeform 10"/>
          <p:cNvSpPr/>
          <p:nvPr/>
        </p:nvSpPr>
        <p:spPr>
          <a:xfrm>
            <a:off x="571500" y="9525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38100" y="0"/>
                </a:moveTo>
                <a:lnTo>
                  <a:pt x="11010900" y="0"/>
                </a:lnTo>
                <a:cubicBezTo>
                  <a:pt x="11031942" y="0"/>
                  <a:pt x="11049000" y="17058"/>
                  <a:pt x="11049000" y="38100"/>
                </a:cubicBezTo>
                <a:lnTo>
                  <a:pt x="11049000" y="438150"/>
                </a:lnTo>
                <a:cubicBezTo>
                  <a:pt x="11049000" y="459192"/>
                  <a:pt x="11031942" y="476250"/>
                  <a:pt x="11010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8E1"/>
          </a:solidFill>
          <a:ln w="9525">
            <a:solidFill>
              <a:srgbClr val="F5A623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571500" y="952500"/>
            <a:ext cx="47625" cy="476250"/>
          </a:xfrm>
          <a:custGeom>
            <a:avLst/>
            <a:gdLst/>
            <a:ahLst/>
            <a:cxnLst/>
            <a:rect l="l" t="t" r="r" b="b"/>
            <a:pathLst>
              <a:path w="47625" h="47625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457200"/>
                </a:lnTo>
                <a:cubicBezTo>
                  <a:pt x="47625" y="467721"/>
                  <a:pt x="39096" y="476250"/>
                  <a:pt x="28575" y="476250"/>
                </a:cubicBezTo>
                <a:lnTo>
                  <a:pt x="19050" y="476250"/>
                </a:lnTo>
                <a:cubicBezTo>
                  <a:pt x="8529" y="476250"/>
                  <a:pt x="0" y="467721"/>
                  <a:pt x="0" y="4572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96290" y="1143952"/>
            <a:ext cx="8800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89207"/>
                </a:solidFill>
                <a:latin typeface="Arial"/>
                <a:ea typeface="Microsoft YaHei"/>
                <a:cs typeface="Arial"/>
              </a:rPr>
              <a:t>KEY INSIGHT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81212" y="1135856"/>
            <a:ext cx="44648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六大模块相互支撑形成闭环：人、资源、执行、动力四维一体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71500" y="1619250"/>
            <a:ext cx="3333750" cy="1333500"/>
            <a:chOff x="571500" y="1619250"/>
            <a:chExt cx="3333750" cy="1333500"/>
          </a:xfrm>
        </p:grpSpPr>
        <p:sp>
          <p:nvSpPr>
            <p:cNvPr id="14" name="Freeform 14"/>
            <p:cNvSpPr/>
            <p:nvPr/>
          </p:nvSpPr>
          <p:spPr>
            <a:xfrm>
              <a:off x="571500" y="1619250"/>
              <a:ext cx="3333750" cy="1333500"/>
            </a:xfrm>
            <a:custGeom>
              <a:avLst/>
              <a:gdLst/>
              <a:ahLst/>
              <a:cxnLst/>
              <a:rect l="l" t="t" r="r" b="b"/>
              <a:pathLst>
                <a:path w="3333750" h="1333500">
                  <a:moveTo>
                    <a:pt x="57150" y="0"/>
                  </a:moveTo>
                  <a:lnTo>
                    <a:pt x="3276600" y="0"/>
                  </a:lnTo>
                  <a:cubicBezTo>
                    <a:pt x="3308163" y="0"/>
                    <a:pt x="3333750" y="25587"/>
                    <a:pt x="3333750" y="57150"/>
                  </a:cubicBezTo>
                  <a:lnTo>
                    <a:pt x="3333750" y="1276350"/>
                  </a:lnTo>
                  <a:cubicBezTo>
                    <a:pt x="3333750" y="1307913"/>
                    <a:pt x="3308163" y="1333500"/>
                    <a:pt x="3276600" y="1333500"/>
                  </a:cubicBezTo>
                  <a:lnTo>
                    <a:pt x="57150" y="1333500"/>
                  </a:lnTo>
                  <a:cubicBezTo>
                    <a:pt x="25587" y="1333500"/>
                    <a:pt x="0" y="1307913"/>
                    <a:pt x="0" y="1276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71500" y="1619250"/>
              <a:ext cx="38100" cy="1333500"/>
            </a:xfrm>
            <a:custGeom>
              <a:avLst/>
              <a:gdLst/>
              <a:ahLst/>
              <a:cxnLst/>
              <a:rect l="l" t="t" r="r" b="b"/>
              <a:pathLst>
                <a:path w="38100" h="13335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1314450"/>
                  </a:lnTo>
                  <a:cubicBezTo>
                    <a:pt x="38100" y="1324971"/>
                    <a:pt x="29571" y="1333500"/>
                    <a:pt x="19050" y="1333500"/>
                  </a:cubicBezTo>
                  <a:lnTo>
                    <a:pt x="19050" y="1333500"/>
                  </a:lnTo>
                  <a:cubicBezTo>
                    <a:pt x="8529" y="1333500"/>
                    <a:pt x="0" y="1324971"/>
                    <a:pt x="0" y="13144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2480" y="1806892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坐席分级管理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6290" y="2077402"/>
              <a:ext cx="2119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ABC分级竞争机制，同等级竞争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6290" y="22679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清晰晋升路径，名单量差异化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6290" y="2506028"/>
              <a:ext cx="14678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A623"/>
                  </a:solidFill>
                  <a:latin typeface="Arial"/>
                  <a:ea typeface="Microsoft YaHei"/>
                  <a:cs typeface="Arial"/>
                </a:rPr>
                <a:t>A级比C级多15条名单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429125" y="1619250"/>
            <a:ext cx="3333750" cy="1333500"/>
            <a:chOff x="4429125" y="1619250"/>
            <a:chExt cx="3333750" cy="1333500"/>
          </a:xfrm>
        </p:grpSpPr>
        <p:sp>
          <p:nvSpPr>
            <p:cNvPr id="21" name="Freeform 21"/>
            <p:cNvSpPr/>
            <p:nvPr/>
          </p:nvSpPr>
          <p:spPr>
            <a:xfrm>
              <a:off x="4429125" y="1619250"/>
              <a:ext cx="3333750" cy="1333500"/>
            </a:xfrm>
            <a:custGeom>
              <a:avLst/>
              <a:gdLst/>
              <a:ahLst/>
              <a:cxnLst/>
              <a:rect l="l" t="t" r="r" b="b"/>
              <a:pathLst>
                <a:path w="3333750" h="1333500">
                  <a:moveTo>
                    <a:pt x="57150" y="0"/>
                  </a:moveTo>
                  <a:lnTo>
                    <a:pt x="3276600" y="0"/>
                  </a:lnTo>
                  <a:cubicBezTo>
                    <a:pt x="3308163" y="0"/>
                    <a:pt x="3333750" y="25587"/>
                    <a:pt x="3333750" y="57150"/>
                  </a:cubicBezTo>
                  <a:lnTo>
                    <a:pt x="3333750" y="1276350"/>
                  </a:lnTo>
                  <a:cubicBezTo>
                    <a:pt x="3333750" y="1307913"/>
                    <a:pt x="3308163" y="1333500"/>
                    <a:pt x="3276600" y="1333500"/>
                  </a:cubicBezTo>
                  <a:lnTo>
                    <a:pt x="57150" y="1333500"/>
                  </a:lnTo>
                  <a:cubicBezTo>
                    <a:pt x="25587" y="1333500"/>
                    <a:pt x="0" y="1307913"/>
                    <a:pt x="0" y="1276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429125" y="1619250"/>
              <a:ext cx="38100" cy="1333500"/>
            </a:xfrm>
            <a:custGeom>
              <a:avLst/>
              <a:gdLst/>
              <a:ahLst/>
              <a:cxnLst/>
              <a:rect l="l" t="t" r="r" b="b"/>
              <a:pathLst>
                <a:path w="38100" h="13335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1314450"/>
                  </a:lnTo>
                  <a:cubicBezTo>
                    <a:pt x="38100" y="1324971"/>
                    <a:pt x="29571" y="1333500"/>
                    <a:pt x="19050" y="1333500"/>
                  </a:cubicBezTo>
                  <a:lnTo>
                    <a:pt x="19050" y="1333500"/>
                  </a:lnTo>
                  <a:cubicBezTo>
                    <a:pt x="8529" y="1333500"/>
                    <a:pt x="0" y="1324971"/>
                    <a:pt x="0" y="13144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50105" y="1806892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话术沉淀体系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53915" y="2077402"/>
              <a:ext cx="21045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7类专项话术库，月度迭代更新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53915" y="2267902"/>
              <a:ext cx="19665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节日/老客/金额/存量分类等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53915" y="2506028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A623"/>
                  </a:solidFill>
                  <a:latin typeface="Arial"/>
                  <a:ea typeface="Microsoft YaHei"/>
                  <a:cs typeface="Arial"/>
                </a:rPr>
                <a:t>绩优分享标准化流程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286750" y="1619250"/>
            <a:ext cx="3333750" cy="1333500"/>
            <a:chOff x="8286750" y="1619250"/>
            <a:chExt cx="3333750" cy="1333500"/>
          </a:xfrm>
        </p:grpSpPr>
        <p:sp>
          <p:nvSpPr>
            <p:cNvPr id="28" name="Freeform 28"/>
            <p:cNvSpPr/>
            <p:nvPr/>
          </p:nvSpPr>
          <p:spPr>
            <a:xfrm>
              <a:off x="8286750" y="1619250"/>
              <a:ext cx="3333750" cy="1333500"/>
            </a:xfrm>
            <a:custGeom>
              <a:avLst/>
              <a:gdLst/>
              <a:ahLst/>
              <a:cxnLst/>
              <a:rect l="l" t="t" r="r" b="b"/>
              <a:pathLst>
                <a:path w="3333750" h="1333500">
                  <a:moveTo>
                    <a:pt x="57150" y="0"/>
                  </a:moveTo>
                  <a:lnTo>
                    <a:pt x="3276600" y="0"/>
                  </a:lnTo>
                  <a:cubicBezTo>
                    <a:pt x="3308163" y="0"/>
                    <a:pt x="3333750" y="25587"/>
                    <a:pt x="3333750" y="57150"/>
                  </a:cubicBezTo>
                  <a:lnTo>
                    <a:pt x="3333750" y="1276350"/>
                  </a:lnTo>
                  <a:cubicBezTo>
                    <a:pt x="3333750" y="1307913"/>
                    <a:pt x="3308163" y="1333500"/>
                    <a:pt x="3276600" y="1333500"/>
                  </a:cubicBezTo>
                  <a:lnTo>
                    <a:pt x="57150" y="1333500"/>
                  </a:lnTo>
                  <a:cubicBezTo>
                    <a:pt x="25587" y="1333500"/>
                    <a:pt x="0" y="1307913"/>
                    <a:pt x="0" y="1276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286750" y="1619250"/>
              <a:ext cx="38100" cy="1333500"/>
            </a:xfrm>
            <a:custGeom>
              <a:avLst/>
              <a:gdLst/>
              <a:ahLst/>
              <a:cxnLst/>
              <a:rect l="l" t="t" r="r" b="b"/>
              <a:pathLst>
                <a:path w="38100" h="13335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1314450"/>
                  </a:lnTo>
                  <a:cubicBezTo>
                    <a:pt x="38100" y="1324971"/>
                    <a:pt x="29571" y="1333500"/>
                    <a:pt x="19050" y="1333500"/>
                  </a:cubicBezTo>
                  <a:lnTo>
                    <a:pt x="19050" y="1333500"/>
                  </a:lnTo>
                  <a:cubicBezTo>
                    <a:pt x="8529" y="1333500"/>
                    <a:pt x="0" y="1324971"/>
                    <a:pt x="0" y="13144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07730" y="1806892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团队激励方案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11540" y="2077402"/>
              <a:ext cx="21889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日周维度即时激励，PK活动为主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11540" y="2267902"/>
              <a:ext cx="1797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可视化排名，追踪榜/光榜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11540" y="2506028"/>
              <a:ext cx="14919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A623"/>
                  </a:solidFill>
                  <a:latin typeface="Arial"/>
                  <a:ea typeface="Microsoft YaHei"/>
                  <a:cs typeface="Arial"/>
                </a:rPr>
                <a:t>团队PK比现金更有效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3143250"/>
            <a:ext cx="3333750" cy="1333500"/>
            <a:chOff x="571500" y="3143250"/>
            <a:chExt cx="3333750" cy="1333500"/>
          </a:xfrm>
        </p:grpSpPr>
        <p:sp>
          <p:nvSpPr>
            <p:cNvPr id="35" name="Freeform 35"/>
            <p:cNvSpPr/>
            <p:nvPr/>
          </p:nvSpPr>
          <p:spPr>
            <a:xfrm>
              <a:off x="571500" y="3143250"/>
              <a:ext cx="3333750" cy="1333500"/>
            </a:xfrm>
            <a:custGeom>
              <a:avLst/>
              <a:gdLst/>
              <a:ahLst/>
              <a:cxnLst/>
              <a:rect l="l" t="t" r="r" b="b"/>
              <a:pathLst>
                <a:path w="3333750" h="1333500">
                  <a:moveTo>
                    <a:pt x="57150" y="0"/>
                  </a:moveTo>
                  <a:lnTo>
                    <a:pt x="3276600" y="0"/>
                  </a:lnTo>
                  <a:cubicBezTo>
                    <a:pt x="3308163" y="0"/>
                    <a:pt x="3333750" y="25587"/>
                    <a:pt x="3333750" y="57150"/>
                  </a:cubicBezTo>
                  <a:lnTo>
                    <a:pt x="3333750" y="1276350"/>
                  </a:lnTo>
                  <a:cubicBezTo>
                    <a:pt x="3333750" y="1307913"/>
                    <a:pt x="3308163" y="1333500"/>
                    <a:pt x="3276600" y="1333500"/>
                  </a:cubicBezTo>
                  <a:lnTo>
                    <a:pt x="57150" y="1333500"/>
                  </a:lnTo>
                  <a:cubicBezTo>
                    <a:pt x="25587" y="1333500"/>
                    <a:pt x="0" y="1307913"/>
                    <a:pt x="0" y="1276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571500" y="3143250"/>
              <a:ext cx="38100" cy="1333500"/>
            </a:xfrm>
            <a:custGeom>
              <a:avLst/>
              <a:gdLst/>
              <a:ahLst/>
              <a:cxnLst/>
              <a:rect l="l" t="t" r="r" b="b"/>
              <a:pathLst>
                <a:path w="38100" h="13335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1314450"/>
                  </a:lnTo>
                  <a:cubicBezTo>
                    <a:pt x="38100" y="1324971"/>
                    <a:pt x="29571" y="1333500"/>
                    <a:pt x="19050" y="1333500"/>
                  </a:cubicBezTo>
                  <a:lnTo>
                    <a:pt x="19050" y="1333500"/>
                  </a:lnTo>
                  <a:cubicBezTo>
                    <a:pt x="8529" y="1333500"/>
                    <a:pt x="0" y="1324971"/>
                    <a:pt x="0" y="13144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92480" y="3330892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76A8"/>
                  </a:solidFill>
                  <a:latin typeface="Arial"/>
                  <a:ea typeface="Microsoft YaHei"/>
                  <a:cs typeface="Arial"/>
                </a:rPr>
                <a:t>三会管理流程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6290" y="3601402"/>
              <a:ext cx="2012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早会15分钟：复盘/目标/动作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6290" y="3791902"/>
              <a:ext cx="19282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午会10分钟：缺口告知/叫醒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6290" y="4030028"/>
              <a:ext cx="23695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A623"/>
                  </a:solidFill>
                  <a:latin typeface="Arial"/>
                  <a:ea typeface="Microsoft YaHei"/>
                  <a:cs typeface="Arial"/>
                </a:rPr>
                <a:t>晚会不限时：复盘培训/问题解决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429125" y="3143250"/>
            <a:ext cx="3333750" cy="1333500"/>
            <a:chOff x="4429125" y="3143250"/>
            <a:chExt cx="3333750" cy="1333500"/>
          </a:xfrm>
        </p:grpSpPr>
        <p:sp>
          <p:nvSpPr>
            <p:cNvPr id="42" name="Freeform 42"/>
            <p:cNvSpPr/>
            <p:nvPr/>
          </p:nvSpPr>
          <p:spPr>
            <a:xfrm>
              <a:off x="4429125" y="3143250"/>
              <a:ext cx="3333750" cy="1333500"/>
            </a:xfrm>
            <a:custGeom>
              <a:avLst/>
              <a:gdLst/>
              <a:ahLst/>
              <a:cxnLst/>
              <a:rect l="l" t="t" r="r" b="b"/>
              <a:pathLst>
                <a:path w="3333750" h="1333500">
                  <a:moveTo>
                    <a:pt x="57150" y="0"/>
                  </a:moveTo>
                  <a:lnTo>
                    <a:pt x="3276600" y="0"/>
                  </a:lnTo>
                  <a:cubicBezTo>
                    <a:pt x="3308163" y="0"/>
                    <a:pt x="3333750" y="25587"/>
                    <a:pt x="3333750" y="57150"/>
                  </a:cubicBezTo>
                  <a:lnTo>
                    <a:pt x="3333750" y="1276350"/>
                  </a:lnTo>
                  <a:cubicBezTo>
                    <a:pt x="3333750" y="1307913"/>
                    <a:pt x="3308163" y="1333500"/>
                    <a:pt x="3276600" y="1333500"/>
                  </a:cubicBezTo>
                  <a:lnTo>
                    <a:pt x="57150" y="1333500"/>
                  </a:lnTo>
                  <a:cubicBezTo>
                    <a:pt x="25587" y="1333500"/>
                    <a:pt x="0" y="1307913"/>
                    <a:pt x="0" y="1276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4429125" y="3143250"/>
              <a:ext cx="38100" cy="1333500"/>
            </a:xfrm>
            <a:custGeom>
              <a:avLst/>
              <a:gdLst/>
              <a:ahLst/>
              <a:cxnLst/>
              <a:rect l="l" t="t" r="r" b="b"/>
              <a:pathLst>
                <a:path w="38100" h="13335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1314450"/>
                  </a:lnTo>
                  <a:cubicBezTo>
                    <a:pt x="38100" y="1324971"/>
                    <a:pt x="29571" y="1333500"/>
                    <a:pt x="19050" y="1333500"/>
                  </a:cubicBezTo>
                  <a:lnTo>
                    <a:pt x="19050" y="1333500"/>
                  </a:lnTo>
                  <a:cubicBezTo>
                    <a:pt x="8529" y="1333500"/>
                    <a:pt x="0" y="1324971"/>
                    <a:pt x="0" y="13144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50105" y="3330892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76A8"/>
                  </a:solidFill>
                  <a:latin typeface="Arial"/>
                  <a:ea typeface="Microsoft YaHei"/>
                  <a:cs typeface="Arial"/>
                </a:rPr>
                <a:t>名单管控规则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53915" y="3601402"/>
              <a:ext cx="20662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新名单静置2-3天，拨打≤40次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53915" y="3791902"/>
              <a:ext cx="20509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周末全量回收，ABCD客户分级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653915" y="4030028"/>
              <a:ext cx="21360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A623"/>
                  </a:solidFill>
                  <a:latin typeface="Arial"/>
                  <a:ea typeface="Microsoft YaHei"/>
                  <a:cs typeface="Arial"/>
                </a:rPr>
                <a:t>5万+高价值名单匹配最优坐席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286750" y="3143250"/>
            <a:ext cx="3333750" cy="1333500"/>
            <a:chOff x="8286750" y="3143250"/>
            <a:chExt cx="3333750" cy="1333500"/>
          </a:xfrm>
        </p:grpSpPr>
        <p:sp>
          <p:nvSpPr>
            <p:cNvPr id="49" name="Freeform 49"/>
            <p:cNvSpPr/>
            <p:nvPr/>
          </p:nvSpPr>
          <p:spPr>
            <a:xfrm>
              <a:off x="8286750" y="3143250"/>
              <a:ext cx="3333750" cy="1333500"/>
            </a:xfrm>
            <a:custGeom>
              <a:avLst/>
              <a:gdLst/>
              <a:ahLst/>
              <a:cxnLst/>
              <a:rect l="l" t="t" r="r" b="b"/>
              <a:pathLst>
                <a:path w="3333750" h="1333500">
                  <a:moveTo>
                    <a:pt x="57150" y="0"/>
                  </a:moveTo>
                  <a:lnTo>
                    <a:pt x="3276600" y="0"/>
                  </a:lnTo>
                  <a:cubicBezTo>
                    <a:pt x="3308163" y="0"/>
                    <a:pt x="3333750" y="25587"/>
                    <a:pt x="3333750" y="57150"/>
                  </a:cubicBezTo>
                  <a:lnTo>
                    <a:pt x="3333750" y="1276350"/>
                  </a:lnTo>
                  <a:cubicBezTo>
                    <a:pt x="3333750" y="1307913"/>
                    <a:pt x="3308163" y="1333500"/>
                    <a:pt x="3276600" y="1333500"/>
                  </a:cubicBezTo>
                  <a:lnTo>
                    <a:pt x="57150" y="1333500"/>
                  </a:lnTo>
                  <a:cubicBezTo>
                    <a:pt x="25587" y="1333500"/>
                    <a:pt x="0" y="1307913"/>
                    <a:pt x="0" y="1276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8286750" y="3143250"/>
              <a:ext cx="38100" cy="1333500"/>
            </a:xfrm>
            <a:custGeom>
              <a:avLst/>
              <a:gdLst/>
              <a:ahLst/>
              <a:cxnLst/>
              <a:rect l="l" t="t" r="r" b="b"/>
              <a:pathLst>
                <a:path w="38100" h="13335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1314450"/>
                  </a:lnTo>
                  <a:cubicBezTo>
                    <a:pt x="38100" y="1324971"/>
                    <a:pt x="29571" y="1333500"/>
                    <a:pt x="19050" y="1333500"/>
                  </a:cubicBezTo>
                  <a:lnTo>
                    <a:pt x="19050" y="1333500"/>
                  </a:lnTo>
                  <a:cubicBezTo>
                    <a:pt x="8529" y="1333500"/>
                    <a:pt x="0" y="1324971"/>
                    <a:pt x="0" y="13144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507730" y="3330892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76A8"/>
                  </a:solidFill>
                  <a:latin typeface="Arial"/>
                  <a:ea typeface="Microsoft YaHei"/>
                  <a:cs typeface="Arial"/>
                </a:rPr>
                <a:t>分时段拨打策略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11540" y="3601402"/>
              <a:ext cx="19052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9:00-9:30 回拨高意向客户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11540" y="3791902"/>
              <a:ext cx="21506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18:30-19:30 黄金时段打新名单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11540" y="4030028"/>
              <a:ext cx="1797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A623"/>
                  </a:solidFill>
                  <a:latin typeface="Arial"/>
                  <a:ea typeface="Microsoft YaHei"/>
                  <a:cs typeface="Arial"/>
                </a:rPr>
                <a:t>接通率第二高的黄金时段</a:t>
              </a:r>
            </a:p>
          </p:txBody>
        </p:sp>
      </p:grpSp>
      <p:sp>
        <p:nvSpPr>
          <p:cNvPr id="56" name="Rectangle 56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57" name="Line 5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560070" y="6332220"/>
            <a:ext cx="38939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Source: 312下午供应商联盟分享材料 | 成熟自建电销职场管理经验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61022" y="6578441"/>
            <a:ext cx="18283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BDC3C7"/>
                </a:solidFill>
                <a:latin typeface="Arial"/>
                <a:ea typeface="Microsoft YaHei"/>
                <a:cs typeface="Arial"/>
              </a:rPr>
              <a:t>标准化运营是提升电销产能的关键</a:t>
            </a:r>
          </a:p>
        </p:txBody>
      </p:sp>
      <p:sp>
        <p:nvSpPr>
          <p:cNvPr id="60" name="Freeform 60"/>
          <p:cNvSpPr/>
          <p:nvPr/>
        </p:nvSpPr>
        <p:spPr>
          <a:xfrm>
            <a:off x="10858500" y="6238875"/>
            <a:ext cx="762000" cy="285750"/>
          </a:xfrm>
          <a:custGeom>
            <a:avLst/>
            <a:gdLst/>
            <a:ahLst/>
            <a:cxnLst/>
            <a:rect l="l" t="t" r="r" b="b"/>
            <a:pathLst>
              <a:path w="762000" h="285750">
                <a:moveTo>
                  <a:pt x="38100" y="0"/>
                </a:moveTo>
                <a:lnTo>
                  <a:pt x="723900" y="0"/>
                </a:lnTo>
                <a:cubicBezTo>
                  <a:pt x="744942" y="0"/>
                  <a:pt x="762000" y="17058"/>
                  <a:pt x="762000" y="38100"/>
                </a:cubicBezTo>
                <a:lnTo>
                  <a:pt x="762000" y="247650"/>
                </a:lnTo>
                <a:cubicBezTo>
                  <a:pt x="762000" y="268692"/>
                  <a:pt x="744942" y="285750"/>
                  <a:pt x="7239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11137604" y="63255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005587"/>
              </a:gs>
              <a:gs pos="100000">
                <a:srgbClr val="0076A8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"/>
            <a:ext cx="12192000" cy="714375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6" name="Freeform 6"/>
          <p:cNvSpPr/>
          <p:nvPr/>
        </p:nvSpPr>
        <p:spPr>
          <a:xfrm>
            <a:off x="571500" y="20955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8100" y="0"/>
                </a:moveTo>
                <a:lnTo>
                  <a:pt x="438150" y="0"/>
                </a:lnTo>
                <a:cubicBezTo>
                  <a:pt x="459192" y="0"/>
                  <a:pt x="476250" y="17058"/>
                  <a:pt x="476250" y="38100"/>
                </a:cubicBezTo>
                <a:lnTo>
                  <a:pt x="476250" y="342900"/>
                </a:lnTo>
                <a:cubicBezTo>
                  <a:pt x="476250" y="363942"/>
                  <a:pt x="459192" y="381000"/>
                  <a:pt x="43815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78616" y="330518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1580" y="268605"/>
            <a:ext cx="412714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ABC分级竞争机制与失败教训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68902" y="3819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核心方法论</a:t>
            </a:r>
          </a:p>
        </p:txBody>
      </p:sp>
      <p:sp>
        <p:nvSpPr>
          <p:cNvPr id="10" name="Freeform 10"/>
          <p:cNvSpPr/>
          <p:nvPr/>
        </p:nvSpPr>
        <p:spPr>
          <a:xfrm>
            <a:off x="571500" y="9525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38100" y="0"/>
                </a:moveTo>
                <a:lnTo>
                  <a:pt x="11010900" y="0"/>
                </a:lnTo>
                <a:cubicBezTo>
                  <a:pt x="11031942" y="0"/>
                  <a:pt x="11049000" y="17058"/>
                  <a:pt x="11049000" y="38100"/>
                </a:cubicBezTo>
                <a:lnTo>
                  <a:pt x="11049000" y="438150"/>
                </a:lnTo>
                <a:cubicBezTo>
                  <a:pt x="11049000" y="459192"/>
                  <a:pt x="11031942" y="476250"/>
                  <a:pt x="11010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8E1"/>
          </a:solidFill>
          <a:ln w="9525">
            <a:solidFill>
              <a:srgbClr val="F5A623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571500" y="952500"/>
            <a:ext cx="47625" cy="476250"/>
          </a:xfrm>
          <a:custGeom>
            <a:avLst/>
            <a:gdLst/>
            <a:ahLst/>
            <a:cxnLst/>
            <a:rect l="l" t="t" r="r" b="b"/>
            <a:pathLst>
              <a:path w="47625" h="47625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457200"/>
                </a:lnTo>
                <a:cubicBezTo>
                  <a:pt x="47625" y="467721"/>
                  <a:pt x="39096" y="476250"/>
                  <a:pt x="28575" y="476250"/>
                </a:cubicBezTo>
                <a:lnTo>
                  <a:pt x="19050" y="476250"/>
                </a:lnTo>
                <a:cubicBezTo>
                  <a:pt x="8529" y="476250"/>
                  <a:pt x="0" y="467721"/>
                  <a:pt x="0" y="4572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96290" y="1143952"/>
            <a:ext cx="8800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89207"/>
                </a:solidFill>
                <a:latin typeface="Arial"/>
                <a:ea typeface="Microsoft YaHei"/>
                <a:cs typeface="Arial"/>
              </a:rPr>
              <a:t>KEY INSIGHT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81212" y="1135856"/>
            <a:ext cx="53028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同等级竞争保证公平感，但固定名单额度导致"阶层固化"是失败核心原因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71500" y="1619250"/>
            <a:ext cx="4286250" cy="4286250"/>
            <a:chOff x="571500" y="1619250"/>
            <a:chExt cx="4286250" cy="4286250"/>
          </a:xfrm>
        </p:grpSpPr>
        <p:sp>
          <p:nvSpPr>
            <p:cNvPr id="14" name="Freeform 14"/>
            <p:cNvSpPr/>
            <p:nvPr/>
          </p:nvSpPr>
          <p:spPr>
            <a:xfrm>
              <a:off x="571500" y="1619250"/>
              <a:ext cx="4286250" cy="4286250"/>
            </a:xfrm>
            <a:custGeom>
              <a:avLst/>
              <a:gdLst/>
              <a:ahLst/>
              <a:cxnLst/>
              <a:rect l="l" t="t" r="r" b="b"/>
              <a:pathLst>
                <a:path w="4286250" h="4286250">
                  <a:moveTo>
                    <a:pt x="57150" y="0"/>
                  </a:moveTo>
                  <a:lnTo>
                    <a:pt x="4229100" y="0"/>
                  </a:lnTo>
                  <a:cubicBezTo>
                    <a:pt x="4260663" y="0"/>
                    <a:pt x="4286250" y="25587"/>
                    <a:pt x="4286250" y="57150"/>
                  </a:cubicBezTo>
                  <a:lnTo>
                    <a:pt x="4286250" y="4229100"/>
                  </a:lnTo>
                  <a:cubicBezTo>
                    <a:pt x="4286250" y="4260663"/>
                    <a:pt x="4260663" y="4286250"/>
                    <a:pt x="4229100" y="4286250"/>
                  </a:cubicBezTo>
                  <a:lnTo>
                    <a:pt x="57150" y="4286250"/>
                  </a:lnTo>
                  <a:cubicBezTo>
                    <a:pt x="25587" y="4286250"/>
                    <a:pt x="0" y="4260663"/>
                    <a:pt x="0" y="42291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71500" y="1619250"/>
              <a:ext cx="38100" cy="4286250"/>
            </a:xfrm>
            <a:custGeom>
              <a:avLst/>
              <a:gdLst/>
              <a:ahLst/>
              <a:cxnLst/>
              <a:rect l="l" t="t" r="r" b="b"/>
              <a:pathLst>
                <a:path w="38100" h="428625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4267200"/>
                  </a:lnTo>
                  <a:cubicBezTo>
                    <a:pt x="38100" y="4277721"/>
                    <a:pt x="29571" y="4286250"/>
                    <a:pt x="19050" y="4286250"/>
                  </a:cubicBezTo>
                  <a:lnTo>
                    <a:pt x="19050" y="4286250"/>
                  </a:lnTo>
                  <a:cubicBezTo>
                    <a:pt x="8529" y="4286250"/>
                    <a:pt x="0" y="4277721"/>
                    <a:pt x="0" y="42672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0575" y="17907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核心原则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762000" y="2143125"/>
              <a:ext cx="3905250" cy="1047750"/>
            </a:xfrm>
            <a:custGeom>
              <a:avLst/>
              <a:gdLst/>
              <a:ahLst/>
              <a:cxnLst/>
              <a:rect l="l" t="t" r="r" b="b"/>
              <a:pathLst>
                <a:path w="3905250" h="1047750">
                  <a:moveTo>
                    <a:pt x="57150" y="0"/>
                  </a:moveTo>
                  <a:lnTo>
                    <a:pt x="3848100" y="0"/>
                  </a:lnTo>
                  <a:cubicBezTo>
                    <a:pt x="3879663" y="0"/>
                    <a:pt x="3905250" y="25587"/>
                    <a:pt x="3905250" y="57150"/>
                  </a:cubicBezTo>
                  <a:lnTo>
                    <a:pt x="3905250" y="990600"/>
                  </a:lnTo>
                  <a:cubicBezTo>
                    <a:pt x="3905250" y="1022163"/>
                    <a:pt x="3879663" y="1047750"/>
                    <a:pt x="3848100" y="1047750"/>
                  </a:cubicBezTo>
                  <a:lnTo>
                    <a:pt x="57150" y="1047750"/>
                  </a:lnTo>
                  <a:cubicBezTo>
                    <a:pt x="25587" y="1047750"/>
                    <a:pt x="0" y="1022163"/>
                    <a:pt x="0" y="990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8F9FA"/>
            </a:solidFill>
            <a:ln w="9525">
              <a:solidFill>
                <a:srgbClr val="E5E7EB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19150" y="2438400"/>
              <a:ext cx="457200" cy="457200"/>
            </a:xfrm>
            <a:prstGeom prst="ellipse">
              <a:avLst/>
            </a:prstGeom>
            <a:solidFill>
              <a:srgbClr val="00558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94196" y="2581275"/>
              <a:ext cx="1071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12558" y="2386489"/>
              <a:ext cx="1010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同等级竞争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15415" y="2696528"/>
              <a:ext cx="20355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C级不越级A级，保证竞争信心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15415" y="2915602"/>
              <a:ext cx="16062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C打赢C升B，B打赢B升A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762000" y="3381375"/>
              <a:ext cx="3905250" cy="1047750"/>
            </a:xfrm>
            <a:custGeom>
              <a:avLst/>
              <a:gdLst/>
              <a:ahLst/>
              <a:cxnLst/>
              <a:rect l="l" t="t" r="r" b="b"/>
              <a:pathLst>
                <a:path w="3905250" h="1047750">
                  <a:moveTo>
                    <a:pt x="57150" y="0"/>
                  </a:moveTo>
                  <a:lnTo>
                    <a:pt x="3848100" y="0"/>
                  </a:lnTo>
                  <a:cubicBezTo>
                    <a:pt x="3879663" y="0"/>
                    <a:pt x="3905250" y="25587"/>
                    <a:pt x="3905250" y="57150"/>
                  </a:cubicBezTo>
                  <a:lnTo>
                    <a:pt x="3905250" y="990600"/>
                  </a:lnTo>
                  <a:cubicBezTo>
                    <a:pt x="3905250" y="1022163"/>
                    <a:pt x="3879663" y="1047750"/>
                    <a:pt x="3848100" y="1047750"/>
                  </a:cubicBezTo>
                  <a:lnTo>
                    <a:pt x="57150" y="1047750"/>
                  </a:lnTo>
                  <a:cubicBezTo>
                    <a:pt x="25587" y="1047750"/>
                    <a:pt x="0" y="1022163"/>
                    <a:pt x="0" y="990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8F9FA"/>
            </a:solidFill>
            <a:ln w="9525">
              <a:solidFill>
                <a:srgbClr val="E5E7EB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819150" y="3676650"/>
              <a:ext cx="457200" cy="457200"/>
            </a:xfrm>
            <a:prstGeom prst="ellipse">
              <a:avLst/>
            </a:prstGeom>
            <a:solidFill>
              <a:srgbClr val="00558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5442" y="38195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12558" y="3624739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名单量差异化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15415" y="3934778"/>
              <a:ext cx="10924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A级比C级多15条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15415" y="415385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额外奖励给能力突出的批次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762000" y="4619625"/>
              <a:ext cx="3905250" cy="1047750"/>
            </a:xfrm>
            <a:custGeom>
              <a:avLst/>
              <a:gdLst/>
              <a:ahLst/>
              <a:cxnLst/>
              <a:rect l="l" t="t" r="r" b="b"/>
              <a:pathLst>
                <a:path w="3905250" h="1047750">
                  <a:moveTo>
                    <a:pt x="57150" y="0"/>
                  </a:moveTo>
                  <a:lnTo>
                    <a:pt x="3848100" y="0"/>
                  </a:lnTo>
                  <a:cubicBezTo>
                    <a:pt x="3879663" y="0"/>
                    <a:pt x="3905250" y="25587"/>
                    <a:pt x="3905250" y="57150"/>
                  </a:cubicBezTo>
                  <a:lnTo>
                    <a:pt x="3905250" y="990600"/>
                  </a:lnTo>
                  <a:cubicBezTo>
                    <a:pt x="3905250" y="1022163"/>
                    <a:pt x="3879663" y="1047750"/>
                    <a:pt x="3848100" y="1047750"/>
                  </a:cubicBezTo>
                  <a:lnTo>
                    <a:pt x="57150" y="1047750"/>
                  </a:lnTo>
                  <a:cubicBezTo>
                    <a:pt x="25587" y="1047750"/>
                    <a:pt x="0" y="1022163"/>
                    <a:pt x="0" y="990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8F9FA"/>
            </a:solidFill>
            <a:ln w="9525">
              <a:solidFill>
                <a:srgbClr val="E5E7EB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819150" y="4914900"/>
              <a:ext cx="457200" cy="457200"/>
            </a:xfrm>
            <a:prstGeom prst="ellipse">
              <a:avLst/>
            </a:prstGeom>
            <a:solidFill>
              <a:srgbClr val="00558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65442" y="505777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12558" y="4862989"/>
              <a:ext cx="184098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5S管理 + 可视化激励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15415" y="5173028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龙虎榜、追踪榜、光榜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15415" y="53921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明确个人和团队排名位置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143500" y="1619250"/>
            <a:ext cx="6477000" cy="4286250"/>
            <a:chOff x="5143500" y="1619250"/>
            <a:chExt cx="6477000" cy="4286250"/>
          </a:xfrm>
        </p:grpSpPr>
        <p:sp>
          <p:nvSpPr>
            <p:cNvPr id="36" name="Freeform 36"/>
            <p:cNvSpPr/>
            <p:nvPr/>
          </p:nvSpPr>
          <p:spPr>
            <a:xfrm>
              <a:off x="5143500" y="1619250"/>
              <a:ext cx="6477000" cy="4286250"/>
            </a:xfrm>
            <a:custGeom>
              <a:avLst/>
              <a:gdLst/>
              <a:ahLst/>
              <a:cxnLst/>
              <a:rect l="l" t="t" r="r" b="b"/>
              <a:pathLst>
                <a:path w="6477000" h="4286250">
                  <a:moveTo>
                    <a:pt x="57150" y="0"/>
                  </a:moveTo>
                  <a:lnTo>
                    <a:pt x="6419850" y="0"/>
                  </a:lnTo>
                  <a:cubicBezTo>
                    <a:pt x="6451413" y="0"/>
                    <a:pt x="6477000" y="25587"/>
                    <a:pt x="6477000" y="57150"/>
                  </a:cubicBezTo>
                  <a:lnTo>
                    <a:pt x="6477000" y="4229100"/>
                  </a:lnTo>
                  <a:cubicBezTo>
                    <a:pt x="6477000" y="4260663"/>
                    <a:pt x="6451413" y="4286250"/>
                    <a:pt x="6419850" y="4286250"/>
                  </a:cubicBezTo>
                  <a:lnTo>
                    <a:pt x="57150" y="4286250"/>
                  </a:lnTo>
                  <a:cubicBezTo>
                    <a:pt x="25587" y="4286250"/>
                    <a:pt x="0" y="4260663"/>
                    <a:pt x="0" y="42291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5143500" y="1619250"/>
              <a:ext cx="38100" cy="4286250"/>
            </a:xfrm>
            <a:custGeom>
              <a:avLst/>
              <a:gdLst/>
              <a:ahLst/>
              <a:cxnLst/>
              <a:rect l="l" t="t" r="r" b="b"/>
              <a:pathLst>
                <a:path w="38100" h="428625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4267200"/>
                  </a:lnTo>
                  <a:cubicBezTo>
                    <a:pt x="38100" y="4277721"/>
                    <a:pt x="29571" y="4286250"/>
                    <a:pt x="19050" y="4286250"/>
                  </a:cubicBezTo>
                  <a:lnTo>
                    <a:pt x="19050" y="4286250"/>
                  </a:lnTo>
                  <a:cubicBezTo>
                    <a:pt x="8529" y="4286250"/>
                    <a:pt x="0" y="4277721"/>
                    <a:pt x="0" y="42672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E74C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362575" y="1790700"/>
              <a:ext cx="302847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4C3C"/>
                  </a:solidFill>
                  <a:latin typeface="Arial"/>
                  <a:ea typeface="Microsoft YaHei"/>
                  <a:cs typeface="Arial"/>
                </a:rPr>
                <a:t>失败教训：王者荣耀段位分级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5715000" y="2286000"/>
              <a:ext cx="9525" cy="2952750"/>
            </a:xfrm>
            <a:custGeom>
              <a:avLst/>
              <a:gdLst/>
              <a:ahLst/>
              <a:cxnLst/>
              <a:rect l="l" t="t" r="r" b="b"/>
              <a:pathLst>
                <a:path w="9525" h="2952750">
                  <a:moveTo>
                    <a:pt x="0" y="0"/>
                  </a:moveTo>
                  <a:lnTo>
                    <a:pt x="0" y="2952750"/>
                  </a:lnTo>
                </a:path>
              </a:pathLst>
            </a:custGeom>
            <a:noFill/>
            <a:ln w="19050">
              <a:solidFill>
                <a:srgbClr val="E5E7EB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5562600" y="2324100"/>
              <a:ext cx="304800" cy="304800"/>
            </a:xfrm>
            <a:prstGeom prst="ellipse">
              <a:avLst/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6096000" y="2286000"/>
              <a:ext cx="5143500" cy="762000"/>
            </a:xfrm>
            <a:custGeom>
              <a:avLst/>
              <a:gdLst/>
              <a:ahLst/>
              <a:cxnLst/>
              <a:rect l="l" t="t" r="r" b="b"/>
              <a:pathLst>
                <a:path w="5143500" h="762000">
                  <a:moveTo>
                    <a:pt x="57150" y="0"/>
                  </a:moveTo>
                  <a:lnTo>
                    <a:pt x="5086350" y="0"/>
                  </a:lnTo>
                  <a:cubicBezTo>
                    <a:pt x="5117913" y="0"/>
                    <a:pt x="5143500" y="25587"/>
                    <a:pt x="5143500" y="57150"/>
                  </a:cubicBezTo>
                  <a:lnTo>
                    <a:pt x="5143500" y="704850"/>
                  </a:lnTo>
                  <a:cubicBezTo>
                    <a:pt x="5143500" y="736413"/>
                    <a:pt x="5117913" y="762000"/>
                    <a:pt x="5086350" y="762000"/>
                  </a:cubicBezTo>
                  <a:lnTo>
                    <a:pt x="57150" y="762000"/>
                  </a:lnTo>
                  <a:cubicBezTo>
                    <a:pt x="25587" y="762000"/>
                    <a:pt x="0" y="736413"/>
                    <a:pt x="0" y="704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8F9FA"/>
            </a:solidFill>
            <a:ln w="9525">
              <a:solidFill>
                <a:srgbClr val="E5E7E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71260" y="24422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7AE60"/>
                  </a:solidFill>
                  <a:latin typeface="Arial"/>
                  <a:ea typeface="Microsoft YaHei"/>
                  <a:cs typeface="Arial"/>
                </a:rPr>
                <a:t>初期效果很好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73165" y="2696528"/>
              <a:ext cx="27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坐席主动加班冲业绩，段位晋升激励明显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74118" y="2847499"/>
              <a:ext cx="2445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按周度业绩升降档，对应不同名单额度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562600" y="3467100"/>
              <a:ext cx="304800" cy="304800"/>
            </a:xfrm>
            <a:prstGeom prst="ellipse">
              <a:avLst/>
            </a:prstGeom>
            <a:solidFill>
              <a:srgbClr val="F5A623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6096000" y="3429000"/>
              <a:ext cx="5143500" cy="762000"/>
            </a:xfrm>
            <a:custGeom>
              <a:avLst/>
              <a:gdLst/>
              <a:ahLst/>
              <a:cxnLst/>
              <a:rect l="l" t="t" r="r" b="b"/>
              <a:pathLst>
                <a:path w="5143500" h="762000">
                  <a:moveTo>
                    <a:pt x="57150" y="0"/>
                  </a:moveTo>
                  <a:lnTo>
                    <a:pt x="5086350" y="0"/>
                  </a:lnTo>
                  <a:cubicBezTo>
                    <a:pt x="5117913" y="0"/>
                    <a:pt x="5143500" y="25587"/>
                    <a:pt x="5143500" y="57150"/>
                  </a:cubicBezTo>
                  <a:lnTo>
                    <a:pt x="5143500" y="704850"/>
                  </a:lnTo>
                  <a:cubicBezTo>
                    <a:pt x="5143500" y="736413"/>
                    <a:pt x="5117913" y="762000"/>
                    <a:pt x="5086350" y="762000"/>
                  </a:cubicBezTo>
                  <a:lnTo>
                    <a:pt x="57150" y="762000"/>
                  </a:lnTo>
                  <a:cubicBezTo>
                    <a:pt x="25587" y="762000"/>
                    <a:pt x="0" y="736413"/>
                    <a:pt x="0" y="704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8E1"/>
            </a:solidFill>
            <a:ln w="9525">
              <a:solidFill>
                <a:srgbClr val="F5A623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71260" y="35852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9207"/>
                  </a:solidFill>
                  <a:latin typeface="Arial"/>
                  <a:ea typeface="Microsoft YaHei"/>
                  <a:cs typeface="Arial"/>
                </a:rPr>
                <a:t>问题逐渐暴露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73165" y="383952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分级后直接对应固定名单额度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74118" y="3990499"/>
              <a:ext cx="28727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低段位坐席认为永远升不上去，产生不公平感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5562600" y="4610100"/>
              <a:ext cx="304800" cy="3048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6096000" y="4572000"/>
              <a:ext cx="5143500" cy="762000"/>
            </a:xfrm>
            <a:custGeom>
              <a:avLst/>
              <a:gdLst/>
              <a:ahLst/>
              <a:cxnLst/>
              <a:rect l="l" t="t" r="r" b="b"/>
              <a:pathLst>
                <a:path w="5143500" h="762000">
                  <a:moveTo>
                    <a:pt x="57150" y="0"/>
                  </a:moveTo>
                  <a:lnTo>
                    <a:pt x="5086350" y="0"/>
                  </a:lnTo>
                  <a:cubicBezTo>
                    <a:pt x="5117913" y="0"/>
                    <a:pt x="5143500" y="25587"/>
                    <a:pt x="5143500" y="57150"/>
                  </a:cubicBezTo>
                  <a:lnTo>
                    <a:pt x="5143500" y="704850"/>
                  </a:lnTo>
                  <a:cubicBezTo>
                    <a:pt x="5143500" y="736413"/>
                    <a:pt x="5117913" y="762000"/>
                    <a:pt x="5086350" y="762000"/>
                  </a:cubicBezTo>
                  <a:lnTo>
                    <a:pt x="57150" y="762000"/>
                  </a:lnTo>
                  <a:cubicBezTo>
                    <a:pt x="25587" y="762000"/>
                    <a:pt x="0" y="736413"/>
                    <a:pt x="0" y="704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5F5"/>
            </a:solidFill>
            <a:ln w="9525">
              <a:solidFill>
                <a:srgbClr val="E74C3C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71260" y="47282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74C3C"/>
                  </a:solidFill>
                  <a:latin typeface="Arial"/>
                  <a:ea typeface="Microsoft YaHei"/>
                  <a:cs typeface="Arial"/>
                </a:rPr>
                <a:t>效果逐渐下滑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73165" y="498252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产生倦怠情绪，激励效果消退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74118" y="5133499"/>
              <a:ext cx="2160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慢慢失去动力，整体效果不如预期</a:t>
              </a:r>
            </a:p>
          </p:txBody>
        </p:sp>
      </p:grpSp>
      <p:sp>
        <p:nvSpPr>
          <p:cNvPr id="56" name="Rectangle 56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57" name="Line 5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560070" y="6332220"/>
            <a:ext cx="38939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Source: 312下午供应商联盟分享材料 | 过往段位分级失败案例分析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61022" y="6578441"/>
            <a:ext cx="19849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BDC3C7"/>
                </a:solidFill>
                <a:latin typeface="Arial"/>
                <a:ea typeface="Microsoft YaHei"/>
                <a:cs typeface="Arial"/>
              </a:rPr>
              <a:t>固定名单额度 → 阶层固化 → 动力消退</a:t>
            </a:r>
          </a:p>
        </p:txBody>
      </p:sp>
      <p:sp>
        <p:nvSpPr>
          <p:cNvPr id="60" name="Freeform 60"/>
          <p:cNvSpPr/>
          <p:nvPr/>
        </p:nvSpPr>
        <p:spPr>
          <a:xfrm>
            <a:off x="10858500" y="6238875"/>
            <a:ext cx="762000" cy="285750"/>
          </a:xfrm>
          <a:custGeom>
            <a:avLst/>
            <a:gdLst/>
            <a:ahLst/>
            <a:cxnLst/>
            <a:rect l="l" t="t" r="r" b="b"/>
            <a:pathLst>
              <a:path w="762000" h="285750">
                <a:moveTo>
                  <a:pt x="38100" y="0"/>
                </a:moveTo>
                <a:lnTo>
                  <a:pt x="723900" y="0"/>
                </a:lnTo>
                <a:cubicBezTo>
                  <a:pt x="744942" y="0"/>
                  <a:pt x="762000" y="17058"/>
                  <a:pt x="762000" y="38100"/>
                </a:cubicBezTo>
                <a:lnTo>
                  <a:pt x="762000" y="247650"/>
                </a:lnTo>
                <a:cubicBezTo>
                  <a:pt x="762000" y="268692"/>
                  <a:pt x="744942" y="285750"/>
                  <a:pt x="7239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11137604" y="63255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005587"/>
              </a:gs>
              <a:gs pos="100000">
                <a:srgbClr val="0076A8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"/>
            <a:ext cx="12192000" cy="714375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6" name="Freeform 6"/>
          <p:cNvSpPr/>
          <p:nvPr/>
        </p:nvSpPr>
        <p:spPr>
          <a:xfrm>
            <a:off x="571500" y="20955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8100" y="0"/>
                </a:moveTo>
                <a:lnTo>
                  <a:pt x="438150" y="0"/>
                </a:lnTo>
                <a:cubicBezTo>
                  <a:pt x="459192" y="0"/>
                  <a:pt x="476250" y="17058"/>
                  <a:pt x="476250" y="38100"/>
                </a:cubicBezTo>
                <a:lnTo>
                  <a:pt x="476250" y="342900"/>
                </a:lnTo>
                <a:cubicBezTo>
                  <a:pt x="476250" y="363942"/>
                  <a:pt x="459192" y="381000"/>
                  <a:pt x="43815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78616" y="330518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1580" y="268605"/>
            <a:ext cx="295170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名单全生命周期管理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68902" y="3819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核心方法论</a:t>
            </a:r>
          </a:p>
        </p:txBody>
      </p:sp>
      <p:sp>
        <p:nvSpPr>
          <p:cNvPr id="10" name="Freeform 10"/>
          <p:cNvSpPr/>
          <p:nvPr/>
        </p:nvSpPr>
        <p:spPr>
          <a:xfrm>
            <a:off x="571500" y="9525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38100" y="0"/>
                </a:moveTo>
                <a:lnTo>
                  <a:pt x="11010900" y="0"/>
                </a:lnTo>
                <a:cubicBezTo>
                  <a:pt x="11031942" y="0"/>
                  <a:pt x="11049000" y="17058"/>
                  <a:pt x="11049000" y="38100"/>
                </a:cubicBezTo>
                <a:lnTo>
                  <a:pt x="11049000" y="438150"/>
                </a:lnTo>
                <a:cubicBezTo>
                  <a:pt x="11049000" y="459192"/>
                  <a:pt x="11031942" y="476250"/>
                  <a:pt x="11010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8E1"/>
          </a:solidFill>
          <a:ln w="9525">
            <a:solidFill>
              <a:srgbClr val="F5A623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571500" y="952500"/>
            <a:ext cx="47625" cy="476250"/>
          </a:xfrm>
          <a:custGeom>
            <a:avLst/>
            <a:gdLst/>
            <a:ahLst/>
            <a:cxnLst/>
            <a:rect l="l" t="t" r="r" b="b"/>
            <a:pathLst>
              <a:path w="47625" h="47625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457200"/>
                </a:lnTo>
                <a:cubicBezTo>
                  <a:pt x="47625" y="467721"/>
                  <a:pt x="39096" y="476250"/>
                  <a:pt x="28575" y="476250"/>
                </a:cubicBezTo>
                <a:lnTo>
                  <a:pt x="19050" y="476250"/>
                </a:lnTo>
                <a:cubicBezTo>
                  <a:pt x="8529" y="476250"/>
                  <a:pt x="0" y="467721"/>
                  <a:pt x="0" y="4572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96290" y="1143952"/>
            <a:ext cx="8800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89207"/>
                </a:solidFill>
                <a:latin typeface="Arial"/>
                <a:ea typeface="Microsoft YaHei"/>
                <a:cs typeface="Arial"/>
              </a:rPr>
              <a:t>KEY INSIGHT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81212" y="1135856"/>
            <a:ext cx="54506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精细化名单管控是提升转化效率的关键，从静置到拨打到回收形成完整闭环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71500" y="1619250"/>
            <a:ext cx="11049000" cy="619125"/>
            <a:chOff x="571500" y="1619250"/>
            <a:chExt cx="11049000" cy="619125"/>
          </a:xfrm>
        </p:grpSpPr>
        <p:sp>
          <p:nvSpPr>
            <p:cNvPr id="14" name="Freeform 14"/>
            <p:cNvSpPr/>
            <p:nvPr/>
          </p:nvSpPr>
          <p:spPr>
            <a:xfrm>
              <a:off x="571500" y="1619250"/>
              <a:ext cx="11049000" cy="619125"/>
            </a:xfrm>
            <a:custGeom>
              <a:avLst/>
              <a:gdLst/>
              <a:ahLst/>
              <a:cxnLst/>
              <a:rect l="l" t="t" r="r" b="b"/>
              <a:pathLst>
                <a:path w="11049000" h="619125">
                  <a:moveTo>
                    <a:pt x="57150" y="0"/>
                  </a:moveTo>
                  <a:lnTo>
                    <a:pt x="10991850" y="0"/>
                  </a:lnTo>
                  <a:cubicBezTo>
                    <a:pt x="11023413" y="0"/>
                    <a:pt x="11049000" y="25587"/>
                    <a:pt x="11049000" y="57150"/>
                  </a:cubicBezTo>
                  <a:lnTo>
                    <a:pt x="11049000" y="561975"/>
                  </a:lnTo>
                  <a:cubicBezTo>
                    <a:pt x="11049000" y="593538"/>
                    <a:pt x="11023413" y="619125"/>
                    <a:pt x="10991850" y="619125"/>
                  </a:cubicBezTo>
                  <a:lnTo>
                    <a:pt x="57150" y="619125"/>
                  </a:lnTo>
                  <a:cubicBezTo>
                    <a:pt x="25587" y="619125"/>
                    <a:pt x="0" y="593538"/>
                    <a:pt x="0" y="56197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71500" y="1619250"/>
              <a:ext cx="38100" cy="619125"/>
            </a:xfrm>
            <a:custGeom>
              <a:avLst/>
              <a:gdLst/>
              <a:ahLst/>
              <a:cxnLst/>
              <a:rect l="l" t="t" r="r" b="b"/>
              <a:pathLst>
                <a:path w="38100" h="619125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600075"/>
                  </a:lnTo>
                  <a:cubicBezTo>
                    <a:pt x="38100" y="610596"/>
                    <a:pt x="29571" y="619125"/>
                    <a:pt x="19050" y="619125"/>
                  </a:cubicBezTo>
                  <a:lnTo>
                    <a:pt x="19050" y="619125"/>
                  </a:lnTo>
                  <a:cubicBezTo>
                    <a:pt x="8529" y="619125"/>
                    <a:pt x="0" y="610596"/>
                    <a:pt x="0" y="600075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800100" y="1771650"/>
              <a:ext cx="304800" cy="304800"/>
            </a:xfrm>
            <a:prstGeom prst="ellipse">
              <a:avLst/>
            </a:prstGeom>
            <a:solidFill>
              <a:srgbClr val="00558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15012" y="1867852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70635" y="175641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新名单静置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72540" y="1982152"/>
              <a:ext cx="32087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2-3天不动用，给名单"冷静期"，避免过早浪费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2381250"/>
            <a:ext cx="11049000" cy="619125"/>
            <a:chOff x="571500" y="2381250"/>
            <a:chExt cx="11049000" cy="619125"/>
          </a:xfrm>
        </p:grpSpPr>
        <p:sp>
          <p:nvSpPr>
            <p:cNvPr id="21" name="Freeform 21"/>
            <p:cNvSpPr/>
            <p:nvPr/>
          </p:nvSpPr>
          <p:spPr>
            <a:xfrm>
              <a:off x="571500" y="2381250"/>
              <a:ext cx="11049000" cy="619125"/>
            </a:xfrm>
            <a:custGeom>
              <a:avLst/>
              <a:gdLst/>
              <a:ahLst/>
              <a:cxnLst/>
              <a:rect l="l" t="t" r="r" b="b"/>
              <a:pathLst>
                <a:path w="11049000" h="619125">
                  <a:moveTo>
                    <a:pt x="57150" y="0"/>
                  </a:moveTo>
                  <a:lnTo>
                    <a:pt x="10991850" y="0"/>
                  </a:lnTo>
                  <a:cubicBezTo>
                    <a:pt x="11023413" y="0"/>
                    <a:pt x="11049000" y="25587"/>
                    <a:pt x="11049000" y="57150"/>
                  </a:cubicBezTo>
                  <a:lnTo>
                    <a:pt x="11049000" y="561975"/>
                  </a:lnTo>
                  <a:cubicBezTo>
                    <a:pt x="11049000" y="593538"/>
                    <a:pt x="11023413" y="619125"/>
                    <a:pt x="10991850" y="619125"/>
                  </a:cubicBezTo>
                  <a:lnTo>
                    <a:pt x="57150" y="619125"/>
                  </a:lnTo>
                  <a:cubicBezTo>
                    <a:pt x="25587" y="619125"/>
                    <a:pt x="0" y="593538"/>
                    <a:pt x="0" y="56197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71500" y="2381250"/>
              <a:ext cx="38100" cy="619125"/>
            </a:xfrm>
            <a:custGeom>
              <a:avLst/>
              <a:gdLst/>
              <a:ahLst/>
              <a:cxnLst/>
              <a:rect l="l" t="t" r="r" b="b"/>
              <a:pathLst>
                <a:path w="38100" h="619125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600075"/>
                  </a:lnTo>
                  <a:cubicBezTo>
                    <a:pt x="38100" y="610596"/>
                    <a:pt x="29571" y="619125"/>
                    <a:pt x="19050" y="619125"/>
                  </a:cubicBezTo>
                  <a:lnTo>
                    <a:pt x="19050" y="619125"/>
                  </a:lnTo>
                  <a:cubicBezTo>
                    <a:pt x="8529" y="619125"/>
                    <a:pt x="0" y="610596"/>
                    <a:pt x="0" y="600075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800100" y="2533650"/>
              <a:ext cx="304800" cy="304800"/>
            </a:xfrm>
            <a:prstGeom prst="ellipse">
              <a:avLst/>
            </a:prstGeom>
            <a:solidFill>
              <a:srgbClr val="00558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94884" y="26298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70635" y="25184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拨打频次控制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72540" y="2744152"/>
              <a:ext cx="37454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单名单拨打频次 ≤ 40次，超频停止拨打，避免投诉违规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3143250"/>
            <a:ext cx="11049000" cy="619125"/>
            <a:chOff x="571500" y="3143250"/>
            <a:chExt cx="11049000" cy="619125"/>
          </a:xfrm>
        </p:grpSpPr>
        <p:sp>
          <p:nvSpPr>
            <p:cNvPr id="28" name="Freeform 28"/>
            <p:cNvSpPr/>
            <p:nvPr/>
          </p:nvSpPr>
          <p:spPr>
            <a:xfrm>
              <a:off x="571500" y="3143250"/>
              <a:ext cx="11049000" cy="619125"/>
            </a:xfrm>
            <a:custGeom>
              <a:avLst/>
              <a:gdLst/>
              <a:ahLst/>
              <a:cxnLst/>
              <a:rect l="l" t="t" r="r" b="b"/>
              <a:pathLst>
                <a:path w="11049000" h="619125">
                  <a:moveTo>
                    <a:pt x="57150" y="0"/>
                  </a:moveTo>
                  <a:lnTo>
                    <a:pt x="10991850" y="0"/>
                  </a:lnTo>
                  <a:cubicBezTo>
                    <a:pt x="11023413" y="0"/>
                    <a:pt x="11049000" y="25587"/>
                    <a:pt x="11049000" y="57150"/>
                  </a:cubicBezTo>
                  <a:lnTo>
                    <a:pt x="11049000" y="561975"/>
                  </a:lnTo>
                  <a:cubicBezTo>
                    <a:pt x="11049000" y="593538"/>
                    <a:pt x="11023413" y="619125"/>
                    <a:pt x="10991850" y="619125"/>
                  </a:cubicBezTo>
                  <a:lnTo>
                    <a:pt x="57150" y="619125"/>
                  </a:lnTo>
                  <a:cubicBezTo>
                    <a:pt x="25587" y="619125"/>
                    <a:pt x="0" y="593538"/>
                    <a:pt x="0" y="56197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571500" y="3143250"/>
              <a:ext cx="38100" cy="619125"/>
            </a:xfrm>
            <a:custGeom>
              <a:avLst/>
              <a:gdLst/>
              <a:ahLst/>
              <a:cxnLst/>
              <a:rect l="l" t="t" r="r" b="b"/>
              <a:pathLst>
                <a:path w="38100" h="619125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600075"/>
                  </a:lnTo>
                  <a:cubicBezTo>
                    <a:pt x="38100" y="610596"/>
                    <a:pt x="29571" y="619125"/>
                    <a:pt x="19050" y="619125"/>
                  </a:cubicBezTo>
                  <a:lnTo>
                    <a:pt x="19050" y="619125"/>
                  </a:lnTo>
                  <a:cubicBezTo>
                    <a:pt x="8529" y="619125"/>
                    <a:pt x="0" y="610596"/>
                    <a:pt x="0" y="600075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F5A623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800100" y="3295650"/>
              <a:ext cx="304800" cy="304800"/>
            </a:xfrm>
            <a:prstGeom prst="ellipse">
              <a:avLst/>
            </a:prstGeom>
            <a:solidFill>
              <a:srgbClr val="F5A62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94884" y="33918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70635" y="32804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黄金时段策略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72540" y="3506152"/>
              <a:ext cx="41441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18:30-19:30 接通率第二高，全部拨打新名单，疑难客户跟进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3905250"/>
            <a:ext cx="11049000" cy="619125"/>
            <a:chOff x="571500" y="3905250"/>
            <a:chExt cx="11049000" cy="619125"/>
          </a:xfrm>
        </p:grpSpPr>
        <p:sp>
          <p:nvSpPr>
            <p:cNvPr id="35" name="Freeform 35"/>
            <p:cNvSpPr/>
            <p:nvPr/>
          </p:nvSpPr>
          <p:spPr>
            <a:xfrm>
              <a:off x="571500" y="3905250"/>
              <a:ext cx="11049000" cy="619125"/>
            </a:xfrm>
            <a:custGeom>
              <a:avLst/>
              <a:gdLst/>
              <a:ahLst/>
              <a:cxnLst/>
              <a:rect l="l" t="t" r="r" b="b"/>
              <a:pathLst>
                <a:path w="11049000" h="619125">
                  <a:moveTo>
                    <a:pt x="57150" y="0"/>
                  </a:moveTo>
                  <a:lnTo>
                    <a:pt x="10991850" y="0"/>
                  </a:lnTo>
                  <a:cubicBezTo>
                    <a:pt x="11023413" y="0"/>
                    <a:pt x="11049000" y="25587"/>
                    <a:pt x="11049000" y="57150"/>
                  </a:cubicBezTo>
                  <a:lnTo>
                    <a:pt x="11049000" y="561975"/>
                  </a:lnTo>
                  <a:cubicBezTo>
                    <a:pt x="11049000" y="593538"/>
                    <a:pt x="11023413" y="619125"/>
                    <a:pt x="10991850" y="619125"/>
                  </a:cubicBezTo>
                  <a:lnTo>
                    <a:pt x="57150" y="619125"/>
                  </a:lnTo>
                  <a:cubicBezTo>
                    <a:pt x="25587" y="619125"/>
                    <a:pt x="0" y="593538"/>
                    <a:pt x="0" y="56197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571500" y="3905250"/>
              <a:ext cx="38100" cy="619125"/>
            </a:xfrm>
            <a:custGeom>
              <a:avLst/>
              <a:gdLst/>
              <a:ahLst/>
              <a:cxnLst/>
              <a:rect l="l" t="t" r="r" b="b"/>
              <a:pathLst>
                <a:path w="38100" h="619125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600075"/>
                  </a:lnTo>
                  <a:cubicBezTo>
                    <a:pt x="38100" y="610596"/>
                    <a:pt x="29571" y="619125"/>
                    <a:pt x="19050" y="619125"/>
                  </a:cubicBezTo>
                  <a:lnTo>
                    <a:pt x="19050" y="619125"/>
                  </a:lnTo>
                  <a:cubicBezTo>
                    <a:pt x="8529" y="619125"/>
                    <a:pt x="0" y="610596"/>
                    <a:pt x="0" y="600075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800100" y="4057650"/>
              <a:ext cx="304800" cy="304800"/>
            </a:xfrm>
            <a:prstGeom prst="ellipse">
              <a:avLst/>
            </a:prstGeom>
            <a:solidFill>
              <a:srgbClr val="0076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4884" y="41538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70635" y="40424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周末全量回收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72540" y="4268152"/>
              <a:ext cx="43205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周一全量清零手中名单，请假直接清零，保证名单资源不被闲置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71500" y="4667250"/>
            <a:ext cx="11049000" cy="619125"/>
            <a:chOff x="571500" y="4667250"/>
            <a:chExt cx="11049000" cy="619125"/>
          </a:xfrm>
        </p:grpSpPr>
        <p:sp>
          <p:nvSpPr>
            <p:cNvPr id="42" name="Freeform 42"/>
            <p:cNvSpPr/>
            <p:nvPr/>
          </p:nvSpPr>
          <p:spPr>
            <a:xfrm>
              <a:off x="571500" y="4667250"/>
              <a:ext cx="11049000" cy="619125"/>
            </a:xfrm>
            <a:custGeom>
              <a:avLst/>
              <a:gdLst/>
              <a:ahLst/>
              <a:cxnLst/>
              <a:rect l="l" t="t" r="r" b="b"/>
              <a:pathLst>
                <a:path w="11049000" h="619125">
                  <a:moveTo>
                    <a:pt x="57150" y="0"/>
                  </a:moveTo>
                  <a:lnTo>
                    <a:pt x="10991850" y="0"/>
                  </a:lnTo>
                  <a:cubicBezTo>
                    <a:pt x="11023413" y="0"/>
                    <a:pt x="11049000" y="25587"/>
                    <a:pt x="11049000" y="57150"/>
                  </a:cubicBezTo>
                  <a:lnTo>
                    <a:pt x="11049000" y="561975"/>
                  </a:lnTo>
                  <a:cubicBezTo>
                    <a:pt x="11049000" y="593538"/>
                    <a:pt x="11023413" y="619125"/>
                    <a:pt x="10991850" y="619125"/>
                  </a:cubicBezTo>
                  <a:lnTo>
                    <a:pt x="57150" y="619125"/>
                  </a:lnTo>
                  <a:cubicBezTo>
                    <a:pt x="25587" y="619125"/>
                    <a:pt x="0" y="593538"/>
                    <a:pt x="0" y="56197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571500" y="4667250"/>
              <a:ext cx="38100" cy="619125"/>
            </a:xfrm>
            <a:custGeom>
              <a:avLst/>
              <a:gdLst/>
              <a:ahLst/>
              <a:cxnLst/>
              <a:rect l="l" t="t" r="r" b="b"/>
              <a:pathLst>
                <a:path w="38100" h="619125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600075"/>
                  </a:lnTo>
                  <a:cubicBezTo>
                    <a:pt x="38100" y="610596"/>
                    <a:pt x="29571" y="619125"/>
                    <a:pt x="19050" y="619125"/>
                  </a:cubicBezTo>
                  <a:lnTo>
                    <a:pt x="19050" y="619125"/>
                  </a:lnTo>
                  <a:cubicBezTo>
                    <a:pt x="8529" y="619125"/>
                    <a:pt x="0" y="610596"/>
                    <a:pt x="0" y="600075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00100" y="4819650"/>
              <a:ext cx="304800" cy="304800"/>
            </a:xfrm>
            <a:prstGeom prst="ellipse">
              <a:avLst/>
            </a:prstGeom>
            <a:solidFill>
              <a:srgbClr val="0076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94884" y="49158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270635" y="4804410"/>
              <a:ext cx="18983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客户分级 + 高价值匹配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272540" y="5030152"/>
              <a:ext cx="49952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ABCD标签体系，5万+额度名单优先分配给态度/能力/结果指标最优的坐席</a:t>
              </a:r>
            </a:p>
          </p:txBody>
        </p:sp>
      </p:grpSp>
      <p:sp>
        <p:nvSpPr>
          <p:cNvPr id="49" name="Rectangle 49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50" name="Line 50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560070" y="6332220"/>
            <a:ext cx="41568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Source: 312下午供应商联盟分享材料 | 名单管控规则与分时段拨打策略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61022" y="6578441"/>
            <a:ext cx="25512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BDC3C7"/>
                </a:solidFill>
                <a:latin typeface="Arial"/>
                <a:ea typeface="Microsoft YaHei"/>
                <a:cs typeface="Arial"/>
              </a:rPr>
              <a:t>名单资源不被闲置，高价值资源匹配高能力坐席</a:t>
            </a:r>
          </a:p>
        </p:txBody>
      </p:sp>
      <p:sp>
        <p:nvSpPr>
          <p:cNvPr id="53" name="Freeform 53"/>
          <p:cNvSpPr/>
          <p:nvPr/>
        </p:nvSpPr>
        <p:spPr>
          <a:xfrm>
            <a:off x="10858500" y="6238875"/>
            <a:ext cx="762000" cy="285750"/>
          </a:xfrm>
          <a:custGeom>
            <a:avLst/>
            <a:gdLst/>
            <a:ahLst/>
            <a:cxnLst/>
            <a:rect l="l" t="t" r="r" b="b"/>
            <a:pathLst>
              <a:path w="762000" h="285750">
                <a:moveTo>
                  <a:pt x="38100" y="0"/>
                </a:moveTo>
                <a:lnTo>
                  <a:pt x="723900" y="0"/>
                </a:lnTo>
                <a:cubicBezTo>
                  <a:pt x="744942" y="0"/>
                  <a:pt x="762000" y="17058"/>
                  <a:pt x="762000" y="38100"/>
                </a:cubicBezTo>
                <a:lnTo>
                  <a:pt x="762000" y="247650"/>
                </a:lnTo>
                <a:cubicBezTo>
                  <a:pt x="762000" y="268692"/>
                  <a:pt x="744942" y="285750"/>
                  <a:pt x="7239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11137604" y="63255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5587"/>
              </a:gs>
              <a:gs pos="50000">
                <a:srgbClr val="004A75"/>
              </a:gs>
              <a:gs pos="100000">
                <a:srgbClr val="003A5C"/>
              </a:gs>
            </a:gsLst>
            <a:lin ang="2700000" scaled="1"/>
          </a:gra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1714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0" y="3429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0" y="5143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8763000" y="-571500"/>
            <a:ext cx="3429000" cy="3429000"/>
          </a:xfrm>
          <a:prstGeom prst="ellipse">
            <a:avLst/>
          </a:prstGeom>
          <a:gradFill>
            <a:gsLst>
              <a:gs pos="0">
                <a:srgbClr val="FFFFFF">
                  <a:alpha val="8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-381000" y="3619500"/>
            <a:ext cx="4191000" cy="4191000"/>
          </a:xfrm>
          <a:prstGeom prst="ellipse">
            <a:avLst/>
          </a:prstGeom>
          <a:gradFill>
            <a:gsLst>
              <a:gs pos="0">
                <a:srgbClr val="FFFFFF">
                  <a:alpha val="8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10001250" y="4286250"/>
            <a:ext cx="1428750" cy="1428750"/>
          </a:xfrm>
          <a:custGeom>
            <a:avLst/>
            <a:gdLst/>
            <a:ahLst/>
            <a:cxnLst/>
            <a:rect l="l" t="t" r="r" b="b"/>
            <a:pathLst>
              <a:path w="1428750" h="1428750">
                <a:moveTo>
                  <a:pt x="38100" y="0"/>
                </a:moveTo>
                <a:lnTo>
                  <a:pt x="1390650" y="0"/>
                </a:lnTo>
                <a:cubicBezTo>
                  <a:pt x="1411692" y="0"/>
                  <a:pt x="1428750" y="17058"/>
                  <a:pt x="1428750" y="38100"/>
                </a:cubicBezTo>
                <a:lnTo>
                  <a:pt x="1428750" y="1390650"/>
                </a:lnTo>
                <a:cubicBezTo>
                  <a:pt x="1428750" y="1411692"/>
                  <a:pt x="1411692" y="1428750"/>
                  <a:pt x="1390650" y="1428750"/>
                </a:cubicBezTo>
                <a:lnTo>
                  <a:pt x="38100" y="1428750"/>
                </a:lnTo>
                <a:cubicBezTo>
                  <a:pt x="17058" y="1428750"/>
                  <a:pt x="0" y="1411692"/>
                  <a:pt x="0" y="1390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>
              <a:alpha val="2000"/>
            </a:srgbClr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762000" y="952500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38100" y="0"/>
                </a:moveTo>
                <a:lnTo>
                  <a:pt x="914400" y="0"/>
                </a:lnTo>
                <a:cubicBezTo>
                  <a:pt x="935442" y="0"/>
                  <a:pt x="952500" y="17058"/>
                  <a:pt x="952500" y="38100"/>
                </a:cubicBezTo>
                <a:lnTo>
                  <a:pt x="952500" y="914400"/>
                </a:lnTo>
                <a:cubicBezTo>
                  <a:pt x="952500" y="935442"/>
                  <a:pt x="935442" y="952500"/>
                  <a:pt x="914400" y="952500"/>
                </a:cubicBezTo>
                <a:lnTo>
                  <a:pt x="38100" y="952500"/>
                </a:lnTo>
                <a:cubicBezTo>
                  <a:pt x="17058" y="952500"/>
                  <a:pt x="0" y="935442"/>
                  <a:pt x="0" y="914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>
              <a:alpha val="2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571500" y="2667000"/>
            <a:ext cx="47625" cy="1524000"/>
          </a:xfrm>
          <a:prstGeom prst="rect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058079" y="781050"/>
            <a:ext cx="4075843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0" b="1" dirty="0">
                <a:solidFill>
                  <a:srgbClr val="FFFFFF">
                    <a:alpha val="5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40588" y="2711768"/>
            <a:ext cx="11108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5A623"/>
                </a:solidFill>
                <a:latin typeface="Arial"/>
                <a:ea typeface="Microsoft YaHei"/>
                <a:cs typeface="Arial"/>
              </a:rPr>
              <a:t>SECTION 02</a:t>
            </a:r>
          </a:p>
        </p:txBody>
      </p:sp>
      <p:sp>
        <p:nvSpPr>
          <p:cNvPr id="16" name="Line 16"/>
          <p:cNvSpPr/>
          <p:nvPr/>
        </p:nvSpPr>
        <p:spPr>
          <a:xfrm>
            <a:off x="4762500" y="3238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19050">
            <a:solidFill>
              <a:srgbClr val="FFFFFF">
                <a:alpha val="40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6286500" y="3238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19050">
            <a:solidFill>
              <a:srgbClr val="FFFFFF">
                <a:alpha val="40000"/>
              </a:srgbClr>
            </a:solidFill>
          </a:ln>
        </p:spPr>
      </p:sp>
      <p:sp>
        <p:nvSpPr>
          <p:cNvPr id="18" name="Ellipse 18"/>
          <p:cNvSpPr/>
          <p:nvPr/>
        </p:nvSpPr>
        <p:spPr>
          <a:xfrm>
            <a:off x="6038850" y="3181350"/>
            <a:ext cx="114300" cy="1143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946142" y="3611880"/>
            <a:ext cx="229971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认证结果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357211" y="4362450"/>
            <a:ext cx="347757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>
                    <a:alpha val="65000"/>
                  </a:srgbClr>
                </a:solidFill>
                <a:latin typeface="Arial"/>
                <a:ea typeface="Microsoft YaHei"/>
                <a:cs typeface="Arial"/>
              </a:rPr>
              <a:t>5家供应商认证评分 + 核心收获对比</a:t>
            </a:r>
          </a:p>
        </p:txBody>
      </p:sp>
      <p:sp>
        <p:nvSpPr>
          <p:cNvPr id="21" name="Rectangle 21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</p:sp>
      <p:sp>
        <p:nvSpPr>
          <p:cNvPr id="22" name="Line 22"/>
          <p:cNvSpPr/>
          <p:nvPr/>
        </p:nvSpPr>
        <p:spPr>
          <a:xfrm>
            <a:off x="0" y="6477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FFFFFF">
                <a:alpha val="10000"/>
              </a:srgbClr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58165" y="660177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 val="50000"/>
                  </a:srgbClr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780966" y="6617970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FFFFFF">
                    <a:alpha val="40000"/>
                  </a:srgbClr>
                </a:solidFill>
                <a:latin typeface="Arial"/>
                <a:ea typeface="Microsoft YaHei"/>
                <a:cs typeface="Arial"/>
              </a:rPr>
              <a:t>BPO ALLIANCE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005587"/>
              </a:gs>
              <a:gs pos="100000">
                <a:srgbClr val="0076A8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"/>
            <a:ext cx="12192000" cy="714375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6" name="Freeform 6"/>
          <p:cNvSpPr/>
          <p:nvPr/>
        </p:nvSpPr>
        <p:spPr>
          <a:xfrm>
            <a:off x="571500" y="20955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8100" y="0"/>
                </a:moveTo>
                <a:lnTo>
                  <a:pt x="438150" y="0"/>
                </a:lnTo>
                <a:cubicBezTo>
                  <a:pt x="459192" y="0"/>
                  <a:pt x="476250" y="17058"/>
                  <a:pt x="476250" y="38100"/>
                </a:cubicBezTo>
                <a:lnTo>
                  <a:pt x="476250" y="342900"/>
                </a:lnTo>
                <a:cubicBezTo>
                  <a:pt x="476250" y="363942"/>
                  <a:pt x="459192" y="381000"/>
                  <a:pt x="43815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78616" y="330518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1580" y="268605"/>
            <a:ext cx="295170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认证评分规则与结果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22255" y="3819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认证结果</a:t>
            </a:r>
          </a:p>
        </p:txBody>
      </p:sp>
      <p:sp>
        <p:nvSpPr>
          <p:cNvPr id="10" name="Freeform 10"/>
          <p:cNvSpPr/>
          <p:nvPr/>
        </p:nvSpPr>
        <p:spPr>
          <a:xfrm>
            <a:off x="571500" y="9525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38100" y="0"/>
                </a:moveTo>
                <a:lnTo>
                  <a:pt x="11010900" y="0"/>
                </a:lnTo>
                <a:cubicBezTo>
                  <a:pt x="11031942" y="0"/>
                  <a:pt x="11049000" y="17058"/>
                  <a:pt x="11049000" y="38100"/>
                </a:cubicBezTo>
                <a:lnTo>
                  <a:pt x="11049000" y="438150"/>
                </a:lnTo>
                <a:cubicBezTo>
                  <a:pt x="11049000" y="459192"/>
                  <a:pt x="11031942" y="476250"/>
                  <a:pt x="11010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8E1"/>
          </a:solidFill>
          <a:ln w="9525">
            <a:solidFill>
              <a:srgbClr val="F5A623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571500" y="952500"/>
            <a:ext cx="47625" cy="476250"/>
          </a:xfrm>
          <a:custGeom>
            <a:avLst/>
            <a:gdLst/>
            <a:ahLst/>
            <a:cxnLst/>
            <a:rect l="l" t="t" r="r" b="b"/>
            <a:pathLst>
              <a:path w="47625" h="47625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457200"/>
                </a:lnTo>
                <a:cubicBezTo>
                  <a:pt x="47625" y="467721"/>
                  <a:pt x="39096" y="476250"/>
                  <a:pt x="28575" y="476250"/>
                </a:cubicBezTo>
                <a:lnTo>
                  <a:pt x="19050" y="476250"/>
                </a:lnTo>
                <a:cubicBezTo>
                  <a:pt x="8529" y="476250"/>
                  <a:pt x="0" y="467721"/>
                  <a:pt x="0" y="4572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96290" y="1143952"/>
            <a:ext cx="8800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89207"/>
                </a:solidFill>
                <a:latin typeface="Arial"/>
                <a:ea typeface="Microsoft YaHei"/>
                <a:cs typeface="Arial"/>
              </a:rPr>
              <a:t>KEY INSIGHT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81212" y="1135856"/>
            <a:ext cx="53685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5家供应商全部通过认证，岐力91分领跑，结构可落地性占比最高（50分）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571500" y="1619250"/>
            <a:ext cx="5306140" cy="4286250"/>
            <a:chOff x="571500" y="1619250"/>
            <a:chExt cx="5306140" cy="4286250"/>
          </a:xfrm>
        </p:grpSpPr>
        <p:sp>
          <p:nvSpPr>
            <p:cNvPr id="14" name="Freeform 14"/>
            <p:cNvSpPr/>
            <p:nvPr/>
          </p:nvSpPr>
          <p:spPr>
            <a:xfrm>
              <a:off x="571500" y="1619250"/>
              <a:ext cx="4762500" cy="4286250"/>
            </a:xfrm>
            <a:custGeom>
              <a:avLst/>
              <a:gdLst/>
              <a:ahLst/>
              <a:cxnLst/>
              <a:rect l="l" t="t" r="r" b="b"/>
              <a:pathLst>
                <a:path w="4762500" h="4286250">
                  <a:moveTo>
                    <a:pt x="57150" y="0"/>
                  </a:moveTo>
                  <a:lnTo>
                    <a:pt x="4705350" y="0"/>
                  </a:lnTo>
                  <a:cubicBezTo>
                    <a:pt x="4736913" y="0"/>
                    <a:pt x="4762500" y="25587"/>
                    <a:pt x="4762500" y="57150"/>
                  </a:cubicBezTo>
                  <a:lnTo>
                    <a:pt x="4762500" y="4229100"/>
                  </a:lnTo>
                  <a:cubicBezTo>
                    <a:pt x="4762500" y="4260663"/>
                    <a:pt x="4736913" y="4286250"/>
                    <a:pt x="4705350" y="4286250"/>
                  </a:cubicBezTo>
                  <a:lnTo>
                    <a:pt x="57150" y="4286250"/>
                  </a:lnTo>
                  <a:cubicBezTo>
                    <a:pt x="25587" y="4286250"/>
                    <a:pt x="0" y="4260663"/>
                    <a:pt x="0" y="42291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71500" y="1619250"/>
              <a:ext cx="38100" cy="4286250"/>
            </a:xfrm>
            <a:custGeom>
              <a:avLst/>
              <a:gdLst/>
              <a:ahLst/>
              <a:cxnLst/>
              <a:rect l="l" t="t" r="r" b="b"/>
              <a:pathLst>
                <a:path w="38100" h="428625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4267200"/>
                  </a:lnTo>
                  <a:cubicBezTo>
                    <a:pt x="38100" y="4277721"/>
                    <a:pt x="29571" y="4286250"/>
                    <a:pt x="19050" y="4286250"/>
                  </a:cubicBezTo>
                  <a:lnTo>
                    <a:pt x="19050" y="4286250"/>
                  </a:lnTo>
                  <a:cubicBezTo>
                    <a:pt x="8529" y="4286250"/>
                    <a:pt x="0" y="4277721"/>
                    <a:pt x="0" y="42672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0575" y="17907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评分规则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762000" y="2143125"/>
              <a:ext cx="4333875" cy="666750"/>
            </a:xfrm>
            <a:custGeom>
              <a:avLst/>
              <a:gdLst/>
              <a:ahLst/>
              <a:cxnLst/>
              <a:rect l="l" t="t" r="r" b="b"/>
              <a:pathLst>
                <a:path w="4333875" h="666750">
                  <a:moveTo>
                    <a:pt x="57150" y="0"/>
                  </a:moveTo>
                  <a:lnTo>
                    <a:pt x="4276725" y="0"/>
                  </a:lnTo>
                  <a:cubicBezTo>
                    <a:pt x="4308288" y="0"/>
                    <a:pt x="4333875" y="25587"/>
                    <a:pt x="4333875" y="57150"/>
                  </a:cubicBezTo>
                  <a:lnTo>
                    <a:pt x="4333875" y="609600"/>
                  </a:lnTo>
                  <a:cubicBezTo>
                    <a:pt x="4333875" y="641163"/>
                    <a:pt x="4308288" y="666750"/>
                    <a:pt x="4276725" y="666750"/>
                  </a:cubicBezTo>
                  <a:lnTo>
                    <a:pt x="57150" y="666750"/>
                  </a:lnTo>
                  <a:cubicBezTo>
                    <a:pt x="25587" y="666750"/>
                    <a:pt x="0" y="641163"/>
                    <a:pt x="0" y="609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8F9FA"/>
            </a:solidFill>
            <a:ln w="9525">
              <a:solidFill>
                <a:srgbClr val="E5E7E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7260" y="2299335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清晰表达有自己观点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9165" y="255365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表达逻辑、观点深度、独立思考能力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4286250" y="2286000"/>
              <a:ext cx="666750" cy="381000"/>
            </a:xfrm>
            <a:custGeom>
              <a:avLst/>
              <a:gdLst/>
              <a:ahLst/>
              <a:cxnLst/>
              <a:rect l="l" t="t" r="r" b="b"/>
              <a:pathLst>
                <a:path w="666750" h="381000">
                  <a:moveTo>
                    <a:pt x="38100" y="0"/>
                  </a:moveTo>
                  <a:lnTo>
                    <a:pt x="628650" y="0"/>
                  </a:lnTo>
                  <a:cubicBezTo>
                    <a:pt x="649692" y="0"/>
                    <a:pt x="666750" y="17058"/>
                    <a:pt x="666750" y="38100"/>
                  </a:cubicBezTo>
                  <a:lnTo>
                    <a:pt x="666750" y="342900"/>
                  </a:lnTo>
                  <a:cubicBezTo>
                    <a:pt x="666750" y="363942"/>
                    <a:pt x="649692" y="381000"/>
                    <a:pt x="628650" y="381000"/>
                  </a:cubicBezTo>
                  <a:lnTo>
                    <a:pt x="38100" y="381000"/>
                  </a:lnTo>
                  <a:cubicBezTo>
                    <a:pt x="17058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385103" y="2397442"/>
              <a:ext cx="4690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25分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62000" y="3000375"/>
              <a:ext cx="4333875" cy="666750"/>
            </a:xfrm>
            <a:custGeom>
              <a:avLst/>
              <a:gdLst/>
              <a:ahLst/>
              <a:cxnLst/>
              <a:rect l="l" t="t" r="r" b="b"/>
              <a:pathLst>
                <a:path w="4333875" h="666750">
                  <a:moveTo>
                    <a:pt x="57150" y="0"/>
                  </a:moveTo>
                  <a:lnTo>
                    <a:pt x="4276725" y="0"/>
                  </a:lnTo>
                  <a:cubicBezTo>
                    <a:pt x="4308288" y="0"/>
                    <a:pt x="4333875" y="25587"/>
                    <a:pt x="4333875" y="57150"/>
                  </a:cubicBezTo>
                  <a:lnTo>
                    <a:pt x="4333875" y="609600"/>
                  </a:lnTo>
                  <a:cubicBezTo>
                    <a:pt x="4333875" y="641163"/>
                    <a:pt x="4308288" y="666750"/>
                    <a:pt x="4276725" y="666750"/>
                  </a:cubicBezTo>
                  <a:lnTo>
                    <a:pt x="57150" y="666750"/>
                  </a:lnTo>
                  <a:cubicBezTo>
                    <a:pt x="25587" y="666750"/>
                    <a:pt x="0" y="641163"/>
                    <a:pt x="0" y="609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8F9FA"/>
            </a:solidFill>
            <a:ln w="9525">
              <a:solidFill>
                <a:srgbClr val="E5E7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7260" y="3156585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内容完整贴合主题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9165" y="341090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内容覆盖度、与培训主题的匹配度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4286250" y="3143250"/>
              <a:ext cx="666750" cy="381000"/>
            </a:xfrm>
            <a:custGeom>
              <a:avLst/>
              <a:gdLst/>
              <a:ahLst/>
              <a:cxnLst/>
              <a:rect l="l" t="t" r="r" b="b"/>
              <a:pathLst>
                <a:path w="666750" h="381000">
                  <a:moveTo>
                    <a:pt x="38100" y="0"/>
                  </a:moveTo>
                  <a:lnTo>
                    <a:pt x="628650" y="0"/>
                  </a:lnTo>
                  <a:cubicBezTo>
                    <a:pt x="649692" y="0"/>
                    <a:pt x="666750" y="17058"/>
                    <a:pt x="666750" y="38100"/>
                  </a:cubicBezTo>
                  <a:lnTo>
                    <a:pt x="666750" y="342900"/>
                  </a:lnTo>
                  <a:cubicBezTo>
                    <a:pt x="666750" y="363942"/>
                    <a:pt x="649692" y="381000"/>
                    <a:pt x="628650" y="381000"/>
                  </a:cubicBezTo>
                  <a:lnTo>
                    <a:pt x="38100" y="381000"/>
                  </a:lnTo>
                  <a:cubicBezTo>
                    <a:pt x="17058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385103" y="3254692"/>
              <a:ext cx="4690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25分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762000" y="3857625"/>
              <a:ext cx="4333875" cy="666750"/>
            </a:xfrm>
            <a:custGeom>
              <a:avLst/>
              <a:gdLst/>
              <a:ahLst/>
              <a:cxnLst/>
              <a:rect l="l" t="t" r="r" b="b"/>
              <a:pathLst>
                <a:path w="4333875" h="666750">
                  <a:moveTo>
                    <a:pt x="57150" y="0"/>
                  </a:moveTo>
                  <a:lnTo>
                    <a:pt x="4276725" y="0"/>
                  </a:lnTo>
                  <a:cubicBezTo>
                    <a:pt x="4308288" y="0"/>
                    <a:pt x="4333875" y="25587"/>
                    <a:pt x="4333875" y="57150"/>
                  </a:cubicBezTo>
                  <a:lnTo>
                    <a:pt x="4333875" y="609600"/>
                  </a:lnTo>
                  <a:cubicBezTo>
                    <a:pt x="4333875" y="641163"/>
                    <a:pt x="4308288" y="666750"/>
                    <a:pt x="4276725" y="666750"/>
                  </a:cubicBezTo>
                  <a:lnTo>
                    <a:pt x="57150" y="666750"/>
                  </a:lnTo>
                  <a:cubicBezTo>
                    <a:pt x="25587" y="666750"/>
                    <a:pt x="0" y="641163"/>
                    <a:pt x="0" y="609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8F9FA"/>
            </a:solidFill>
            <a:ln w="9525">
              <a:solidFill>
                <a:srgbClr val="E5E7E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37260" y="401383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结构清晰可落地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9165" y="426815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方案结构、可执行性、时间节点明确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4286250" y="4000500"/>
              <a:ext cx="666750" cy="381000"/>
            </a:xfrm>
            <a:custGeom>
              <a:avLst/>
              <a:gdLst/>
              <a:ahLst/>
              <a:cxnLst/>
              <a:rect l="l" t="t" r="r" b="b"/>
              <a:pathLst>
                <a:path w="666750" h="381000">
                  <a:moveTo>
                    <a:pt x="38100" y="0"/>
                  </a:moveTo>
                  <a:lnTo>
                    <a:pt x="628650" y="0"/>
                  </a:lnTo>
                  <a:cubicBezTo>
                    <a:pt x="649692" y="0"/>
                    <a:pt x="666750" y="17058"/>
                    <a:pt x="666750" y="38100"/>
                  </a:cubicBezTo>
                  <a:lnTo>
                    <a:pt x="666750" y="342900"/>
                  </a:lnTo>
                  <a:cubicBezTo>
                    <a:pt x="666750" y="363942"/>
                    <a:pt x="649692" y="381000"/>
                    <a:pt x="628650" y="381000"/>
                  </a:cubicBezTo>
                  <a:lnTo>
                    <a:pt x="38100" y="381000"/>
                  </a:lnTo>
                  <a:cubicBezTo>
                    <a:pt x="17058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5A62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385103" y="4111942"/>
              <a:ext cx="4690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50分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762000" y="4762500"/>
              <a:ext cx="4333875" cy="952500"/>
            </a:xfrm>
            <a:custGeom>
              <a:avLst/>
              <a:gdLst/>
              <a:ahLst/>
              <a:cxnLst/>
              <a:rect l="l" t="t" r="r" b="b"/>
              <a:pathLst>
                <a:path w="4333875" h="952500">
                  <a:moveTo>
                    <a:pt x="57150" y="0"/>
                  </a:moveTo>
                  <a:lnTo>
                    <a:pt x="4276725" y="0"/>
                  </a:lnTo>
                  <a:cubicBezTo>
                    <a:pt x="4308288" y="0"/>
                    <a:pt x="4333875" y="25587"/>
                    <a:pt x="4333875" y="57150"/>
                  </a:cubicBezTo>
                  <a:lnTo>
                    <a:pt x="4333875" y="895350"/>
                  </a:lnTo>
                  <a:cubicBezTo>
                    <a:pt x="4333875" y="926913"/>
                    <a:pt x="4308288" y="952500"/>
                    <a:pt x="4276725" y="952500"/>
                  </a:cubicBezTo>
                  <a:lnTo>
                    <a:pt x="57150" y="952500"/>
                  </a:lnTo>
                  <a:cubicBezTo>
                    <a:pt x="25587" y="952500"/>
                    <a:pt x="0" y="926913"/>
                    <a:pt x="0" y="895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8E1"/>
            </a:solidFill>
            <a:ln w="9525">
              <a:solidFill>
                <a:srgbClr val="F5A623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37260" y="491871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9207"/>
                  </a:solidFill>
                  <a:latin typeface="Arial"/>
                  <a:ea typeface="Microsoft YaHei"/>
                  <a:cs typeface="Arial"/>
                </a:rPr>
                <a:t>加分项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9165" y="51730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抓住底层逻辑、有延伸思考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9165" y="54111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落地可行性高、方案清晰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62000" y="5572125"/>
              <a:ext cx="4333875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0118" y="5704999"/>
              <a:ext cx="49375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5A5A6"/>
                  </a:solidFill>
                  <a:latin typeface="Arial"/>
                  <a:ea typeface="Microsoft YaHei"/>
                  <a:cs typeface="Arial"/>
                </a:rPr>
                <a:t>汇报8分钟 + 提问2分钟，单家最长10分钟 | 四位评委打分，满分100，80分通过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715000" y="1619250"/>
            <a:ext cx="5905500" cy="4286250"/>
            <a:chOff x="5715000" y="1619250"/>
            <a:chExt cx="5905500" cy="4286250"/>
          </a:xfrm>
        </p:grpSpPr>
        <p:sp>
          <p:nvSpPr>
            <p:cNvPr id="39" name="Freeform 39"/>
            <p:cNvSpPr/>
            <p:nvPr/>
          </p:nvSpPr>
          <p:spPr>
            <a:xfrm>
              <a:off x="5715000" y="1619250"/>
              <a:ext cx="5905500" cy="4286250"/>
            </a:xfrm>
            <a:custGeom>
              <a:avLst/>
              <a:gdLst/>
              <a:ahLst/>
              <a:cxnLst/>
              <a:rect l="l" t="t" r="r" b="b"/>
              <a:pathLst>
                <a:path w="5905500" h="4286250">
                  <a:moveTo>
                    <a:pt x="57150" y="0"/>
                  </a:moveTo>
                  <a:lnTo>
                    <a:pt x="5848350" y="0"/>
                  </a:lnTo>
                  <a:cubicBezTo>
                    <a:pt x="5879913" y="0"/>
                    <a:pt x="5905500" y="25587"/>
                    <a:pt x="5905500" y="57150"/>
                  </a:cubicBezTo>
                  <a:lnTo>
                    <a:pt x="5905500" y="4229100"/>
                  </a:lnTo>
                  <a:cubicBezTo>
                    <a:pt x="5905500" y="4260663"/>
                    <a:pt x="5879913" y="4286250"/>
                    <a:pt x="5848350" y="4286250"/>
                  </a:cubicBezTo>
                  <a:lnTo>
                    <a:pt x="57150" y="4286250"/>
                  </a:lnTo>
                  <a:cubicBezTo>
                    <a:pt x="25587" y="4286250"/>
                    <a:pt x="0" y="4260663"/>
                    <a:pt x="0" y="42291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5715000" y="1619250"/>
              <a:ext cx="38100" cy="4286250"/>
            </a:xfrm>
            <a:custGeom>
              <a:avLst/>
              <a:gdLst/>
              <a:ahLst/>
              <a:cxnLst/>
              <a:rect l="l" t="t" r="r" b="b"/>
              <a:pathLst>
                <a:path w="38100" h="428625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4267200"/>
                  </a:lnTo>
                  <a:cubicBezTo>
                    <a:pt x="38100" y="4277721"/>
                    <a:pt x="29571" y="4286250"/>
                    <a:pt x="19050" y="4286250"/>
                  </a:cubicBezTo>
                  <a:lnTo>
                    <a:pt x="19050" y="4286250"/>
                  </a:lnTo>
                  <a:cubicBezTo>
                    <a:pt x="8529" y="4286250"/>
                    <a:pt x="0" y="4277721"/>
                    <a:pt x="0" y="42672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27AE6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34075" y="1790700"/>
              <a:ext cx="21428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7AE60"/>
                  </a:solidFill>
                  <a:latin typeface="Arial"/>
                  <a:ea typeface="Microsoft YaHei"/>
                  <a:cs typeface="Arial"/>
                </a:rPr>
                <a:t>认证结果 — 全部通过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5905500" y="2143125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57150" y="0"/>
                  </a:moveTo>
                  <a:lnTo>
                    <a:pt x="5467350" y="0"/>
                  </a:lnTo>
                  <a:cubicBezTo>
                    <a:pt x="5498913" y="0"/>
                    <a:pt x="5524500" y="25587"/>
                    <a:pt x="5524500" y="57150"/>
                  </a:cubicBezTo>
                  <a:lnTo>
                    <a:pt x="5524500" y="895350"/>
                  </a:lnTo>
                  <a:cubicBezTo>
                    <a:pt x="5524500" y="926913"/>
                    <a:pt x="5498913" y="952500"/>
                    <a:pt x="5467350" y="952500"/>
                  </a:cubicBezTo>
                  <a:lnTo>
                    <a:pt x="57150" y="952500"/>
                  </a:lnTo>
                  <a:cubicBezTo>
                    <a:pt x="25587" y="952500"/>
                    <a:pt x="0" y="926913"/>
                    <a:pt x="0" y="895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8F9FA"/>
            </a:solidFill>
            <a:ln w="9525">
              <a:solidFill>
                <a:srgbClr val="E5E7EB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5972175" y="2352675"/>
              <a:ext cx="533400" cy="533400"/>
            </a:xfrm>
            <a:prstGeom prst="ellipse">
              <a:avLst/>
            </a:prstGeom>
            <a:solidFill>
              <a:srgbClr val="F5A62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85321" y="2533650"/>
              <a:ext cx="1071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46545" y="2346008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岐力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54165" y="2648902"/>
              <a:ext cx="35997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准入端话术模式表 + 三阶段落地计划 + 专项保障小组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10287000" y="2333625"/>
              <a:ext cx="952500" cy="571500"/>
            </a:xfrm>
            <a:custGeom>
              <a:avLst/>
              <a:gdLst/>
              <a:ahLst/>
              <a:cxnLst/>
              <a:rect l="l" t="t" r="r" b="b"/>
              <a:pathLst>
                <a:path w="952500" h="571500">
                  <a:moveTo>
                    <a:pt x="57150" y="0"/>
                  </a:moveTo>
                  <a:lnTo>
                    <a:pt x="895350" y="0"/>
                  </a:lnTo>
                  <a:cubicBezTo>
                    <a:pt x="926913" y="0"/>
                    <a:pt x="952500" y="25587"/>
                    <a:pt x="952500" y="57150"/>
                  </a:cubicBezTo>
                  <a:lnTo>
                    <a:pt x="952500" y="514350"/>
                  </a:lnTo>
                  <a:cubicBezTo>
                    <a:pt x="952500" y="545913"/>
                    <a:pt x="926913" y="571500"/>
                    <a:pt x="895350" y="571500"/>
                  </a:cubicBezTo>
                  <a:lnTo>
                    <a:pt x="57150" y="571500"/>
                  </a:lnTo>
                  <a:cubicBezTo>
                    <a:pt x="25587" y="571500"/>
                    <a:pt x="0" y="545913"/>
                    <a:pt x="0" y="514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A62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599713" y="2345055"/>
              <a:ext cx="32707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91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686097" y="2665095"/>
              <a:ext cx="1543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分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5905500" y="323850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57150" y="0"/>
                  </a:moveTo>
                  <a:lnTo>
                    <a:pt x="5467350" y="0"/>
                  </a:lnTo>
                  <a:cubicBezTo>
                    <a:pt x="5498913" y="0"/>
                    <a:pt x="5524500" y="25587"/>
                    <a:pt x="5524500" y="57150"/>
                  </a:cubicBezTo>
                  <a:lnTo>
                    <a:pt x="5524500" y="895350"/>
                  </a:lnTo>
                  <a:cubicBezTo>
                    <a:pt x="5524500" y="926913"/>
                    <a:pt x="5498913" y="952500"/>
                    <a:pt x="5467350" y="952500"/>
                  </a:cubicBezTo>
                  <a:lnTo>
                    <a:pt x="57150" y="952500"/>
                  </a:lnTo>
                  <a:cubicBezTo>
                    <a:pt x="25587" y="952500"/>
                    <a:pt x="0" y="926913"/>
                    <a:pt x="0" y="895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8F9FA"/>
            </a:solidFill>
            <a:ln w="9525">
              <a:solidFill>
                <a:srgbClr val="E5E7EB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5972175" y="3448050"/>
              <a:ext cx="533400" cy="533400"/>
            </a:xfrm>
            <a:prstGeom prst="ellipse">
              <a:avLst/>
            </a:prstGeom>
            <a:solidFill>
              <a:srgbClr val="00558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56567" y="36290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46545" y="3441382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汇讯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54165" y="3744278"/>
              <a:ext cx="3576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BI看板已落地 + 共享话术库提议 + 管理工具需求明确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10287000" y="3429000"/>
              <a:ext cx="952500" cy="571500"/>
            </a:xfrm>
            <a:custGeom>
              <a:avLst/>
              <a:gdLst/>
              <a:ahLst/>
              <a:cxnLst/>
              <a:rect l="l" t="t" r="r" b="b"/>
              <a:pathLst>
                <a:path w="952500" h="571500">
                  <a:moveTo>
                    <a:pt x="57150" y="0"/>
                  </a:moveTo>
                  <a:lnTo>
                    <a:pt x="895350" y="0"/>
                  </a:lnTo>
                  <a:cubicBezTo>
                    <a:pt x="926913" y="0"/>
                    <a:pt x="952500" y="25587"/>
                    <a:pt x="952500" y="57150"/>
                  </a:cubicBezTo>
                  <a:lnTo>
                    <a:pt x="952500" y="514350"/>
                  </a:lnTo>
                  <a:cubicBezTo>
                    <a:pt x="952500" y="545913"/>
                    <a:pt x="926913" y="571500"/>
                    <a:pt x="895350" y="571500"/>
                  </a:cubicBezTo>
                  <a:lnTo>
                    <a:pt x="57150" y="571500"/>
                  </a:lnTo>
                  <a:cubicBezTo>
                    <a:pt x="25587" y="571500"/>
                    <a:pt x="0" y="545913"/>
                    <a:pt x="0" y="514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559458" y="3440430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88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686097" y="3760470"/>
              <a:ext cx="1543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分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5905500" y="4333875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57150" y="0"/>
                  </a:moveTo>
                  <a:lnTo>
                    <a:pt x="5467350" y="0"/>
                  </a:lnTo>
                  <a:cubicBezTo>
                    <a:pt x="5498913" y="0"/>
                    <a:pt x="5524500" y="25587"/>
                    <a:pt x="5524500" y="57150"/>
                  </a:cubicBezTo>
                  <a:lnTo>
                    <a:pt x="5524500" y="895350"/>
                  </a:lnTo>
                  <a:cubicBezTo>
                    <a:pt x="5524500" y="926913"/>
                    <a:pt x="5498913" y="952500"/>
                    <a:pt x="5467350" y="952500"/>
                  </a:cubicBezTo>
                  <a:lnTo>
                    <a:pt x="57150" y="952500"/>
                  </a:lnTo>
                  <a:cubicBezTo>
                    <a:pt x="25587" y="952500"/>
                    <a:pt x="0" y="926913"/>
                    <a:pt x="0" y="895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8F9FA"/>
            </a:solidFill>
            <a:ln w="9525">
              <a:solidFill>
                <a:srgbClr val="E5E7EB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5972175" y="4543425"/>
              <a:ext cx="533400" cy="533400"/>
            </a:xfrm>
            <a:prstGeom prst="ellipse">
              <a:avLst/>
            </a:prstGeom>
            <a:solidFill>
              <a:srgbClr val="0076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156567" y="472440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46545" y="4536758"/>
              <a:ext cx="80100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赛维斯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54165" y="483965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结构完整、方案可落地、有独立思考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10287000" y="4524375"/>
              <a:ext cx="952500" cy="571500"/>
            </a:xfrm>
            <a:custGeom>
              <a:avLst/>
              <a:gdLst/>
              <a:ahLst/>
              <a:cxnLst/>
              <a:rect l="l" t="t" r="r" b="b"/>
              <a:pathLst>
                <a:path w="952500" h="571500">
                  <a:moveTo>
                    <a:pt x="57150" y="0"/>
                  </a:moveTo>
                  <a:lnTo>
                    <a:pt x="895350" y="0"/>
                  </a:lnTo>
                  <a:cubicBezTo>
                    <a:pt x="926913" y="0"/>
                    <a:pt x="952500" y="25587"/>
                    <a:pt x="952500" y="57150"/>
                  </a:cubicBezTo>
                  <a:lnTo>
                    <a:pt x="952500" y="514350"/>
                  </a:lnTo>
                  <a:cubicBezTo>
                    <a:pt x="952500" y="545913"/>
                    <a:pt x="926913" y="571500"/>
                    <a:pt x="895350" y="571500"/>
                  </a:cubicBezTo>
                  <a:lnTo>
                    <a:pt x="57150" y="571500"/>
                  </a:lnTo>
                  <a:cubicBezTo>
                    <a:pt x="25587" y="571500"/>
                    <a:pt x="0" y="545913"/>
                    <a:pt x="0" y="514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559458" y="4535805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86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686097" y="4855845"/>
              <a:ext cx="1543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分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939790" y="5458778"/>
              <a:ext cx="36151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华讯、广达、瀚锐、华道 均已通过认证（80分以上）</a:t>
              </a:r>
            </a:p>
          </p:txBody>
        </p:sp>
      </p:grpSp>
      <p:sp>
        <p:nvSpPr>
          <p:cNvPr id="68" name="Rectangle 68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69" name="Line 69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560070" y="6332220"/>
            <a:ext cx="46168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Source: 313上午供应商联盟认证总结会 | 四位评委打分，满分100分，80分通过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61022" y="6578441"/>
            <a:ext cx="24428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BDC3C7"/>
                </a:solidFill>
                <a:latin typeface="Arial"/>
                <a:ea typeface="Microsoft YaHei"/>
                <a:cs typeface="Arial"/>
              </a:rPr>
              <a:t>可落地性占50分权重，方案执行力是认证核心</a:t>
            </a:r>
          </a:p>
        </p:txBody>
      </p:sp>
      <p:sp>
        <p:nvSpPr>
          <p:cNvPr id="72" name="Freeform 72"/>
          <p:cNvSpPr/>
          <p:nvPr/>
        </p:nvSpPr>
        <p:spPr>
          <a:xfrm>
            <a:off x="10858500" y="6238875"/>
            <a:ext cx="762000" cy="285750"/>
          </a:xfrm>
          <a:custGeom>
            <a:avLst/>
            <a:gdLst/>
            <a:ahLst/>
            <a:cxnLst/>
            <a:rect l="l" t="t" r="r" b="b"/>
            <a:pathLst>
              <a:path w="762000" h="285750">
                <a:moveTo>
                  <a:pt x="38100" y="0"/>
                </a:moveTo>
                <a:lnTo>
                  <a:pt x="723900" y="0"/>
                </a:lnTo>
                <a:cubicBezTo>
                  <a:pt x="744942" y="0"/>
                  <a:pt x="762000" y="17058"/>
                  <a:pt x="762000" y="38100"/>
                </a:cubicBezTo>
                <a:lnTo>
                  <a:pt x="762000" y="247650"/>
                </a:lnTo>
                <a:cubicBezTo>
                  <a:pt x="762000" y="268692"/>
                  <a:pt x="744942" y="285750"/>
                  <a:pt x="7239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11137604" y="63255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5587"/>
              </a:gs>
              <a:gs pos="50000">
                <a:srgbClr val="004A75"/>
              </a:gs>
              <a:gs pos="100000">
                <a:srgbClr val="003A5C"/>
              </a:gs>
            </a:gsLst>
            <a:lin ang="2700000" scaled="1"/>
          </a:gra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1714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0" y="3429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0" y="5143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8763000" y="-571500"/>
            <a:ext cx="3429000" cy="3429000"/>
          </a:xfrm>
          <a:prstGeom prst="ellipse">
            <a:avLst/>
          </a:prstGeom>
          <a:gradFill>
            <a:gsLst>
              <a:gs pos="0">
                <a:srgbClr val="FFFFFF">
                  <a:alpha val="8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-381000" y="3619500"/>
            <a:ext cx="4191000" cy="4191000"/>
          </a:xfrm>
          <a:prstGeom prst="ellipse">
            <a:avLst/>
          </a:prstGeom>
          <a:gradFill>
            <a:gsLst>
              <a:gs pos="0">
                <a:srgbClr val="FFFFFF">
                  <a:alpha val="8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10001250" y="4286250"/>
            <a:ext cx="1428750" cy="1428750"/>
          </a:xfrm>
          <a:custGeom>
            <a:avLst/>
            <a:gdLst/>
            <a:ahLst/>
            <a:cxnLst/>
            <a:rect l="l" t="t" r="r" b="b"/>
            <a:pathLst>
              <a:path w="1428750" h="1428750">
                <a:moveTo>
                  <a:pt x="38100" y="0"/>
                </a:moveTo>
                <a:lnTo>
                  <a:pt x="1390650" y="0"/>
                </a:lnTo>
                <a:cubicBezTo>
                  <a:pt x="1411692" y="0"/>
                  <a:pt x="1428750" y="17058"/>
                  <a:pt x="1428750" y="38100"/>
                </a:cubicBezTo>
                <a:lnTo>
                  <a:pt x="1428750" y="1390650"/>
                </a:lnTo>
                <a:cubicBezTo>
                  <a:pt x="1428750" y="1411692"/>
                  <a:pt x="1411692" y="1428750"/>
                  <a:pt x="1390650" y="1428750"/>
                </a:cubicBezTo>
                <a:lnTo>
                  <a:pt x="38100" y="1428750"/>
                </a:lnTo>
                <a:cubicBezTo>
                  <a:pt x="17058" y="1428750"/>
                  <a:pt x="0" y="1411692"/>
                  <a:pt x="0" y="1390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>
              <a:alpha val="2000"/>
            </a:srgbClr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762000" y="952500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38100" y="0"/>
                </a:moveTo>
                <a:lnTo>
                  <a:pt x="914400" y="0"/>
                </a:lnTo>
                <a:cubicBezTo>
                  <a:pt x="935442" y="0"/>
                  <a:pt x="952500" y="17058"/>
                  <a:pt x="952500" y="38100"/>
                </a:cubicBezTo>
                <a:lnTo>
                  <a:pt x="952500" y="914400"/>
                </a:lnTo>
                <a:cubicBezTo>
                  <a:pt x="952500" y="935442"/>
                  <a:pt x="935442" y="952500"/>
                  <a:pt x="914400" y="952500"/>
                </a:cubicBezTo>
                <a:lnTo>
                  <a:pt x="38100" y="952500"/>
                </a:lnTo>
                <a:cubicBezTo>
                  <a:pt x="17058" y="952500"/>
                  <a:pt x="0" y="935442"/>
                  <a:pt x="0" y="914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>
              <a:alpha val="2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571500" y="2667000"/>
            <a:ext cx="47625" cy="1524000"/>
          </a:xfrm>
          <a:prstGeom prst="rect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058079" y="781050"/>
            <a:ext cx="4075843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0" b="1" dirty="0">
                <a:solidFill>
                  <a:srgbClr val="FFFFFF">
                    <a:alpha val="5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40588" y="2711768"/>
            <a:ext cx="11108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5A623"/>
                </a:solidFill>
                <a:latin typeface="Arial"/>
                <a:ea typeface="Microsoft YaHei"/>
                <a:cs typeface="Arial"/>
              </a:rPr>
              <a:t>SECTION 03</a:t>
            </a:r>
          </a:p>
        </p:txBody>
      </p:sp>
      <p:sp>
        <p:nvSpPr>
          <p:cNvPr id="16" name="Line 16"/>
          <p:cNvSpPr/>
          <p:nvPr/>
        </p:nvSpPr>
        <p:spPr>
          <a:xfrm>
            <a:off x="4762500" y="3238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19050">
            <a:solidFill>
              <a:srgbClr val="FFFFFF">
                <a:alpha val="40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6286500" y="3238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19050">
            <a:solidFill>
              <a:srgbClr val="FFFFFF">
                <a:alpha val="40000"/>
              </a:srgbClr>
            </a:solidFill>
          </a:ln>
        </p:spPr>
      </p:sp>
      <p:sp>
        <p:nvSpPr>
          <p:cNvPr id="18" name="Ellipse 18"/>
          <p:cNvSpPr/>
          <p:nvPr/>
        </p:nvSpPr>
        <p:spPr>
          <a:xfrm>
            <a:off x="6038850" y="3181350"/>
            <a:ext cx="114300" cy="1143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946142" y="3611880"/>
            <a:ext cx="229971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落地方案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79307" y="4362450"/>
            <a:ext cx="42333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>
                    <a:alpha val="65000"/>
                  </a:srgbClr>
                </a:solidFill>
                <a:latin typeface="Arial"/>
                <a:ea typeface="Microsoft YaHei"/>
                <a:cs typeface="Arial"/>
              </a:rPr>
              <a:t>三阶段推进计划 + 各供应商差异化落地策略</a:t>
            </a:r>
          </a:p>
        </p:txBody>
      </p:sp>
      <p:sp>
        <p:nvSpPr>
          <p:cNvPr id="21" name="Rectangle 21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</p:sp>
      <p:sp>
        <p:nvSpPr>
          <p:cNvPr id="22" name="Line 22"/>
          <p:cNvSpPr/>
          <p:nvPr/>
        </p:nvSpPr>
        <p:spPr>
          <a:xfrm>
            <a:off x="0" y="6477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FFFFFF">
                <a:alpha val="10000"/>
              </a:srgbClr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58165" y="660177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 val="50000"/>
                  </a:srgbClr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780966" y="6617970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FFFFFF">
                    <a:alpha val="40000"/>
                  </a:srgbClr>
                </a:solidFill>
                <a:latin typeface="Arial"/>
                <a:ea typeface="Microsoft YaHei"/>
                <a:cs typeface="Arial"/>
              </a:rPr>
              <a:t>BPO ALLIANCE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005587"/>
              </a:gs>
              <a:gs pos="100000">
                <a:srgbClr val="0076A8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"/>
            <a:ext cx="12192000" cy="714375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6" name="Freeform 6"/>
          <p:cNvSpPr/>
          <p:nvPr/>
        </p:nvSpPr>
        <p:spPr>
          <a:xfrm>
            <a:off x="571500" y="20955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8100" y="0"/>
                </a:moveTo>
                <a:lnTo>
                  <a:pt x="438150" y="0"/>
                </a:lnTo>
                <a:cubicBezTo>
                  <a:pt x="459192" y="0"/>
                  <a:pt x="476250" y="17058"/>
                  <a:pt x="476250" y="38100"/>
                </a:cubicBezTo>
                <a:lnTo>
                  <a:pt x="476250" y="342900"/>
                </a:lnTo>
                <a:cubicBezTo>
                  <a:pt x="476250" y="363942"/>
                  <a:pt x="459192" y="381000"/>
                  <a:pt x="43815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78616" y="330518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1580" y="268605"/>
            <a:ext cx="396612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岐力 — 三阶段落地实施方案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78495" y="381952"/>
            <a:ext cx="1383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认证第一名（91分）</a:t>
            </a:r>
          </a:p>
        </p:txBody>
      </p:sp>
      <p:sp>
        <p:nvSpPr>
          <p:cNvPr id="10" name="Freeform 10"/>
          <p:cNvSpPr/>
          <p:nvPr/>
        </p:nvSpPr>
        <p:spPr>
          <a:xfrm>
            <a:off x="571500" y="9525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38100" y="0"/>
                </a:moveTo>
                <a:lnTo>
                  <a:pt x="11010900" y="0"/>
                </a:lnTo>
                <a:cubicBezTo>
                  <a:pt x="11031942" y="0"/>
                  <a:pt x="11049000" y="17058"/>
                  <a:pt x="11049000" y="38100"/>
                </a:cubicBezTo>
                <a:lnTo>
                  <a:pt x="11049000" y="438150"/>
                </a:lnTo>
                <a:cubicBezTo>
                  <a:pt x="11049000" y="459192"/>
                  <a:pt x="11031942" y="476250"/>
                  <a:pt x="11010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8E1"/>
          </a:solidFill>
          <a:ln w="9525">
            <a:solidFill>
              <a:srgbClr val="F5A623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571500" y="952500"/>
            <a:ext cx="47625" cy="476250"/>
          </a:xfrm>
          <a:custGeom>
            <a:avLst/>
            <a:gdLst/>
            <a:ahLst/>
            <a:cxnLst/>
            <a:rect l="l" t="t" r="r" b="b"/>
            <a:pathLst>
              <a:path w="47625" h="47625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457200"/>
                </a:lnTo>
                <a:cubicBezTo>
                  <a:pt x="47625" y="467721"/>
                  <a:pt x="39096" y="476250"/>
                  <a:pt x="28575" y="476250"/>
                </a:cubicBezTo>
                <a:lnTo>
                  <a:pt x="19050" y="476250"/>
                </a:lnTo>
                <a:cubicBezTo>
                  <a:pt x="8529" y="476250"/>
                  <a:pt x="0" y="467721"/>
                  <a:pt x="0" y="4572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96290" y="1143952"/>
            <a:ext cx="8800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89207"/>
                </a:solidFill>
                <a:latin typeface="Arial"/>
                <a:ea typeface="Microsoft YaHei"/>
                <a:cs typeface="Arial"/>
              </a:rPr>
              <a:t>KEY INSIGHT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81212" y="1135856"/>
            <a:ext cx="46291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从准入管控到培优打造再到全面标准化，循序渐进实现管理升级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571500" y="1619250"/>
            <a:ext cx="3333750" cy="2857500"/>
            <a:chOff x="571500" y="1619250"/>
            <a:chExt cx="3333750" cy="2857500"/>
          </a:xfrm>
        </p:grpSpPr>
        <p:sp>
          <p:nvSpPr>
            <p:cNvPr id="14" name="Freeform 14"/>
            <p:cNvSpPr/>
            <p:nvPr/>
          </p:nvSpPr>
          <p:spPr>
            <a:xfrm>
              <a:off x="571500" y="1619250"/>
              <a:ext cx="3333750" cy="2857500"/>
            </a:xfrm>
            <a:custGeom>
              <a:avLst/>
              <a:gdLst/>
              <a:ahLst/>
              <a:cxnLst/>
              <a:rect l="l" t="t" r="r" b="b"/>
              <a:pathLst>
                <a:path w="3333750" h="2857500">
                  <a:moveTo>
                    <a:pt x="57150" y="0"/>
                  </a:moveTo>
                  <a:lnTo>
                    <a:pt x="3276600" y="0"/>
                  </a:lnTo>
                  <a:cubicBezTo>
                    <a:pt x="3308163" y="0"/>
                    <a:pt x="3333750" y="25587"/>
                    <a:pt x="3333750" y="57150"/>
                  </a:cubicBezTo>
                  <a:lnTo>
                    <a:pt x="3333750" y="2800350"/>
                  </a:lnTo>
                  <a:cubicBezTo>
                    <a:pt x="3333750" y="2831913"/>
                    <a:pt x="3308163" y="2857500"/>
                    <a:pt x="3276600" y="2857500"/>
                  </a:cubicBezTo>
                  <a:lnTo>
                    <a:pt x="57150" y="2857500"/>
                  </a:lnTo>
                  <a:cubicBezTo>
                    <a:pt x="25587" y="2857500"/>
                    <a:pt x="0" y="2831913"/>
                    <a:pt x="0" y="2800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71500" y="1619250"/>
              <a:ext cx="3333750" cy="476250"/>
            </a:xfrm>
            <a:custGeom>
              <a:avLst/>
              <a:gdLst/>
              <a:ahLst/>
              <a:cxnLst/>
              <a:rect l="l" t="t" r="r" b="b"/>
              <a:pathLst>
                <a:path w="3333750" h="476250">
                  <a:moveTo>
                    <a:pt x="57150" y="0"/>
                  </a:moveTo>
                  <a:lnTo>
                    <a:pt x="3276600" y="0"/>
                  </a:lnTo>
                  <a:cubicBezTo>
                    <a:pt x="3308163" y="0"/>
                    <a:pt x="3333750" y="25587"/>
                    <a:pt x="3333750" y="57150"/>
                  </a:cubicBezTo>
                  <a:lnTo>
                    <a:pt x="3333750" y="419100"/>
                  </a:lnTo>
                  <a:cubicBezTo>
                    <a:pt x="3333750" y="450663"/>
                    <a:pt x="3308163" y="476250"/>
                    <a:pt x="3276600" y="476250"/>
                  </a:cubicBezTo>
                  <a:lnTo>
                    <a:pt x="57150" y="476250"/>
                  </a:lnTo>
                  <a:cubicBezTo>
                    <a:pt x="25587" y="476250"/>
                    <a:pt x="0" y="450663"/>
                    <a:pt x="0" y="4191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" y="1905000"/>
              <a:ext cx="3333750" cy="190500"/>
            </a:xfrm>
            <a:prstGeom prst="rect">
              <a:avLst/>
            </a:prstGeom>
            <a:solidFill>
              <a:srgbClr val="00558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89614" y="1806892"/>
              <a:ext cx="18975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第一阶段：准入管控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2257425"/>
              <a:ext cx="342900" cy="342900"/>
            </a:xfrm>
            <a:prstGeom prst="ellipse">
              <a:avLst/>
            </a:prstGeom>
            <a:solidFill>
              <a:srgbClr val="00558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5012" y="2372678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70635" y="2299335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目标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72540" y="2553652"/>
              <a:ext cx="18132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新员工手动流数据降低50%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72540" y="27632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管理层养成每日数据查看习惯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762000" y="304800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96290" y="31727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关键动作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7242" y="3418999"/>
              <a:ext cx="21393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- 执行话术模式表和人员画像要求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7242" y="3628549"/>
              <a:ext cx="15697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- 新人新办法老人老办法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7242" y="3838099"/>
              <a:ext cx="18545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- 管控准入端，建立初步认知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7242" y="4180999"/>
              <a:ext cx="9667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A623"/>
                  </a:solidFill>
                  <a:latin typeface="Arial"/>
                  <a:ea typeface="Microsoft YaHei"/>
                  <a:cs typeface="Arial"/>
                </a:rPr>
                <a:t>周期：第1个月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429125" y="1619250"/>
            <a:ext cx="3333750" cy="2857500"/>
            <a:chOff x="4429125" y="1619250"/>
            <a:chExt cx="3333750" cy="2857500"/>
          </a:xfrm>
        </p:grpSpPr>
        <p:sp>
          <p:nvSpPr>
            <p:cNvPr id="30" name="Freeform 30"/>
            <p:cNvSpPr/>
            <p:nvPr/>
          </p:nvSpPr>
          <p:spPr>
            <a:xfrm>
              <a:off x="4429125" y="1619250"/>
              <a:ext cx="3333750" cy="2857500"/>
            </a:xfrm>
            <a:custGeom>
              <a:avLst/>
              <a:gdLst/>
              <a:ahLst/>
              <a:cxnLst/>
              <a:rect l="l" t="t" r="r" b="b"/>
              <a:pathLst>
                <a:path w="3333750" h="2857500">
                  <a:moveTo>
                    <a:pt x="57150" y="0"/>
                  </a:moveTo>
                  <a:lnTo>
                    <a:pt x="3276600" y="0"/>
                  </a:lnTo>
                  <a:cubicBezTo>
                    <a:pt x="3308163" y="0"/>
                    <a:pt x="3333750" y="25587"/>
                    <a:pt x="3333750" y="57150"/>
                  </a:cubicBezTo>
                  <a:lnTo>
                    <a:pt x="3333750" y="2800350"/>
                  </a:lnTo>
                  <a:cubicBezTo>
                    <a:pt x="3333750" y="2831913"/>
                    <a:pt x="3308163" y="2857500"/>
                    <a:pt x="3276600" y="2857500"/>
                  </a:cubicBezTo>
                  <a:lnTo>
                    <a:pt x="57150" y="2857500"/>
                  </a:lnTo>
                  <a:cubicBezTo>
                    <a:pt x="25587" y="2857500"/>
                    <a:pt x="0" y="2831913"/>
                    <a:pt x="0" y="2800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4429125" y="1619250"/>
              <a:ext cx="3333750" cy="476250"/>
            </a:xfrm>
            <a:custGeom>
              <a:avLst/>
              <a:gdLst/>
              <a:ahLst/>
              <a:cxnLst/>
              <a:rect l="l" t="t" r="r" b="b"/>
              <a:pathLst>
                <a:path w="3333750" h="476250">
                  <a:moveTo>
                    <a:pt x="57150" y="0"/>
                  </a:moveTo>
                  <a:lnTo>
                    <a:pt x="3276600" y="0"/>
                  </a:lnTo>
                  <a:cubicBezTo>
                    <a:pt x="3308163" y="0"/>
                    <a:pt x="3333750" y="25587"/>
                    <a:pt x="3333750" y="57150"/>
                  </a:cubicBezTo>
                  <a:lnTo>
                    <a:pt x="3333750" y="419100"/>
                  </a:lnTo>
                  <a:cubicBezTo>
                    <a:pt x="3333750" y="450663"/>
                    <a:pt x="3308163" y="476250"/>
                    <a:pt x="3276600" y="476250"/>
                  </a:cubicBezTo>
                  <a:lnTo>
                    <a:pt x="57150" y="476250"/>
                  </a:lnTo>
                  <a:cubicBezTo>
                    <a:pt x="25587" y="476250"/>
                    <a:pt x="0" y="450663"/>
                    <a:pt x="0" y="4191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A623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429125" y="1905000"/>
              <a:ext cx="3333750" cy="190500"/>
            </a:xfrm>
            <a:prstGeom prst="rect">
              <a:avLst/>
            </a:prstGeom>
            <a:solidFill>
              <a:srgbClr val="F5A62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147239" y="1806892"/>
              <a:ext cx="18975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第二阶段：培优打造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4638675" y="2257425"/>
              <a:ext cx="342900" cy="342900"/>
            </a:xfrm>
            <a:prstGeom prst="ellipse">
              <a:avLst/>
            </a:prstGeom>
            <a:solidFill>
              <a:srgbClr val="F5A62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52509" y="23726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128260" y="2299335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目标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130165" y="2553652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覆盖25%-40%员工培优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130165" y="27632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打造核心团队，安排专项预算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4619625" y="304800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653915" y="31727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关键动作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54868" y="3418999"/>
              <a:ext cx="11425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- 分模块赋能培训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54868" y="3628549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- 引入轻量级管理工具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54868" y="3838099"/>
              <a:ext cx="11425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- 适配性底线标准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654868" y="4047649"/>
              <a:ext cx="15697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- 标准化制度管理核心盘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54868" y="4180999"/>
              <a:ext cx="11685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A623"/>
                  </a:solidFill>
                  <a:latin typeface="Arial"/>
                  <a:ea typeface="Microsoft YaHei"/>
                  <a:cs typeface="Arial"/>
                </a:rPr>
                <a:t>周期：第2-3个月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286750" y="1619250"/>
            <a:ext cx="3333750" cy="2857500"/>
            <a:chOff x="8286750" y="1619250"/>
            <a:chExt cx="3333750" cy="2857500"/>
          </a:xfrm>
        </p:grpSpPr>
        <p:sp>
          <p:nvSpPr>
            <p:cNvPr id="47" name="Freeform 47"/>
            <p:cNvSpPr/>
            <p:nvPr/>
          </p:nvSpPr>
          <p:spPr>
            <a:xfrm>
              <a:off x="8286750" y="1619250"/>
              <a:ext cx="3333750" cy="2857500"/>
            </a:xfrm>
            <a:custGeom>
              <a:avLst/>
              <a:gdLst/>
              <a:ahLst/>
              <a:cxnLst/>
              <a:rect l="l" t="t" r="r" b="b"/>
              <a:pathLst>
                <a:path w="3333750" h="2857500">
                  <a:moveTo>
                    <a:pt x="57150" y="0"/>
                  </a:moveTo>
                  <a:lnTo>
                    <a:pt x="3276600" y="0"/>
                  </a:lnTo>
                  <a:cubicBezTo>
                    <a:pt x="3308163" y="0"/>
                    <a:pt x="3333750" y="25587"/>
                    <a:pt x="3333750" y="57150"/>
                  </a:cubicBezTo>
                  <a:lnTo>
                    <a:pt x="3333750" y="2800350"/>
                  </a:lnTo>
                  <a:cubicBezTo>
                    <a:pt x="3333750" y="2831913"/>
                    <a:pt x="3308163" y="2857500"/>
                    <a:pt x="3276600" y="2857500"/>
                  </a:cubicBezTo>
                  <a:lnTo>
                    <a:pt x="57150" y="2857500"/>
                  </a:lnTo>
                  <a:cubicBezTo>
                    <a:pt x="25587" y="2857500"/>
                    <a:pt x="0" y="2831913"/>
                    <a:pt x="0" y="2800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8286750" y="1619250"/>
              <a:ext cx="3333750" cy="476250"/>
            </a:xfrm>
            <a:custGeom>
              <a:avLst/>
              <a:gdLst/>
              <a:ahLst/>
              <a:cxnLst/>
              <a:rect l="l" t="t" r="r" b="b"/>
              <a:pathLst>
                <a:path w="3333750" h="476250">
                  <a:moveTo>
                    <a:pt x="57150" y="0"/>
                  </a:moveTo>
                  <a:lnTo>
                    <a:pt x="3276600" y="0"/>
                  </a:lnTo>
                  <a:cubicBezTo>
                    <a:pt x="3308163" y="0"/>
                    <a:pt x="3333750" y="25587"/>
                    <a:pt x="3333750" y="57150"/>
                  </a:cubicBezTo>
                  <a:lnTo>
                    <a:pt x="3333750" y="419100"/>
                  </a:lnTo>
                  <a:cubicBezTo>
                    <a:pt x="3333750" y="450663"/>
                    <a:pt x="3308163" y="476250"/>
                    <a:pt x="3276600" y="476250"/>
                  </a:cubicBezTo>
                  <a:lnTo>
                    <a:pt x="57150" y="476250"/>
                  </a:lnTo>
                  <a:cubicBezTo>
                    <a:pt x="25587" y="476250"/>
                    <a:pt x="0" y="450663"/>
                    <a:pt x="0" y="4191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286750" y="1905000"/>
              <a:ext cx="3333750" cy="190500"/>
            </a:xfrm>
            <a:prstGeom prst="rect">
              <a:avLst/>
            </a:prstGeom>
            <a:solidFill>
              <a:srgbClr val="0076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901351" y="1806892"/>
              <a:ext cx="21045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第三阶段：全面标准化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8496300" y="2257425"/>
              <a:ext cx="342900" cy="342900"/>
            </a:xfrm>
            <a:prstGeom prst="ellipse">
              <a:avLst/>
            </a:prstGeom>
            <a:solidFill>
              <a:srgbClr val="0076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610134" y="23726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985885" y="2299335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目标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987790" y="25536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全团队标准化管理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987790" y="27632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成熟制度全项目推广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8477250" y="304800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511540" y="31727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关键动作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512492" y="3418999"/>
              <a:ext cx="17121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- 验证成熟的制度迭代推广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512492" y="3628549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- 管理工具全项目覆盖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512492" y="3838099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- 常态化业务流程演练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12492" y="4047649"/>
              <a:ext cx="16623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- 预算向30%潜力员工倾斜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512492" y="4180999"/>
              <a:ext cx="11685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A623"/>
                  </a:solidFill>
                  <a:latin typeface="Arial"/>
                  <a:ea typeface="Microsoft YaHei"/>
                  <a:cs typeface="Arial"/>
                </a:rPr>
                <a:t>周期：第4-6个月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71500" y="4667250"/>
            <a:ext cx="5334000" cy="1238250"/>
            <a:chOff x="571500" y="4667250"/>
            <a:chExt cx="5334000" cy="1238250"/>
          </a:xfrm>
        </p:grpSpPr>
        <p:sp>
          <p:nvSpPr>
            <p:cNvPr id="64" name="Freeform 64"/>
            <p:cNvSpPr/>
            <p:nvPr/>
          </p:nvSpPr>
          <p:spPr>
            <a:xfrm>
              <a:off x="571500" y="466725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57150" y="0"/>
                  </a:moveTo>
                  <a:lnTo>
                    <a:pt x="5276850" y="0"/>
                  </a:lnTo>
                  <a:cubicBezTo>
                    <a:pt x="5308413" y="0"/>
                    <a:pt x="5334000" y="25587"/>
                    <a:pt x="5334000" y="57150"/>
                  </a:cubicBezTo>
                  <a:lnTo>
                    <a:pt x="5334000" y="1181100"/>
                  </a:lnTo>
                  <a:cubicBezTo>
                    <a:pt x="5334000" y="1212663"/>
                    <a:pt x="5308413" y="1238250"/>
                    <a:pt x="5276850" y="1238250"/>
                  </a:cubicBezTo>
                  <a:lnTo>
                    <a:pt x="57150" y="1238250"/>
                  </a:lnTo>
                  <a:cubicBezTo>
                    <a:pt x="25587" y="1238250"/>
                    <a:pt x="0" y="1212663"/>
                    <a:pt x="0" y="11811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5F5"/>
            </a:solidFill>
            <a:ln w="9525">
              <a:solidFill>
                <a:srgbClr val="E74C3C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571500" y="4667250"/>
              <a:ext cx="38100" cy="1238250"/>
            </a:xfrm>
            <a:custGeom>
              <a:avLst/>
              <a:gdLst/>
              <a:ahLst/>
              <a:cxnLst/>
              <a:rect l="l" t="t" r="r" b="b"/>
              <a:pathLst>
                <a:path w="38100" h="123825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1219200"/>
                  </a:lnTo>
                  <a:cubicBezTo>
                    <a:pt x="38100" y="1229721"/>
                    <a:pt x="29571" y="1238250"/>
                    <a:pt x="19050" y="1238250"/>
                  </a:cubicBezTo>
                  <a:lnTo>
                    <a:pt x="19050" y="1238250"/>
                  </a:lnTo>
                  <a:cubicBezTo>
                    <a:pt x="8529" y="1238250"/>
                    <a:pt x="0" y="1229721"/>
                    <a:pt x="0" y="12192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E74C3C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94385" y="48234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74C3C"/>
                  </a:solidFill>
                  <a:latin typeface="Arial"/>
                  <a:ea typeface="Microsoft YaHei"/>
                  <a:cs typeface="Arial"/>
                </a:rPr>
                <a:t>现存挑战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96290" y="5077778"/>
              <a:ext cx="1843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- 先天规模化交付供给不足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6290" y="5296852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- 存量人员不满足标准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96290" y="5515928"/>
              <a:ext cx="1843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- 短周期考核要求稳定交付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98195" y="5713095"/>
              <a:ext cx="1600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5A5A6"/>
                  </a:solidFill>
                  <a:latin typeface="Arial"/>
                  <a:ea typeface="Microsoft YaHei"/>
                  <a:cs typeface="Arial"/>
                </a:rPr>
                <a:t>需平衡规模交付与质量标准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6286500" y="4667250"/>
            <a:ext cx="5334000" cy="1238250"/>
            <a:chOff x="6286500" y="4667250"/>
            <a:chExt cx="5334000" cy="1238250"/>
          </a:xfrm>
        </p:grpSpPr>
        <p:sp>
          <p:nvSpPr>
            <p:cNvPr id="72" name="Freeform 72"/>
            <p:cNvSpPr/>
            <p:nvPr/>
          </p:nvSpPr>
          <p:spPr>
            <a:xfrm>
              <a:off x="6286500" y="466725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57150" y="0"/>
                  </a:moveTo>
                  <a:lnTo>
                    <a:pt x="5276850" y="0"/>
                  </a:lnTo>
                  <a:cubicBezTo>
                    <a:pt x="5308413" y="0"/>
                    <a:pt x="5334000" y="25587"/>
                    <a:pt x="5334000" y="57150"/>
                  </a:cubicBezTo>
                  <a:lnTo>
                    <a:pt x="5334000" y="1181100"/>
                  </a:lnTo>
                  <a:cubicBezTo>
                    <a:pt x="5334000" y="1212663"/>
                    <a:pt x="5308413" y="1238250"/>
                    <a:pt x="5276850" y="1238250"/>
                  </a:cubicBezTo>
                  <a:lnTo>
                    <a:pt x="57150" y="1238250"/>
                  </a:lnTo>
                  <a:cubicBezTo>
                    <a:pt x="25587" y="1238250"/>
                    <a:pt x="0" y="1212663"/>
                    <a:pt x="0" y="11811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0F9FF"/>
            </a:solidFill>
            <a:ln w="9525">
              <a:solidFill>
                <a:srgbClr val="0076A8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6286500" y="4667250"/>
              <a:ext cx="38100" cy="1238250"/>
            </a:xfrm>
            <a:custGeom>
              <a:avLst/>
              <a:gdLst/>
              <a:ahLst/>
              <a:cxnLst/>
              <a:rect l="l" t="t" r="r" b="b"/>
              <a:pathLst>
                <a:path w="38100" h="123825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1219200"/>
                  </a:lnTo>
                  <a:cubicBezTo>
                    <a:pt x="38100" y="1229721"/>
                    <a:pt x="29571" y="1238250"/>
                    <a:pt x="19050" y="1238250"/>
                  </a:cubicBezTo>
                  <a:lnTo>
                    <a:pt x="19050" y="1238250"/>
                  </a:lnTo>
                  <a:cubicBezTo>
                    <a:pt x="8529" y="1238250"/>
                    <a:pt x="0" y="1229721"/>
                    <a:pt x="0" y="12192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509385" y="48234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76A8"/>
                  </a:solidFill>
                  <a:latin typeface="Arial"/>
                  <a:ea typeface="Microsoft YaHei"/>
                  <a:cs typeface="Arial"/>
                </a:rPr>
                <a:t>保障措施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511290" y="5077778"/>
              <a:ext cx="29173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- 启动专项小组，组织发展部和合规部牵头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511290" y="5296852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- 分阶段由不同部门推进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511290" y="5515928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- 所有任务绑定绩效考核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513195" y="5713095"/>
              <a:ext cx="20339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5A5A6"/>
                  </a:solidFill>
                  <a:latin typeface="Arial"/>
                  <a:ea typeface="Microsoft YaHei"/>
                  <a:cs typeface="Arial"/>
                </a:rPr>
                <a:t>组织保障 + 绩效绑定 = 落地确定性</a:t>
              </a:r>
            </a:p>
          </p:txBody>
        </p:sp>
      </p:grpSp>
      <p:sp>
        <p:nvSpPr>
          <p:cNvPr id="80" name="Rectangle 80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81" name="Line 81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82" name="TextBox 82"/>
          <p:cNvSpPr txBox="1"/>
          <p:nvPr/>
        </p:nvSpPr>
        <p:spPr>
          <a:xfrm>
            <a:off x="560070" y="6332220"/>
            <a:ext cx="37624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Source: 313上午供应商联盟认证总结会 | 岐力落地实施方案汇报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61022" y="6578441"/>
            <a:ext cx="258741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BDC3C7"/>
                </a:solidFill>
                <a:latin typeface="Arial"/>
                <a:ea typeface="Microsoft YaHei"/>
                <a:cs typeface="Arial"/>
              </a:rPr>
              <a:t>三阶段递进：准入管控 → 培优打造 → 全面标准化</a:t>
            </a:r>
          </a:p>
        </p:txBody>
      </p:sp>
      <p:sp>
        <p:nvSpPr>
          <p:cNvPr id="84" name="Freeform 84"/>
          <p:cNvSpPr/>
          <p:nvPr/>
        </p:nvSpPr>
        <p:spPr>
          <a:xfrm>
            <a:off x="10858500" y="6238875"/>
            <a:ext cx="762000" cy="285750"/>
          </a:xfrm>
          <a:custGeom>
            <a:avLst/>
            <a:gdLst/>
            <a:ahLst/>
            <a:cxnLst/>
            <a:rect l="l" t="t" r="r" b="b"/>
            <a:pathLst>
              <a:path w="762000" h="285750">
                <a:moveTo>
                  <a:pt x="38100" y="0"/>
                </a:moveTo>
                <a:lnTo>
                  <a:pt x="723900" y="0"/>
                </a:lnTo>
                <a:cubicBezTo>
                  <a:pt x="744942" y="0"/>
                  <a:pt x="762000" y="17058"/>
                  <a:pt x="762000" y="38100"/>
                </a:cubicBezTo>
                <a:lnTo>
                  <a:pt x="762000" y="247650"/>
                </a:lnTo>
                <a:cubicBezTo>
                  <a:pt x="762000" y="268692"/>
                  <a:pt x="744942" y="285750"/>
                  <a:pt x="7239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85" name="TextBox 85"/>
          <p:cNvSpPr txBox="1"/>
          <p:nvPr/>
        </p:nvSpPr>
        <p:spPr>
          <a:xfrm>
            <a:off x="11157731" y="6325552"/>
            <a:ext cx="1635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005587"/>
              </a:gs>
              <a:gs pos="100000">
                <a:srgbClr val="0076A8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"/>
            <a:ext cx="12192000" cy="714375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6" name="Freeform 6"/>
          <p:cNvSpPr/>
          <p:nvPr/>
        </p:nvSpPr>
        <p:spPr>
          <a:xfrm>
            <a:off x="571500" y="20955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8100" y="0"/>
                </a:moveTo>
                <a:lnTo>
                  <a:pt x="438150" y="0"/>
                </a:lnTo>
                <a:cubicBezTo>
                  <a:pt x="459192" y="0"/>
                  <a:pt x="476250" y="17058"/>
                  <a:pt x="476250" y="38100"/>
                </a:cubicBezTo>
                <a:lnTo>
                  <a:pt x="476250" y="342900"/>
                </a:lnTo>
                <a:cubicBezTo>
                  <a:pt x="476250" y="363942"/>
                  <a:pt x="459192" y="381000"/>
                  <a:pt x="43815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78616" y="330518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1580" y="268605"/>
            <a:ext cx="423986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各供应商核心收获与落地方向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22255" y="3819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落地方案</a:t>
            </a:r>
          </a:p>
        </p:txBody>
      </p:sp>
      <p:sp>
        <p:nvSpPr>
          <p:cNvPr id="10" name="Freeform 10"/>
          <p:cNvSpPr/>
          <p:nvPr/>
        </p:nvSpPr>
        <p:spPr>
          <a:xfrm>
            <a:off x="571500" y="9525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38100" y="0"/>
                </a:moveTo>
                <a:lnTo>
                  <a:pt x="11010900" y="0"/>
                </a:lnTo>
                <a:cubicBezTo>
                  <a:pt x="11031942" y="0"/>
                  <a:pt x="11049000" y="17058"/>
                  <a:pt x="11049000" y="38100"/>
                </a:cubicBezTo>
                <a:lnTo>
                  <a:pt x="11049000" y="438150"/>
                </a:lnTo>
                <a:cubicBezTo>
                  <a:pt x="11049000" y="459192"/>
                  <a:pt x="11031942" y="476250"/>
                  <a:pt x="11010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8E1"/>
          </a:solidFill>
          <a:ln w="9525">
            <a:solidFill>
              <a:srgbClr val="F5A623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571500" y="952500"/>
            <a:ext cx="47625" cy="476250"/>
          </a:xfrm>
          <a:custGeom>
            <a:avLst/>
            <a:gdLst/>
            <a:ahLst/>
            <a:cxnLst/>
            <a:rect l="l" t="t" r="r" b="b"/>
            <a:pathLst>
              <a:path w="47625" h="47625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457200"/>
                </a:lnTo>
                <a:cubicBezTo>
                  <a:pt x="47625" y="467721"/>
                  <a:pt x="39096" y="476250"/>
                  <a:pt x="28575" y="476250"/>
                </a:cubicBezTo>
                <a:lnTo>
                  <a:pt x="19050" y="476250"/>
                </a:lnTo>
                <a:cubicBezTo>
                  <a:pt x="8529" y="476250"/>
                  <a:pt x="0" y="467721"/>
                  <a:pt x="0" y="4572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96290" y="1143952"/>
            <a:ext cx="8800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89207"/>
                </a:solidFill>
                <a:latin typeface="Arial"/>
                <a:ea typeface="Microsoft YaHei"/>
                <a:cs typeface="Arial"/>
              </a:rPr>
              <a:t>KEY INSIGHT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81212" y="1135856"/>
            <a:ext cx="61079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各供应商从不同切入点补强短板：华啸重数据、广重运营、瀚锐重新人、华道重团队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71500" y="1619250"/>
            <a:ext cx="5334000" cy="2000250"/>
            <a:chOff x="571500" y="1619250"/>
            <a:chExt cx="5334000" cy="2000250"/>
          </a:xfrm>
        </p:grpSpPr>
        <p:sp>
          <p:nvSpPr>
            <p:cNvPr id="14" name="Freeform 14"/>
            <p:cNvSpPr/>
            <p:nvPr/>
          </p:nvSpPr>
          <p:spPr>
            <a:xfrm>
              <a:off x="571500" y="1619250"/>
              <a:ext cx="5334000" cy="2000250"/>
            </a:xfrm>
            <a:custGeom>
              <a:avLst/>
              <a:gdLst/>
              <a:ahLst/>
              <a:cxnLst/>
              <a:rect l="l" t="t" r="r" b="b"/>
              <a:pathLst>
                <a:path w="5334000" h="2000250">
                  <a:moveTo>
                    <a:pt x="57150" y="0"/>
                  </a:moveTo>
                  <a:lnTo>
                    <a:pt x="5276850" y="0"/>
                  </a:lnTo>
                  <a:cubicBezTo>
                    <a:pt x="5308413" y="0"/>
                    <a:pt x="5334000" y="25587"/>
                    <a:pt x="5334000" y="57150"/>
                  </a:cubicBezTo>
                  <a:lnTo>
                    <a:pt x="5334000" y="1943100"/>
                  </a:lnTo>
                  <a:cubicBezTo>
                    <a:pt x="5334000" y="1974663"/>
                    <a:pt x="5308413" y="2000250"/>
                    <a:pt x="5276850" y="2000250"/>
                  </a:cubicBezTo>
                  <a:lnTo>
                    <a:pt x="57150" y="2000250"/>
                  </a:lnTo>
                  <a:cubicBezTo>
                    <a:pt x="25587" y="2000250"/>
                    <a:pt x="0" y="1974663"/>
                    <a:pt x="0" y="19431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71500" y="1619250"/>
              <a:ext cx="38100" cy="2000250"/>
            </a:xfrm>
            <a:custGeom>
              <a:avLst/>
              <a:gdLst/>
              <a:ahLst/>
              <a:cxnLst/>
              <a:rect l="l" t="t" r="r" b="b"/>
              <a:pathLst>
                <a:path w="38100" h="200025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1981200"/>
                  </a:lnTo>
                  <a:cubicBezTo>
                    <a:pt x="38100" y="1991721"/>
                    <a:pt x="29571" y="2000250"/>
                    <a:pt x="19050" y="2000250"/>
                  </a:cubicBezTo>
                  <a:lnTo>
                    <a:pt x="19050" y="2000250"/>
                  </a:lnTo>
                  <a:cubicBezTo>
                    <a:pt x="8529" y="2000250"/>
                    <a:pt x="0" y="1991721"/>
                    <a:pt x="0" y="19812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2480" y="175926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华啸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7242" y="2037874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核心：数据驱动 + SOP标准化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14375" y="2238375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7242" y="2371249"/>
              <a:ext cx="2502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- 建立清晰坐席画像，结构化面试+试岗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7242" y="2580799"/>
              <a:ext cx="2502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- 名产分层精细化，按额度/活跃度分层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7242" y="2790349"/>
              <a:ext cx="15697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- 动态话术入库更新机制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7242" y="2999899"/>
              <a:ext cx="18545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- 引入自动化报表做实时监测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8195" y="3331845"/>
              <a:ext cx="32386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5A623"/>
                  </a:solidFill>
                  <a:latin typeface="Arial"/>
                  <a:ea typeface="Microsoft YaHei"/>
                  <a:cs typeface="Arial"/>
                </a:rPr>
                <a:t>三个月：名产打标 → SOP框架 → 数据体系 → 复盘验证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86500" y="1619250"/>
            <a:ext cx="5334000" cy="2000250"/>
            <a:chOff x="6286500" y="1619250"/>
            <a:chExt cx="5334000" cy="2000250"/>
          </a:xfrm>
        </p:grpSpPr>
        <p:sp>
          <p:nvSpPr>
            <p:cNvPr id="25" name="Freeform 25"/>
            <p:cNvSpPr/>
            <p:nvPr/>
          </p:nvSpPr>
          <p:spPr>
            <a:xfrm>
              <a:off x="6286500" y="1619250"/>
              <a:ext cx="5334000" cy="2000250"/>
            </a:xfrm>
            <a:custGeom>
              <a:avLst/>
              <a:gdLst/>
              <a:ahLst/>
              <a:cxnLst/>
              <a:rect l="l" t="t" r="r" b="b"/>
              <a:pathLst>
                <a:path w="5334000" h="2000250">
                  <a:moveTo>
                    <a:pt x="57150" y="0"/>
                  </a:moveTo>
                  <a:lnTo>
                    <a:pt x="5276850" y="0"/>
                  </a:lnTo>
                  <a:cubicBezTo>
                    <a:pt x="5308413" y="0"/>
                    <a:pt x="5334000" y="25587"/>
                    <a:pt x="5334000" y="57150"/>
                  </a:cubicBezTo>
                  <a:lnTo>
                    <a:pt x="5334000" y="1943100"/>
                  </a:lnTo>
                  <a:cubicBezTo>
                    <a:pt x="5334000" y="1974663"/>
                    <a:pt x="5308413" y="2000250"/>
                    <a:pt x="5276850" y="2000250"/>
                  </a:cubicBezTo>
                  <a:lnTo>
                    <a:pt x="57150" y="2000250"/>
                  </a:lnTo>
                  <a:cubicBezTo>
                    <a:pt x="25587" y="2000250"/>
                    <a:pt x="0" y="1974663"/>
                    <a:pt x="0" y="19431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286500" y="1619250"/>
              <a:ext cx="38100" cy="2000250"/>
            </a:xfrm>
            <a:custGeom>
              <a:avLst/>
              <a:gdLst/>
              <a:ahLst/>
              <a:cxnLst/>
              <a:rect l="l" t="t" r="r" b="b"/>
              <a:pathLst>
                <a:path w="38100" h="200025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1981200"/>
                  </a:lnTo>
                  <a:cubicBezTo>
                    <a:pt x="38100" y="1991721"/>
                    <a:pt x="29571" y="2000250"/>
                    <a:pt x="19050" y="2000250"/>
                  </a:cubicBezTo>
                  <a:lnTo>
                    <a:pt x="19050" y="2000250"/>
                  </a:lnTo>
                  <a:cubicBezTo>
                    <a:pt x="8529" y="2000250"/>
                    <a:pt x="0" y="1991721"/>
                    <a:pt x="0" y="19812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07480" y="175926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76A8"/>
                  </a:solidFill>
                  <a:latin typeface="Arial"/>
                  <a:ea typeface="Microsoft YaHei"/>
                  <a:cs typeface="Arial"/>
                </a:rPr>
                <a:t>广达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12242" y="2037874"/>
              <a:ext cx="20397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核心：人员培养 + 运营模块优化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429375" y="2238375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12242" y="2371249"/>
              <a:ext cx="24241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- 补充抗压能力测试、工作稳定性考察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12242" y="2580799"/>
              <a:ext cx="17905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- 师徒带教二对一+复盘闭环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12242" y="2790349"/>
              <a:ext cx="20753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- 补充午会机制+夕会清问题闭环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12242" y="2999899"/>
              <a:ext cx="23601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- 优化拨打时段划分+客户全标签打标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13195" y="3331845"/>
              <a:ext cx="40943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5A623"/>
                  </a:solidFill>
                  <a:latin typeface="Arial"/>
                  <a:ea typeface="Microsoft YaHei"/>
                  <a:cs typeface="Arial"/>
                </a:rPr>
                <a:t>18号前：人员培养/分层/拨打策略优化 | 20号前：异议处理+数据库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3810000"/>
            <a:ext cx="5334000" cy="2000250"/>
            <a:chOff x="571500" y="3810000"/>
            <a:chExt cx="5334000" cy="2000250"/>
          </a:xfrm>
        </p:grpSpPr>
        <p:sp>
          <p:nvSpPr>
            <p:cNvPr id="36" name="Freeform 36"/>
            <p:cNvSpPr/>
            <p:nvPr/>
          </p:nvSpPr>
          <p:spPr>
            <a:xfrm>
              <a:off x="571500" y="3810000"/>
              <a:ext cx="5334000" cy="2000250"/>
            </a:xfrm>
            <a:custGeom>
              <a:avLst/>
              <a:gdLst/>
              <a:ahLst/>
              <a:cxnLst/>
              <a:rect l="l" t="t" r="r" b="b"/>
              <a:pathLst>
                <a:path w="5334000" h="2000250">
                  <a:moveTo>
                    <a:pt x="57150" y="0"/>
                  </a:moveTo>
                  <a:lnTo>
                    <a:pt x="5276850" y="0"/>
                  </a:lnTo>
                  <a:cubicBezTo>
                    <a:pt x="5308413" y="0"/>
                    <a:pt x="5334000" y="25587"/>
                    <a:pt x="5334000" y="57150"/>
                  </a:cubicBezTo>
                  <a:lnTo>
                    <a:pt x="5334000" y="1943100"/>
                  </a:lnTo>
                  <a:cubicBezTo>
                    <a:pt x="5334000" y="1974663"/>
                    <a:pt x="5308413" y="2000250"/>
                    <a:pt x="5276850" y="2000250"/>
                  </a:cubicBezTo>
                  <a:lnTo>
                    <a:pt x="57150" y="2000250"/>
                  </a:lnTo>
                  <a:cubicBezTo>
                    <a:pt x="25587" y="2000250"/>
                    <a:pt x="0" y="1974663"/>
                    <a:pt x="0" y="19431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571500" y="3810000"/>
              <a:ext cx="38100" cy="2000250"/>
            </a:xfrm>
            <a:custGeom>
              <a:avLst/>
              <a:gdLst/>
              <a:ahLst/>
              <a:cxnLst/>
              <a:rect l="l" t="t" r="r" b="b"/>
              <a:pathLst>
                <a:path w="38100" h="200025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1981200"/>
                  </a:lnTo>
                  <a:cubicBezTo>
                    <a:pt x="38100" y="1991721"/>
                    <a:pt x="29571" y="2000250"/>
                    <a:pt x="19050" y="2000250"/>
                  </a:cubicBezTo>
                  <a:lnTo>
                    <a:pt x="19050" y="2000250"/>
                  </a:lnTo>
                  <a:cubicBezTo>
                    <a:pt x="8529" y="2000250"/>
                    <a:pt x="0" y="1991721"/>
                    <a:pt x="0" y="19812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04D5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92480" y="395001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4D5C"/>
                  </a:solidFill>
                  <a:latin typeface="Arial"/>
                  <a:ea typeface="Microsoft YaHei"/>
                  <a:cs typeface="Arial"/>
                </a:rPr>
                <a:t>瀚锐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7242" y="4228624"/>
              <a:ext cx="21821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核心：招聘策略调整 + 老团队激活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714375" y="4429125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97242" y="4561999"/>
              <a:ext cx="25309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- 从"挖经验"转向"招服从性/执行力强"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7242" y="4771549"/>
              <a:ext cx="24384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- 30天成长计划纸质表，主管签字确认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7242" y="4981099"/>
              <a:ext cx="24526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- 师傅从Top员工改为中等+有耐心热情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7242" y="5190649"/>
              <a:ext cx="22817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- 晨会话术接龙，坐席自己总结分享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8195" y="5522595"/>
              <a:ext cx="41426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5A623"/>
                  </a:solidFill>
                  <a:latin typeface="Arial"/>
                  <a:ea typeface="Microsoft YaHei"/>
                  <a:cs typeface="Arial"/>
                </a:rPr>
                <a:t>新团队全面执行新标准，倒逼老团队改变，外呼SOP已执行一周见效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286500" y="3810000"/>
            <a:ext cx="5334000" cy="2000250"/>
            <a:chOff x="6286500" y="3810000"/>
            <a:chExt cx="5334000" cy="2000250"/>
          </a:xfrm>
        </p:grpSpPr>
        <p:sp>
          <p:nvSpPr>
            <p:cNvPr id="47" name="Freeform 47"/>
            <p:cNvSpPr/>
            <p:nvPr/>
          </p:nvSpPr>
          <p:spPr>
            <a:xfrm>
              <a:off x="6286500" y="3810000"/>
              <a:ext cx="5334000" cy="2000250"/>
            </a:xfrm>
            <a:custGeom>
              <a:avLst/>
              <a:gdLst/>
              <a:ahLst/>
              <a:cxnLst/>
              <a:rect l="l" t="t" r="r" b="b"/>
              <a:pathLst>
                <a:path w="5334000" h="2000250">
                  <a:moveTo>
                    <a:pt x="57150" y="0"/>
                  </a:moveTo>
                  <a:lnTo>
                    <a:pt x="5276850" y="0"/>
                  </a:lnTo>
                  <a:cubicBezTo>
                    <a:pt x="5308413" y="0"/>
                    <a:pt x="5334000" y="25587"/>
                    <a:pt x="5334000" y="57150"/>
                  </a:cubicBezTo>
                  <a:lnTo>
                    <a:pt x="5334000" y="1943100"/>
                  </a:lnTo>
                  <a:cubicBezTo>
                    <a:pt x="5334000" y="1974663"/>
                    <a:pt x="5308413" y="2000250"/>
                    <a:pt x="5276850" y="2000250"/>
                  </a:cubicBezTo>
                  <a:lnTo>
                    <a:pt x="57150" y="2000250"/>
                  </a:lnTo>
                  <a:cubicBezTo>
                    <a:pt x="25587" y="2000250"/>
                    <a:pt x="0" y="1974663"/>
                    <a:pt x="0" y="19431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6286500" y="3810000"/>
              <a:ext cx="38100" cy="2000250"/>
            </a:xfrm>
            <a:custGeom>
              <a:avLst/>
              <a:gdLst/>
              <a:ahLst/>
              <a:cxnLst/>
              <a:rect l="l" t="t" r="r" b="b"/>
              <a:pathLst>
                <a:path w="38100" h="200025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1981200"/>
                  </a:lnTo>
                  <a:cubicBezTo>
                    <a:pt x="38100" y="1991721"/>
                    <a:pt x="29571" y="2000250"/>
                    <a:pt x="19050" y="2000250"/>
                  </a:cubicBezTo>
                  <a:lnTo>
                    <a:pt x="19050" y="2000250"/>
                  </a:lnTo>
                  <a:cubicBezTo>
                    <a:pt x="8529" y="2000250"/>
                    <a:pt x="0" y="1991721"/>
                    <a:pt x="0" y="19812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F5A62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07480" y="395001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A623"/>
                  </a:solidFill>
                  <a:latin typeface="Arial"/>
                  <a:ea typeface="Microsoft YaHei"/>
                  <a:cs typeface="Arial"/>
                </a:rPr>
                <a:t>华道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12242" y="4228624"/>
              <a:ext cx="19115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核心：晨会优化 + 师徒PK机制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6429375" y="4429125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12242" y="4561999"/>
              <a:ext cx="17121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- 晨会以坐席个人汇报为主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12242" y="4771549"/>
              <a:ext cx="21393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- 公开最高最低业绩，不批评尾部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12242" y="4981099"/>
              <a:ext cx="18047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- 师傅班组PK机制+验收环节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12242" y="5190649"/>
              <a:ext cx="21536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- 60秒非有效名单统一回收至中乾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513195" y="5522595"/>
              <a:ext cx="41495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5A623"/>
                  </a:solidFill>
                  <a:latin typeface="Arial"/>
                  <a:ea typeface="Microsoft YaHei"/>
                  <a:cs typeface="Arial"/>
                </a:rPr>
                <a:t>实操通关三次机会 | 上岗后30天每日培训 | 从新人阶段精准客户打标</a:t>
              </a:r>
            </a:p>
          </p:txBody>
        </p:sp>
      </p:grpSp>
      <p:sp>
        <p:nvSpPr>
          <p:cNvPr id="58" name="Rectangle 58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59" name="Line 59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560070" y="6332220"/>
            <a:ext cx="41568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Source: 313上午供应商联盟认证总结会 | 各供应商学习收获与落地计划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61022" y="6578441"/>
            <a:ext cx="39971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BDC3C7"/>
                </a:solidFill>
                <a:latin typeface="Arial"/>
                <a:ea typeface="Microsoft YaHei"/>
                <a:cs typeface="Arial"/>
              </a:rPr>
              <a:t>各供应商差异化补强：华啸重数据、广达重运营、瀚锐重新人、华道重团队</a:t>
            </a:r>
          </a:p>
        </p:txBody>
      </p:sp>
      <p:sp>
        <p:nvSpPr>
          <p:cNvPr id="62" name="Freeform 62"/>
          <p:cNvSpPr/>
          <p:nvPr/>
        </p:nvSpPr>
        <p:spPr>
          <a:xfrm>
            <a:off x="10858500" y="6238875"/>
            <a:ext cx="762000" cy="285750"/>
          </a:xfrm>
          <a:custGeom>
            <a:avLst/>
            <a:gdLst/>
            <a:ahLst/>
            <a:cxnLst/>
            <a:rect l="l" t="t" r="r" b="b"/>
            <a:pathLst>
              <a:path w="762000" h="285750">
                <a:moveTo>
                  <a:pt x="38100" y="0"/>
                </a:moveTo>
                <a:lnTo>
                  <a:pt x="723900" y="0"/>
                </a:lnTo>
                <a:cubicBezTo>
                  <a:pt x="744942" y="0"/>
                  <a:pt x="762000" y="17058"/>
                  <a:pt x="762000" y="38100"/>
                </a:cubicBezTo>
                <a:lnTo>
                  <a:pt x="762000" y="247650"/>
                </a:lnTo>
                <a:cubicBezTo>
                  <a:pt x="762000" y="268692"/>
                  <a:pt x="744942" y="285750"/>
                  <a:pt x="7239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11177859" y="6325552"/>
            <a:ext cx="1232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005587"/>
              </a:gs>
              <a:gs pos="100000">
                <a:srgbClr val="0076A8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"/>
            <a:ext cx="12192000" cy="714375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6" name="Freeform 6"/>
          <p:cNvSpPr/>
          <p:nvPr/>
        </p:nvSpPr>
        <p:spPr>
          <a:xfrm>
            <a:off x="571500" y="20955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8100" y="0"/>
                </a:moveTo>
                <a:lnTo>
                  <a:pt x="438150" y="0"/>
                </a:lnTo>
                <a:cubicBezTo>
                  <a:pt x="459192" y="0"/>
                  <a:pt x="476250" y="17058"/>
                  <a:pt x="476250" y="38100"/>
                </a:cubicBezTo>
                <a:lnTo>
                  <a:pt x="476250" y="342900"/>
                </a:lnTo>
                <a:cubicBezTo>
                  <a:pt x="476250" y="363942"/>
                  <a:pt x="459192" y="381000"/>
                  <a:pt x="43815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78616" y="330518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1580" y="268605"/>
            <a:ext cx="456190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关键共识：规模交付与质量平衡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22255" y="3819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落地方案</a:t>
            </a:r>
          </a:p>
        </p:txBody>
      </p:sp>
      <p:sp>
        <p:nvSpPr>
          <p:cNvPr id="10" name="Freeform 10"/>
          <p:cNvSpPr/>
          <p:nvPr/>
        </p:nvSpPr>
        <p:spPr>
          <a:xfrm>
            <a:off x="571500" y="9525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38100" y="0"/>
                </a:moveTo>
                <a:lnTo>
                  <a:pt x="11010900" y="0"/>
                </a:lnTo>
                <a:cubicBezTo>
                  <a:pt x="11031942" y="0"/>
                  <a:pt x="11049000" y="17058"/>
                  <a:pt x="11049000" y="38100"/>
                </a:cubicBezTo>
                <a:lnTo>
                  <a:pt x="11049000" y="438150"/>
                </a:lnTo>
                <a:cubicBezTo>
                  <a:pt x="11049000" y="459192"/>
                  <a:pt x="11031942" y="476250"/>
                  <a:pt x="11010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8E1"/>
          </a:solidFill>
          <a:ln w="9525">
            <a:solidFill>
              <a:srgbClr val="F5A623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571500" y="952500"/>
            <a:ext cx="47625" cy="476250"/>
          </a:xfrm>
          <a:custGeom>
            <a:avLst/>
            <a:gdLst/>
            <a:ahLst/>
            <a:cxnLst/>
            <a:rect l="l" t="t" r="r" b="b"/>
            <a:pathLst>
              <a:path w="47625" h="47625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457200"/>
                </a:lnTo>
                <a:cubicBezTo>
                  <a:pt x="47625" y="467721"/>
                  <a:pt x="39096" y="476250"/>
                  <a:pt x="28575" y="476250"/>
                </a:cubicBezTo>
                <a:lnTo>
                  <a:pt x="19050" y="476250"/>
                </a:lnTo>
                <a:cubicBezTo>
                  <a:pt x="8529" y="476250"/>
                  <a:pt x="0" y="467721"/>
                  <a:pt x="0" y="4572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96290" y="1143952"/>
            <a:ext cx="8800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89207"/>
                </a:solidFill>
                <a:latin typeface="Arial"/>
                <a:ea typeface="Microsoft YaHei"/>
                <a:cs typeface="Arial"/>
              </a:rPr>
              <a:t>KEY INSIGHT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81212" y="1135856"/>
            <a:ext cx="56149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规模与质量是跷跷板关系，当前阶段优先上规模，入场后逐步培育到合格标准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71500" y="1619250"/>
            <a:ext cx="5334000" cy="4286250"/>
            <a:chOff x="571500" y="1619250"/>
            <a:chExt cx="5334000" cy="4286250"/>
          </a:xfrm>
        </p:grpSpPr>
        <p:sp>
          <p:nvSpPr>
            <p:cNvPr id="14" name="Freeform 14"/>
            <p:cNvSpPr/>
            <p:nvPr/>
          </p:nvSpPr>
          <p:spPr>
            <a:xfrm>
              <a:off x="571500" y="1619250"/>
              <a:ext cx="5334000" cy="4286250"/>
            </a:xfrm>
            <a:custGeom>
              <a:avLst/>
              <a:gdLst/>
              <a:ahLst/>
              <a:cxnLst/>
              <a:rect l="l" t="t" r="r" b="b"/>
              <a:pathLst>
                <a:path w="5334000" h="4286250">
                  <a:moveTo>
                    <a:pt x="57150" y="0"/>
                  </a:moveTo>
                  <a:lnTo>
                    <a:pt x="5276850" y="0"/>
                  </a:lnTo>
                  <a:cubicBezTo>
                    <a:pt x="5308413" y="0"/>
                    <a:pt x="5334000" y="25587"/>
                    <a:pt x="5334000" y="57150"/>
                  </a:cubicBezTo>
                  <a:lnTo>
                    <a:pt x="5334000" y="4229100"/>
                  </a:lnTo>
                  <a:cubicBezTo>
                    <a:pt x="5334000" y="4260663"/>
                    <a:pt x="5308413" y="4286250"/>
                    <a:pt x="5276850" y="4286250"/>
                  </a:cubicBezTo>
                  <a:lnTo>
                    <a:pt x="57150" y="4286250"/>
                  </a:lnTo>
                  <a:cubicBezTo>
                    <a:pt x="25587" y="4286250"/>
                    <a:pt x="0" y="4260663"/>
                    <a:pt x="0" y="42291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71500" y="1619250"/>
              <a:ext cx="38100" cy="4286250"/>
            </a:xfrm>
            <a:custGeom>
              <a:avLst/>
              <a:gdLst/>
              <a:ahLst/>
              <a:cxnLst/>
              <a:rect l="l" t="t" r="r" b="b"/>
              <a:pathLst>
                <a:path w="38100" h="428625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4267200"/>
                  </a:lnTo>
                  <a:cubicBezTo>
                    <a:pt x="38100" y="4277721"/>
                    <a:pt x="29571" y="4286250"/>
                    <a:pt x="19050" y="4286250"/>
                  </a:cubicBezTo>
                  <a:lnTo>
                    <a:pt x="19050" y="4286250"/>
                  </a:lnTo>
                  <a:cubicBezTo>
                    <a:pt x="8529" y="4286250"/>
                    <a:pt x="0" y="4277721"/>
                    <a:pt x="0" y="42672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0575" y="1790700"/>
              <a:ext cx="18438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587"/>
                  </a:solidFill>
                  <a:latin typeface="Arial"/>
                  <a:ea typeface="Microsoft YaHei"/>
                  <a:cs typeface="Arial"/>
                </a:rPr>
                <a:t>管理SOP三维框架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762000" y="2143125"/>
              <a:ext cx="4905375" cy="1095375"/>
            </a:xfrm>
            <a:custGeom>
              <a:avLst/>
              <a:gdLst/>
              <a:ahLst/>
              <a:cxnLst/>
              <a:rect l="l" t="t" r="r" b="b"/>
              <a:pathLst>
                <a:path w="4905375" h="1095375">
                  <a:moveTo>
                    <a:pt x="57150" y="0"/>
                  </a:moveTo>
                  <a:lnTo>
                    <a:pt x="4848225" y="0"/>
                  </a:lnTo>
                  <a:cubicBezTo>
                    <a:pt x="4879788" y="0"/>
                    <a:pt x="4905375" y="25587"/>
                    <a:pt x="4905375" y="57150"/>
                  </a:cubicBezTo>
                  <a:lnTo>
                    <a:pt x="4905375" y="1038225"/>
                  </a:lnTo>
                  <a:cubicBezTo>
                    <a:pt x="4905375" y="1069788"/>
                    <a:pt x="4879788" y="1095375"/>
                    <a:pt x="4848225" y="1095375"/>
                  </a:cubicBezTo>
                  <a:lnTo>
                    <a:pt x="57150" y="1095375"/>
                  </a:lnTo>
                  <a:cubicBezTo>
                    <a:pt x="25587" y="1095375"/>
                    <a:pt x="0" y="1069788"/>
                    <a:pt x="0" y="10382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8F9FA"/>
            </a:solidFill>
            <a:ln w="9525">
              <a:solidFill>
                <a:srgbClr val="E5E7EB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762000" y="2143125"/>
              <a:ext cx="57150" cy="1095375"/>
            </a:xfrm>
            <a:custGeom>
              <a:avLst/>
              <a:gdLst/>
              <a:ahLst/>
              <a:cxnLst/>
              <a:rect l="l" t="t" r="r" b="b"/>
              <a:pathLst>
                <a:path w="57150" h="1095375">
                  <a:moveTo>
                    <a:pt x="19050" y="0"/>
                  </a:moveTo>
                  <a:lnTo>
                    <a:pt x="38100" y="0"/>
                  </a:lnTo>
                  <a:cubicBezTo>
                    <a:pt x="48621" y="0"/>
                    <a:pt x="57150" y="8529"/>
                    <a:pt x="57150" y="19050"/>
                  </a:cubicBezTo>
                  <a:lnTo>
                    <a:pt x="57150" y="1076325"/>
                  </a:lnTo>
                  <a:cubicBezTo>
                    <a:pt x="57150" y="1086846"/>
                    <a:pt x="48621" y="1095375"/>
                    <a:pt x="38100" y="1095375"/>
                  </a:cubicBezTo>
                  <a:lnTo>
                    <a:pt x="19050" y="1095375"/>
                  </a:lnTo>
                  <a:cubicBezTo>
                    <a:pt x="8529" y="1095375"/>
                    <a:pt x="0" y="1086846"/>
                    <a:pt x="0" y="1076325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0558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3932" y="2291239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人员维度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6790" y="2572702"/>
              <a:ext cx="31397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团队搭建从0到1：选人 → 育人 → 留人 → 淘汰人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6790" y="2820352"/>
              <a:ext cx="37071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先明确招聘标准，教会员工赚钱，能力培养后价值绑定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7742" y="3037999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5A5A6"/>
                  </a:solidFill>
                  <a:latin typeface="Arial"/>
                  <a:ea typeface="Microsoft YaHei"/>
                  <a:cs typeface="Arial"/>
                </a:rPr>
                <a:t>淘汰不合格人员，保证团队整体质量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762000" y="3429000"/>
              <a:ext cx="4905375" cy="1095375"/>
            </a:xfrm>
            <a:custGeom>
              <a:avLst/>
              <a:gdLst/>
              <a:ahLst/>
              <a:cxnLst/>
              <a:rect l="l" t="t" r="r" b="b"/>
              <a:pathLst>
                <a:path w="4905375" h="1095375">
                  <a:moveTo>
                    <a:pt x="57150" y="0"/>
                  </a:moveTo>
                  <a:lnTo>
                    <a:pt x="4848225" y="0"/>
                  </a:lnTo>
                  <a:cubicBezTo>
                    <a:pt x="4879788" y="0"/>
                    <a:pt x="4905375" y="25587"/>
                    <a:pt x="4905375" y="57150"/>
                  </a:cubicBezTo>
                  <a:lnTo>
                    <a:pt x="4905375" y="1038225"/>
                  </a:lnTo>
                  <a:cubicBezTo>
                    <a:pt x="4905375" y="1069788"/>
                    <a:pt x="4879788" y="1095375"/>
                    <a:pt x="4848225" y="1095375"/>
                  </a:cubicBezTo>
                  <a:lnTo>
                    <a:pt x="57150" y="1095375"/>
                  </a:lnTo>
                  <a:cubicBezTo>
                    <a:pt x="25587" y="1095375"/>
                    <a:pt x="0" y="1069788"/>
                    <a:pt x="0" y="10382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8F9FA"/>
            </a:solidFill>
            <a:ln w="9525">
              <a:solidFill>
                <a:srgbClr val="E5E7EB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762000" y="3429000"/>
              <a:ext cx="57150" cy="1095375"/>
            </a:xfrm>
            <a:custGeom>
              <a:avLst/>
              <a:gdLst/>
              <a:ahLst/>
              <a:cxnLst/>
              <a:rect l="l" t="t" r="r" b="b"/>
              <a:pathLst>
                <a:path w="57150" h="1095375">
                  <a:moveTo>
                    <a:pt x="19050" y="0"/>
                  </a:moveTo>
                  <a:lnTo>
                    <a:pt x="38100" y="0"/>
                  </a:lnTo>
                  <a:cubicBezTo>
                    <a:pt x="48621" y="0"/>
                    <a:pt x="57150" y="8529"/>
                    <a:pt x="57150" y="19050"/>
                  </a:cubicBezTo>
                  <a:lnTo>
                    <a:pt x="57150" y="1076325"/>
                  </a:lnTo>
                  <a:cubicBezTo>
                    <a:pt x="57150" y="1086846"/>
                    <a:pt x="48621" y="1095375"/>
                    <a:pt x="38100" y="1095375"/>
                  </a:cubicBezTo>
                  <a:lnTo>
                    <a:pt x="19050" y="1095375"/>
                  </a:lnTo>
                  <a:cubicBezTo>
                    <a:pt x="8529" y="1095375"/>
                    <a:pt x="0" y="1086846"/>
                    <a:pt x="0" y="1076325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076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83932" y="35771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职场维度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6790" y="3858578"/>
              <a:ext cx="30477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目标拆解从100到1：将甲方整体目标逐层拆解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6790" y="4106228"/>
              <a:ext cx="29403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每个班、每个组长、每个坐席都有明确目标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7742" y="4323874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5A5A6"/>
                  </a:solidFill>
                  <a:latin typeface="Arial"/>
                  <a:ea typeface="Microsoft YaHei"/>
                  <a:cs typeface="Arial"/>
                </a:rPr>
                <a:t>通过细节落地实现全员同频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762000" y="4714875"/>
              <a:ext cx="4905375" cy="1095375"/>
            </a:xfrm>
            <a:custGeom>
              <a:avLst/>
              <a:gdLst/>
              <a:ahLst/>
              <a:cxnLst/>
              <a:rect l="l" t="t" r="r" b="b"/>
              <a:pathLst>
                <a:path w="4905375" h="1095375">
                  <a:moveTo>
                    <a:pt x="57150" y="0"/>
                  </a:moveTo>
                  <a:lnTo>
                    <a:pt x="4848225" y="0"/>
                  </a:lnTo>
                  <a:cubicBezTo>
                    <a:pt x="4879788" y="0"/>
                    <a:pt x="4905375" y="25587"/>
                    <a:pt x="4905375" y="57150"/>
                  </a:cubicBezTo>
                  <a:lnTo>
                    <a:pt x="4905375" y="1038225"/>
                  </a:lnTo>
                  <a:cubicBezTo>
                    <a:pt x="4905375" y="1069788"/>
                    <a:pt x="4879788" y="1095375"/>
                    <a:pt x="4848225" y="1095375"/>
                  </a:cubicBezTo>
                  <a:lnTo>
                    <a:pt x="57150" y="1095375"/>
                  </a:lnTo>
                  <a:cubicBezTo>
                    <a:pt x="25587" y="1095375"/>
                    <a:pt x="0" y="1069788"/>
                    <a:pt x="0" y="10382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8F9FA"/>
            </a:solidFill>
            <a:ln w="9525">
              <a:solidFill>
                <a:srgbClr val="E5E7EB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62000" y="4714875"/>
              <a:ext cx="57150" cy="1095375"/>
            </a:xfrm>
            <a:custGeom>
              <a:avLst/>
              <a:gdLst/>
              <a:ahLst/>
              <a:cxnLst/>
              <a:rect l="l" t="t" r="r" b="b"/>
              <a:pathLst>
                <a:path w="57150" h="1095375">
                  <a:moveTo>
                    <a:pt x="19050" y="0"/>
                  </a:moveTo>
                  <a:lnTo>
                    <a:pt x="38100" y="0"/>
                  </a:lnTo>
                  <a:cubicBezTo>
                    <a:pt x="48621" y="0"/>
                    <a:pt x="57150" y="8529"/>
                    <a:pt x="57150" y="19050"/>
                  </a:cubicBezTo>
                  <a:lnTo>
                    <a:pt x="57150" y="1076325"/>
                  </a:lnTo>
                  <a:cubicBezTo>
                    <a:pt x="57150" y="1086846"/>
                    <a:pt x="48621" y="1095375"/>
                    <a:pt x="38100" y="1095375"/>
                  </a:cubicBezTo>
                  <a:lnTo>
                    <a:pt x="19050" y="1095375"/>
                  </a:lnTo>
                  <a:cubicBezTo>
                    <a:pt x="8529" y="1095375"/>
                    <a:pt x="0" y="1086846"/>
                    <a:pt x="0" y="1076325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F5A62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83932" y="4862989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资源维度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6790" y="5144452"/>
              <a:ext cx="32700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客户名单全周期管理 + 激励体系升级为管理架构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6790" y="5392102"/>
              <a:ext cx="24266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日/周/月/年不同周期激励规则明确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7742" y="5609749"/>
              <a:ext cx="25879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5A5A6"/>
                  </a:solidFill>
                  <a:latin typeface="Arial"/>
                  <a:ea typeface="Microsoft YaHei"/>
                  <a:cs typeface="Arial"/>
                </a:rPr>
                <a:t>最大化利用往期资源，避免名单过期浪费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286500" y="1619250"/>
            <a:ext cx="5334000" cy="4191000"/>
            <a:chOff x="6286500" y="1619250"/>
            <a:chExt cx="5334000" cy="4191000"/>
          </a:xfrm>
        </p:grpSpPr>
        <p:sp>
          <p:nvSpPr>
            <p:cNvPr id="36" name="Freeform 36"/>
            <p:cNvSpPr/>
            <p:nvPr/>
          </p:nvSpPr>
          <p:spPr>
            <a:xfrm>
              <a:off x="6286500" y="1619250"/>
              <a:ext cx="5334000" cy="2095500"/>
            </a:xfrm>
            <a:custGeom>
              <a:avLst/>
              <a:gdLst/>
              <a:ahLst/>
              <a:cxnLst/>
              <a:rect l="l" t="t" r="r" b="b"/>
              <a:pathLst>
                <a:path w="5334000" h="2095500">
                  <a:moveTo>
                    <a:pt x="57150" y="0"/>
                  </a:moveTo>
                  <a:lnTo>
                    <a:pt x="5276850" y="0"/>
                  </a:lnTo>
                  <a:cubicBezTo>
                    <a:pt x="5308413" y="0"/>
                    <a:pt x="5334000" y="25587"/>
                    <a:pt x="5334000" y="57150"/>
                  </a:cubicBezTo>
                  <a:lnTo>
                    <a:pt x="5334000" y="2038350"/>
                  </a:lnTo>
                  <a:cubicBezTo>
                    <a:pt x="5334000" y="2069913"/>
                    <a:pt x="5308413" y="2095500"/>
                    <a:pt x="5276850" y="2095500"/>
                  </a:cubicBezTo>
                  <a:lnTo>
                    <a:pt x="57150" y="2095500"/>
                  </a:lnTo>
                  <a:cubicBezTo>
                    <a:pt x="25587" y="2095500"/>
                    <a:pt x="0" y="2069913"/>
                    <a:pt x="0" y="2038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6286500" y="1619250"/>
              <a:ext cx="38100" cy="2095500"/>
            </a:xfrm>
            <a:custGeom>
              <a:avLst/>
              <a:gdLst/>
              <a:ahLst/>
              <a:cxnLst/>
              <a:rect l="l" t="t" r="r" b="b"/>
              <a:pathLst>
                <a:path w="38100" h="20955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2076450"/>
                  </a:lnTo>
                  <a:cubicBezTo>
                    <a:pt x="38100" y="2086971"/>
                    <a:pt x="29571" y="2095500"/>
                    <a:pt x="19050" y="2095500"/>
                  </a:cubicBezTo>
                  <a:lnTo>
                    <a:pt x="19050" y="2095500"/>
                  </a:lnTo>
                  <a:cubicBezTo>
                    <a:pt x="8529" y="2095500"/>
                    <a:pt x="0" y="2086971"/>
                    <a:pt x="0" y="20764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27AE6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05575" y="179070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7AE60"/>
                  </a:solidFill>
                  <a:latin typeface="Arial"/>
                  <a:ea typeface="Microsoft YaHei"/>
                  <a:cs typeface="Arial"/>
                </a:rPr>
                <a:t>当前阶段策略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6477000" y="2143125"/>
              <a:ext cx="4905375" cy="666750"/>
            </a:xfrm>
            <a:custGeom>
              <a:avLst/>
              <a:gdLst/>
              <a:ahLst/>
              <a:cxnLst/>
              <a:rect l="l" t="t" r="r" b="b"/>
              <a:pathLst>
                <a:path w="4905375" h="666750">
                  <a:moveTo>
                    <a:pt x="57150" y="0"/>
                  </a:moveTo>
                  <a:lnTo>
                    <a:pt x="4848225" y="0"/>
                  </a:lnTo>
                  <a:cubicBezTo>
                    <a:pt x="4879788" y="0"/>
                    <a:pt x="4905375" y="25587"/>
                    <a:pt x="4905375" y="57150"/>
                  </a:cubicBezTo>
                  <a:lnTo>
                    <a:pt x="4905375" y="609600"/>
                  </a:lnTo>
                  <a:cubicBezTo>
                    <a:pt x="4905375" y="641163"/>
                    <a:pt x="4879788" y="666750"/>
                    <a:pt x="4848225" y="666750"/>
                  </a:cubicBezTo>
                  <a:lnTo>
                    <a:pt x="57150" y="666750"/>
                  </a:lnTo>
                  <a:cubicBezTo>
                    <a:pt x="25587" y="666750"/>
                    <a:pt x="0" y="641163"/>
                    <a:pt x="0" y="609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0FFF0"/>
            </a:solidFill>
            <a:ln w="9525">
              <a:solidFill>
                <a:srgbClr val="27AE6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52260" y="2270760"/>
              <a:ext cx="24227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优先上规模，入场后逐步培育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54165" y="2534602"/>
              <a:ext cx="29403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在不突破底线标准前提下适当降低准入标准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6477000" y="2952750"/>
              <a:ext cx="4905375" cy="619125"/>
            </a:xfrm>
            <a:custGeom>
              <a:avLst/>
              <a:gdLst/>
              <a:ahLst/>
              <a:cxnLst/>
              <a:rect l="l" t="t" r="r" b="b"/>
              <a:pathLst>
                <a:path w="4905375" h="619125">
                  <a:moveTo>
                    <a:pt x="57150" y="0"/>
                  </a:moveTo>
                  <a:lnTo>
                    <a:pt x="4848225" y="0"/>
                  </a:lnTo>
                  <a:cubicBezTo>
                    <a:pt x="4879788" y="0"/>
                    <a:pt x="4905375" y="25587"/>
                    <a:pt x="4905375" y="57150"/>
                  </a:cubicBezTo>
                  <a:lnTo>
                    <a:pt x="4905375" y="561975"/>
                  </a:lnTo>
                  <a:cubicBezTo>
                    <a:pt x="4905375" y="593538"/>
                    <a:pt x="4879788" y="619125"/>
                    <a:pt x="4848225" y="619125"/>
                  </a:cubicBezTo>
                  <a:lnTo>
                    <a:pt x="57150" y="619125"/>
                  </a:lnTo>
                  <a:cubicBezTo>
                    <a:pt x="25587" y="619125"/>
                    <a:pt x="0" y="593538"/>
                    <a:pt x="0" y="56197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8F9FA"/>
            </a:solidFill>
            <a:ln w="9525">
              <a:solidFill>
                <a:srgbClr val="E5E7E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54165" y="3077528"/>
              <a:ext cx="22809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核心原则：追求产能而非堆人头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55118" y="3323749"/>
              <a:ext cx="27303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五险一金标准提高后，更需要聚焦产能达标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6286500" y="3905250"/>
              <a:ext cx="5334000" cy="1905000"/>
            </a:xfrm>
            <a:custGeom>
              <a:avLst/>
              <a:gdLst/>
              <a:ahLst/>
              <a:cxnLst/>
              <a:rect l="l" t="t" r="r" b="b"/>
              <a:pathLst>
                <a:path w="5334000" h="1905000">
                  <a:moveTo>
                    <a:pt x="57150" y="0"/>
                  </a:moveTo>
                  <a:lnTo>
                    <a:pt x="5276850" y="0"/>
                  </a:lnTo>
                  <a:cubicBezTo>
                    <a:pt x="5308413" y="0"/>
                    <a:pt x="5334000" y="25587"/>
                    <a:pt x="5334000" y="57150"/>
                  </a:cubicBezTo>
                  <a:lnTo>
                    <a:pt x="5334000" y="1847850"/>
                  </a:lnTo>
                  <a:cubicBezTo>
                    <a:pt x="5334000" y="1879413"/>
                    <a:pt x="5308413" y="1905000"/>
                    <a:pt x="5276850" y="1905000"/>
                  </a:cubicBezTo>
                  <a:lnTo>
                    <a:pt x="57150" y="1905000"/>
                  </a:lnTo>
                  <a:cubicBezTo>
                    <a:pt x="25587" y="1905000"/>
                    <a:pt x="0" y="1879413"/>
                    <a:pt x="0" y="1847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E5E7EB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6286500" y="3905250"/>
              <a:ext cx="38100" cy="1905000"/>
            </a:xfrm>
            <a:custGeom>
              <a:avLst/>
              <a:gdLst/>
              <a:ahLst/>
              <a:cxnLst/>
              <a:rect l="l" t="t" r="r" b="b"/>
              <a:pathLst>
                <a:path w="38100" h="19050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1885950"/>
                  </a:lnTo>
                  <a:cubicBezTo>
                    <a:pt x="38100" y="1896471"/>
                    <a:pt x="29571" y="1905000"/>
                    <a:pt x="19050" y="1905000"/>
                  </a:cubicBezTo>
                  <a:lnTo>
                    <a:pt x="19050" y="1905000"/>
                  </a:lnTo>
                  <a:cubicBezTo>
                    <a:pt x="8529" y="1905000"/>
                    <a:pt x="0" y="1896471"/>
                    <a:pt x="0" y="18859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04D5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05575" y="4076700"/>
              <a:ext cx="190133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4D5C"/>
                  </a:solidFill>
                  <a:latin typeface="Arial"/>
                  <a:ea typeface="Microsoft YaHei"/>
                  <a:cs typeface="Arial"/>
                </a:rPr>
                <a:t>00后团队管理经验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6477000" y="4381500"/>
              <a:ext cx="2286000" cy="1285875"/>
            </a:xfrm>
            <a:custGeom>
              <a:avLst/>
              <a:gdLst/>
              <a:ahLst/>
              <a:cxnLst/>
              <a:rect l="l" t="t" r="r" b="b"/>
              <a:pathLst>
                <a:path w="2286000" h="1285875">
                  <a:moveTo>
                    <a:pt x="57150" y="0"/>
                  </a:moveTo>
                  <a:lnTo>
                    <a:pt x="2228850" y="0"/>
                  </a:lnTo>
                  <a:cubicBezTo>
                    <a:pt x="2260413" y="0"/>
                    <a:pt x="2286000" y="25587"/>
                    <a:pt x="2286000" y="57150"/>
                  </a:cubicBezTo>
                  <a:lnTo>
                    <a:pt x="2286000" y="1228725"/>
                  </a:lnTo>
                  <a:cubicBezTo>
                    <a:pt x="2286000" y="1260288"/>
                    <a:pt x="2260413" y="1285875"/>
                    <a:pt x="2228850" y="1285875"/>
                  </a:cubicBezTo>
                  <a:lnTo>
                    <a:pt x="57150" y="1285875"/>
                  </a:lnTo>
                  <a:cubicBezTo>
                    <a:pt x="25587" y="1285875"/>
                    <a:pt x="0" y="1260288"/>
                    <a:pt x="0" y="12287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8F9FA"/>
            </a:solidFill>
            <a:ln w="9525">
              <a:solidFill>
                <a:srgbClr val="E5E7EB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05588" y="4498181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选人策略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07492" y="477154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优先选择执行力强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07492" y="49620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踏实的候选人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07492" y="515254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用团队氛围感染新人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07492" y="534304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减少负面情绪传播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9001125" y="4381500"/>
              <a:ext cx="2381250" cy="1285875"/>
            </a:xfrm>
            <a:custGeom>
              <a:avLst/>
              <a:gdLst/>
              <a:ahLst/>
              <a:cxnLst/>
              <a:rect l="l" t="t" r="r" b="b"/>
              <a:pathLst>
                <a:path w="2381250" h="1285875">
                  <a:moveTo>
                    <a:pt x="57150" y="0"/>
                  </a:moveTo>
                  <a:lnTo>
                    <a:pt x="2324100" y="0"/>
                  </a:lnTo>
                  <a:cubicBezTo>
                    <a:pt x="2355663" y="0"/>
                    <a:pt x="2381250" y="25587"/>
                    <a:pt x="2381250" y="57150"/>
                  </a:cubicBezTo>
                  <a:lnTo>
                    <a:pt x="2381250" y="1228725"/>
                  </a:lnTo>
                  <a:cubicBezTo>
                    <a:pt x="2381250" y="1260288"/>
                    <a:pt x="2355663" y="1285875"/>
                    <a:pt x="2324100" y="1285875"/>
                  </a:cubicBezTo>
                  <a:lnTo>
                    <a:pt x="57150" y="1285875"/>
                  </a:lnTo>
                  <a:cubicBezTo>
                    <a:pt x="25587" y="1285875"/>
                    <a:pt x="0" y="1260288"/>
                    <a:pt x="0" y="12287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8F9FA"/>
            </a:solidFill>
            <a:ln w="9525">
              <a:solidFill>
                <a:srgbClr val="E5E7EB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129712" y="4498181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管理技巧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131618" y="477154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明确知道每个坐席行为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131618" y="496204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开会点出问题不点名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131618" y="515254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让问题坐席自我调节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31618" y="534304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维持团队正面氛围</a:t>
              </a:r>
            </a:p>
          </p:txBody>
        </p:sp>
      </p:grpSp>
      <p:sp>
        <p:nvSpPr>
          <p:cNvPr id="61" name="Rectangle 61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62" name="Line 62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560070" y="6332220"/>
            <a:ext cx="38939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Source: 313上午供应商联盟认证总结会 | 关键共识与冲突解决方案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61022" y="6578441"/>
            <a:ext cx="29247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BDC3C7"/>
                </a:solidFill>
                <a:latin typeface="Arial"/>
                <a:ea typeface="Microsoft YaHei"/>
                <a:cs typeface="Arial"/>
              </a:rPr>
              <a:t>人员+职场+资源三维框架，当前阶段优先上规模后培育</a:t>
            </a:r>
          </a:p>
        </p:txBody>
      </p:sp>
      <p:sp>
        <p:nvSpPr>
          <p:cNvPr id="65" name="Freeform 65"/>
          <p:cNvSpPr/>
          <p:nvPr/>
        </p:nvSpPr>
        <p:spPr>
          <a:xfrm>
            <a:off x="10858500" y="6238875"/>
            <a:ext cx="762000" cy="285750"/>
          </a:xfrm>
          <a:custGeom>
            <a:avLst/>
            <a:gdLst/>
            <a:ahLst/>
            <a:cxnLst/>
            <a:rect l="l" t="t" r="r" b="b"/>
            <a:pathLst>
              <a:path w="762000" h="285750">
                <a:moveTo>
                  <a:pt x="38100" y="0"/>
                </a:moveTo>
                <a:lnTo>
                  <a:pt x="723900" y="0"/>
                </a:lnTo>
                <a:cubicBezTo>
                  <a:pt x="744942" y="0"/>
                  <a:pt x="762000" y="17058"/>
                  <a:pt x="762000" y="38100"/>
                </a:cubicBezTo>
                <a:lnTo>
                  <a:pt x="762000" y="247650"/>
                </a:lnTo>
                <a:cubicBezTo>
                  <a:pt x="762000" y="268692"/>
                  <a:pt x="744942" y="285750"/>
                  <a:pt x="7239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11157731" y="6325552"/>
            <a:ext cx="1635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5587"/>
              </a:gs>
              <a:gs pos="50000">
                <a:srgbClr val="004A75"/>
              </a:gs>
              <a:gs pos="100000">
                <a:srgbClr val="003A5C"/>
              </a:gs>
            </a:gsLst>
            <a:lin ang="2700000" scaled="1"/>
          </a:gra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1714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0" y="3429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0" y="5143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8763000" y="-571500"/>
            <a:ext cx="3429000" cy="3429000"/>
          </a:xfrm>
          <a:prstGeom prst="ellipse">
            <a:avLst/>
          </a:prstGeom>
          <a:gradFill>
            <a:gsLst>
              <a:gs pos="0">
                <a:srgbClr val="FFFFFF">
                  <a:alpha val="8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-381000" y="3619500"/>
            <a:ext cx="4191000" cy="4191000"/>
          </a:xfrm>
          <a:prstGeom prst="ellipse">
            <a:avLst/>
          </a:prstGeom>
          <a:gradFill>
            <a:gsLst>
              <a:gs pos="0">
                <a:srgbClr val="FFFFFF">
                  <a:alpha val="8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10001250" y="4286250"/>
            <a:ext cx="1428750" cy="1428750"/>
          </a:xfrm>
          <a:custGeom>
            <a:avLst/>
            <a:gdLst/>
            <a:ahLst/>
            <a:cxnLst/>
            <a:rect l="l" t="t" r="r" b="b"/>
            <a:pathLst>
              <a:path w="1428750" h="1428750">
                <a:moveTo>
                  <a:pt x="38100" y="0"/>
                </a:moveTo>
                <a:lnTo>
                  <a:pt x="1390650" y="0"/>
                </a:lnTo>
                <a:cubicBezTo>
                  <a:pt x="1411692" y="0"/>
                  <a:pt x="1428750" y="17058"/>
                  <a:pt x="1428750" y="38100"/>
                </a:cubicBezTo>
                <a:lnTo>
                  <a:pt x="1428750" y="1390650"/>
                </a:lnTo>
                <a:cubicBezTo>
                  <a:pt x="1428750" y="1411692"/>
                  <a:pt x="1411692" y="1428750"/>
                  <a:pt x="1390650" y="1428750"/>
                </a:cubicBezTo>
                <a:lnTo>
                  <a:pt x="38100" y="1428750"/>
                </a:lnTo>
                <a:cubicBezTo>
                  <a:pt x="17058" y="1428750"/>
                  <a:pt x="0" y="1411692"/>
                  <a:pt x="0" y="1390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>
              <a:alpha val="2000"/>
            </a:srgbClr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762000" y="952500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38100" y="0"/>
                </a:moveTo>
                <a:lnTo>
                  <a:pt x="914400" y="0"/>
                </a:lnTo>
                <a:cubicBezTo>
                  <a:pt x="935442" y="0"/>
                  <a:pt x="952500" y="17058"/>
                  <a:pt x="952500" y="38100"/>
                </a:cubicBezTo>
                <a:lnTo>
                  <a:pt x="952500" y="914400"/>
                </a:lnTo>
                <a:cubicBezTo>
                  <a:pt x="952500" y="935442"/>
                  <a:pt x="935442" y="952500"/>
                  <a:pt x="914400" y="952500"/>
                </a:cubicBezTo>
                <a:lnTo>
                  <a:pt x="38100" y="952500"/>
                </a:lnTo>
                <a:cubicBezTo>
                  <a:pt x="17058" y="952500"/>
                  <a:pt x="0" y="935442"/>
                  <a:pt x="0" y="914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>
              <a:alpha val="2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571500" y="2667000"/>
            <a:ext cx="47625" cy="1524000"/>
          </a:xfrm>
          <a:prstGeom prst="rect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058079" y="781050"/>
            <a:ext cx="4075843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0" b="1" dirty="0">
                <a:solidFill>
                  <a:srgbClr val="FFFFFF">
                    <a:alpha val="5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40588" y="2711768"/>
            <a:ext cx="11108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5A623"/>
                </a:solidFill>
                <a:latin typeface="Arial"/>
                <a:ea typeface="Microsoft YaHei"/>
                <a:cs typeface="Arial"/>
              </a:rPr>
              <a:t>SECTION 04</a:t>
            </a:r>
          </a:p>
        </p:txBody>
      </p:sp>
      <p:sp>
        <p:nvSpPr>
          <p:cNvPr id="16" name="Line 16"/>
          <p:cNvSpPr/>
          <p:nvPr/>
        </p:nvSpPr>
        <p:spPr>
          <a:xfrm>
            <a:off x="4762500" y="3238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19050">
            <a:solidFill>
              <a:srgbClr val="FFFFFF">
                <a:alpha val="40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6286500" y="3238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19050">
            <a:solidFill>
              <a:srgbClr val="FFFFFF">
                <a:alpha val="40000"/>
              </a:srgbClr>
            </a:solidFill>
          </a:ln>
        </p:spPr>
      </p:sp>
      <p:sp>
        <p:nvSpPr>
          <p:cNvPr id="18" name="Ellipse 18"/>
          <p:cNvSpPr/>
          <p:nvPr/>
        </p:nvSpPr>
        <p:spPr>
          <a:xfrm>
            <a:off x="6038850" y="3181350"/>
            <a:ext cx="114300" cy="1143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946142" y="3611880"/>
            <a:ext cx="229971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总结展望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05275" y="4362450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>
                    <a:alpha val="65000"/>
                  </a:srgbClr>
                </a:solidFill>
                <a:latin typeface="Arial"/>
                <a:ea typeface="Microsoft YaHei"/>
                <a:cs typeface="Arial"/>
              </a:rPr>
              <a:t>联盟持续开放共享，共建标准化运营体系</a:t>
            </a:r>
          </a:p>
        </p:txBody>
      </p:sp>
      <p:sp>
        <p:nvSpPr>
          <p:cNvPr id="21" name="Rectangle 21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</p:sp>
      <p:sp>
        <p:nvSpPr>
          <p:cNvPr id="22" name="Line 22"/>
          <p:cNvSpPr/>
          <p:nvPr/>
        </p:nvSpPr>
        <p:spPr>
          <a:xfrm>
            <a:off x="0" y="6477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FFFFFF">
                <a:alpha val="10000"/>
              </a:srgbClr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58165" y="6601778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 val="50000"/>
                  </a:srgbClr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780966" y="6617970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FFFFFF">
                    <a:alpha val="40000"/>
                  </a:srgbClr>
                </a:solidFill>
                <a:latin typeface="Arial"/>
                <a:ea typeface="Microsoft YaHei"/>
                <a:cs typeface="Arial"/>
              </a:rPr>
              <a:t>BPO ALLIANCE</a:t>
            </a:r>
          </a:p>
        </p:txBody>
      </p:sp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5587"/>
              </a:gs>
              <a:gs pos="100000">
                <a:srgbClr val="0076A8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005587">
              <a:alpha val="2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8382000" y="0"/>
            <a:ext cx="3810000" cy="6858000"/>
          </a:xfrm>
          <a:prstGeom prst="rect">
            <a:avLst/>
          </a:prstGeom>
          <a:solidFill>
            <a:srgbClr val="005587">
              <a:alpha val="2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952500"/>
            <a:ext cx="1714500" cy="1714500"/>
          </a:xfrm>
          <a:prstGeom prst="rect">
            <a:avLst/>
          </a:prstGeom>
          <a:noFill/>
          <a:ln w="9525">
            <a:solidFill>
              <a:srgbClr val="005587">
                <a:alpha val="8000"/>
              </a:srgbClr>
            </a:solidFill>
          </a:ln>
        </p:spPr>
      </p:sp>
      <p:sp>
        <p:nvSpPr>
          <p:cNvPr id="7" name="Rectangle 7"/>
          <p:cNvSpPr/>
          <p:nvPr/>
        </p:nvSpPr>
        <p:spPr>
          <a:xfrm>
            <a:off x="1143000" y="1333500"/>
            <a:ext cx="952500" cy="952500"/>
          </a:xfrm>
          <a:prstGeom prst="rect">
            <a:avLst/>
          </a:prstGeom>
          <a:solidFill>
            <a:srgbClr val="005587">
              <a:alpha val="3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715500" y="4000500"/>
            <a:ext cx="1714500" cy="1714500"/>
          </a:xfrm>
          <a:prstGeom prst="rect">
            <a:avLst/>
          </a:prstGeom>
          <a:noFill/>
          <a:ln w="9525">
            <a:solidFill>
              <a:srgbClr val="005587">
                <a:alpha val="8000"/>
              </a:srgb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10096500" y="4381500"/>
            <a:ext cx="952500" cy="952500"/>
          </a:xfrm>
          <a:prstGeom prst="rect">
            <a:avLst/>
          </a:prstGeom>
          <a:solidFill>
            <a:srgbClr val="005587">
              <a:alpha val="3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571642" y="2045018"/>
            <a:ext cx="10487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50320" y="2436495"/>
            <a:ext cx="2491359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感谢聆听</a:t>
            </a:r>
          </a:p>
        </p:txBody>
      </p:sp>
      <p:sp>
        <p:nvSpPr>
          <p:cNvPr id="12" name="Line 12"/>
          <p:cNvSpPr/>
          <p:nvPr/>
        </p:nvSpPr>
        <p:spPr>
          <a:xfrm>
            <a:off x="4572000" y="3238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28575">
            <a:solidFill>
              <a:srgbClr val="005587"/>
            </a:solidFill>
          </a:ln>
        </p:spPr>
      </p:sp>
      <p:sp>
        <p:nvSpPr>
          <p:cNvPr id="13" name="Ellipse 13"/>
          <p:cNvSpPr/>
          <p:nvPr/>
        </p:nvSpPr>
        <p:spPr>
          <a:xfrm>
            <a:off x="6019800" y="3162300"/>
            <a:ext cx="152400" cy="1524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14" name="Line 14"/>
          <p:cNvSpPr/>
          <p:nvPr/>
        </p:nvSpPr>
        <p:spPr>
          <a:xfrm>
            <a:off x="6477000" y="3238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28575">
            <a:solidFill>
              <a:srgbClr val="005587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05275" y="3552825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联盟持续开放共享，共建标准化运营体系</a:t>
            </a:r>
          </a:p>
        </p:txBody>
      </p:sp>
      <p:sp>
        <p:nvSpPr>
          <p:cNvPr id="16" name="Freeform 16"/>
          <p:cNvSpPr/>
          <p:nvPr/>
        </p:nvSpPr>
        <p:spPr>
          <a:xfrm>
            <a:off x="3714750" y="4191000"/>
            <a:ext cx="4762500" cy="1428750"/>
          </a:xfrm>
          <a:custGeom>
            <a:avLst/>
            <a:gdLst/>
            <a:ahLst/>
            <a:cxnLst/>
            <a:rect l="l" t="t" r="r" b="b"/>
            <a:pathLst>
              <a:path w="4762500" h="1428750">
                <a:moveTo>
                  <a:pt x="76200" y="0"/>
                </a:moveTo>
                <a:lnTo>
                  <a:pt x="4686300" y="0"/>
                </a:lnTo>
                <a:cubicBezTo>
                  <a:pt x="4728384" y="0"/>
                  <a:pt x="4762500" y="34116"/>
                  <a:pt x="4762500" y="76200"/>
                </a:cubicBezTo>
                <a:lnTo>
                  <a:pt x="4762500" y="1352550"/>
                </a:lnTo>
                <a:cubicBezTo>
                  <a:pt x="4762500" y="1394634"/>
                  <a:pt x="4728384" y="1428750"/>
                  <a:pt x="4686300" y="1428750"/>
                </a:cubicBezTo>
                <a:lnTo>
                  <a:pt x="76200" y="1428750"/>
                </a:lnTo>
                <a:cubicBezTo>
                  <a:pt x="34116" y="1428750"/>
                  <a:pt x="0" y="1394634"/>
                  <a:pt x="0" y="1352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AFBFC"/>
              </a:gs>
              <a:gs pos="100000">
                <a:srgbClr val="F1F3F4"/>
              </a:gs>
            </a:gsLst>
            <a:lin ang="5400000" scaled="1"/>
          </a:gradFill>
          <a:ln w="14288">
            <a:solidFill>
              <a:srgbClr val="E5E7EB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3714750" y="4191000"/>
            <a:ext cx="57150" cy="1428750"/>
          </a:xfrm>
          <a:custGeom>
            <a:avLst/>
            <a:gdLst/>
            <a:ahLst/>
            <a:cxnLst/>
            <a:rect l="l" t="t" r="r" b="b"/>
            <a:pathLst>
              <a:path w="57150" h="1428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400175"/>
                </a:lnTo>
                <a:cubicBezTo>
                  <a:pt x="57150" y="1415957"/>
                  <a:pt x="44357" y="1428750"/>
                  <a:pt x="28575" y="1428750"/>
                </a:cubicBezTo>
                <a:lnTo>
                  <a:pt x="28575" y="1428750"/>
                </a:lnTo>
                <a:cubicBezTo>
                  <a:pt x="12793" y="1428750"/>
                  <a:pt x="0" y="1415957"/>
                  <a:pt x="0" y="1400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5587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254597" y="4457700"/>
            <a:ext cx="168280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BPO 供应商联盟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47856" y="4792028"/>
            <a:ext cx="22962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标准化运营 | 共建共享 | 持续迭代</a:t>
            </a:r>
          </a:p>
        </p:txBody>
      </p:sp>
      <p:sp>
        <p:nvSpPr>
          <p:cNvPr id="20" name="Line 20"/>
          <p:cNvSpPr/>
          <p:nvPr/>
        </p:nvSpPr>
        <p:spPr>
          <a:xfrm>
            <a:off x="4572000" y="5095875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402931" y="5268278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数据科技业务部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30461" y="5268278"/>
            <a:ext cx="6170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2026.04</a:t>
            </a:r>
          </a:p>
        </p:txBody>
      </p:sp>
      <p:sp>
        <p:nvSpPr>
          <p:cNvPr id="23" name="Rectangle 23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24" name="Line 2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848987" y="6332220"/>
            <a:ext cx="2494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数据驱动决策 | 标准化运营 | 联盟共建共享</a:t>
            </a:r>
          </a:p>
        </p:txBody>
      </p:sp>
      <p:sp>
        <p:nvSpPr>
          <p:cNvPr id="26" name="Freeform 26"/>
          <p:cNvSpPr/>
          <p:nvPr/>
        </p:nvSpPr>
        <p:spPr>
          <a:xfrm>
            <a:off x="10287000" y="6238875"/>
            <a:ext cx="1333500" cy="266700"/>
          </a:xfrm>
          <a:custGeom>
            <a:avLst/>
            <a:gdLst/>
            <a:ahLst/>
            <a:cxnLst/>
            <a:rect l="l" t="t" r="r" b="b"/>
            <a:pathLst>
              <a:path w="1333500" h="266700">
                <a:moveTo>
                  <a:pt x="38100" y="0"/>
                </a:moveTo>
                <a:lnTo>
                  <a:pt x="1295400" y="0"/>
                </a:lnTo>
                <a:cubicBezTo>
                  <a:pt x="1316442" y="0"/>
                  <a:pt x="1333500" y="17058"/>
                  <a:pt x="1333500" y="38100"/>
                </a:cubicBezTo>
                <a:lnTo>
                  <a:pt x="1333500" y="228600"/>
                </a:lnTo>
                <a:cubicBezTo>
                  <a:pt x="1333500" y="249642"/>
                  <a:pt x="1316442" y="266700"/>
                  <a:pt x="12954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5587">
              <a:alpha val="8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0507566" y="6332220"/>
            <a:ext cx="8923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558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58165" y="6601778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
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各位领导、各位合作伙伴，大家下午好。</a:t>
            </a:r>
          </a:p>
          <a:p>
            <a:endParaRPr lang="zh-CN" dirty="0"/>
          </a:p>
          <a:p>
            <a:r>
              <a:rPr lang="zh-CN" dirty="0"/>
              <a:t>今天我代表BPO供应商联盟，向大家汇报本次认证总结会的核心成果。本次会议围绕电销标准化运营方法论展开，各参会供应商分享了学习收获与落地计划。</a:t>
            </a:r>
          </a:p>
          <a:p>
            <a:endParaRPr lang="zh-CN" dirty="0"/>
          </a:p>
          <a:p>
            <a:r>
              <a:rPr lang="zh-CN" dirty="0"/>
              <a:t>要点：(1) BPO供应商联盟认证总结会 (2) 标准化运营方法论与落地实践 (3) 2026年4月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让我们先看一下今天的议程安排。</a:t>
            </a:r>
          </a:p>
          <a:p>
            <a:endParaRPr lang="zh-CN" dirty="0"/>
          </a:p>
          <a:p>
            <a:r>
              <a:rPr lang="zh-CN" dirty="0"/>
              <a:t>今天的分享分为三个核心部分：首先是电销管理的六大核心方法论，这是成熟自建电销职场的实战经验总结；其次是各供应商的认证情况与学习收获，每家都制定了差异化的落地方案；最后是统一的落地推进计划与关键成功要素。</a:t>
            </a:r>
          </a:p>
          <a:p>
            <a:endParaRPr lang="zh-CN" dirty="0"/>
          </a:p>
          <a:p>
            <a:r>
              <a:rPr lang="zh-CN" dirty="0"/>
              <a:t>要点：(1) 核心方法论分享 (2) 供应商认证与收获 (3) 落地方案与展望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首先让我介绍一下电销管理的六大核心模块。</a:t>
            </a:r>
          </a:p>
          <a:p>
            <a:endParaRPr lang="zh-CN" dirty="0"/>
          </a:p>
          <a:p>
            <a:r>
              <a:rPr lang="zh-CN" dirty="0"/>
              <a:t>这六大模块包括：坐席分级管理、话术沉淀体系、团队激励方案、三会管理流程、名单管控规则，以及分时段拨打策略。它们相互支撑形成了一个完整的闭环管理体系。其中，坐席分级管理解决"人"的问题，名单管控解决"资源"的问题，三会管理解决"执行"的问题，而激励体系则是贯穿始终的动力引擎。</a:t>
            </a:r>
          </a:p>
          <a:p>
            <a:endParaRPr lang="zh-CN" dirty="0"/>
          </a:p>
          <a:p>
            <a:r>
              <a:rPr lang="zh-CN" dirty="0"/>
              <a:t>要点：(1) 六大模块相互支撑形成闭环 (2) 人、资源、执行、动力四维一体 (3) 成熟自建电销职场实战经验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让我详细展开一下坐席分级管理的核心机制。</a:t>
            </a:r>
          </a:p>
          <a:p>
            <a:endParaRPr lang="zh-CN" dirty="0"/>
          </a:p>
          <a:p>
            <a:r>
              <a:rPr lang="zh-CN" dirty="0"/>
              <a:t>ABC分级竞争机制有三个核心原则：第一是同等级竞争，C级不能越级和A级竞争，保证低能力坐席的竞争信心；第二是清晰的晋升路径，C打赢C级可升B级，B打赢B级可升A级；第三是名单量差异化，A级比C级多15条，额外奖励给能力突出的批次。</a:t>
            </a:r>
          </a:p>
          <a:p>
            <a:endParaRPr lang="zh-CN" dirty="0"/>
          </a:p>
          <a:p>
            <a:r>
              <a:rPr lang="zh-CN" dirty="0"/>
              <a:t>[停顿] 但这里有一个重要的失败教训需要分享。我们曾参照王者荣耀段位给坐席分级，刚开始效果很好，坐席会主动加班冲业绩。但问题是分级后直接对应固定名单额度，低段位坐席会认为自己永远升不上去，产生不公平感，慢慢产生倦怠，效果逐渐下滑。</a:t>
            </a:r>
          </a:p>
          <a:p>
            <a:endParaRPr lang="zh-CN" dirty="0"/>
          </a:p>
          <a:p>
            <a:r>
              <a:rPr lang="zh-CN" dirty="0"/>
              <a:t>要点：(1) 同等级竞争保证公平感 (2) 清晰晋升路径维持动力 (3) 固定名单额度导致"阶层固化"是失败核心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接下来讲一下日周维度的即时激励方案。</a:t>
            </a:r>
          </a:p>
          <a:p>
            <a:endParaRPr lang="zh-CN" dirty="0"/>
          </a:p>
          <a:p>
            <a:r>
              <a:rPr lang="zh-CN" dirty="0"/>
              <a:t>日维度分为三个时段：上午开出2单可抽一次16到88元不等的红包，下午开出3单、6单各可再抽一次。周维度在大盘人均不到2单的周期，周开12单即可抽一次50到300元不等的奖品，抽到直接现场拿走。</a:t>
            </a:r>
          </a:p>
          <a:p>
            <a:endParaRPr lang="zh-CN" dirty="0"/>
          </a:p>
          <a:p>
            <a:r>
              <a:rPr lang="zh-CN" dirty="0"/>
              <a:t>[数据] 这种即时正向反馈能显著提升员工内驱力。但关键是不要天天做激励，一般放在月头第一周、月尾做，带动整体开单节奏即可。频繁做会降低激励价值。另外，团队PK活动比发一百块现金更有效——输的一方需要表演节目、给赢方买水、鞠躬，靠活动刺激性调动情绪。</a:t>
            </a:r>
          </a:p>
          <a:p>
            <a:endParaRPr lang="zh-CN" dirty="0"/>
          </a:p>
          <a:p>
            <a:r>
              <a:rPr lang="zh-CN" dirty="0"/>
              <a:t>要点：(1) 分时段即时激励 (2) 控制频率避免价值稀释 (3) 团队PK比现金更有效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接下来汇报一下本次认证的规则与结果。</a:t>
            </a:r>
          </a:p>
          <a:p>
            <a:endParaRPr lang="zh-CN" dirty="0"/>
          </a:p>
          <a:p>
            <a:r>
              <a:rPr lang="zh-CN" dirty="0"/>
              <a:t>评分规则是：四位评委打分，满分100分，80分以上视为认证通过。评分包含四个部分：清晰表达有自己观点占25分，内容完整贴合主题占25分，结构清晰可落地占50分。抓住底层逻辑、有延伸思考、落地可行性高、方案清晰可额外加分。</a:t>
            </a:r>
          </a:p>
          <a:p>
            <a:endParaRPr lang="zh-CN" dirty="0"/>
          </a:p>
          <a:p>
            <a:r>
              <a:rPr lang="zh-CN" dirty="0"/>
              <a:t>[数据] 认证结果非常理想：岐力以平均分91分获得第一名，汇讯以88分获得第二名，赛维斯以86分获得第三名。所有参会供应商均通过认证，现场颁发了认证证书和纪念礼品。</a:t>
            </a:r>
          </a:p>
          <a:p>
            <a:endParaRPr lang="zh-CN" dirty="0"/>
          </a:p>
          <a:p>
            <a:r>
              <a:rPr lang="zh-CN" dirty="0"/>
              <a:t>要点：(1) 评分规则清晰 (2) 所有供应商均通过认证 (3) 岐力91分第一、汇讯88分第二、赛维斯86分第三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岐力作为本次认证的第一名，制定了详细的标准化落地三阶段方案。</a:t>
            </a:r>
          </a:p>
          <a:p>
            <a:endParaRPr lang="zh-CN" dirty="0"/>
          </a:p>
          <a:p>
            <a:r>
              <a:rPr lang="zh-CN" dirty="0"/>
              <a:t>第一阶段是建立初步认知，管控准入端，执行话术模式表和人员画像要求，采用新人新办法老人老办法。目标是将新员工手动流数据降低50%，让管理层养成每日数据查看习惯。</a:t>
            </a:r>
          </a:p>
          <a:p>
            <a:endParaRPr lang="zh-CN" dirty="0"/>
          </a:p>
          <a:p>
            <a:r>
              <a:rPr lang="zh-CN" dirty="0"/>
              <a:t>第二阶段用2-3个月做培优，覆盖25%-40%员工，用标准化制度管理，打造核心团队，安排专项预算支持。给存量30%潜力员工倾斜资源，选拔核心团队。</a:t>
            </a:r>
          </a:p>
          <a:p>
            <a:endParaRPr lang="zh-CN" dirty="0"/>
          </a:p>
          <a:p>
            <a:r>
              <a:rPr lang="zh-CN" dirty="0"/>
              <a:t>第三阶段将验证成熟的管理制度、工具迭代后推广到全项目，实现全团队标准化。保障措施是已经启动专项小组，由组织发展部和合规部牵头，分阶段由不同部门牵头推进，所有任务绑定绩效考核。</a:t>
            </a:r>
          </a:p>
          <a:p>
            <a:endParaRPr lang="zh-CN" dirty="0"/>
          </a:p>
          <a:p>
            <a:r>
              <a:rPr lang="zh-CN" dirty="0"/>
              <a:t>要点：(1) 分阶段推进：认知→培优→推广 (2) 专项小组保障、绩效考核绑定 (3) 新员工手动流数据降低50%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汇讯在管理工具方面有很深的积累，同时也识别出了待补充的部分。</a:t>
            </a:r>
          </a:p>
          <a:p>
            <a:endParaRPr lang="zh-CN" dirty="0"/>
          </a:p>
          <a:p>
            <a:r>
              <a:rPr lang="zh-CN" dirty="0"/>
              <a:t>现有工具已经落地了BI看板和WPS智能看板，可实现多维度、分周期、分组到人数据追踪，且能和钉钉绑定定时推送。回去后计划补充现场大屏实时展示。</a:t>
            </a:r>
          </a:p>
          <a:p>
            <a:endParaRPr lang="zh-CN" dirty="0"/>
          </a:p>
          <a:p>
            <a:r>
              <a:rPr lang="zh-CN" dirty="0"/>
              <a:t>但同时也识别出了四个待补充的管理工具：夕会问题记录表，确保每日问题闭环解决；新人30天成长记录表，追踪新人培训进度；60秒非有效名单回收流程，提升坐席名单使用效率；标准化质检流程，第一时间同步问题解决方案。</a:t>
            </a:r>
          </a:p>
          <a:p>
            <a:endParaRPr lang="zh-CN" dirty="0"/>
          </a:p>
          <a:p>
            <a:r>
              <a:rPr lang="zh-CN" dirty="0"/>
              <a:t>[停顿] 汇讯还提出了几个管理问题：招聘目前由人力部门做面试、业务部门做培训，在人力需求大的背景下，探讨项目经理和主管是否需要直接参与面试；需要主办方分享最优标准化带教流程；提议参会职场共建共享话术库，由罗明老师审核后统一更新。</a:t>
            </a:r>
          </a:p>
          <a:p>
            <a:endParaRPr lang="zh-CN" dirty="0"/>
          </a:p>
          <a:p>
            <a:r>
              <a:rPr lang="zh-CN" dirty="0"/>
              <a:t>要点：(1) 已落地BI+WPS看板 (2) 待补充4个管理工具 (3) 提出3个管理问题需要探讨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其他各家供应商也都有各自的收获和改进重点。</a:t>
            </a:r>
          </a:p>
          <a:p>
            <a:endParaRPr lang="zh-CN" dirty="0"/>
          </a:p>
          <a:p>
            <a:r>
              <a:rPr lang="zh-CN" dirty="0"/>
              <a:t>岐力的核心收获是分模块改进方案，三阶段落地计划，专项小组保障。汇讯是管理工具复盘，标准化流程补充。赛维斯是人员管理优化，激励体系完善，ABC梯队建设。</a:t>
            </a:r>
          </a:p>
          <a:p>
            <a:endParaRPr lang="zh-CN" dirty="0"/>
          </a:p>
          <a:p>
            <a:r>
              <a:rPr lang="zh-CN" dirty="0"/>
              <a:t>华啸的核心收获是新人培育方案，30天60天新人成长计划，名产分层精细化，客户ABCD标签。广达是招聘环节调整，从挖有经验从业者转为招聘服从性强、执行力强的人员，师徒带教优化为二对一模式，补充带教后的复盘闭环环节。瀚锐是零后团队激活，推广晨会话术接龙解决老人不愿学习的问题，话术迭代改为让坐席自己总结分享。</a:t>
            </a:r>
          </a:p>
          <a:p>
            <a:endParaRPr lang="zh-CN" dirty="0"/>
          </a:p>
          <a:p>
            <a:r>
              <a:rPr lang="zh-CN" dirty="0"/>
              <a:t>要点：(1) 岐力、汇讯、赛维斯位列前三 (2) 各供应商差异化收获明显 (3) 均制定了可落地的改进方案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为了确保标准化运营落地效果，我们制定了六个关键量化指标。</a:t>
            </a:r>
          </a:p>
          <a:p>
            <a:endParaRPr lang="zh-CN" dirty="0"/>
          </a:p>
          <a:p>
            <a:r>
              <a:rPr lang="zh-CN" dirty="0"/>
              <a:t>人员管理方面，ABC梯队建设覆盖率要达到100%。激励体系方面，日周月分层激励参与率要大于80%。数据驱动方面，每日数据查看执行率要达到100%。</a:t>
            </a:r>
          </a:p>
          <a:p>
            <a:endParaRPr lang="zh-CN" dirty="0"/>
          </a:p>
          <a:p>
            <a:r>
              <a:rPr lang="zh-CN" dirty="0"/>
              <a:t>话术迭代方面，月度话术更新及时率要达到100%。三会执行方面，早会午会晚会达标率要大于95%。名单效率方面，名单利用率要提升大于30%。</a:t>
            </a:r>
          </a:p>
          <a:p>
            <a:endParaRPr lang="zh-CN" dirty="0"/>
          </a:p>
          <a:p>
            <a:r>
              <a:rPr lang="zh-CN" dirty="0"/>
              <a:t>[数据] 以上指标为标准化运营落地的关键成功要素，需定期追踪、公开公示、与绩效挂钩。只有通过可量化的指标体系，才能确保标准化运营落地效果可追踪、可验证。</a:t>
            </a:r>
          </a:p>
          <a:p>
            <a:endParaRPr lang="zh-CN" dirty="0"/>
          </a:p>
          <a:p>
            <a:r>
              <a:rPr lang="zh-CN" dirty="0"/>
              <a:t>要点：(1) 6个关键量化指标 (2) 定期追踪、公开公示、与绩效挂钩 (3) 确保落地效果可追踪、可验证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最后，让我总结一下本次认证会的核心成果。</a:t>
            </a:r>
          </a:p>
          <a:p>
            <a:endParaRPr lang="zh-CN" dirty="0"/>
          </a:p>
          <a:p>
            <a:r>
              <a:rPr lang="zh-CN" dirty="0"/>
              <a:t>所有参会供应商均通过认证，大家都找到了自身差距，结合自身情况制定了差异化落地方案，明确了后续落地推进方向。BPO联盟未来会持续开放共享，携手推进京东项目发展，提升整体产能和运营效率。</a:t>
            </a:r>
          </a:p>
          <a:p>
            <a:endParaRPr lang="zh-CN" dirty="0"/>
          </a:p>
          <a:p>
            <a:r>
              <a:rPr lang="zh-CN" dirty="0"/>
              <a:t>[停顿] 标准化运营不是一蹴而就的，需要持续的努力和改进。但我们相信，通过联盟的协同合作，通过各供应商的落地实践，我们一定能够实现产能的持续提升，实现供应商与甲方的双赢。</a:t>
            </a:r>
          </a:p>
          <a:p>
            <a:endParaRPr lang="zh-CN" dirty="0"/>
          </a:p>
          <a:p>
            <a:r>
              <a:rPr lang="zh-CN" dirty="0"/>
              <a:t>要点：(1) 所有供应商通过认证 (2) 差异化落地方案已制定 (3) 联盟持续开放共享、携手推进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>
                  <a:alpha val="12000"/>
                </a:srgbClr>
              </a:gs>
              <a:gs pos="100000">
                <a:srgbClr val="00558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2700000" scaled="1"/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1846576" y="1257300"/>
            <a:ext cx="8498848" cy="2995612"/>
            <a:chOff x="1846576" y="1257300"/>
            <a:chExt cx="8498848" cy="2995612"/>
          </a:xfrm>
        </p:grpSpPr>
        <p:sp>
          <p:nvSpPr>
            <p:cNvPr id="5" name="Ellipse 5"/>
            <p:cNvSpPr/>
            <p:nvPr/>
          </p:nvSpPr>
          <p:spPr>
            <a:xfrm>
              <a:off x="5638800" y="1257300"/>
              <a:ext cx="914400" cy="914400"/>
            </a:xfrm>
            <a:prstGeom prst="ellipse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867400" y="1514475"/>
              <a:ext cx="457200" cy="400050"/>
              <a:chOff x="5867400" y="1514475"/>
              <a:chExt cx="457200" cy="4000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953125" y="15144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867400" y="1714500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0"/>
                    </a:moveTo>
                    <a:cubicBezTo>
                      <a:pt x="38381" y="0"/>
                      <a:pt x="0" y="38381"/>
                      <a:pt x="0" y="85725"/>
                    </a:cubicBezTo>
                    <a:lnTo>
                      <a:pt x="0" y="200025"/>
                    </a:lnTo>
                    <a:lnTo>
                      <a:pt x="228600" y="200025"/>
                    </a:lnTo>
                    <a:lnTo>
                      <a:pt x="228600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153150" y="1714500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71450" y="200025"/>
                    </a:lnTo>
                    <a:lnTo>
                      <a:pt x="171450" y="85725"/>
                    </a:lnTo>
                    <a:cubicBezTo>
                      <a:pt x="171450" y="38381"/>
                      <a:pt x="133071" y="0"/>
                      <a:pt x="85725" y="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153150" y="15430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cubicBezTo>
                      <a:pt x="88714" y="114300"/>
                      <a:pt x="114300" y="88713"/>
                      <a:pt x="114300" y="57150"/>
                    </a:cubicBezTo>
                    <a:cubicBezTo>
                      <a:pt x="114300" y="25587"/>
                      <a:pt x="88714" y="0"/>
                      <a:pt x="57150" y="0"/>
                    </a:cubicBezTo>
                    <a:cubicBezTo>
                      <a:pt x="25586" y="0"/>
                      <a:pt x="0" y="25587"/>
                      <a:pt x="0" y="57150"/>
                    </a:cubicBezTo>
                    <a:cubicBezTo>
                      <a:pt x="0" y="88713"/>
                      <a:pt x="25586" y="114300"/>
                      <a:pt x="57150" y="11430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46576" y="2562225"/>
              <a:ext cx="849884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BPO 供应商联盟认证总结会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75748" y="3297555"/>
              <a:ext cx="404050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标准化运营方法论与落地实践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02712" y="3917632"/>
              <a:ext cx="11865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2026年4月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5143500" y="619125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19050" y="0"/>
                </a:moveTo>
                <a:lnTo>
                  <a:pt x="1885950" y="0"/>
                </a:lnTo>
                <a:cubicBezTo>
                  <a:pt x="1896471" y="0"/>
                  <a:pt x="1905000" y="8529"/>
                  <a:pt x="1905000" y="19050"/>
                </a:cubicBezTo>
                <a:lnTo>
                  <a:pt x="1905000" y="19050"/>
                </a:lnTo>
                <a:cubicBezTo>
                  <a:pt x="1905000" y="29571"/>
                  <a:pt x="1896471" y="38100"/>
                  <a:pt x="188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04A0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9118" y="6514624"/>
            <a:ext cx="174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供应商联盟认证总结 | 2026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今日议程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571500" y="1143000"/>
            <a:ext cx="3429000" cy="2667000"/>
            <a:chOff x="571500" y="1143000"/>
            <a:chExt cx="3429000" cy="2667000"/>
          </a:xfrm>
        </p:grpSpPr>
        <p:sp>
          <p:nvSpPr>
            <p:cNvPr id="5" name="Freeform 5"/>
            <p:cNvSpPr/>
            <p:nvPr/>
          </p:nvSpPr>
          <p:spPr>
            <a:xfrm>
              <a:off x="571500" y="1143000"/>
              <a:ext cx="3429000" cy="2667000"/>
            </a:xfrm>
            <a:custGeom>
              <a:avLst/>
              <a:gdLst/>
              <a:ahLst/>
              <a:cxnLst/>
              <a:rect l="l" t="t" r="r" b="b"/>
              <a:pathLst>
                <a:path w="3429000" h="2667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552700"/>
                  </a:lnTo>
                  <a:cubicBezTo>
                    <a:pt x="3429000" y="2615826"/>
                    <a:pt x="3377826" y="2667000"/>
                    <a:pt x="3314700" y="2667000"/>
                  </a:cubicBezTo>
                  <a:lnTo>
                    <a:pt x="114300" y="2667000"/>
                  </a:lnTo>
                  <a:cubicBezTo>
                    <a:pt x="51174" y="2667000"/>
                    <a:pt x="0" y="2615826"/>
                    <a:pt x="0" y="2552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5F8FA"/>
                </a:gs>
              </a:gsLst>
              <a:lin ang="5400000" scaled="1"/>
            </a:gradFill>
            <a:ln w="9525">
              <a:solidFill>
                <a:srgbClr val="E0E0E0"/>
              </a:solidFill>
            </a:ln>
            <a:effectLst>
              <a:outerShdw blurRad="152400" dist="38100" dir="10799140" algn="tl" rotWithShape="0">
                <a:srgbClr val="005587">
                  <a:alpha val="15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571500" y="1143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900112" y="1428750"/>
              <a:ext cx="371475" cy="457200"/>
            </a:xfrm>
            <a:custGeom>
              <a:avLst/>
              <a:gdLst/>
              <a:ahLst/>
              <a:cxnLst/>
              <a:rect l="l" t="t" r="r" b="b"/>
              <a:pathLst>
                <a:path w="371475" h="457200">
                  <a:moveTo>
                    <a:pt x="100012" y="136931"/>
                  </a:moveTo>
                  <a:cubicBezTo>
                    <a:pt x="125243" y="125907"/>
                    <a:pt x="142875" y="10073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ubicBezTo>
                    <a:pt x="31984" y="0"/>
                    <a:pt x="0" y="31984"/>
                    <a:pt x="0" y="71438"/>
                  </a:cubicBezTo>
                  <a:cubicBezTo>
                    <a:pt x="0" y="100731"/>
                    <a:pt x="17632" y="125907"/>
                    <a:pt x="42862" y="136931"/>
                  </a:cubicBezTo>
                  <a:lnTo>
                    <a:pt x="42862" y="320269"/>
                  </a:lnTo>
                  <a:cubicBezTo>
                    <a:pt x="17632" y="331293"/>
                    <a:pt x="0" y="356467"/>
                    <a:pt x="0" y="385762"/>
                  </a:cubicBezTo>
                  <a:cubicBezTo>
                    <a:pt x="0" y="425216"/>
                    <a:pt x="31984" y="457200"/>
                    <a:pt x="71438" y="457200"/>
                  </a:cubicBezTo>
                  <a:cubicBezTo>
                    <a:pt x="110891" y="457200"/>
                    <a:pt x="142875" y="425216"/>
                    <a:pt x="142875" y="385762"/>
                  </a:cubicBezTo>
                  <a:cubicBezTo>
                    <a:pt x="142875" y="356467"/>
                    <a:pt x="125243" y="331293"/>
                    <a:pt x="100012" y="320269"/>
                  </a:cubicBezTo>
                  <a:lnTo>
                    <a:pt x="100012" y="257175"/>
                  </a:lnTo>
                  <a:lnTo>
                    <a:pt x="328612" y="257175"/>
                  </a:lnTo>
                  <a:lnTo>
                    <a:pt x="328612" y="136931"/>
                  </a:lnTo>
                  <a:cubicBezTo>
                    <a:pt x="353844" y="125907"/>
                    <a:pt x="371475" y="100731"/>
                    <a:pt x="371475" y="71438"/>
                  </a:cubicBezTo>
                  <a:cubicBezTo>
                    <a:pt x="371475" y="31984"/>
                    <a:pt x="339491" y="0"/>
                    <a:pt x="300038" y="0"/>
                  </a:cubicBezTo>
                  <a:cubicBezTo>
                    <a:pt x="260584" y="0"/>
                    <a:pt x="228600" y="31984"/>
                    <a:pt x="228600" y="71438"/>
                  </a:cubicBezTo>
                  <a:cubicBezTo>
                    <a:pt x="228600" y="100731"/>
                    <a:pt x="246231" y="125907"/>
                    <a:pt x="271462" y="136931"/>
                  </a:cubicBezTo>
                  <a:lnTo>
                    <a:pt x="271462" y="200025"/>
                  </a:lnTo>
                  <a:lnTo>
                    <a:pt x="100012" y="200025"/>
                  </a:lnTo>
                  <a:lnTo>
                    <a:pt x="100012" y="136931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4390" y="19011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核心方法论分享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95350" y="2368868"/>
              <a:ext cx="1390650" cy="274320"/>
              <a:chOff x="895350" y="2368868"/>
              <a:chExt cx="1390650" cy="27432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95350" y="2419350"/>
                <a:ext cx="76200" cy="76200"/>
              </a:xfrm>
              <a:prstGeom prst="ellipse">
                <a:avLst/>
              </a:pr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68705" y="2368868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坐席分级管理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95350" y="2702242"/>
              <a:ext cx="1390650" cy="274320"/>
              <a:chOff x="895350" y="2702242"/>
              <a:chExt cx="1390650" cy="27432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895350" y="2752725"/>
                <a:ext cx="76200" cy="76200"/>
              </a:xfrm>
              <a:prstGeom prst="ellipse">
                <a:avLst/>
              </a:pr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68705" y="2702242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激励体系设计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95350" y="3035618"/>
              <a:ext cx="1390650" cy="274320"/>
              <a:chOff x="895350" y="3035618"/>
              <a:chExt cx="1390650" cy="27432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895350" y="3086100"/>
                <a:ext cx="76200" cy="76200"/>
              </a:xfrm>
              <a:prstGeom prst="ellipse">
                <a:avLst/>
              </a:pr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68705" y="3035618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三会管理流程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95350" y="3368992"/>
              <a:ext cx="1390650" cy="274320"/>
              <a:chOff x="895350" y="3368992"/>
              <a:chExt cx="1390650" cy="27432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95350" y="3419475"/>
                <a:ext cx="76200" cy="76200"/>
              </a:xfrm>
              <a:prstGeom prst="ellipse">
                <a:avLst/>
              </a:pr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68705" y="3368992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名单管控策略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4381500" y="1143000"/>
            <a:ext cx="3429000" cy="2667000"/>
            <a:chOff x="4381500" y="1143000"/>
            <a:chExt cx="3429000" cy="2667000"/>
          </a:xfrm>
        </p:grpSpPr>
        <p:sp>
          <p:nvSpPr>
            <p:cNvPr id="22" name="Freeform 22"/>
            <p:cNvSpPr/>
            <p:nvPr/>
          </p:nvSpPr>
          <p:spPr>
            <a:xfrm>
              <a:off x="4381500" y="1143000"/>
              <a:ext cx="3429000" cy="2667000"/>
            </a:xfrm>
            <a:custGeom>
              <a:avLst/>
              <a:gdLst/>
              <a:ahLst/>
              <a:cxnLst/>
              <a:rect l="l" t="t" r="r" b="b"/>
              <a:pathLst>
                <a:path w="3429000" h="2667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552700"/>
                  </a:lnTo>
                  <a:cubicBezTo>
                    <a:pt x="3429000" y="2615826"/>
                    <a:pt x="3377826" y="2667000"/>
                    <a:pt x="3314700" y="2667000"/>
                  </a:cubicBezTo>
                  <a:lnTo>
                    <a:pt x="114300" y="2667000"/>
                  </a:lnTo>
                  <a:cubicBezTo>
                    <a:pt x="51174" y="2667000"/>
                    <a:pt x="0" y="2615826"/>
                    <a:pt x="0" y="2552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5F8FA"/>
                </a:gs>
              </a:gsLst>
              <a:lin ang="5400000" scaled="1"/>
            </a:gradFill>
            <a:ln w="9525">
              <a:solidFill>
                <a:srgbClr val="E0E0E0"/>
              </a:solidFill>
            </a:ln>
            <a:effectLst>
              <a:outerShdw blurRad="152400" dist="38100" dir="10799140" algn="tl" rotWithShape="0">
                <a:srgbClr val="005587">
                  <a:alpha val="15000"/>
                </a:srgbClr>
              </a:outerShdw>
            </a:effectLst>
          </p:spPr>
        </p:sp>
        <p:sp>
          <p:nvSpPr>
            <p:cNvPr id="23" name="Freeform 23"/>
            <p:cNvSpPr/>
            <p:nvPr/>
          </p:nvSpPr>
          <p:spPr>
            <a:xfrm>
              <a:off x="4381500" y="1143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4390" y="190119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供应商认证与收获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05350" y="2368868"/>
              <a:ext cx="1587817" cy="274320"/>
              <a:chOff x="4705350" y="2368868"/>
              <a:chExt cx="1587817" cy="27432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705350" y="2419350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878705" y="2368868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认证规则与结果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705350" y="2702242"/>
              <a:ext cx="1587817" cy="274320"/>
              <a:chOff x="4705350" y="2702242"/>
              <a:chExt cx="1587817" cy="27432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705350" y="2752725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78705" y="2702242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岐力落地三阶段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705350" y="3035618"/>
              <a:ext cx="1784985" cy="274320"/>
              <a:chOff x="4705350" y="3035618"/>
              <a:chExt cx="1784985" cy="27432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4705350" y="3086100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78705" y="3035618"/>
                <a:ext cx="16116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汇讯管理工具优化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705350" y="3368992"/>
              <a:ext cx="1784985" cy="274320"/>
              <a:chOff x="4705350" y="3368992"/>
              <a:chExt cx="1784985" cy="27432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4705350" y="3419475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878705" y="3368992"/>
                <a:ext cx="16116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各供应商核心收获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8191500" y="1143000"/>
            <a:ext cx="3429000" cy="2667000"/>
            <a:chOff x="8191500" y="1143000"/>
            <a:chExt cx="3429000" cy="2667000"/>
          </a:xfrm>
        </p:grpSpPr>
        <p:sp>
          <p:nvSpPr>
            <p:cNvPr id="38" name="Freeform 38"/>
            <p:cNvSpPr/>
            <p:nvPr/>
          </p:nvSpPr>
          <p:spPr>
            <a:xfrm>
              <a:off x="8191500" y="1143000"/>
              <a:ext cx="3429000" cy="2667000"/>
            </a:xfrm>
            <a:custGeom>
              <a:avLst/>
              <a:gdLst/>
              <a:ahLst/>
              <a:cxnLst/>
              <a:rect l="l" t="t" r="r" b="b"/>
              <a:pathLst>
                <a:path w="3429000" h="2667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552700"/>
                  </a:lnTo>
                  <a:cubicBezTo>
                    <a:pt x="3429000" y="2615826"/>
                    <a:pt x="3377826" y="2667000"/>
                    <a:pt x="3314700" y="2667000"/>
                  </a:cubicBezTo>
                  <a:lnTo>
                    <a:pt x="114300" y="2667000"/>
                  </a:lnTo>
                  <a:cubicBezTo>
                    <a:pt x="51174" y="2667000"/>
                    <a:pt x="0" y="2615826"/>
                    <a:pt x="0" y="2552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5F8FA"/>
                </a:gs>
              </a:gsLst>
              <a:lin ang="5400000" scaled="1"/>
            </a:gradFill>
            <a:ln w="9525">
              <a:solidFill>
                <a:srgbClr val="E0E0E0"/>
              </a:solidFill>
            </a:ln>
            <a:effectLst>
              <a:outerShdw blurRad="152400" dist="38100" dir="10799140" algn="tl" rotWithShape="0">
                <a:srgbClr val="005587">
                  <a:alpha val="15000"/>
                </a:srgbClr>
              </a:outerShdw>
            </a:effectLst>
          </p:spPr>
        </p:sp>
        <p:sp>
          <p:nvSpPr>
            <p:cNvPr id="39" name="Freeform 39"/>
            <p:cNvSpPr/>
            <p:nvPr/>
          </p:nvSpPr>
          <p:spPr>
            <a:xfrm>
              <a:off x="8191500" y="1143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477250" y="1428750"/>
              <a:ext cx="457200" cy="457200"/>
              <a:chOff x="8477250" y="1428750"/>
              <a:chExt cx="457200" cy="457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591550" y="15430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5"/>
                      <a:pt x="51174" y="228600"/>
                      <a:pt x="114300" y="228600"/>
                    </a:cubicBezTo>
                    <a:cubicBezTo>
                      <a:pt x="177425" y="228600"/>
                      <a:pt x="228600" y="177425"/>
                      <a:pt x="228600" y="114300"/>
                    </a:cubicBezTo>
                    <a:cubicBezTo>
                      <a:pt x="228600" y="51174"/>
                      <a:pt x="177425" y="0"/>
                      <a:pt x="114300" y="0"/>
                    </a:cubicBezTo>
                    <a:close/>
                    <a:moveTo>
                      <a:pt x="57150" y="114300"/>
                    </a:moveTo>
                    <a:cubicBezTo>
                      <a:pt x="57150" y="82737"/>
                      <a:pt x="82737" y="57150"/>
                      <a:pt x="114300" y="57150"/>
                    </a:cubicBezTo>
                    <a:cubicBezTo>
                      <a:pt x="145863" y="57150"/>
                      <a:pt x="171450" y="82737"/>
                      <a:pt x="171450" y="114300"/>
                    </a:cubicBezTo>
                    <a:cubicBezTo>
                      <a:pt x="171450" y="145863"/>
                      <a:pt x="145863" y="171450"/>
                      <a:pt x="114300" y="171450"/>
                    </a:cubicBezTo>
                    <a:cubicBezTo>
                      <a:pt x="82737" y="171450"/>
                      <a:pt x="57150" y="145863"/>
                      <a:pt x="57150" y="114300"/>
                    </a:cubicBez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477250" y="142875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28600" y="0"/>
                    </a:moveTo>
                    <a:cubicBezTo>
                      <a:pt x="102348" y="0"/>
                      <a:pt x="0" y="102348"/>
                      <a:pt x="0" y="228600"/>
                    </a:cubicBezTo>
                    <a:cubicBezTo>
                      <a:pt x="0" y="354853"/>
                      <a:pt x="102348" y="457200"/>
                      <a:pt x="228600" y="457200"/>
                    </a:cubicBezTo>
                    <a:cubicBezTo>
                      <a:pt x="354853" y="457200"/>
                      <a:pt x="457200" y="354853"/>
                      <a:pt x="457200" y="228600"/>
                    </a:cubicBezTo>
                    <a:cubicBezTo>
                      <a:pt x="457200" y="102348"/>
                      <a:pt x="354853" y="0"/>
                      <a:pt x="228600" y="0"/>
                    </a:cubicBezTo>
                    <a:close/>
                    <a:moveTo>
                      <a:pt x="57150" y="228600"/>
                    </a:moveTo>
                    <a:cubicBezTo>
                      <a:pt x="57150" y="133911"/>
                      <a:pt x="133911" y="57150"/>
                      <a:pt x="228600" y="57150"/>
                    </a:cubicBezTo>
                    <a:cubicBezTo>
                      <a:pt x="323289" y="57150"/>
                      <a:pt x="400050" y="133911"/>
                      <a:pt x="400050" y="228600"/>
                    </a:cubicBezTo>
                    <a:cubicBezTo>
                      <a:pt x="400050" y="323289"/>
                      <a:pt x="323289" y="400050"/>
                      <a:pt x="228600" y="400050"/>
                    </a:cubicBezTo>
                    <a:cubicBezTo>
                      <a:pt x="133911" y="400050"/>
                      <a:pt x="57150" y="323289"/>
                      <a:pt x="57150" y="228600"/>
                    </a:cubicBez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454390" y="19011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落地方案与展望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515350" y="2368868"/>
              <a:ext cx="1587817" cy="274320"/>
              <a:chOff x="8515350" y="2368868"/>
              <a:chExt cx="1587817" cy="27432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8515350" y="2419350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88705" y="2368868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三个月推进计划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515350" y="2702242"/>
              <a:ext cx="1390650" cy="274320"/>
              <a:chOff x="8515350" y="2702242"/>
              <a:chExt cx="1390650" cy="27432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8515350" y="2752725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688705" y="2702242"/>
                <a:ext cx="12172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关键成功要素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515350" y="3035618"/>
              <a:ext cx="1587817" cy="274320"/>
              <a:chOff x="8515350" y="3035618"/>
              <a:chExt cx="1587817" cy="27432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515350" y="3086100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688705" y="3035618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标准化落地指标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515350" y="3368992"/>
              <a:ext cx="1784985" cy="274320"/>
              <a:chOff x="8515350" y="3368992"/>
              <a:chExt cx="1784985" cy="27432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8515350" y="3419475"/>
                <a:ext cx="76200" cy="76200"/>
              </a:xfrm>
              <a:prstGeom prst="ellipse">
                <a:avLst/>
              </a:pr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688705" y="3368992"/>
                <a:ext cx="16116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携手推进共创价值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559118" y="65146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02 | 今日议程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电销管理六大核心模块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6515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核心洞察：标准化运营是提升电销产能的关键，六大模块相互支撑形成闭环管理体系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524000"/>
            <a:ext cx="3333750" cy="1714500"/>
            <a:chOff x="571500" y="1524000"/>
            <a:chExt cx="3333750" cy="17145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762000" y="1738312"/>
              <a:ext cx="381000" cy="333376"/>
              <a:chOff x="762000" y="1738312"/>
              <a:chExt cx="381000" cy="3333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33438" y="173831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9062" y="59531"/>
                    </a:move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cubicBezTo>
                      <a:pt x="0" y="26653"/>
                      <a:pt x="26653" y="0"/>
                      <a:pt x="59531" y="0"/>
                    </a:cubicBez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62000" y="1905000"/>
                <a:ext cx="19050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6668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lnTo>
                      <a:pt x="0" y="166688"/>
                    </a:lnTo>
                    <a:lnTo>
                      <a:pt x="190500" y="166688"/>
                    </a:lnTo>
                    <a:lnTo>
                      <a:pt x="190500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0125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71438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71438"/>
                    </a:lnTo>
                    <a:cubicBezTo>
                      <a:pt x="142875" y="31984"/>
                      <a:pt x="110892" y="0"/>
                      <a:pt x="71438" y="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0125" y="176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66825" y="1819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坐席分级管理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760" y="2251710"/>
              <a:ext cx="13712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ABC分级竞争机制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251841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同等级竞争晋升路径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6760" y="27851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名单量差异化分配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29125" y="1524000"/>
            <a:ext cx="3333750" cy="1714500"/>
            <a:chOff x="4429125" y="1524000"/>
            <a:chExt cx="3333750" cy="1714500"/>
          </a:xfrm>
        </p:grpSpPr>
        <p:sp>
          <p:nvSpPr>
            <p:cNvPr id="18" name="Freeform 18"/>
            <p:cNvSpPr/>
            <p:nvPr/>
          </p:nvSpPr>
          <p:spPr>
            <a:xfrm>
              <a:off x="4429125" y="1524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124450" y="1819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话术沉淀体系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2251710"/>
              <a:ext cx="11784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7类专项话术库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4385" y="25184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月度迭代更新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4385" y="278511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绩优分享标准化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86750" y="1524000"/>
            <a:ext cx="3333750" cy="1714500"/>
            <a:chOff x="8286750" y="1524000"/>
            <a:chExt cx="3333750" cy="1714500"/>
          </a:xfrm>
        </p:grpSpPr>
        <p:sp>
          <p:nvSpPr>
            <p:cNvPr id="24" name="Freeform 24"/>
            <p:cNvSpPr/>
            <p:nvPr/>
          </p:nvSpPr>
          <p:spPr>
            <a:xfrm>
              <a:off x="8286750" y="1524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grpSp>
          <p:nvGrpSpPr>
            <p:cNvPr id="28" name="Group 28"/>
            <p:cNvGrpSpPr/>
            <p:nvPr/>
          </p:nvGrpSpPr>
          <p:grpSpPr>
            <a:xfrm>
              <a:off x="8477250" y="1714500"/>
              <a:ext cx="381000" cy="357188"/>
              <a:chOff x="8477250" y="1714500"/>
              <a:chExt cx="381000" cy="3571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477250" y="1714500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71438" y="71438"/>
                    </a:moveTo>
                    <a:lnTo>
                      <a:pt x="71438" y="0"/>
                    </a:lnTo>
                    <a:lnTo>
                      <a:pt x="119062" y="0"/>
                    </a:lnTo>
                    <a:cubicBezTo>
                      <a:pt x="158516" y="0"/>
                      <a:pt x="190500" y="31984"/>
                      <a:pt x="190500" y="71438"/>
                    </a:cubicBezTo>
                    <a:cubicBezTo>
                      <a:pt x="190500" y="31984"/>
                      <a:pt x="222484" y="0"/>
                      <a:pt x="261938" y="0"/>
                    </a:cubicBezTo>
                    <a:lnTo>
                      <a:pt x="309562" y="0"/>
                    </a:lnTo>
                    <a:lnTo>
                      <a:pt x="309562" y="71438"/>
                    </a:lnTo>
                    <a:lnTo>
                      <a:pt x="381000" y="71438"/>
                    </a:lnTo>
                    <a:lnTo>
                      <a:pt x="381000" y="142875"/>
                    </a:lnTo>
                    <a:lnTo>
                      <a:pt x="0" y="142875"/>
                    </a:lnTo>
                    <a:lnTo>
                      <a:pt x="0" y="71438"/>
                    </a:lnTo>
                    <a:lnTo>
                      <a:pt x="71438" y="71438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0106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69156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982075" y="1819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团队激励方案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2010" y="22517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日周维度即时激励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62010" y="2518410"/>
              <a:ext cx="9243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团队PK活动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010" y="278511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可视化排名体系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3429000"/>
            <a:ext cx="3333750" cy="1714500"/>
            <a:chOff x="571500" y="3429000"/>
            <a:chExt cx="3333750" cy="1714500"/>
          </a:xfrm>
        </p:grpSpPr>
        <p:sp>
          <p:nvSpPr>
            <p:cNvPr id="34" name="Freeform 34"/>
            <p:cNvSpPr/>
            <p:nvPr/>
          </p:nvSpPr>
          <p:spPr>
            <a:xfrm>
              <a:off x="571500" y="3429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1266825" y="3724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三会管理流程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6760" y="4156710"/>
              <a:ext cx="15815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早会15分钟结果对齐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760" y="4423410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午会10分钟叫醒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760" y="46901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晚会复盘培训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29125" y="3429000"/>
            <a:ext cx="3333750" cy="1714500"/>
            <a:chOff x="4429125" y="3429000"/>
            <a:chExt cx="3333750" cy="1714500"/>
          </a:xfrm>
        </p:grpSpPr>
        <p:sp>
          <p:nvSpPr>
            <p:cNvPr id="40" name="Freeform 40"/>
            <p:cNvSpPr/>
            <p:nvPr/>
          </p:nvSpPr>
          <p:spPr>
            <a:xfrm>
              <a:off x="4429125" y="3429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grpSp>
          <p:nvGrpSpPr>
            <p:cNvPr id="44" name="Group 44"/>
            <p:cNvGrpSpPr/>
            <p:nvPr/>
          </p:nvGrpSpPr>
          <p:grpSpPr>
            <a:xfrm>
              <a:off x="4667250" y="3619500"/>
              <a:ext cx="285750" cy="381000"/>
              <a:chOff x="4667250" y="3619500"/>
              <a:chExt cx="285750" cy="381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667250" y="3771900"/>
                <a:ext cx="285750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09537">
                    <a:moveTo>
                      <a:pt x="265202" y="12148"/>
                    </a:moveTo>
                    <a:cubicBezTo>
                      <a:pt x="271901" y="8798"/>
                      <a:pt x="278899" y="4758"/>
                      <a:pt x="285750" y="0"/>
                    </a:cubicBezTo>
                    <a:lnTo>
                      <a:pt x="285750" y="38100"/>
                    </a:lnTo>
                    <a:cubicBezTo>
                      <a:pt x="285750" y="77554"/>
                      <a:pt x="221782" y="109537"/>
                      <a:pt x="142875" y="109537"/>
                    </a:cubicBezTo>
                    <a:cubicBezTo>
                      <a:pt x="63967" y="109537"/>
                      <a:pt x="0" y="77554"/>
                      <a:pt x="0" y="38100"/>
                    </a:cubicBezTo>
                    <a:lnTo>
                      <a:pt x="0" y="0"/>
                    </a:lnTo>
                    <a:cubicBezTo>
                      <a:pt x="6851" y="4758"/>
                      <a:pt x="13849" y="8798"/>
                      <a:pt x="20549" y="12148"/>
                    </a:cubicBezTo>
                    <a:cubicBezTo>
                      <a:pt x="54315" y="29032"/>
                      <a:pt x="97631" y="38100"/>
                      <a:pt x="142875" y="38100"/>
                    </a:cubicBezTo>
                    <a:cubicBezTo>
                      <a:pt x="188119" y="38100"/>
                      <a:pt x="231434" y="29032"/>
                      <a:pt x="265202" y="12148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667250" y="3890962"/>
                <a:ext cx="28575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09538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77555"/>
                      <a:pt x="63967" y="109538"/>
                      <a:pt x="142875" y="109538"/>
                    </a:cubicBezTo>
                    <a:cubicBezTo>
                      <a:pt x="221782" y="109538"/>
                      <a:pt x="285750" y="77555"/>
                      <a:pt x="285750" y="38100"/>
                    </a:cubicBezTo>
                    <a:lnTo>
                      <a:pt x="285750" y="0"/>
                    </a:lnTo>
                    <a:cubicBezTo>
                      <a:pt x="278899" y="4758"/>
                      <a:pt x="271901" y="8799"/>
                      <a:pt x="265202" y="12149"/>
                    </a:cubicBezTo>
                    <a:cubicBezTo>
                      <a:pt x="231434" y="29032"/>
                      <a:pt x="188119" y="38100"/>
                      <a:pt x="142875" y="38100"/>
                    </a:cubicBezTo>
                    <a:cubicBezTo>
                      <a:pt x="97631" y="38100"/>
                      <a:pt x="54315" y="29032"/>
                      <a:pt x="20549" y="12149"/>
                    </a:cubicBezTo>
                    <a:cubicBezTo>
                      <a:pt x="13849" y="8799"/>
                      <a:pt x="6851" y="4758"/>
                      <a:pt x="0" y="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67250" y="3619500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142875" y="0"/>
                    </a:moveTo>
                    <a:cubicBezTo>
                      <a:pt x="221782" y="0"/>
                      <a:pt x="285750" y="31984"/>
                      <a:pt x="285750" y="71438"/>
                    </a:cubicBezTo>
                    <a:cubicBezTo>
                      <a:pt x="285750" y="110891"/>
                      <a:pt x="221782" y="142875"/>
                      <a:pt x="142875" y="142875"/>
                    </a:cubicBezTo>
                    <a:cubicBezTo>
                      <a:pt x="63967" y="142875"/>
                      <a:pt x="0" y="110891"/>
                      <a:pt x="0" y="71438"/>
                    </a:cubicBezTo>
                    <a:cubicBezTo>
                      <a:pt x="0" y="31984"/>
                      <a:pt x="63967" y="0"/>
                      <a:pt x="142875" y="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124450" y="3724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名单管控规则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4385" y="4156710"/>
              <a:ext cx="13712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新名单静置2-3天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04385" y="4423410"/>
              <a:ext cx="13712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单名单拨打≤40次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04385" y="46901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周末全量回收清零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86750" y="3429000"/>
            <a:ext cx="3333750" cy="1714500"/>
            <a:chOff x="8286750" y="3429000"/>
            <a:chExt cx="3333750" cy="1714500"/>
          </a:xfrm>
        </p:grpSpPr>
        <p:sp>
          <p:nvSpPr>
            <p:cNvPr id="50" name="Freeform 50"/>
            <p:cNvSpPr/>
            <p:nvPr/>
          </p:nvSpPr>
          <p:spPr>
            <a:xfrm>
              <a:off x="8286750" y="3429000"/>
              <a:ext cx="3333750" cy="1714500"/>
            </a:xfrm>
            <a:custGeom>
              <a:avLst/>
              <a:gdLst/>
              <a:ahLst/>
              <a:cxnLst/>
              <a:rect l="l" t="t" r="r" b="b"/>
              <a:pathLst>
                <a:path w="3333750" h="1714500">
                  <a:moveTo>
                    <a:pt x="114300" y="0"/>
                  </a:moveTo>
                  <a:lnTo>
                    <a:pt x="3219450" y="0"/>
                  </a:lnTo>
                  <a:cubicBezTo>
                    <a:pt x="3282576" y="0"/>
                    <a:pt x="3333750" y="51174"/>
                    <a:pt x="3333750" y="114300"/>
                  </a:cubicBezTo>
                  <a:lnTo>
                    <a:pt x="3333750" y="1600200"/>
                  </a:lnTo>
                  <a:cubicBezTo>
                    <a:pt x="3333750" y="1663326"/>
                    <a:pt x="3282576" y="1714500"/>
                    <a:pt x="32194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51" name="Freeform 51"/>
            <p:cNvSpPr/>
            <p:nvPr/>
          </p:nvSpPr>
          <p:spPr>
            <a:xfrm>
              <a:off x="8477250" y="3619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lose/>
                  <a:moveTo>
                    <a:pt x="166688" y="71438"/>
                  </a:moveTo>
                  <a:lnTo>
                    <a:pt x="166688" y="200363"/>
                  </a:lnTo>
                  <a:lnTo>
                    <a:pt x="245100" y="278775"/>
                  </a:lnTo>
                  <a:lnTo>
                    <a:pt x="278775" y="245100"/>
                  </a:lnTo>
                  <a:lnTo>
                    <a:pt x="214312" y="180637"/>
                  </a:lnTo>
                  <a:lnTo>
                    <a:pt x="214312" y="71438"/>
                  </a:lnTo>
                  <a:lnTo>
                    <a:pt x="166688" y="71438"/>
                  </a:ln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82075" y="372427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分时段拨打策略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2010" y="4156710"/>
              <a:ext cx="17743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9:00-9:30回拨高意向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62010" y="4423410"/>
              <a:ext cx="17042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18:30-19:30黄金时段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62010" y="4690110"/>
              <a:ext cx="1467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客户ABCD分级优先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59118" y="6514624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03 | 电销管理六大核心模块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32360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ABC分级竞争机制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511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核心原则：同等级竞争保证公平感，清晰的晋升路径维持长期动力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524000"/>
            <a:ext cx="4286250" cy="4572000"/>
            <a:chOff x="571500" y="1524000"/>
            <a:chExt cx="4286250" cy="45720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4286250" cy="4572000"/>
            </a:xfrm>
            <a:custGeom>
              <a:avLst/>
              <a:gdLst/>
              <a:ahLst/>
              <a:cxnLst/>
              <a:rect l="l" t="t" r="r" b="b"/>
              <a:pathLst>
                <a:path w="4286250" h="4572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4457700"/>
                  </a:lnTo>
                  <a:cubicBezTo>
                    <a:pt x="4286250" y="4520826"/>
                    <a:pt x="4235076" y="4572000"/>
                    <a:pt x="417195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4390" y="17583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57250" y="2286000"/>
              <a:ext cx="3714750" cy="952500"/>
              <a:chOff x="857250" y="2286000"/>
              <a:chExt cx="3714750" cy="952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57250" y="2286000"/>
                <a:ext cx="3714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00">
                    <a:moveTo>
                      <a:pt x="76200" y="0"/>
                    </a:moveTo>
                    <a:lnTo>
                      <a:pt x="3638550" y="0"/>
                    </a:lnTo>
                    <a:cubicBezTo>
                      <a:pt x="3680634" y="0"/>
                      <a:pt x="3714750" y="34116"/>
                      <a:pt x="3714750" y="76200"/>
                    </a:cubicBezTo>
                    <a:lnTo>
                      <a:pt x="3714750" y="876300"/>
                    </a:lnTo>
                    <a:cubicBezTo>
                      <a:pt x="3714750" y="918384"/>
                      <a:pt x="3680634" y="952500"/>
                      <a:pt x="3638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52500" y="2571750"/>
                <a:ext cx="381000" cy="381000"/>
              </a:xfrm>
              <a:prstGeom prst="ellipse">
                <a:avLst/>
              </a:prstGeom>
              <a:solidFill>
                <a:srgbClr val="005587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89446" y="2667000"/>
                <a:ext cx="1071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9230" y="252126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同等级竞争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61135" y="2823210"/>
                <a:ext cx="23263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C级不越级A级，保证竞争信心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3429000"/>
              <a:ext cx="3714750" cy="952500"/>
              <a:chOff x="857250" y="3429000"/>
              <a:chExt cx="3714750" cy="952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57250" y="3429000"/>
                <a:ext cx="3714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00">
                    <a:moveTo>
                      <a:pt x="76200" y="0"/>
                    </a:moveTo>
                    <a:lnTo>
                      <a:pt x="3638550" y="0"/>
                    </a:lnTo>
                    <a:cubicBezTo>
                      <a:pt x="3680634" y="0"/>
                      <a:pt x="3714750" y="34116"/>
                      <a:pt x="3714750" y="76200"/>
                    </a:cubicBezTo>
                    <a:lnTo>
                      <a:pt x="3714750" y="876300"/>
                    </a:lnTo>
                    <a:cubicBezTo>
                      <a:pt x="3714750" y="918384"/>
                      <a:pt x="3680634" y="952500"/>
                      <a:pt x="3638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52500" y="3714750"/>
                <a:ext cx="381000" cy="381000"/>
              </a:xfrm>
              <a:prstGeom prst="ellipse">
                <a:avLst/>
              </a:prstGeom>
              <a:solidFill>
                <a:srgbClr val="005587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60692" y="38100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59230" y="366426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清晰晋升路径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61135" y="3966210"/>
                <a:ext cx="2089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C→B→A，每级都有明确目标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57250" y="4572000"/>
              <a:ext cx="3714750" cy="952500"/>
              <a:chOff x="857250" y="4572000"/>
              <a:chExt cx="3714750" cy="952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57250" y="4572000"/>
                <a:ext cx="3714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00">
                    <a:moveTo>
                      <a:pt x="76200" y="0"/>
                    </a:moveTo>
                    <a:lnTo>
                      <a:pt x="3638550" y="0"/>
                    </a:lnTo>
                    <a:cubicBezTo>
                      <a:pt x="3680634" y="0"/>
                      <a:pt x="3714750" y="34116"/>
                      <a:pt x="3714750" y="76200"/>
                    </a:cubicBezTo>
                    <a:lnTo>
                      <a:pt x="3714750" y="876300"/>
                    </a:lnTo>
                    <a:cubicBezTo>
                      <a:pt x="3714750" y="918384"/>
                      <a:pt x="3680634" y="952500"/>
                      <a:pt x="3638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952500" y="4857750"/>
                <a:ext cx="381000" cy="381000"/>
              </a:xfrm>
              <a:prstGeom prst="ellipse">
                <a:avLst/>
              </a:prstGeom>
              <a:solidFill>
                <a:srgbClr val="005587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60692" y="49530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59230" y="480726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名单量差异化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61135" y="5109210"/>
                <a:ext cx="23000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A级比C级多15条，奖励能力者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143500" y="1524000"/>
            <a:ext cx="6477000" cy="4572000"/>
            <a:chOff x="5143500" y="1524000"/>
            <a:chExt cx="6477000" cy="4572000"/>
          </a:xfrm>
        </p:grpSpPr>
        <p:sp>
          <p:nvSpPr>
            <p:cNvPr id="29" name="Freeform 29"/>
            <p:cNvSpPr/>
            <p:nvPr/>
          </p:nvSpPr>
          <p:spPr>
            <a:xfrm>
              <a:off x="5143500" y="1524000"/>
              <a:ext cx="6477000" cy="4572000"/>
            </a:xfrm>
            <a:custGeom>
              <a:avLst/>
              <a:gdLst/>
              <a:ahLst/>
              <a:cxnLst/>
              <a:rect l="l" t="t" r="r" b="b"/>
              <a:pathLst>
                <a:path w="6477000" h="45720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4457700"/>
                  </a:lnTo>
                  <a:cubicBezTo>
                    <a:pt x="6477000" y="4520826"/>
                    <a:pt x="6425826" y="4572000"/>
                    <a:pt x="6362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5F5"/>
            </a:solidFill>
            <a:ln w="9525">
              <a:solidFill>
                <a:srgbClr val="FFCCCC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0" name="Freeform 30"/>
            <p:cNvSpPr/>
            <p:nvPr/>
          </p:nvSpPr>
          <p:spPr>
            <a:xfrm>
              <a:off x="5143500" y="1524000"/>
              <a:ext cx="6477000" cy="57150"/>
            </a:xfrm>
            <a:custGeom>
              <a:avLst/>
              <a:gdLst/>
              <a:ahLst/>
              <a:cxnLst/>
              <a:rect l="l" t="t" r="r" b="b"/>
              <a:pathLst>
                <a:path w="6477000" h="57150">
                  <a:moveTo>
                    <a:pt x="28575" y="0"/>
                  </a:moveTo>
                  <a:lnTo>
                    <a:pt x="6448425" y="0"/>
                  </a:lnTo>
                  <a:cubicBezTo>
                    <a:pt x="6464207" y="0"/>
                    <a:pt x="6477000" y="12793"/>
                    <a:pt x="6477000" y="28575"/>
                  </a:cubicBezTo>
                  <a:lnTo>
                    <a:pt x="6477000" y="28575"/>
                  </a:lnTo>
                  <a:cubicBezTo>
                    <a:pt x="6477000" y="44357"/>
                    <a:pt x="6464207" y="57150"/>
                    <a:pt x="6448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06390" y="1758315"/>
              <a:ext cx="418623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失败教训：王者荣耀段位分级尝试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429250" y="2286000"/>
              <a:ext cx="5905500" cy="762000"/>
              <a:chOff x="5429250" y="2286000"/>
              <a:chExt cx="5905500" cy="762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429250" y="2286000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76200" y="0"/>
                    </a:moveTo>
                    <a:lnTo>
                      <a:pt x="5829300" y="0"/>
                    </a:lnTo>
                    <a:cubicBezTo>
                      <a:pt x="5871384" y="0"/>
                      <a:pt x="5905500" y="34116"/>
                      <a:pt x="5905500" y="76200"/>
                    </a:cubicBezTo>
                    <a:lnTo>
                      <a:pt x="5905500" y="685800"/>
                    </a:lnTo>
                    <a:cubicBezTo>
                      <a:pt x="5905500" y="727884"/>
                      <a:pt x="5871384" y="762000"/>
                      <a:pt x="58293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57850" y="251460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752634" y="2610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78855" y="2426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初期效果很好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80760" y="2708910"/>
                <a:ext cx="31851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坐席主动加班冲业绩，段位晋升激励明显</a:t>
                </a:r>
              </a:p>
            </p:txBody>
          </p:sp>
        </p:grpSp>
        <p:sp>
          <p:nvSpPr>
            <p:cNvPr id="38" name="Polygon 38"/>
            <p:cNvSpPr/>
            <p:nvPr/>
          </p:nvSpPr>
          <p:spPr>
            <a:xfrm>
              <a:off x="8524875" y="3190875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142875" y="0"/>
                  </a:move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429250" y="3429000"/>
              <a:ext cx="5905500" cy="762000"/>
              <a:chOff x="5429250" y="3429000"/>
              <a:chExt cx="5905500" cy="762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429250" y="3429000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76200" y="0"/>
                    </a:moveTo>
                    <a:lnTo>
                      <a:pt x="5829300" y="0"/>
                    </a:lnTo>
                    <a:cubicBezTo>
                      <a:pt x="5871384" y="0"/>
                      <a:pt x="5905500" y="34116"/>
                      <a:pt x="5905500" y="76200"/>
                    </a:cubicBezTo>
                    <a:lnTo>
                      <a:pt x="5905500" y="685800"/>
                    </a:lnTo>
                    <a:cubicBezTo>
                      <a:pt x="5905500" y="727884"/>
                      <a:pt x="5871384" y="762000"/>
                      <a:pt x="58293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657850" y="3657600"/>
                <a:ext cx="304800" cy="304800"/>
              </a:xfrm>
              <a:prstGeom prst="ellipse">
                <a:avLst/>
              </a:pr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772762" y="375380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!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78855" y="3569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问题逐渐暴露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080760" y="3851910"/>
                <a:ext cx="4411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分级后直接对应固定名单额度，低段位坐席产生不公平感</a:t>
                </a:r>
              </a:p>
            </p:txBody>
          </p:sp>
        </p:grpSp>
        <p:sp>
          <p:nvSpPr>
            <p:cNvPr id="45" name="Polygon 45"/>
            <p:cNvSpPr/>
            <p:nvPr/>
          </p:nvSpPr>
          <p:spPr>
            <a:xfrm>
              <a:off x="8524875" y="4333875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142875" y="0"/>
                  </a:move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429250" y="4572000"/>
              <a:ext cx="5905500" cy="762000"/>
              <a:chOff x="5429250" y="4572000"/>
              <a:chExt cx="5905500" cy="762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429250" y="4572000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76200" y="0"/>
                    </a:moveTo>
                    <a:lnTo>
                      <a:pt x="5829300" y="0"/>
                    </a:lnTo>
                    <a:cubicBezTo>
                      <a:pt x="5871384" y="0"/>
                      <a:pt x="5905500" y="34116"/>
                      <a:pt x="5905500" y="76200"/>
                    </a:cubicBezTo>
                    <a:lnTo>
                      <a:pt x="5905500" y="685800"/>
                    </a:lnTo>
                    <a:cubicBezTo>
                      <a:pt x="5905500" y="727884"/>
                      <a:pt x="5871384" y="762000"/>
                      <a:pt x="58293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5657850" y="4800600"/>
                <a:ext cx="304800" cy="304800"/>
              </a:xfrm>
              <a:prstGeom prst="ellipse">
                <a:avLst/>
              </a:pr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752634" y="4896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078855" y="4712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效果逐渐下滑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080760" y="4994910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低段位坐席认为永远升不上去，产生倦怠情绪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429250" y="5524500"/>
              <a:ext cx="5905500" cy="381000"/>
              <a:chOff x="5429250" y="5524500"/>
              <a:chExt cx="5905500" cy="381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429250" y="5524500"/>
                <a:ext cx="5905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381000">
                    <a:moveTo>
                      <a:pt x="76200" y="0"/>
                    </a:moveTo>
                    <a:lnTo>
                      <a:pt x="5829300" y="0"/>
                    </a:lnTo>
                    <a:cubicBezTo>
                      <a:pt x="5871384" y="0"/>
                      <a:pt x="5905500" y="34116"/>
                      <a:pt x="5905500" y="76200"/>
                    </a:cubicBezTo>
                    <a:lnTo>
                      <a:pt x="5905500" y="304800"/>
                    </a:lnTo>
                    <a:cubicBezTo>
                      <a:pt x="5905500" y="346884"/>
                      <a:pt x="5871384" y="381000"/>
                      <a:pt x="582930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D04A02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604510" y="5652135"/>
                <a:ext cx="50175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04A02"/>
                    </a:solidFill>
                    <a:latin typeface="Arial"/>
                    <a:ea typeface="Microsoft YaHei"/>
                    <a:cs typeface="Arial"/>
                  </a:rPr>
                  <a:t>核心问题：固定名单额度导致"阶层固化"，破坏了竞争公平性</a:t>
                </a: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559118" y="6514624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04 | ABC分级竞争机制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日周维度即时激励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5463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核心洞察：即时正向反馈提升内驱力，但需控制频率避免激励价值稀释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524000"/>
            <a:ext cx="11049000" cy="1905000"/>
            <a:chOff x="571500" y="1524000"/>
            <a:chExt cx="11049000" cy="19050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790700"/>
                  </a:lnTo>
                  <a:cubicBezTo>
                    <a:pt x="11049000" y="1853826"/>
                    <a:pt x="10997826" y="1905000"/>
                    <a:pt x="1093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62000" y="1714500"/>
              <a:ext cx="381000" cy="357188"/>
              <a:chOff x="762000" y="1714500"/>
              <a:chExt cx="381000" cy="3571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1714500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71438" y="71438"/>
                    </a:moveTo>
                    <a:lnTo>
                      <a:pt x="71438" y="0"/>
                    </a:lnTo>
                    <a:lnTo>
                      <a:pt x="119062" y="0"/>
                    </a:lnTo>
                    <a:cubicBezTo>
                      <a:pt x="158516" y="0"/>
                      <a:pt x="190500" y="31984"/>
                      <a:pt x="190500" y="71438"/>
                    </a:cubicBezTo>
                    <a:cubicBezTo>
                      <a:pt x="190500" y="31984"/>
                      <a:pt x="222484" y="0"/>
                      <a:pt x="261938" y="0"/>
                    </a:cubicBezTo>
                    <a:lnTo>
                      <a:pt x="309562" y="0"/>
                    </a:lnTo>
                    <a:lnTo>
                      <a:pt x="309562" y="71438"/>
                    </a:lnTo>
                    <a:lnTo>
                      <a:pt x="381000" y="71438"/>
                    </a:lnTo>
                    <a:lnTo>
                      <a:pt x="381000" y="142875"/>
                    </a:lnTo>
                    <a:lnTo>
                      <a:pt x="0" y="142875"/>
                    </a:lnTo>
                    <a:lnTo>
                      <a:pt x="0" y="71438"/>
                    </a:lnTo>
                    <a:lnTo>
                      <a:pt x="71438" y="71438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581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631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63015" y="178689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日维度：分段激励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57250" y="2190750"/>
              <a:ext cx="3333750" cy="957262"/>
              <a:chOff x="857250" y="2190750"/>
              <a:chExt cx="3333750" cy="9572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57250" y="2190750"/>
                <a:ext cx="3333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00">
                    <a:moveTo>
                      <a:pt x="76200" y="0"/>
                    </a:moveTo>
                    <a:lnTo>
                      <a:pt x="3257550" y="0"/>
                    </a:lnTo>
                    <a:cubicBezTo>
                      <a:pt x="3299634" y="0"/>
                      <a:pt x="3333750" y="34116"/>
                      <a:pt x="3333750" y="76200"/>
                    </a:cubicBezTo>
                    <a:lnTo>
                      <a:pt x="3333750" y="876300"/>
                    </a:lnTo>
                    <a:cubicBezTo>
                      <a:pt x="3333750" y="918384"/>
                      <a:pt x="3299634" y="952500"/>
                      <a:pt x="3257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30605" y="237839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上午开单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2510" y="2680335"/>
                <a:ext cx="13274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开出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2单</a:t>
                </a:r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→ 抽红包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4415" y="2934652"/>
                <a:ext cx="10234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99999"/>
                    </a:solidFill>
                    <a:latin typeface="Calibri"/>
                    <a:ea typeface="Microsoft YaHei"/>
                    <a:cs typeface="Calibri"/>
                  </a:rPr>
                  <a:t>金额：16-88元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381500" y="2190750"/>
              <a:ext cx="3333750" cy="957262"/>
              <a:chOff x="4381500" y="2190750"/>
              <a:chExt cx="3333750" cy="95726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381500" y="2190750"/>
                <a:ext cx="3333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00">
                    <a:moveTo>
                      <a:pt x="76200" y="0"/>
                    </a:moveTo>
                    <a:lnTo>
                      <a:pt x="3257550" y="0"/>
                    </a:lnTo>
                    <a:cubicBezTo>
                      <a:pt x="3299634" y="0"/>
                      <a:pt x="3333750" y="34116"/>
                      <a:pt x="3333750" y="76200"/>
                    </a:cubicBezTo>
                    <a:lnTo>
                      <a:pt x="3333750" y="876300"/>
                    </a:lnTo>
                    <a:cubicBezTo>
                      <a:pt x="3333750" y="918384"/>
                      <a:pt x="3299634" y="952500"/>
                      <a:pt x="3257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54855" y="2378392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下午第一轮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6760" y="26803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开出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3单</a:t>
                </a:r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→ 再抽一次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8665" y="2934652"/>
                <a:ext cx="10234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99999"/>
                    </a:solidFill>
                    <a:latin typeface="Calibri"/>
                    <a:ea typeface="Microsoft YaHei"/>
                    <a:cs typeface="Calibri"/>
                  </a:rPr>
                  <a:t>金额：16-88元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905750" y="2190750"/>
              <a:ext cx="3333750" cy="957262"/>
              <a:chOff x="7905750" y="2190750"/>
              <a:chExt cx="3333750" cy="9572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905750" y="2190750"/>
                <a:ext cx="33337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00">
                    <a:moveTo>
                      <a:pt x="76200" y="0"/>
                    </a:moveTo>
                    <a:lnTo>
                      <a:pt x="3257550" y="0"/>
                    </a:lnTo>
                    <a:cubicBezTo>
                      <a:pt x="3299634" y="0"/>
                      <a:pt x="3333750" y="34116"/>
                      <a:pt x="3333750" y="76200"/>
                    </a:cubicBezTo>
                    <a:lnTo>
                      <a:pt x="3333750" y="876300"/>
                    </a:lnTo>
                    <a:cubicBezTo>
                      <a:pt x="3333750" y="918384"/>
                      <a:pt x="3299634" y="952500"/>
                      <a:pt x="32575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079105" y="2378392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下午第二轮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081010" y="26803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开出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6单</a:t>
                </a:r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→ 再抽一次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82915" y="2934652"/>
                <a:ext cx="10234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99999"/>
                    </a:solidFill>
                    <a:latin typeface="Calibri"/>
                    <a:ea typeface="Microsoft YaHei"/>
                    <a:cs typeface="Calibri"/>
                  </a:rPr>
                  <a:t>金额：16-88元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571500" y="3714750"/>
            <a:ext cx="5334000" cy="2381250"/>
            <a:chOff x="571500" y="3714750"/>
            <a:chExt cx="5334000" cy="2381250"/>
          </a:xfrm>
        </p:grpSpPr>
        <p:sp>
          <p:nvSpPr>
            <p:cNvPr id="30" name="Freeform 30"/>
            <p:cNvSpPr/>
            <p:nvPr/>
          </p:nvSpPr>
          <p:spPr>
            <a:xfrm>
              <a:off x="571500" y="37147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266950"/>
                  </a:lnTo>
                  <a:cubicBezTo>
                    <a:pt x="5334000" y="2330076"/>
                    <a:pt x="5282826" y="2381250"/>
                    <a:pt x="5219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571500" y="3714750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85812" y="3905250"/>
              <a:ext cx="333375" cy="357188"/>
              <a:chOff x="785812" y="3905250"/>
              <a:chExt cx="333375" cy="3571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85812" y="3905250"/>
                <a:ext cx="3333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19062">
                    <a:moveTo>
                      <a:pt x="119062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119062"/>
                    </a:lnTo>
                    <a:lnTo>
                      <a:pt x="333375" y="119062"/>
                    </a:lnTo>
                    <a:lnTo>
                      <a:pt x="333375" y="47625"/>
                    </a:lnTo>
                    <a:lnTo>
                      <a:pt x="285750" y="47625"/>
                    </a:lnTo>
                    <a:lnTo>
                      <a:pt x="285750" y="0"/>
                    </a:lnTo>
                    <a:lnTo>
                      <a:pt x="214312" y="0"/>
                    </a:lnTo>
                    <a:lnTo>
                      <a:pt x="214312" y="47625"/>
                    </a:lnTo>
                    <a:lnTo>
                      <a:pt x="119062" y="47625"/>
                    </a:lnTo>
                    <a:lnTo>
                      <a:pt x="119062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5812" y="4071938"/>
                <a:ext cx="333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90500">
                    <a:moveTo>
                      <a:pt x="333375" y="0"/>
                    </a:moveTo>
                    <a:lnTo>
                      <a:pt x="0" y="0"/>
                    </a:lnTo>
                    <a:lnTo>
                      <a:pt x="0" y="190500"/>
                    </a:lnTo>
                    <a:lnTo>
                      <a:pt x="333375" y="190500"/>
                    </a:lnTo>
                    <a:lnTo>
                      <a:pt x="333375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63015" y="397764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周维度：大额奖励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57250" y="4429125"/>
              <a:ext cx="4762500" cy="1333500"/>
              <a:chOff x="857250" y="4429125"/>
              <a:chExt cx="4762500" cy="1333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7250" y="4429125"/>
                <a:ext cx="4762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1333500">
                    <a:moveTo>
                      <a:pt x="76200" y="0"/>
                    </a:moveTo>
                    <a:lnTo>
                      <a:pt x="4686300" y="0"/>
                    </a:lnTo>
                    <a:cubicBezTo>
                      <a:pt x="4728384" y="0"/>
                      <a:pt x="4762500" y="34116"/>
                      <a:pt x="4762500" y="76200"/>
                    </a:cubicBezTo>
                    <a:lnTo>
                      <a:pt x="4762500" y="1257300"/>
                    </a:lnTo>
                    <a:cubicBezTo>
                      <a:pt x="4762500" y="1299384"/>
                      <a:pt x="4728384" y="1333500"/>
                      <a:pt x="46863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30605" y="461676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触发条件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32510" y="4918710"/>
                <a:ext cx="18794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大盘人均不到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2单</a:t>
                </a:r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的周期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32510" y="5204460"/>
                <a:ext cx="17567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个人周开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12单</a:t>
                </a:r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即可参与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07105" y="461676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奖励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09010" y="4918710"/>
                <a:ext cx="906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抽一次奖品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509010" y="5204460"/>
                <a:ext cx="13098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金额：</a:t>
                </a:r>
                <a:r>
                  <a:rPr lang="zh-CN" sz="1200" b="1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50-300元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86500" y="3714750"/>
            <a:ext cx="5334000" cy="2381250"/>
            <a:chOff x="6286500" y="3714750"/>
            <a:chExt cx="5334000" cy="2381250"/>
          </a:xfrm>
        </p:grpSpPr>
        <p:sp>
          <p:nvSpPr>
            <p:cNvPr id="45" name="Freeform 45"/>
            <p:cNvSpPr/>
            <p:nvPr/>
          </p:nvSpPr>
          <p:spPr>
            <a:xfrm>
              <a:off x="6286500" y="37147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266950"/>
                  </a:lnTo>
                  <a:cubicBezTo>
                    <a:pt x="5334000" y="2330076"/>
                    <a:pt x="5282826" y="2381250"/>
                    <a:pt x="5219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8F0"/>
            </a:solidFill>
            <a:ln w="9525">
              <a:solidFill>
                <a:srgbClr val="FFE0B2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46" name="Freeform 46"/>
            <p:cNvSpPr/>
            <p:nvPr/>
          </p:nvSpPr>
          <p:spPr>
            <a:xfrm>
              <a:off x="6286500" y="3714750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78015" y="39776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关键原则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6572250" y="4429125"/>
              <a:ext cx="2276475" cy="1571625"/>
              <a:chOff x="6572250" y="4429125"/>
              <a:chExt cx="2276475" cy="1571625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6572250" y="4429125"/>
                <a:ext cx="1575435" cy="285750"/>
                <a:chOff x="6572250" y="4429125"/>
                <a:chExt cx="1575435" cy="285750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6572250" y="4429125"/>
                  <a:ext cx="228600" cy="228600"/>
                </a:xfrm>
                <a:prstGeom prst="ellipse">
                  <a:avLst/>
                </a:prstGeom>
                <a:solidFill>
                  <a:srgbClr val="D04A02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649062" y="4477702"/>
                  <a:ext cx="7497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890385" y="4471035"/>
                  <a:ext cx="125730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不要天天做激励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6572250" y="4857750"/>
                <a:ext cx="2276475" cy="285750"/>
                <a:chOff x="6572250" y="4857750"/>
                <a:chExt cx="2276475" cy="285750"/>
              </a:xfrm>
            </p:grpSpPr>
            <p:sp>
              <p:nvSpPr>
                <p:cNvPr id="52" name="Ellipse 52"/>
                <p:cNvSpPr/>
                <p:nvPr/>
              </p:nvSpPr>
              <p:spPr>
                <a:xfrm>
                  <a:off x="6572250" y="4857750"/>
                  <a:ext cx="228600" cy="228600"/>
                </a:xfrm>
                <a:prstGeom prst="ellipse">
                  <a:avLst/>
                </a:prstGeom>
                <a:solidFill>
                  <a:srgbClr val="D04A02"/>
                </a:solidFill>
                <a:ln>
                  <a:noFill/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6628934" y="4906328"/>
                  <a:ext cx="11523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890385" y="4899660"/>
                  <a:ext cx="195834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放在月头第一周、月尾做</a:t>
                  </a: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6572250" y="5286375"/>
                <a:ext cx="1925955" cy="285750"/>
                <a:chOff x="6572250" y="5286375"/>
                <a:chExt cx="1925955" cy="285750"/>
              </a:xfrm>
            </p:grpSpPr>
            <p:sp>
              <p:nvSpPr>
                <p:cNvPr id="56" name="Ellipse 56"/>
                <p:cNvSpPr/>
                <p:nvPr/>
              </p:nvSpPr>
              <p:spPr>
                <a:xfrm>
                  <a:off x="6572250" y="5286375"/>
                  <a:ext cx="228600" cy="228600"/>
                </a:xfrm>
                <a:prstGeom prst="ellipse">
                  <a:avLst/>
                </a:prstGeom>
                <a:solidFill>
                  <a:srgbClr val="D04A02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628934" y="5334952"/>
                  <a:ext cx="11523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890385" y="5328285"/>
                  <a:ext cx="160782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高频会降低激励价值</a:t>
                  </a:r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6572250" y="5715000"/>
                <a:ext cx="1943481" cy="285750"/>
                <a:chOff x="6572250" y="5715000"/>
                <a:chExt cx="1943481" cy="285750"/>
              </a:xfrm>
            </p:grpSpPr>
            <p:sp>
              <p:nvSpPr>
                <p:cNvPr id="60" name="Ellipse 60"/>
                <p:cNvSpPr/>
                <p:nvPr/>
              </p:nvSpPr>
              <p:spPr>
                <a:xfrm>
                  <a:off x="6572250" y="5715000"/>
                  <a:ext cx="228600" cy="228600"/>
                </a:xfrm>
                <a:prstGeom prst="ellipse">
                  <a:avLst/>
                </a:prstGeom>
                <a:solidFill>
                  <a:srgbClr val="D04A02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6628934" y="5763578"/>
                  <a:ext cx="11523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4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890385" y="5756910"/>
                  <a:ext cx="1625346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团队PK比现金更有效</a:t>
                  </a:r>
                </a:p>
              </p:txBody>
            </p:sp>
          </p:grpSp>
        </p:grpSp>
      </p:grpSp>
      <p:sp>
        <p:nvSpPr>
          <p:cNvPr id="66" name="TextBox 66"/>
          <p:cNvSpPr txBox="1"/>
          <p:nvPr/>
        </p:nvSpPr>
        <p:spPr>
          <a:xfrm>
            <a:off x="559118" y="651462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05 | 日周维度即时激励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认证规则与结果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456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认证结果：所有供应商均通过认证，岐力以91分获得第一名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71500" y="1524000"/>
            <a:ext cx="5334000" cy="4572000"/>
            <a:chOff x="571500" y="1524000"/>
            <a:chExt cx="5334000" cy="45720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5334000" cy="4572000"/>
            </a:xfrm>
            <a:custGeom>
              <a:avLst/>
              <a:gdLst/>
              <a:ahLst/>
              <a:cxnLst/>
              <a:rect l="l" t="t" r="r" b="b"/>
              <a:pathLst>
                <a:path w="5334000" h="4572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457700"/>
                  </a:lnTo>
                  <a:cubicBezTo>
                    <a:pt x="5334000" y="4520826"/>
                    <a:pt x="5282826" y="4572000"/>
                    <a:pt x="5219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3015" y="1786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评分规则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57250" y="2286000"/>
              <a:ext cx="4762500" cy="476250"/>
              <a:chOff x="857250" y="2286000"/>
              <a:chExt cx="4762500" cy="4762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57250" y="2286000"/>
                <a:ext cx="476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476250">
                    <a:moveTo>
                      <a:pt x="76200" y="0"/>
                    </a:moveTo>
                    <a:lnTo>
                      <a:pt x="4686300" y="0"/>
                    </a:lnTo>
                    <a:cubicBezTo>
                      <a:pt x="4728384" y="0"/>
                      <a:pt x="4762500" y="34116"/>
                      <a:pt x="4762500" y="76200"/>
                    </a:cubicBezTo>
                    <a:lnTo>
                      <a:pt x="4762500" y="400050"/>
                    </a:lnTo>
                    <a:cubicBezTo>
                      <a:pt x="4762500" y="442134"/>
                      <a:pt x="4728384" y="476250"/>
                      <a:pt x="4686300" y="476250"/>
                    </a:cubicBezTo>
                    <a:lnTo>
                      <a:pt x="76200" y="476250"/>
                    </a:lnTo>
                    <a:cubicBezTo>
                      <a:pt x="34116" y="476250"/>
                      <a:pt x="0" y="442134"/>
                      <a:pt x="0" y="400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5587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30605" y="2445068"/>
                <a:ext cx="28084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满分100分 | 80分以上通过认证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840105" y="29498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评分构成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57250" y="3333750"/>
              <a:ext cx="4762500" cy="666750"/>
              <a:chOff x="857250" y="3333750"/>
              <a:chExt cx="4762500" cy="666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57250" y="3333750"/>
                <a:ext cx="4762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666750">
                    <a:moveTo>
                      <a:pt x="76200" y="0"/>
                    </a:moveTo>
                    <a:lnTo>
                      <a:pt x="4686300" y="0"/>
                    </a:lnTo>
                    <a:cubicBezTo>
                      <a:pt x="4728384" y="0"/>
                      <a:pt x="4762500" y="34116"/>
                      <a:pt x="4762500" y="76200"/>
                    </a:cubicBezTo>
                    <a:lnTo>
                      <a:pt x="4762500" y="590550"/>
                    </a:lnTo>
                    <a:cubicBezTo>
                      <a:pt x="4762500" y="632634"/>
                      <a:pt x="4728384" y="666750"/>
                      <a:pt x="46863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7250" y="3333750"/>
                <a:ext cx="762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628650"/>
                    </a:lnTo>
                    <a:cubicBezTo>
                      <a:pt x="76200" y="649692"/>
                      <a:pt x="59142" y="666750"/>
                      <a:pt x="38100" y="666750"/>
                    </a:cubicBezTo>
                    <a:lnTo>
                      <a:pt x="38100" y="666750"/>
                    </a:lnTo>
                    <a:cubicBezTo>
                      <a:pt x="17058" y="666750"/>
                      <a:pt x="0" y="649692"/>
                      <a:pt x="0" y="62865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78230" y="3473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清晰表达有观点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80135" y="37280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25分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57250" y="4143375"/>
              <a:ext cx="4762500" cy="666750"/>
              <a:chOff x="857250" y="4143375"/>
              <a:chExt cx="4762500" cy="6667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7250" y="4143375"/>
                <a:ext cx="4762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666750">
                    <a:moveTo>
                      <a:pt x="76200" y="0"/>
                    </a:moveTo>
                    <a:lnTo>
                      <a:pt x="4686300" y="0"/>
                    </a:lnTo>
                    <a:cubicBezTo>
                      <a:pt x="4728384" y="0"/>
                      <a:pt x="4762500" y="34116"/>
                      <a:pt x="4762500" y="76200"/>
                    </a:cubicBezTo>
                    <a:lnTo>
                      <a:pt x="4762500" y="590550"/>
                    </a:lnTo>
                    <a:cubicBezTo>
                      <a:pt x="4762500" y="632634"/>
                      <a:pt x="4728384" y="666750"/>
                      <a:pt x="46863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57250" y="4143375"/>
                <a:ext cx="762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628650"/>
                    </a:lnTo>
                    <a:cubicBezTo>
                      <a:pt x="76200" y="649692"/>
                      <a:pt x="59142" y="666750"/>
                      <a:pt x="38100" y="666750"/>
                    </a:cubicBezTo>
                    <a:lnTo>
                      <a:pt x="38100" y="666750"/>
                    </a:lnTo>
                    <a:cubicBezTo>
                      <a:pt x="17058" y="666750"/>
                      <a:pt x="0" y="649692"/>
                      <a:pt x="0" y="62865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78230" y="4283392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内容完整贴合主题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80135" y="453771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25分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7250" y="4953000"/>
              <a:ext cx="4762500" cy="666750"/>
              <a:chOff x="857250" y="4953000"/>
              <a:chExt cx="4762500" cy="6667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57250" y="4953000"/>
                <a:ext cx="4762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666750">
                    <a:moveTo>
                      <a:pt x="76200" y="0"/>
                    </a:moveTo>
                    <a:lnTo>
                      <a:pt x="4686300" y="0"/>
                    </a:lnTo>
                    <a:cubicBezTo>
                      <a:pt x="4728384" y="0"/>
                      <a:pt x="4762500" y="34116"/>
                      <a:pt x="4762500" y="76200"/>
                    </a:cubicBezTo>
                    <a:lnTo>
                      <a:pt x="4762500" y="590550"/>
                    </a:lnTo>
                    <a:cubicBezTo>
                      <a:pt x="4762500" y="632634"/>
                      <a:pt x="4728384" y="666750"/>
                      <a:pt x="46863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7250" y="4953000"/>
                <a:ext cx="762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628650"/>
                    </a:lnTo>
                    <a:cubicBezTo>
                      <a:pt x="76200" y="649692"/>
                      <a:pt x="59142" y="666750"/>
                      <a:pt x="38100" y="666750"/>
                    </a:cubicBezTo>
                    <a:lnTo>
                      <a:pt x="38100" y="666750"/>
                    </a:lnTo>
                    <a:cubicBezTo>
                      <a:pt x="17058" y="666750"/>
                      <a:pt x="0" y="649692"/>
                      <a:pt x="0" y="62865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D04A0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78230" y="509301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结构清晰可落地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80135" y="53473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50分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57250" y="5810250"/>
              <a:ext cx="4762500" cy="228600"/>
              <a:chOff x="857250" y="5810250"/>
              <a:chExt cx="4762500" cy="228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57250" y="5810250"/>
                <a:ext cx="4762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190500">
                    <a:moveTo>
                      <a:pt x="38100" y="0"/>
                    </a:moveTo>
                    <a:lnTo>
                      <a:pt x="4724400" y="0"/>
                    </a:lnTo>
                    <a:cubicBezTo>
                      <a:pt x="4745442" y="0"/>
                      <a:pt x="4762500" y="17058"/>
                      <a:pt x="4762500" y="38100"/>
                    </a:cubicBezTo>
                    <a:lnTo>
                      <a:pt x="4762500" y="152400"/>
                    </a:lnTo>
                    <a:cubicBezTo>
                      <a:pt x="4762500" y="173442"/>
                      <a:pt x="4745442" y="190500"/>
                      <a:pt x="47244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D04A02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912620" y="5855970"/>
                <a:ext cx="26517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加分项：底层逻辑、延伸思考、落地可行性高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33" name="Freeform 33"/>
            <p:cNvSpPr/>
            <p:nvPr/>
          </p:nvSpPr>
          <p:spPr>
            <a:xfrm>
              <a:off x="6286500" y="1524000"/>
              <a:ext cx="5334000" cy="4572000"/>
            </a:xfrm>
            <a:custGeom>
              <a:avLst/>
              <a:gdLst/>
              <a:ahLst/>
              <a:cxnLst/>
              <a:rect l="l" t="t" r="r" b="b"/>
              <a:pathLst>
                <a:path w="5334000" h="4572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457700"/>
                  </a:lnTo>
                  <a:cubicBezTo>
                    <a:pt x="5334000" y="4520826"/>
                    <a:pt x="5282826" y="4572000"/>
                    <a:pt x="5219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8E1"/>
            </a:solidFill>
            <a:ln w="9525">
              <a:solidFill>
                <a:srgbClr val="FFE082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4" name="Freeform 34"/>
            <p:cNvSpPr/>
            <p:nvPr/>
          </p:nvSpPr>
          <p:spPr>
            <a:xfrm>
              <a:off x="6286500" y="1524000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477000" y="1714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9525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381000" y="47625"/>
                  </a:lnTo>
                  <a:lnTo>
                    <a:pt x="381000" y="95250"/>
                  </a:lnTo>
                  <a:cubicBezTo>
                    <a:pt x="381000" y="153743"/>
                    <a:pt x="338819" y="202385"/>
                    <a:pt x="283216" y="212417"/>
                  </a:cubicBezTo>
                  <a:cubicBezTo>
                    <a:pt x="275122" y="246786"/>
                    <a:pt x="248412" y="273972"/>
                    <a:pt x="214312" y="282750"/>
                  </a:cubicBezTo>
                  <a:lnTo>
                    <a:pt x="214312" y="333375"/>
                  </a:lnTo>
                  <a:lnTo>
                    <a:pt x="285750" y="333375"/>
                  </a:lnTo>
                  <a:lnTo>
                    <a:pt x="285750" y="381000"/>
                  </a:lnTo>
                  <a:lnTo>
                    <a:pt x="95250" y="381000"/>
                  </a:lnTo>
                  <a:lnTo>
                    <a:pt x="95250" y="333375"/>
                  </a:lnTo>
                  <a:lnTo>
                    <a:pt x="166688" y="333375"/>
                  </a:lnTo>
                  <a:lnTo>
                    <a:pt x="166688" y="282750"/>
                  </a:lnTo>
                  <a:cubicBezTo>
                    <a:pt x="132587" y="273972"/>
                    <a:pt x="105877" y="246786"/>
                    <a:pt x="97784" y="212417"/>
                  </a:cubicBezTo>
                  <a:cubicBezTo>
                    <a:pt x="42181" y="202385"/>
                    <a:pt x="0" y="153743"/>
                    <a:pt x="0" y="95250"/>
                  </a:cubicBezTo>
                  <a:lnTo>
                    <a:pt x="0" y="47625"/>
                  </a:lnTo>
                  <a:lnTo>
                    <a:pt x="95250" y="47625"/>
                  </a:lnTo>
                  <a:lnTo>
                    <a:pt x="95250" y="0"/>
                  </a:lnTo>
                  <a:close/>
                  <a:moveTo>
                    <a:pt x="285750" y="162622"/>
                  </a:moveTo>
                  <a:lnTo>
                    <a:pt x="285750" y="95250"/>
                  </a:lnTo>
                  <a:lnTo>
                    <a:pt x="333375" y="95250"/>
                  </a:lnTo>
                  <a:cubicBezTo>
                    <a:pt x="333375" y="126354"/>
                    <a:pt x="313496" y="152816"/>
                    <a:pt x="285750" y="162622"/>
                  </a:cubicBezTo>
                  <a:close/>
                  <a:moveTo>
                    <a:pt x="95250" y="95250"/>
                  </a:moveTo>
                  <a:lnTo>
                    <a:pt x="47625" y="95250"/>
                  </a:lnTo>
                  <a:cubicBezTo>
                    <a:pt x="47625" y="126354"/>
                    <a:pt x="67504" y="152816"/>
                    <a:pt x="95250" y="162622"/>
                  </a:cubicBezTo>
                  <a:lnTo>
                    <a:pt x="95250" y="95250"/>
                  </a:ln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78015" y="1786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认证结果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572250" y="2286000"/>
              <a:ext cx="4857750" cy="1962150"/>
              <a:chOff x="6572250" y="2286000"/>
              <a:chExt cx="4857750" cy="1962150"/>
            </a:xfrm>
          </p:grpSpPr>
          <p:grpSp>
            <p:nvGrpSpPr>
              <p:cNvPr id="41" name="Group 41"/>
              <p:cNvGrpSpPr/>
              <p:nvPr/>
            </p:nvGrpSpPr>
            <p:grpSpPr>
              <a:xfrm>
                <a:off x="6572250" y="2754630"/>
                <a:ext cx="1333500" cy="1436370"/>
                <a:chOff x="6572250" y="2754630"/>
                <a:chExt cx="1333500" cy="143637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572250" y="2857500"/>
                  <a:ext cx="1333500" cy="13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1333500">
                      <a:moveTo>
                        <a:pt x="114300" y="0"/>
                      </a:moveTo>
                      <a:lnTo>
                        <a:pt x="1219200" y="0"/>
                      </a:lnTo>
                      <a:cubicBezTo>
                        <a:pt x="1282326" y="0"/>
                        <a:pt x="1333500" y="51174"/>
                        <a:pt x="1333500" y="114300"/>
                      </a:cubicBezTo>
                      <a:lnTo>
                        <a:pt x="1333500" y="1219200"/>
                      </a:lnTo>
                      <a:cubicBezTo>
                        <a:pt x="1333500" y="1282326"/>
                        <a:pt x="1282326" y="1333500"/>
                        <a:pt x="1219200" y="1333500"/>
                      </a:cubicBezTo>
                      <a:lnTo>
                        <a:pt x="114300" y="1333500"/>
                      </a:lnTo>
                      <a:cubicBezTo>
                        <a:pt x="51174" y="1333500"/>
                        <a:pt x="0" y="1282326"/>
                        <a:pt x="0" y="1219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19050">
                  <a:solidFill>
                    <a:srgbClr val="BDBDBD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041461" y="2754630"/>
                  <a:ext cx="395078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3600" b="1" dirty="0">
                      <a:solidFill>
                        <a:srgbClr val="BDBDBD"/>
                      </a:solidFill>
                      <a:latin typeface="Arial"/>
                      <a:ea typeface="Microsoft YaHei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989921" y="3362325"/>
                  <a:ext cx="49815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汇讯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874188" y="3583305"/>
                  <a:ext cx="72962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b="1" dirty="0">
                      <a:solidFill>
                        <a:srgbClr val="757575"/>
                      </a:solidFill>
                      <a:latin typeface="Calibri"/>
                      <a:ea typeface="Microsoft YaHei"/>
                      <a:cs typeface="Calibri"/>
                    </a:rPr>
                    <a:t>88分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8286750" y="2286000"/>
                <a:ext cx="1524000" cy="1905000"/>
                <a:chOff x="8286750" y="2286000"/>
                <a:chExt cx="1524000" cy="1905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8286750" y="2286000"/>
                  <a:ext cx="15240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1905000">
                      <a:moveTo>
                        <a:pt x="114300" y="0"/>
                      </a:moveTo>
                      <a:lnTo>
                        <a:pt x="1409700" y="0"/>
                      </a:lnTo>
                      <a:cubicBezTo>
                        <a:pt x="1472826" y="0"/>
                        <a:pt x="1524000" y="51174"/>
                        <a:pt x="1524000" y="114300"/>
                      </a:cubicBezTo>
                      <a:lnTo>
                        <a:pt x="1524000" y="1790700"/>
                      </a:lnTo>
                      <a:cubicBezTo>
                        <a:pt x="1524000" y="1853826"/>
                        <a:pt x="1472826" y="1905000"/>
                        <a:pt x="14097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D700"/>
                    </a:gs>
                    <a:gs pos="100000">
                      <a:srgbClr val="FFA500"/>
                    </a:gs>
                  </a:gsLst>
                  <a:lin ang="2700000" scaled="1"/>
                </a:gradFill>
                <a:ln w="19050">
                  <a:solidFill>
                    <a:srgbClr val="FF8C0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860215" y="2381250"/>
                  <a:ext cx="377070" cy="358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070" h="358614">
                      <a:moveTo>
                        <a:pt x="212348" y="0"/>
                      </a:moveTo>
                      <a:lnTo>
                        <a:pt x="164723" y="0"/>
                      </a:lnTo>
                      <a:lnTo>
                        <a:pt x="129311" y="108985"/>
                      </a:lnTo>
                      <a:lnTo>
                        <a:pt x="14717" y="108986"/>
                      </a:lnTo>
                      <a:lnTo>
                        <a:pt x="0" y="154280"/>
                      </a:lnTo>
                      <a:lnTo>
                        <a:pt x="92709" y="221636"/>
                      </a:lnTo>
                      <a:lnTo>
                        <a:pt x="57298" y="330620"/>
                      </a:lnTo>
                      <a:lnTo>
                        <a:pt x="95827" y="358614"/>
                      </a:lnTo>
                      <a:lnTo>
                        <a:pt x="188535" y="291258"/>
                      </a:lnTo>
                      <a:lnTo>
                        <a:pt x="281244" y="358614"/>
                      </a:lnTo>
                      <a:lnTo>
                        <a:pt x="319773" y="330620"/>
                      </a:lnTo>
                      <a:lnTo>
                        <a:pt x="284361" y="221636"/>
                      </a:lnTo>
                      <a:lnTo>
                        <a:pt x="377070" y="154279"/>
                      </a:lnTo>
                      <a:lnTo>
                        <a:pt x="362352" y="108985"/>
                      </a:lnTo>
                      <a:lnTo>
                        <a:pt x="247759" y="108985"/>
                      </a:lnTo>
                      <a:lnTo>
                        <a:pt x="21234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898798" y="2499360"/>
                  <a:ext cx="299904" cy="8534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42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749856" y="3234690"/>
                  <a:ext cx="597789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岐力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677827" y="3550920"/>
                  <a:ext cx="741845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FFFF"/>
                      </a:solidFill>
                      <a:latin typeface="Calibri"/>
                      <a:ea typeface="Microsoft YaHei"/>
                      <a:cs typeface="Calibri"/>
                    </a:rPr>
                    <a:t>91分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10096500" y="3040380"/>
                <a:ext cx="1333500" cy="1207770"/>
                <a:chOff x="10096500" y="3040380"/>
                <a:chExt cx="1333500" cy="120777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0096500" y="3143250"/>
                  <a:ext cx="1333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1047750">
                      <a:moveTo>
                        <a:pt x="114300" y="0"/>
                      </a:moveTo>
                      <a:lnTo>
                        <a:pt x="1219200" y="0"/>
                      </a:lnTo>
                      <a:cubicBezTo>
                        <a:pt x="1282326" y="0"/>
                        <a:pt x="1333500" y="51174"/>
                        <a:pt x="1333500" y="114300"/>
                      </a:cubicBezTo>
                      <a:lnTo>
                        <a:pt x="1333500" y="933450"/>
                      </a:lnTo>
                      <a:cubicBezTo>
                        <a:pt x="1333500" y="996576"/>
                        <a:pt x="1282326" y="1047750"/>
                        <a:pt x="1219200" y="1047750"/>
                      </a:cubicBezTo>
                      <a:lnTo>
                        <a:pt x="114300" y="1047750"/>
                      </a:lnTo>
                      <a:cubicBezTo>
                        <a:pt x="51174" y="1047750"/>
                        <a:pt x="0" y="996576"/>
                        <a:pt x="0" y="93345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FE0B2"/>
                </a:solidFill>
                <a:ln w="19050">
                  <a:solidFill>
                    <a:srgbClr val="FFB74D"/>
                  </a:solidFill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565711" y="3040380"/>
                  <a:ext cx="395078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3600" b="1" dirty="0">
                      <a:solidFill>
                        <a:srgbClr val="FF8C00"/>
                      </a:solidFill>
                      <a:latin typeface="Arial"/>
                      <a:ea typeface="Microsoft YaHei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0399157" y="3600450"/>
                  <a:ext cx="72818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赛维斯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10398438" y="3821430"/>
                  <a:ext cx="72962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b="1" dirty="0">
                      <a:solidFill>
                        <a:srgbClr val="E65100"/>
                      </a:solidFill>
                      <a:latin typeface="Calibri"/>
                      <a:ea typeface="Microsoft YaHei"/>
                      <a:cs typeface="Calibri"/>
                    </a:rPr>
                    <a:t>86分</a:t>
                  </a:r>
                </a:p>
              </p:txBody>
            </p:sp>
          </p:grpSp>
        </p:grpSp>
        <p:grpSp>
          <p:nvGrpSpPr>
            <p:cNvPr id="60" name="Group 60"/>
            <p:cNvGrpSpPr/>
            <p:nvPr/>
          </p:nvGrpSpPr>
          <p:grpSpPr>
            <a:xfrm>
              <a:off x="6572250" y="4572000"/>
              <a:ext cx="4776597" cy="1333500"/>
              <a:chOff x="6572250" y="4572000"/>
              <a:chExt cx="4776597" cy="13335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72250" y="4572000"/>
                <a:ext cx="4762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1333500">
                    <a:moveTo>
                      <a:pt x="114300" y="0"/>
                    </a:moveTo>
                    <a:lnTo>
                      <a:pt x="4648200" y="0"/>
                    </a:lnTo>
                    <a:cubicBezTo>
                      <a:pt x="4711326" y="0"/>
                      <a:pt x="4762500" y="51174"/>
                      <a:pt x="4762500" y="114300"/>
                    </a:cubicBezTo>
                    <a:lnTo>
                      <a:pt x="4762500" y="1219200"/>
                    </a:lnTo>
                    <a:cubicBezTo>
                      <a:pt x="4762500" y="1282326"/>
                      <a:pt x="4711326" y="1333500"/>
                      <a:pt x="4648200" y="1333500"/>
                    </a:cubicBezTo>
                    <a:lnTo>
                      <a:pt x="114300" y="1333500"/>
                    </a:lnTo>
                    <a:cubicBezTo>
                      <a:pt x="51174" y="1333500"/>
                      <a:pt x="0" y="1282326"/>
                      <a:pt x="0" y="1219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4CAF50">
                  <a:alpha val="10000"/>
                </a:srgbClr>
              </a:solidFill>
              <a:ln w="19050">
                <a:solidFill>
                  <a:srgbClr val="4CAF50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267575" y="4867275"/>
                <a:ext cx="233838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所有供应商均通过认证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42760" y="5252085"/>
                <a:ext cx="19057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• 岐力：91分（第一名）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42760" y="5490210"/>
                <a:ext cx="19495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• 汇讯：88分（第二名）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224010" y="5252085"/>
                <a:ext cx="21248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• 赛维斯：86分（第三名）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224010" y="54902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• 华啸、广达、瀚锐均通过</a:t>
                </a:r>
              </a:p>
            </p:txBody>
          </p:sp>
        </p:grpSp>
      </p:grpSp>
      <p:sp>
        <p:nvSpPr>
          <p:cNvPr id="62" name="TextBox 62"/>
          <p:cNvSpPr txBox="1"/>
          <p:nvPr/>
        </p:nvSpPr>
        <p:spPr>
          <a:xfrm>
            <a:off x="559118" y="65146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08 | 认证规则与结果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岐力：标准化落地三阶段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52882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核心策略：分阶段推进，先建立认知，再培优覆盖，最后全团队推广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524000"/>
            <a:ext cx="3429000" cy="4572000"/>
            <a:chOff x="571500" y="1524000"/>
            <a:chExt cx="3429000" cy="45720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0F8FF"/>
            </a:solidFill>
            <a:ln w="9525">
              <a:solidFill>
                <a:srgbClr val="B3D9FF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62000" y="1666875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142875" y="0"/>
                  </a:moveTo>
                  <a:lnTo>
                    <a:pt x="619125" y="0"/>
                  </a:lnTo>
                  <a:cubicBezTo>
                    <a:pt x="698033" y="0"/>
                    <a:pt x="762000" y="63967"/>
                    <a:pt x="762000" y="142875"/>
                  </a:cubicBezTo>
                  <a:lnTo>
                    <a:pt x="762000" y="142875"/>
                  </a:lnTo>
                  <a:cubicBezTo>
                    <a:pt x="762000" y="221783"/>
                    <a:pt x="698033" y="285750"/>
                    <a:pt x="6191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7625" y="1753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9140" y="2044065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建立初步认知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62000" y="2476500"/>
              <a:ext cx="3048000" cy="1714500"/>
              <a:chOff x="762000" y="2476500"/>
              <a:chExt cx="3048000" cy="1714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62000" y="2476500"/>
                <a:ext cx="3048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17145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1638300"/>
                    </a:lnTo>
                    <a:cubicBezTo>
                      <a:pt x="3048000" y="1680384"/>
                      <a:pt x="3013884" y="1714500"/>
                      <a:pt x="2971800" y="1714500"/>
                    </a:cubicBezTo>
                    <a:lnTo>
                      <a:pt x="76200" y="1714500"/>
                    </a:lnTo>
                    <a:cubicBezTo>
                      <a:pt x="34116" y="1714500"/>
                      <a:pt x="0" y="1680384"/>
                      <a:pt x="0" y="1638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37260" y="26327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管控重点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971550" y="2955131"/>
                <a:ext cx="1054894" cy="228600"/>
                <a:chOff x="971550" y="2955131"/>
                <a:chExt cx="1054894" cy="228600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971550" y="2971800"/>
                  <a:ext cx="114300" cy="114300"/>
                </a:xfrm>
                <a:prstGeom prst="ellipse">
                  <a:avLst/>
                </a:prstGeom>
                <a:solidFill>
                  <a:srgbClr val="005587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176338" y="2955131"/>
                  <a:ext cx="85010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管控准入端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971550" y="3288506"/>
                <a:ext cx="1383507" cy="228600"/>
                <a:chOff x="971550" y="3288506"/>
                <a:chExt cx="1383507" cy="228600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971550" y="3305175"/>
                  <a:ext cx="114300" cy="114300"/>
                </a:xfrm>
                <a:prstGeom prst="ellipse">
                  <a:avLst/>
                </a:prstGeom>
                <a:solidFill>
                  <a:srgbClr val="005587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176338" y="3288506"/>
                  <a:ext cx="117871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执行话术模式表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971550" y="3621881"/>
                <a:ext cx="1219200" cy="228600"/>
                <a:chOff x="971550" y="3621881"/>
                <a:chExt cx="1219200" cy="228600"/>
              </a:xfrm>
            </p:grpSpPr>
            <p:sp>
              <p:nvSpPr>
                <p:cNvPr id="20" name="Ellipse 20"/>
                <p:cNvSpPr/>
                <p:nvPr/>
              </p:nvSpPr>
              <p:spPr>
                <a:xfrm>
                  <a:off x="971550" y="3638550"/>
                  <a:ext cx="114300" cy="114300"/>
                </a:xfrm>
                <a:prstGeom prst="ellipse">
                  <a:avLst/>
                </a:prstGeom>
                <a:solidFill>
                  <a:srgbClr val="005587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76338" y="3621881"/>
                  <a:ext cx="101441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人员画像要求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971550" y="3955256"/>
                <a:ext cx="1876426" cy="228600"/>
                <a:chOff x="971550" y="3955256"/>
                <a:chExt cx="1876426" cy="22860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971550" y="3971925"/>
                  <a:ext cx="114300" cy="114300"/>
                </a:xfrm>
                <a:prstGeom prst="ellipse">
                  <a:avLst/>
                </a:prstGeom>
                <a:solidFill>
                  <a:srgbClr val="005587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176338" y="3955256"/>
                  <a:ext cx="1671638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新人新办法老人老办法</a:t>
                  </a:r>
                </a:p>
              </p:txBody>
            </p:sp>
          </p:grpSp>
        </p:grpSp>
        <p:grpSp>
          <p:nvGrpSpPr>
            <p:cNvPr id="34" name="Group 34"/>
            <p:cNvGrpSpPr/>
            <p:nvPr/>
          </p:nvGrpSpPr>
          <p:grpSpPr>
            <a:xfrm>
              <a:off x="762000" y="4381500"/>
              <a:ext cx="3048000" cy="1524000"/>
              <a:chOff x="762000" y="4381500"/>
              <a:chExt cx="3048000" cy="1524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62000" y="4381500"/>
                <a:ext cx="3048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15240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1447800"/>
                    </a:lnTo>
                    <a:cubicBezTo>
                      <a:pt x="3048000" y="1489884"/>
                      <a:pt x="3013884" y="1524000"/>
                      <a:pt x="2971800" y="1524000"/>
                    </a:cubicBezTo>
                    <a:lnTo>
                      <a:pt x="76200" y="1524000"/>
                    </a:lnTo>
                    <a:cubicBezTo>
                      <a:pt x="34116" y="1524000"/>
                      <a:pt x="0" y="1489884"/>
                      <a:pt x="0" y="1447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5587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37260" y="453771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925830" y="4783931"/>
                <a:ext cx="1355407" cy="607219"/>
                <a:chOff x="925830" y="4783931"/>
                <a:chExt cx="1355407" cy="607219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938212" y="4783931"/>
                  <a:ext cx="134302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新员工手动流数据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25830" y="4964430"/>
                  <a:ext cx="1325399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D04A02"/>
                      </a:solidFill>
                      <a:latin typeface="Calibri"/>
                      <a:ea typeface="Microsoft YaHei"/>
                      <a:cs typeface="Calibri"/>
                    </a:rPr>
                    <a:t>降低 50%</a:t>
                  </a:r>
                </a:p>
              </p:txBody>
            </p:sp>
          </p:grpSp>
          <p:sp>
            <p:nvSpPr>
              <p:cNvPr id="32" name="Line 32"/>
              <p:cNvSpPr/>
              <p:nvPr/>
            </p:nvSpPr>
            <p:spPr>
              <a:xfrm>
                <a:off x="952500" y="53340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38212" y="549830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管理层养成每日数据查看习惯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4381500" y="1524000"/>
            <a:ext cx="3429000" cy="4572000"/>
            <a:chOff x="4381500" y="1524000"/>
            <a:chExt cx="3429000" cy="4572000"/>
          </a:xfrm>
        </p:grpSpPr>
        <p:sp>
          <p:nvSpPr>
            <p:cNvPr id="36" name="Freeform 36"/>
            <p:cNvSpPr/>
            <p:nvPr/>
          </p:nvSpPr>
          <p:spPr>
            <a:xfrm>
              <a:off x="43815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7" name="Freeform 37"/>
            <p:cNvSpPr/>
            <p:nvPr/>
          </p:nvSpPr>
          <p:spPr>
            <a:xfrm>
              <a:off x="438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572000" y="1666875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142875" y="0"/>
                  </a:moveTo>
                  <a:lnTo>
                    <a:pt x="619125" y="0"/>
                  </a:lnTo>
                  <a:cubicBezTo>
                    <a:pt x="698033" y="0"/>
                    <a:pt x="762000" y="63967"/>
                    <a:pt x="762000" y="142875"/>
                  </a:cubicBezTo>
                  <a:lnTo>
                    <a:pt x="762000" y="142875"/>
                  </a:lnTo>
                  <a:cubicBezTo>
                    <a:pt x="762000" y="221783"/>
                    <a:pt x="698033" y="285750"/>
                    <a:pt x="6191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7625" y="1753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49140" y="204406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培优覆盖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572000" y="2428875"/>
              <a:ext cx="3048000" cy="333375"/>
            </a:xfrm>
            <a:custGeom>
              <a:avLst/>
              <a:gdLst/>
              <a:ahLst/>
              <a:cxnLst/>
              <a:rect l="l" t="t" r="r" b="b"/>
              <a:pathLst>
                <a:path w="3048000" h="333375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257175"/>
                  </a:lnTo>
                  <a:cubicBezTo>
                    <a:pt x="3048000" y="299259"/>
                    <a:pt x="3013884" y="333375"/>
                    <a:pt x="2971800" y="333375"/>
                  </a:cubicBezTo>
                  <a:lnTo>
                    <a:pt x="76200" y="333375"/>
                  </a:lnTo>
                  <a:cubicBezTo>
                    <a:pt x="34116" y="333375"/>
                    <a:pt x="0" y="299259"/>
                    <a:pt x="0" y="257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76A8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60910" y="2537460"/>
              <a:ext cx="67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76A8"/>
                  </a:solidFill>
                  <a:latin typeface="Calibri"/>
                  <a:ea typeface="Microsoft YaHei"/>
                  <a:cs typeface="Calibri"/>
                </a:rPr>
                <a:t>2-3个月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4572000" y="2905125"/>
              <a:ext cx="3048000" cy="1905000"/>
              <a:chOff x="4572000" y="2905125"/>
              <a:chExt cx="3048000" cy="1905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572000" y="2905125"/>
                <a:ext cx="3048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19050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1828800"/>
                    </a:lnTo>
                    <a:cubicBezTo>
                      <a:pt x="3048000" y="1870884"/>
                      <a:pt x="3013884" y="1905000"/>
                      <a:pt x="2971800" y="1905000"/>
                    </a:cubicBezTo>
                    <a:lnTo>
                      <a:pt x="76200" y="1905000"/>
                    </a:lnTo>
                    <a:cubicBezTo>
                      <a:pt x="34116" y="1905000"/>
                      <a:pt x="0" y="1870884"/>
                      <a:pt x="0" y="1828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747260" y="30613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推进重点</a:t>
                </a:r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4762500" y="3429000"/>
                <a:ext cx="2667000" cy="335756"/>
                <a:chOff x="4762500" y="3429000"/>
                <a:chExt cx="2667000" cy="335756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4762500" y="3429000"/>
                  <a:ext cx="266700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0" h="333375">
                      <a:moveTo>
                        <a:pt x="57150" y="0"/>
                      </a:moveTo>
                      <a:lnTo>
                        <a:pt x="2609850" y="0"/>
                      </a:lnTo>
                      <a:cubicBezTo>
                        <a:pt x="2641413" y="0"/>
                        <a:pt x="2667000" y="25587"/>
                        <a:pt x="2667000" y="57150"/>
                      </a:cubicBezTo>
                      <a:lnTo>
                        <a:pt x="2667000" y="276225"/>
                      </a:lnTo>
                      <a:cubicBezTo>
                        <a:pt x="2667000" y="307788"/>
                        <a:pt x="2641413" y="333375"/>
                        <a:pt x="2609850" y="333375"/>
                      </a:cubicBezTo>
                      <a:lnTo>
                        <a:pt x="57150" y="333375"/>
                      </a:lnTo>
                      <a:cubicBezTo>
                        <a:pt x="25587" y="333375"/>
                        <a:pt x="0" y="307788"/>
                        <a:pt x="0" y="276225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0076A8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4891088" y="3536156"/>
                  <a:ext cx="131837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覆盖</a:t>
                  </a:r>
                  <a:r>
                    <a:rPr lang="zh-CN" sz="1125" b="1" dirty="0">
                      <a:solidFill>
                        <a:srgbClr val="0076A8"/>
                      </a:solidFill>
                      <a:latin typeface="Calibri"/>
                      <a:ea typeface="Microsoft YaHei"/>
                      <a:cs typeface="Calibri"/>
                    </a:rPr>
                    <a:t>25%-40%</a:t>
                  </a:r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员工</a:t>
                  </a:r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4762500" y="3857625"/>
                <a:ext cx="2667000" cy="335756"/>
                <a:chOff x="4762500" y="3857625"/>
                <a:chExt cx="2667000" cy="335756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4762500" y="3857625"/>
                  <a:ext cx="266700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0" h="333375">
                      <a:moveTo>
                        <a:pt x="57150" y="0"/>
                      </a:moveTo>
                      <a:lnTo>
                        <a:pt x="2609850" y="0"/>
                      </a:lnTo>
                      <a:cubicBezTo>
                        <a:pt x="2641413" y="0"/>
                        <a:pt x="2667000" y="25587"/>
                        <a:pt x="2667000" y="57150"/>
                      </a:cubicBezTo>
                      <a:lnTo>
                        <a:pt x="2667000" y="276225"/>
                      </a:lnTo>
                      <a:cubicBezTo>
                        <a:pt x="2667000" y="307788"/>
                        <a:pt x="2641413" y="333375"/>
                        <a:pt x="2609850" y="333375"/>
                      </a:cubicBezTo>
                      <a:lnTo>
                        <a:pt x="57150" y="333375"/>
                      </a:lnTo>
                      <a:cubicBezTo>
                        <a:pt x="25587" y="333375"/>
                        <a:pt x="0" y="307788"/>
                        <a:pt x="0" y="276225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0076A8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891088" y="3964781"/>
                  <a:ext cx="117871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标准化制度管理</a:t>
                  </a:r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4762500" y="4286250"/>
                <a:ext cx="2667000" cy="335756"/>
                <a:chOff x="4762500" y="4286250"/>
                <a:chExt cx="2667000" cy="335756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762500" y="4286250"/>
                  <a:ext cx="266700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0" h="333375">
                      <a:moveTo>
                        <a:pt x="57150" y="0"/>
                      </a:moveTo>
                      <a:lnTo>
                        <a:pt x="2609850" y="0"/>
                      </a:lnTo>
                      <a:cubicBezTo>
                        <a:pt x="2641413" y="0"/>
                        <a:pt x="2667000" y="25587"/>
                        <a:pt x="2667000" y="57150"/>
                      </a:cubicBezTo>
                      <a:lnTo>
                        <a:pt x="2667000" y="276225"/>
                      </a:lnTo>
                      <a:cubicBezTo>
                        <a:pt x="2667000" y="307788"/>
                        <a:pt x="2641413" y="333375"/>
                        <a:pt x="2609850" y="333375"/>
                      </a:cubicBezTo>
                      <a:lnTo>
                        <a:pt x="57150" y="333375"/>
                      </a:lnTo>
                      <a:cubicBezTo>
                        <a:pt x="25587" y="333375"/>
                        <a:pt x="0" y="307788"/>
                        <a:pt x="0" y="276225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0076A8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891088" y="4393406"/>
                  <a:ext cx="101441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打造核心团队</a:t>
                  </a:r>
                </a:p>
              </p:txBody>
            </p:sp>
          </p:grpSp>
        </p:grpSp>
        <p:grpSp>
          <p:nvGrpSpPr>
            <p:cNvPr id="60" name="Group 60"/>
            <p:cNvGrpSpPr/>
            <p:nvPr/>
          </p:nvGrpSpPr>
          <p:grpSpPr>
            <a:xfrm>
              <a:off x="4572000" y="5000625"/>
              <a:ext cx="3048000" cy="938213"/>
              <a:chOff x="4572000" y="5000625"/>
              <a:chExt cx="3048000" cy="93821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572000" y="5000625"/>
                <a:ext cx="3048000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04875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828675"/>
                    </a:lnTo>
                    <a:cubicBezTo>
                      <a:pt x="3048000" y="870759"/>
                      <a:pt x="3013884" y="904875"/>
                      <a:pt x="2971800" y="904875"/>
                    </a:cubicBezTo>
                    <a:lnTo>
                      <a:pt x="76200" y="904875"/>
                    </a:lnTo>
                    <a:cubicBezTo>
                      <a:pt x="34116" y="904875"/>
                      <a:pt x="0" y="870759"/>
                      <a:pt x="0" y="82867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3E0"/>
              </a:solidFill>
              <a:ln w="9525">
                <a:solidFill>
                  <a:srgbClr val="FFE0B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750594" y="5143500"/>
                <a:ext cx="214312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85750">
                    <a:moveTo>
                      <a:pt x="75296" y="267891"/>
                    </a:moveTo>
                    <a:lnTo>
                      <a:pt x="73312" y="285750"/>
                    </a:lnTo>
                    <a:lnTo>
                      <a:pt x="109250" y="285750"/>
                    </a:lnTo>
                    <a:lnTo>
                      <a:pt x="111235" y="267891"/>
                    </a:lnTo>
                    <a:lnTo>
                      <a:pt x="142929" y="267891"/>
                    </a:lnTo>
                    <a:cubicBezTo>
                      <a:pt x="182353" y="267891"/>
                      <a:pt x="214312" y="235931"/>
                      <a:pt x="214312" y="196507"/>
                    </a:cubicBezTo>
                    <a:cubicBezTo>
                      <a:pt x="214312" y="163049"/>
                      <a:pt x="191076" y="134081"/>
                      <a:pt x="158414" y="126823"/>
                    </a:cubicBezTo>
                    <a:lnTo>
                      <a:pt x="127668" y="119991"/>
                    </a:lnTo>
                    <a:lnTo>
                      <a:pt x="133063" y="71438"/>
                    </a:lnTo>
                    <a:lnTo>
                      <a:pt x="196453" y="71438"/>
                    </a:lnTo>
                    <a:lnTo>
                      <a:pt x="196453" y="17859"/>
                    </a:lnTo>
                    <a:lnTo>
                      <a:pt x="139016" y="17859"/>
                    </a:lnTo>
                    <a:lnTo>
                      <a:pt x="141000" y="0"/>
                    </a:lnTo>
                    <a:lnTo>
                      <a:pt x="105062" y="0"/>
                    </a:lnTo>
                    <a:lnTo>
                      <a:pt x="103078" y="17859"/>
                    </a:lnTo>
                    <a:lnTo>
                      <a:pt x="71384" y="17859"/>
                    </a:lnTo>
                    <a:cubicBezTo>
                      <a:pt x="31960" y="17859"/>
                      <a:pt x="0" y="49819"/>
                      <a:pt x="0" y="89243"/>
                    </a:cubicBezTo>
                    <a:cubicBezTo>
                      <a:pt x="0" y="122701"/>
                      <a:pt x="23238" y="151669"/>
                      <a:pt x="55898" y="158927"/>
                    </a:cubicBezTo>
                    <a:lnTo>
                      <a:pt x="86644" y="165759"/>
                    </a:lnTo>
                    <a:lnTo>
                      <a:pt x="81249" y="214312"/>
                    </a:lnTo>
                    <a:lnTo>
                      <a:pt x="17859" y="214312"/>
                    </a:lnTo>
                    <a:lnTo>
                      <a:pt x="17859" y="267891"/>
                    </a:lnTo>
                    <a:lnTo>
                      <a:pt x="75296" y="267891"/>
                    </a:lnTo>
                    <a:close/>
                    <a:moveTo>
                      <a:pt x="117188" y="214312"/>
                    </a:moveTo>
                    <a:lnTo>
                      <a:pt x="142929" y="214312"/>
                    </a:lnTo>
                    <a:cubicBezTo>
                      <a:pt x="152762" y="214312"/>
                      <a:pt x="160734" y="206340"/>
                      <a:pt x="160734" y="196507"/>
                    </a:cubicBezTo>
                    <a:cubicBezTo>
                      <a:pt x="160734" y="188161"/>
                      <a:pt x="154937" y="180935"/>
                      <a:pt x="146792" y="179126"/>
                    </a:cubicBezTo>
                    <a:lnTo>
                      <a:pt x="121717" y="173553"/>
                    </a:lnTo>
                    <a:lnTo>
                      <a:pt x="117188" y="214312"/>
                    </a:lnTo>
                    <a:close/>
                    <a:moveTo>
                      <a:pt x="92596" y="112197"/>
                    </a:moveTo>
                    <a:lnTo>
                      <a:pt x="97124" y="71438"/>
                    </a:lnTo>
                    <a:lnTo>
                      <a:pt x="71384" y="71438"/>
                    </a:lnTo>
                    <a:cubicBezTo>
                      <a:pt x="61550" y="71438"/>
                      <a:pt x="53578" y="79409"/>
                      <a:pt x="53578" y="89243"/>
                    </a:cubicBezTo>
                    <a:cubicBezTo>
                      <a:pt x="53578" y="97588"/>
                      <a:pt x="59374" y="104814"/>
                      <a:pt x="67521" y="106625"/>
                    </a:cubicBezTo>
                    <a:lnTo>
                      <a:pt x="92596" y="112197"/>
                    </a:lnTo>
                    <a:close/>
                  </a:path>
                </a:pathLst>
              </a:custGeom>
              <a:solidFill>
                <a:srgbClr val="F57C00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5080635" y="523303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7C00"/>
                    </a:solidFill>
                    <a:latin typeface="Arial"/>
                    <a:ea typeface="Microsoft YaHei"/>
                    <a:cs typeface="Arial"/>
                  </a:rPr>
                  <a:t>专项预算支持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749165" y="5554028"/>
                <a:ext cx="13531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给存量30%潜力员工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749165" y="57254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倾斜资源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8191500" y="1524000"/>
            <a:ext cx="3429000" cy="4572000"/>
            <a:chOff x="8191500" y="1524000"/>
            <a:chExt cx="3429000" cy="4572000"/>
          </a:xfrm>
        </p:grpSpPr>
        <p:sp>
          <p:nvSpPr>
            <p:cNvPr id="62" name="Freeform 62"/>
            <p:cNvSpPr/>
            <p:nvPr/>
          </p:nvSpPr>
          <p:spPr>
            <a:xfrm>
              <a:off x="81915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1F8E9"/>
            </a:solidFill>
            <a:ln w="9525">
              <a:solidFill>
                <a:srgbClr val="C5E1A5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63" name="Freeform 63"/>
            <p:cNvSpPr/>
            <p:nvPr/>
          </p:nvSpPr>
          <p:spPr>
            <a:xfrm>
              <a:off x="819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382000" y="1666875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142875" y="0"/>
                  </a:moveTo>
                  <a:lnTo>
                    <a:pt x="619125" y="0"/>
                  </a:lnTo>
                  <a:cubicBezTo>
                    <a:pt x="698033" y="0"/>
                    <a:pt x="762000" y="63967"/>
                    <a:pt x="762000" y="142875"/>
                  </a:cubicBezTo>
                  <a:lnTo>
                    <a:pt x="762000" y="142875"/>
                  </a:lnTo>
                  <a:cubicBezTo>
                    <a:pt x="762000" y="221783"/>
                    <a:pt x="698033" y="285750"/>
                    <a:pt x="6191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27625" y="1753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59140" y="204406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全团队推广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8382000" y="2476500"/>
              <a:ext cx="3048000" cy="2345531"/>
              <a:chOff x="8382000" y="2476500"/>
              <a:chExt cx="3048000" cy="234553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82000" y="2476500"/>
                <a:ext cx="3048000" cy="23336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2333625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2257425"/>
                    </a:lnTo>
                    <a:cubicBezTo>
                      <a:pt x="3048000" y="2299509"/>
                      <a:pt x="3013884" y="2333625"/>
                      <a:pt x="2971800" y="2333625"/>
                    </a:cubicBezTo>
                    <a:lnTo>
                      <a:pt x="76200" y="2333625"/>
                    </a:lnTo>
                    <a:cubicBezTo>
                      <a:pt x="34116" y="2333625"/>
                      <a:pt x="0" y="2299509"/>
                      <a:pt x="0" y="2257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8557260" y="26327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推进重点</a:t>
                </a:r>
              </a:p>
            </p:txBody>
          </p:sp>
          <p:grpSp>
            <p:nvGrpSpPr>
              <p:cNvPr id="71" name="Group 71"/>
              <p:cNvGrpSpPr/>
              <p:nvPr/>
            </p:nvGrpSpPr>
            <p:grpSpPr>
              <a:xfrm>
                <a:off x="8591550" y="3002756"/>
                <a:ext cx="1712119" cy="228600"/>
                <a:chOff x="8591550" y="3002756"/>
                <a:chExt cx="1712119" cy="228600"/>
              </a:xfrm>
            </p:grpSpPr>
            <p:sp>
              <p:nvSpPr>
                <p:cNvPr id="69" name="Ellipse 69"/>
                <p:cNvSpPr/>
                <p:nvPr/>
              </p:nvSpPr>
              <p:spPr>
                <a:xfrm>
                  <a:off x="8591550" y="3019425"/>
                  <a:ext cx="114300" cy="114300"/>
                </a:xfrm>
                <a:prstGeom prst="ellipse">
                  <a:avLst/>
                </a:pr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796338" y="3002756"/>
                  <a:ext cx="1507331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验证成熟的管理制度</a:t>
                  </a:r>
                </a:p>
              </p:txBody>
            </p:sp>
          </p:grpSp>
          <p:grpSp>
            <p:nvGrpSpPr>
              <p:cNvPr id="74" name="Group 74"/>
              <p:cNvGrpSpPr/>
              <p:nvPr/>
            </p:nvGrpSpPr>
            <p:grpSpPr>
              <a:xfrm>
                <a:off x="8591550" y="3336131"/>
                <a:ext cx="1383507" cy="228600"/>
                <a:chOff x="8591550" y="3336131"/>
                <a:chExt cx="1383507" cy="228600"/>
              </a:xfrm>
            </p:grpSpPr>
            <p:sp>
              <p:nvSpPr>
                <p:cNvPr id="72" name="Ellipse 72"/>
                <p:cNvSpPr/>
                <p:nvPr/>
              </p:nvSpPr>
              <p:spPr>
                <a:xfrm>
                  <a:off x="8591550" y="3352800"/>
                  <a:ext cx="114300" cy="114300"/>
                </a:xfrm>
                <a:prstGeom prst="ellipse">
                  <a:avLst/>
                </a:pr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796338" y="3336131"/>
                  <a:ext cx="117871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工具迭代后推广</a:t>
                  </a:r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8591550" y="3669506"/>
                <a:ext cx="1547813" cy="228600"/>
                <a:chOff x="8591550" y="3669506"/>
                <a:chExt cx="1547813" cy="228600"/>
              </a:xfrm>
            </p:grpSpPr>
            <p:sp>
              <p:nvSpPr>
                <p:cNvPr id="75" name="Ellipse 75"/>
                <p:cNvSpPr/>
                <p:nvPr/>
              </p:nvSpPr>
              <p:spPr>
                <a:xfrm>
                  <a:off x="8591550" y="3686175"/>
                  <a:ext cx="114300" cy="114300"/>
                </a:xfrm>
                <a:prstGeom prst="ellipse">
                  <a:avLst/>
                </a:pr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796338" y="3669506"/>
                  <a:ext cx="134302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实现全团队标准化</a:t>
                  </a:r>
                </a:p>
              </p:txBody>
            </p:sp>
          </p:grpSp>
          <p:sp>
            <p:nvSpPr>
              <p:cNvPr id="78" name="Line 78"/>
              <p:cNvSpPr/>
              <p:nvPr/>
            </p:nvSpPr>
            <p:spPr>
              <a:xfrm>
                <a:off x="8572500" y="3952875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557260" y="41090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最终目标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558212" y="4402931"/>
                <a:ext cx="1507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所有员工按标准执行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558212" y="459343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管理动作系统化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58165" y="6125528"/>
            <a:ext cx="11062335" cy="265747"/>
            <a:chOff x="558165" y="6125528"/>
            <a:chExt cx="11062335" cy="265747"/>
          </a:xfrm>
        </p:grpSpPr>
        <p:sp>
          <p:nvSpPr>
            <p:cNvPr id="84" name="Rectangle 84"/>
            <p:cNvSpPr/>
            <p:nvPr/>
          </p:nvSpPr>
          <p:spPr>
            <a:xfrm>
              <a:off x="571500" y="6381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58165" y="6125528"/>
              <a:ext cx="55473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保障措施：已启动专项小组，由组织发展部和合规部牵头，所有任务绑定绩效考核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559118" y="65146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09 | 岐力：标准化落地三阶段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汇讯：管理工具优化方向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6112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核心收获：已落地BI看板和WPS智能看板，需补充夕会记录表和新人成长记录表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524000"/>
            <a:ext cx="4286250" cy="4572000"/>
            <a:chOff x="571500" y="1524000"/>
            <a:chExt cx="4286250" cy="45720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4286250" cy="4572000"/>
            </a:xfrm>
            <a:custGeom>
              <a:avLst/>
              <a:gdLst/>
              <a:ahLst/>
              <a:cxnLst/>
              <a:rect l="l" t="t" r="r" b="b"/>
              <a:pathLst>
                <a:path w="4286250" h="4572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4457700"/>
                  </a:lnTo>
                  <a:cubicBezTo>
                    <a:pt x="4286250" y="4520826"/>
                    <a:pt x="4235076" y="4572000"/>
                    <a:pt x="417195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1F8E9"/>
            </a:solidFill>
            <a:ln w="9525">
              <a:solidFill>
                <a:srgbClr val="C5E1A5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3015" y="1786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现有工具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09625" y="2333625"/>
              <a:ext cx="3810000" cy="1154906"/>
              <a:chOff x="809625" y="2333625"/>
              <a:chExt cx="3810000" cy="11549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9625" y="2333625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95250" y="0"/>
                    </a:moveTo>
                    <a:lnTo>
                      <a:pt x="3714750" y="0"/>
                    </a:lnTo>
                    <a:cubicBezTo>
                      <a:pt x="3767355" y="0"/>
                      <a:pt x="3810000" y="42645"/>
                      <a:pt x="3810000" y="95250"/>
                    </a:cubicBezTo>
                    <a:lnTo>
                      <a:pt x="3810000" y="1047750"/>
                    </a:lnTo>
                    <a:cubicBezTo>
                      <a:pt x="3810000" y="1100355"/>
                      <a:pt x="3767355" y="1143000"/>
                      <a:pt x="3714750" y="1143000"/>
                    </a:cubicBezTo>
                    <a:lnTo>
                      <a:pt x="95250" y="1143000"/>
                    </a:lnTo>
                    <a:cubicBezTo>
                      <a:pt x="42645" y="1143000"/>
                      <a:pt x="0" y="1100355"/>
                      <a:pt x="0" y="1047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11605" y="2568892"/>
                <a:ext cx="6243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BI看板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938212" y="2783681"/>
                <a:ext cx="1482685" cy="704850"/>
                <a:chOff x="938212" y="2783681"/>
                <a:chExt cx="1482685" cy="704850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938212" y="2783681"/>
                  <a:ext cx="131837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多维度数据追踪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38212" y="3021806"/>
                  <a:ext cx="131837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分周期统计分析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38212" y="3259931"/>
                  <a:ext cx="148268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分组到人数据监控</a:t>
                  </a:r>
                </a:p>
              </p:txBody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809625" y="3619500"/>
              <a:ext cx="3810000" cy="1154906"/>
              <a:chOff x="809625" y="3619500"/>
              <a:chExt cx="3810000" cy="11549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09625" y="361950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95250" y="0"/>
                    </a:moveTo>
                    <a:lnTo>
                      <a:pt x="3714750" y="0"/>
                    </a:lnTo>
                    <a:cubicBezTo>
                      <a:pt x="3767355" y="0"/>
                      <a:pt x="3810000" y="42645"/>
                      <a:pt x="3810000" y="95250"/>
                    </a:cubicBezTo>
                    <a:lnTo>
                      <a:pt x="3810000" y="1047750"/>
                    </a:lnTo>
                    <a:cubicBezTo>
                      <a:pt x="3810000" y="1100355"/>
                      <a:pt x="3767355" y="1143000"/>
                      <a:pt x="3714750" y="1143000"/>
                    </a:cubicBezTo>
                    <a:lnTo>
                      <a:pt x="95250" y="1143000"/>
                    </a:lnTo>
                    <a:cubicBezTo>
                      <a:pt x="42645" y="1143000"/>
                      <a:pt x="0" y="1100355"/>
                      <a:pt x="0" y="1047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11605" y="3854768"/>
                <a:ext cx="124539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WPS智能看板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938212" y="4069556"/>
                <a:ext cx="1154073" cy="704850"/>
                <a:chOff x="938212" y="4069556"/>
                <a:chExt cx="1154073" cy="704850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938212" y="4069556"/>
                  <a:ext cx="115407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钉钉绑定推送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38212" y="4307681"/>
                  <a:ext cx="115407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定时数据报告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38212" y="4545806"/>
                  <a:ext cx="98976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333333"/>
                      </a:solidFill>
                      <a:latin typeface="Calibri"/>
                      <a:ea typeface="Microsoft YaHei"/>
                      <a:cs typeface="Calibri"/>
                    </a:rPr>
                    <a:t>• 移动端查看</a:t>
                  </a:r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809625" y="4905375"/>
              <a:ext cx="3810000" cy="952500"/>
              <a:chOff x="809625" y="4905375"/>
              <a:chExt cx="3810000" cy="952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09625" y="4905375"/>
                <a:ext cx="3810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00">
                    <a:moveTo>
                      <a:pt x="95250" y="0"/>
                    </a:moveTo>
                    <a:lnTo>
                      <a:pt x="3714750" y="0"/>
                    </a:lnTo>
                    <a:cubicBezTo>
                      <a:pt x="3767355" y="0"/>
                      <a:pt x="3810000" y="42645"/>
                      <a:pt x="3810000" y="95250"/>
                    </a:cubicBezTo>
                    <a:lnTo>
                      <a:pt x="3810000" y="857250"/>
                    </a:lnTo>
                    <a:cubicBezTo>
                      <a:pt x="3810000" y="909855"/>
                      <a:pt x="3767355" y="952500"/>
                      <a:pt x="3714750" y="952500"/>
                    </a:cubicBezTo>
                    <a:lnTo>
                      <a:pt x="95250" y="952500"/>
                    </a:lnTo>
                    <a:cubicBezTo>
                      <a:pt x="42645" y="952500"/>
                      <a:pt x="0" y="909855"/>
                      <a:pt x="0" y="8572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CAF50">
                  <a:alpha val="10000"/>
                </a:srgbClr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411605" y="5140642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待补充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8212" y="5498306"/>
                <a:ext cx="14826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• 现场大屏实时展示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143500" y="1524000"/>
            <a:ext cx="6477000" cy="4572000"/>
            <a:chOff x="5143500" y="1524000"/>
            <a:chExt cx="6477000" cy="4572000"/>
          </a:xfrm>
        </p:grpSpPr>
        <p:sp>
          <p:nvSpPr>
            <p:cNvPr id="29" name="Freeform 29"/>
            <p:cNvSpPr/>
            <p:nvPr/>
          </p:nvSpPr>
          <p:spPr>
            <a:xfrm>
              <a:off x="5143500" y="1524000"/>
              <a:ext cx="6477000" cy="4572000"/>
            </a:xfrm>
            <a:custGeom>
              <a:avLst/>
              <a:gdLst/>
              <a:ahLst/>
              <a:cxnLst/>
              <a:rect l="l" t="t" r="r" b="b"/>
              <a:pathLst>
                <a:path w="6477000" h="4572000">
                  <a:moveTo>
                    <a:pt x="114300" y="0"/>
                  </a:moveTo>
                  <a:lnTo>
                    <a:pt x="6362700" y="0"/>
                  </a:lnTo>
                  <a:cubicBezTo>
                    <a:pt x="6425826" y="0"/>
                    <a:pt x="6477000" y="51174"/>
                    <a:pt x="6477000" y="114300"/>
                  </a:cubicBezTo>
                  <a:lnTo>
                    <a:pt x="6477000" y="4457700"/>
                  </a:lnTo>
                  <a:cubicBezTo>
                    <a:pt x="6477000" y="4520826"/>
                    <a:pt x="6425826" y="4572000"/>
                    <a:pt x="6362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3E0"/>
            </a:solidFill>
            <a:ln w="9525">
              <a:solidFill>
                <a:srgbClr val="FFE0B2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0" name="Freeform 30"/>
            <p:cNvSpPr/>
            <p:nvPr/>
          </p:nvSpPr>
          <p:spPr>
            <a:xfrm>
              <a:off x="5143500" y="1524000"/>
              <a:ext cx="6477000" cy="57150"/>
            </a:xfrm>
            <a:custGeom>
              <a:avLst/>
              <a:gdLst/>
              <a:ahLst/>
              <a:cxnLst/>
              <a:rect l="l" t="t" r="r" b="b"/>
              <a:pathLst>
                <a:path w="6477000" h="57150">
                  <a:moveTo>
                    <a:pt x="28575" y="0"/>
                  </a:moveTo>
                  <a:lnTo>
                    <a:pt x="6448425" y="0"/>
                  </a:lnTo>
                  <a:cubicBezTo>
                    <a:pt x="6464207" y="0"/>
                    <a:pt x="6477000" y="12793"/>
                    <a:pt x="6477000" y="28575"/>
                  </a:cubicBezTo>
                  <a:lnTo>
                    <a:pt x="6477000" y="28575"/>
                  </a:lnTo>
                  <a:cubicBezTo>
                    <a:pt x="6477000" y="44357"/>
                    <a:pt x="6464207" y="57150"/>
                    <a:pt x="6448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35015" y="17868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待补充管理工具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429250" y="2333625"/>
              <a:ext cx="5905500" cy="762000"/>
              <a:chOff x="5429250" y="2333625"/>
              <a:chExt cx="5905500" cy="762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429250" y="2333625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95250" y="0"/>
                    </a:moveTo>
                    <a:lnTo>
                      <a:pt x="5810250" y="0"/>
                    </a:lnTo>
                    <a:cubicBezTo>
                      <a:pt x="5862855" y="0"/>
                      <a:pt x="5905500" y="42645"/>
                      <a:pt x="5905500" y="95250"/>
                    </a:cubicBezTo>
                    <a:lnTo>
                      <a:pt x="5905500" y="666750"/>
                    </a:lnTo>
                    <a:cubicBezTo>
                      <a:pt x="5905500" y="719355"/>
                      <a:pt x="5862855" y="762000"/>
                      <a:pt x="5810250" y="762000"/>
                    </a:cubicBezTo>
                    <a:lnTo>
                      <a:pt x="95250" y="762000"/>
                    </a:lnTo>
                    <a:cubicBezTo>
                      <a:pt x="42645" y="762000"/>
                      <a:pt x="0" y="719355"/>
                      <a:pt x="0" y="666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E0B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19750" y="2524125"/>
                <a:ext cx="381000" cy="381000"/>
              </a:xfrm>
              <a:prstGeom prst="ellipse">
                <a:avLst/>
              </a:prstGeom>
              <a:solidFill>
                <a:srgbClr val="F57C0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762051" y="2635568"/>
                <a:ext cx="963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7C00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26480" y="25212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夕会问题记录表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29338" y="2783681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记录每日问题，确保闭环解决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429250" y="3238500"/>
              <a:ext cx="5905500" cy="762000"/>
              <a:chOff x="5429250" y="3238500"/>
              <a:chExt cx="5905500" cy="762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429250" y="3238500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95250" y="0"/>
                    </a:moveTo>
                    <a:lnTo>
                      <a:pt x="5810250" y="0"/>
                    </a:lnTo>
                    <a:cubicBezTo>
                      <a:pt x="5862855" y="0"/>
                      <a:pt x="5905500" y="42645"/>
                      <a:pt x="5905500" y="95250"/>
                    </a:cubicBezTo>
                    <a:lnTo>
                      <a:pt x="5905500" y="666750"/>
                    </a:lnTo>
                    <a:cubicBezTo>
                      <a:pt x="5905500" y="719355"/>
                      <a:pt x="5862855" y="762000"/>
                      <a:pt x="5810250" y="762000"/>
                    </a:cubicBezTo>
                    <a:lnTo>
                      <a:pt x="95250" y="762000"/>
                    </a:lnTo>
                    <a:cubicBezTo>
                      <a:pt x="42645" y="762000"/>
                      <a:pt x="0" y="719355"/>
                      <a:pt x="0" y="666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E0B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619750" y="3429000"/>
                <a:ext cx="381000" cy="381000"/>
              </a:xfrm>
              <a:prstGeom prst="ellipse">
                <a:avLst/>
              </a:prstGeom>
              <a:solidFill>
                <a:srgbClr val="F57C0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36173" y="354044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7C00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126480" y="3426142"/>
                <a:ext cx="19182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新人30天成长记录表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129338" y="368855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追踪新人培训进度和能力成长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429250" y="4143375"/>
              <a:ext cx="5905500" cy="762000"/>
              <a:chOff x="5429250" y="4143375"/>
              <a:chExt cx="5905500" cy="762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429250" y="4143375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95250" y="0"/>
                    </a:moveTo>
                    <a:lnTo>
                      <a:pt x="5810250" y="0"/>
                    </a:lnTo>
                    <a:cubicBezTo>
                      <a:pt x="5862855" y="0"/>
                      <a:pt x="5905500" y="42645"/>
                      <a:pt x="5905500" y="95250"/>
                    </a:cubicBezTo>
                    <a:lnTo>
                      <a:pt x="5905500" y="666750"/>
                    </a:lnTo>
                    <a:cubicBezTo>
                      <a:pt x="5905500" y="719355"/>
                      <a:pt x="5862855" y="762000"/>
                      <a:pt x="5810250" y="762000"/>
                    </a:cubicBezTo>
                    <a:lnTo>
                      <a:pt x="95250" y="762000"/>
                    </a:lnTo>
                    <a:cubicBezTo>
                      <a:pt x="42645" y="762000"/>
                      <a:pt x="0" y="719355"/>
                      <a:pt x="0" y="666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E0B2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5619750" y="4333875"/>
                <a:ext cx="381000" cy="381000"/>
              </a:xfrm>
              <a:prstGeom prst="ellipse">
                <a:avLst/>
              </a:prstGeom>
              <a:solidFill>
                <a:srgbClr val="F57C0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736173" y="444531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7C00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126480" y="4331018"/>
                <a:ext cx="233227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60秒非有效名单回收流程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129338" y="4593431"/>
                <a:ext cx="16716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提升坐席名单使用效率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429250" y="5048250"/>
              <a:ext cx="5905500" cy="762000"/>
              <a:chOff x="5429250" y="5048250"/>
              <a:chExt cx="5905500" cy="7620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429250" y="5048250"/>
                <a:ext cx="5905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762000">
                    <a:moveTo>
                      <a:pt x="95250" y="0"/>
                    </a:moveTo>
                    <a:lnTo>
                      <a:pt x="5810250" y="0"/>
                    </a:lnTo>
                    <a:cubicBezTo>
                      <a:pt x="5862855" y="0"/>
                      <a:pt x="5905500" y="42645"/>
                      <a:pt x="5905500" y="95250"/>
                    </a:cubicBezTo>
                    <a:lnTo>
                      <a:pt x="5905500" y="666750"/>
                    </a:lnTo>
                    <a:cubicBezTo>
                      <a:pt x="5905500" y="719355"/>
                      <a:pt x="5862855" y="762000"/>
                      <a:pt x="5810250" y="762000"/>
                    </a:cubicBezTo>
                    <a:lnTo>
                      <a:pt x="95250" y="762000"/>
                    </a:lnTo>
                    <a:cubicBezTo>
                      <a:pt x="42645" y="762000"/>
                      <a:pt x="0" y="719355"/>
                      <a:pt x="0" y="6667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E0B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5619750" y="5238750"/>
                <a:ext cx="381000" cy="381000"/>
              </a:xfrm>
              <a:prstGeom prst="ellipse">
                <a:avLst/>
              </a:prstGeom>
              <a:solidFill>
                <a:srgbClr val="F57C0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736173" y="535019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7C00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126480" y="5235892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标准化质检流程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129338" y="5498306"/>
                <a:ext cx="20002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第一时间同步问题解决方案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559118" y="6514624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10 | 汇讯：管理工具优化方向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供应商认证收获对比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5638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差异化收获：各供应商根据自身情况，制定了不同的改进重点和落地方案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524000"/>
            <a:ext cx="11049000" cy="5000625"/>
            <a:chOff x="571500" y="1524000"/>
            <a:chExt cx="11049000" cy="5000625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524000"/>
              <a:ext cx="11049000" cy="714375"/>
              <a:chOff x="571500" y="1524000"/>
              <a:chExt cx="11049000" cy="7143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71500" y="152400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005587">
                  <a:alpha val="8000"/>
                </a:srgbClr>
              </a:solidFill>
              <a:ln w="19050">
                <a:solidFill>
                  <a:srgbClr val="005587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71500" y="1524000"/>
                <a:ext cx="5715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14375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85800"/>
                    </a:lnTo>
                    <a:cubicBezTo>
                      <a:pt x="57150" y="701582"/>
                      <a:pt x="44357" y="714375"/>
                      <a:pt x="28575" y="714375"/>
                    </a:cubicBezTo>
                    <a:lnTo>
                      <a:pt x="28575" y="714375"/>
                    </a:lnTo>
                    <a:cubicBezTo>
                      <a:pt x="12793" y="714375"/>
                      <a:pt x="0" y="701582"/>
                      <a:pt x="0" y="6858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88670" y="16316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岐力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94385" y="1946910"/>
                <a:ext cx="10820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91分 · 第一名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85010" y="1680210"/>
                <a:ext cx="12573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分模块改进方案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85010" y="1918335"/>
                <a:ext cx="251040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三阶段落地计划 · 专项小组保障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42270" y="1693545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005587"/>
                    </a:solidFill>
                    <a:latin typeface="Arial"/>
                    <a:ea typeface="Microsoft YaHei"/>
                    <a:cs typeface="Arial"/>
                  </a:rPr>
                  <a:t>91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381250"/>
              <a:ext cx="11049000" cy="714375"/>
              <a:chOff x="571500" y="2381250"/>
              <a:chExt cx="11049000" cy="7143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71500" y="238125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0076A8">
                  <a:alpha val="8000"/>
                </a:srgbClr>
              </a:solidFill>
              <a:ln w="19050">
                <a:solidFill>
                  <a:srgbClr val="0076A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71500" y="2381250"/>
                <a:ext cx="5715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14375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85800"/>
                    </a:lnTo>
                    <a:cubicBezTo>
                      <a:pt x="57150" y="701582"/>
                      <a:pt x="44357" y="714375"/>
                      <a:pt x="28575" y="714375"/>
                    </a:cubicBezTo>
                    <a:lnTo>
                      <a:pt x="28575" y="714375"/>
                    </a:lnTo>
                    <a:cubicBezTo>
                      <a:pt x="12793" y="714375"/>
                      <a:pt x="0" y="701582"/>
                      <a:pt x="0" y="6858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88670" y="248888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76A8"/>
                    </a:solidFill>
                    <a:latin typeface="Arial"/>
                    <a:ea typeface="Microsoft YaHei"/>
                    <a:cs typeface="Arial"/>
                  </a:rPr>
                  <a:t>汇讯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385" y="2804160"/>
                <a:ext cx="11258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88分 · 第二名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85010" y="2537460"/>
                <a:ext cx="22037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管理工具复盘 · BI+WPS看板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85010" y="2775585"/>
                <a:ext cx="2685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补充夕会记录表 · 新人成长记录表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542270" y="2550795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0076A8"/>
                    </a:solidFill>
                    <a:latin typeface="Arial"/>
                    <a:ea typeface="Microsoft YaHei"/>
                    <a:cs typeface="Arial"/>
                  </a:rPr>
                  <a:t>88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71500" y="3238500"/>
              <a:ext cx="11049000" cy="714375"/>
              <a:chOff x="571500" y="3238500"/>
              <a:chExt cx="11049000" cy="7143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71500" y="323850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CAF50">
                  <a:alpha val="8000"/>
                </a:srgbClr>
              </a:solidFill>
              <a:ln w="19050">
                <a:solidFill>
                  <a:srgbClr val="4CAF5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71500" y="3238500"/>
                <a:ext cx="5715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14375">
                    <a:moveTo>
                      <a:pt x="28575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685800"/>
                    </a:lnTo>
                    <a:cubicBezTo>
                      <a:pt x="57150" y="701582"/>
                      <a:pt x="44357" y="714375"/>
                      <a:pt x="28575" y="714375"/>
                    </a:cubicBezTo>
                    <a:lnTo>
                      <a:pt x="28575" y="714375"/>
                    </a:lnTo>
                    <a:cubicBezTo>
                      <a:pt x="12793" y="714375"/>
                      <a:pt x="0" y="701582"/>
                      <a:pt x="0" y="6858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88670" y="3346132"/>
                <a:ext cx="8010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赛维斯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4385" y="3661410"/>
                <a:ext cx="11258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04A02"/>
                    </a:solidFill>
                    <a:latin typeface="Calibri"/>
                    <a:ea typeface="Microsoft YaHei"/>
                    <a:cs typeface="Calibri"/>
                  </a:rPr>
                  <a:t>86分 · 第三名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985010" y="33947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人员管理优化 · 激励体系完善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85010" y="3632835"/>
                <a:ext cx="244906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ABC梯队建设 · 分层激励参与率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542270" y="3408045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86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4095750"/>
              <a:ext cx="11049000" cy="714375"/>
              <a:chOff x="571500" y="4095750"/>
              <a:chExt cx="11049000" cy="7143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71500" y="409575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5F8FA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8670" y="420338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华啸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94385" y="4518660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认证通过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85010" y="4251960"/>
                <a:ext cx="27207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新人培育方案 · 30天60天成长计划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85010" y="4490085"/>
                <a:ext cx="25454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名产分层精细化 · 客户ABCD标签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4953000"/>
              <a:ext cx="11049000" cy="714375"/>
              <a:chOff x="571500" y="4953000"/>
              <a:chExt cx="11049000" cy="71437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71500" y="495300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5F8FA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88670" y="50606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广达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94385" y="5375910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认证通过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985010" y="51092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招聘环节调整 · 师徒带教优化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985010" y="5347335"/>
                <a:ext cx="251040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二对一带教模式 · 复盘闭环环节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571500" y="5810250"/>
              <a:ext cx="11049000" cy="714375"/>
              <a:chOff x="571500" y="5810250"/>
              <a:chExt cx="11049000" cy="7143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71500" y="5810250"/>
                <a:ext cx="11049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14375">
                    <a:moveTo>
                      <a:pt x="95250" y="0"/>
                    </a:moveTo>
                    <a:lnTo>
                      <a:pt x="10953750" y="0"/>
                    </a:lnTo>
                    <a:cubicBezTo>
                      <a:pt x="11006355" y="0"/>
                      <a:pt x="11049000" y="42645"/>
                      <a:pt x="11049000" y="95250"/>
                    </a:cubicBezTo>
                    <a:lnTo>
                      <a:pt x="11049000" y="619125"/>
                    </a:lnTo>
                    <a:cubicBezTo>
                      <a:pt x="11049000" y="671730"/>
                      <a:pt x="11006355" y="714375"/>
                      <a:pt x="10953750" y="714375"/>
                    </a:cubicBezTo>
                    <a:lnTo>
                      <a:pt x="95250" y="714375"/>
                    </a:lnTo>
                    <a:cubicBezTo>
                      <a:pt x="42645" y="714375"/>
                      <a:pt x="0" y="671730"/>
                      <a:pt x="0" y="619125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5F8FA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88670" y="591788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瀚锐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94385" y="6233160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Calibri"/>
                    <a:ea typeface="Microsoft YaHei"/>
                    <a:cs typeface="Calibri"/>
                  </a:rPr>
                  <a:t>认证通过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985010" y="5966460"/>
                <a:ext cx="2685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零后团队激活 · 老员工参与感提升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85010" y="6204585"/>
                <a:ext cx="2685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3333"/>
                    </a:solidFill>
                    <a:latin typeface="Calibri"/>
                    <a:ea typeface="Microsoft YaHei"/>
                    <a:cs typeface="Calibri"/>
                  </a:rPr>
                  <a:t>话术迭代机制 · 坐席自我总结分享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58165" y="6125528"/>
            <a:ext cx="11062335" cy="265747"/>
            <a:chOff x="558165" y="6125528"/>
            <a:chExt cx="11062335" cy="265747"/>
          </a:xfrm>
        </p:grpSpPr>
        <p:sp>
          <p:nvSpPr>
            <p:cNvPr id="50" name="Rectangle 50"/>
            <p:cNvSpPr/>
            <p:nvPr/>
          </p:nvSpPr>
          <p:spPr>
            <a:xfrm>
              <a:off x="571500" y="6381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8165" y="6125528"/>
              <a:ext cx="60074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共同收获：所有供应商均找到了自身差距，制定了差异化落地方案，明确了后续推进方向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59118" y="6514624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11 | 供应商认证收获对比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2324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标准化落地关键指标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71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571500" y="904875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032510"/>
            <a:ext cx="5989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5587"/>
                </a:solidFill>
                <a:latin typeface="Calibri"/>
                <a:ea typeface="Microsoft YaHei"/>
                <a:cs typeface="Calibri"/>
              </a:rPr>
              <a:t>核心目标：通过可量化的指标体系，确保标准化运营落地效果可追踪、可验证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1524000"/>
            <a:ext cx="3429000" cy="1714500"/>
            <a:chOff x="571500" y="1524000"/>
            <a:chExt cx="3429000" cy="1714500"/>
          </a:xfrm>
        </p:grpSpPr>
        <p:sp>
          <p:nvSpPr>
            <p:cNvPr id="7" name="Freeform 7"/>
            <p:cNvSpPr/>
            <p:nvPr/>
          </p:nvSpPr>
          <p:spPr>
            <a:xfrm>
              <a:off x="571500" y="152400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57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62000" y="1738312"/>
              <a:ext cx="381000" cy="333376"/>
              <a:chOff x="762000" y="1738312"/>
              <a:chExt cx="381000" cy="33337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3438" y="173831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9062" y="59531"/>
                    </a:move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cubicBezTo>
                      <a:pt x="0" y="26653"/>
                      <a:pt x="26653" y="0"/>
                      <a:pt x="59531" y="0"/>
                    </a:cubicBez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62000" y="1905000"/>
                <a:ext cx="19050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6668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lnTo>
                      <a:pt x="0" y="166688"/>
                    </a:lnTo>
                    <a:lnTo>
                      <a:pt x="190500" y="166688"/>
                    </a:lnTo>
                    <a:lnTo>
                      <a:pt x="190500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0125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71438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71438"/>
                    </a:lnTo>
                    <a:cubicBezTo>
                      <a:pt x="142875" y="31984"/>
                      <a:pt x="110892" y="0"/>
                      <a:pt x="71438" y="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0125" y="176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68730" y="1835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人员管理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267902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ABC梯队建设覆盖率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1995" y="2422208"/>
              <a:ext cx="102197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57981" y="2530078"/>
              <a:ext cx="280519" cy="173363"/>
            </a:xfrm>
            <a:custGeom>
              <a:avLst/>
              <a:gdLst/>
              <a:ahLst/>
              <a:cxnLst/>
              <a:rect l="l" t="t" r="r" b="b"/>
              <a:pathLst>
                <a:path w="280519" h="173363">
                  <a:moveTo>
                    <a:pt x="173363" y="0"/>
                  </a:moveTo>
                  <a:lnTo>
                    <a:pt x="155503" y="17859"/>
                  </a:lnTo>
                  <a:lnTo>
                    <a:pt x="196453" y="58809"/>
                  </a:lnTo>
                  <a:lnTo>
                    <a:pt x="146574" y="108688"/>
                  </a:lnTo>
                  <a:lnTo>
                    <a:pt x="92996" y="55110"/>
                  </a:lnTo>
                  <a:lnTo>
                    <a:pt x="0" y="148106"/>
                  </a:lnTo>
                  <a:lnTo>
                    <a:pt x="25257" y="173363"/>
                  </a:lnTo>
                  <a:lnTo>
                    <a:pt x="92996" y="105624"/>
                  </a:lnTo>
                  <a:lnTo>
                    <a:pt x="146574" y="159202"/>
                  </a:lnTo>
                  <a:lnTo>
                    <a:pt x="221710" y="84066"/>
                  </a:lnTo>
                  <a:lnTo>
                    <a:pt x="262659" y="125016"/>
                  </a:lnTo>
                  <a:lnTo>
                    <a:pt x="280519" y="107156"/>
                  </a:lnTo>
                  <a:lnTo>
                    <a:pt x="280519" y="0"/>
                  </a:lnTo>
                  <a:lnTo>
                    <a:pt x="173363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381500" y="1524000"/>
            <a:ext cx="3429000" cy="1714500"/>
            <a:chOff x="4381500" y="1524000"/>
            <a:chExt cx="3429000" cy="1714500"/>
          </a:xfrm>
        </p:grpSpPr>
        <p:sp>
          <p:nvSpPr>
            <p:cNvPr id="19" name="Freeform 19"/>
            <p:cNvSpPr/>
            <p:nvPr/>
          </p:nvSpPr>
          <p:spPr>
            <a:xfrm>
              <a:off x="4381500" y="152400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438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72000" y="1714500"/>
              <a:ext cx="381000" cy="357188"/>
              <a:chOff x="4572000" y="1714500"/>
              <a:chExt cx="381000" cy="3571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572000" y="1714500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71438" y="71438"/>
                    </a:moveTo>
                    <a:lnTo>
                      <a:pt x="71438" y="0"/>
                    </a:lnTo>
                    <a:lnTo>
                      <a:pt x="119062" y="0"/>
                    </a:lnTo>
                    <a:cubicBezTo>
                      <a:pt x="158516" y="0"/>
                      <a:pt x="190500" y="31984"/>
                      <a:pt x="190500" y="71438"/>
                    </a:cubicBezTo>
                    <a:cubicBezTo>
                      <a:pt x="190500" y="31984"/>
                      <a:pt x="222484" y="0"/>
                      <a:pt x="261938" y="0"/>
                    </a:cubicBezTo>
                    <a:lnTo>
                      <a:pt x="309562" y="0"/>
                    </a:lnTo>
                    <a:lnTo>
                      <a:pt x="309562" y="71438"/>
                    </a:lnTo>
                    <a:lnTo>
                      <a:pt x="381000" y="71438"/>
                    </a:lnTo>
                    <a:lnTo>
                      <a:pt x="381000" y="142875"/>
                    </a:lnTo>
                    <a:lnTo>
                      <a:pt x="0" y="142875"/>
                    </a:lnTo>
                    <a:lnTo>
                      <a:pt x="0" y="71438"/>
                    </a:lnTo>
                    <a:lnTo>
                      <a:pt x="71438" y="71438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59581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86312" y="190500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0076A8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078730" y="1835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激励体系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8665" y="2267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日周月分层激励参与率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31995" y="2422208"/>
              <a:ext cx="114274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&gt;80%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767981" y="2530078"/>
              <a:ext cx="280519" cy="173363"/>
            </a:xfrm>
            <a:custGeom>
              <a:avLst/>
              <a:gdLst/>
              <a:ahLst/>
              <a:cxnLst/>
              <a:rect l="l" t="t" r="r" b="b"/>
              <a:pathLst>
                <a:path w="280519" h="173363">
                  <a:moveTo>
                    <a:pt x="173363" y="0"/>
                  </a:moveTo>
                  <a:lnTo>
                    <a:pt x="155503" y="17859"/>
                  </a:lnTo>
                  <a:lnTo>
                    <a:pt x="196453" y="58809"/>
                  </a:lnTo>
                  <a:lnTo>
                    <a:pt x="146574" y="108688"/>
                  </a:lnTo>
                  <a:lnTo>
                    <a:pt x="92996" y="55110"/>
                  </a:lnTo>
                  <a:lnTo>
                    <a:pt x="0" y="148106"/>
                  </a:lnTo>
                  <a:lnTo>
                    <a:pt x="25257" y="173363"/>
                  </a:lnTo>
                  <a:lnTo>
                    <a:pt x="92996" y="105624"/>
                  </a:lnTo>
                  <a:lnTo>
                    <a:pt x="146574" y="159202"/>
                  </a:lnTo>
                  <a:lnTo>
                    <a:pt x="221710" y="84066"/>
                  </a:lnTo>
                  <a:lnTo>
                    <a:pt x="262659" y="125016"/>
                  </a:lnTo>
                  <a:lnTo>
                    <a:pt x="280519" y="107156"/>
                  </a:lnTo>
                  <a:lnTo>
                    <a:pt x="280519" y="0"/>
                  </a:lnTo>
                  <a:lnTo>
                    <a:pt x="173363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191500" y="1524000"/>
            <a:ext cx="3429000" cy="1714500"/>
            <a:chOff x="8191500" y="1524000"/>
            <a:chExt cx="3429000" cy="1714500"/>
          </a:xfrm>
        </p:grpSpPr>
        <p:sp>
          <p:nvSpPr>
            <p:cNvPr id="30" name="Freeform 30"/>
            <p:cNvSpPr/>
            <p:nvPr/>
          </p:nvSpPr>
          <p:spPr>
            <a:xfrm>
              <a:off x="8191500" y="152400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191500" y="15240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04A0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88730" y="1835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数据驱动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8665" y="2267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每日数据查看执行率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1995" y="2422208"/>
              <a:ext cx="102197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D04A02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524250"/>
            <a:ext cx="3429000" cy="1714500"/>
            <a:chOff x="571500" y="3524250"/>
            <a:chExt cx="3429000" cy="1714500"/>
          </a:xfrm>
        </p:grpSpPr>
        <p:sp>
          <p:nvSpPr>
            <p:cNvPr id="36" name="Freeform 36"/>
            <p:cNvSpPr/>
            <p:nvPr/>
          </p:nvSpPr>
          <p:spPr>
            <a:xfrm>
              <a:off x="571500" y="35242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37" name="Freeform 37"/>
            <p:cNvSpPr/>
            <p:nvPr/>
          </p:nvSpPr>
          <p:spPr>
            <a:xfrm>
              <a:off x="571500" y="352425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68730" y="3835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话术迭代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8665" y="426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月度话术更新及时率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995" y="4422458"/>
              <a:ext cx="102197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381500" y="3524250"/>
            <a:ext cx="3429000" cy="1714500"/>
            <a:chOff x="4381500" y="3524250"/>
            <a:chExt cx="3429000" cy="1714500"/>
          </a:xfrm>
        </p:grpSpPr>
        <p:sp>
          <p:nvSpPr>
            <p:cNvPr id="42" name="Freeform 42"/>
            <p:cNvSpPr/>
            <p:nvPr/>
          </p:nvSpPr>
          <p:spPr>
            <a:xfrm>
              <a:off x="4381500" y="35242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43" name="Freeform 43"/>
            <p:cNvSpPr/>
            <p:nvPr/>
          </p:nvSpPr>
          <p:spPr>
            <a:xfrm>
              <a:off x="4381500" y="352425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7B1FA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78730" y="3835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B1FA2"/>
                  </a:solidFill>
                  <a:latin typeface="Arial"/>
                  <a:ea typeface="Microsoft YaHei"/>
                  <a:cs typeface="Arial"/>
                </a:rPr>
                <a:t>三会执行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58665" y="426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早会午会晚会达标率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31995" y="4422458"/>
              <a:ext cx="114274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B1FA2"/>
                  </a:solidFill>
                  <a:latin typeface="Arial"/>
                  <a:ea typeface="Microsoft YaHei"/>
                  <a:cs typeface="Arial"/>
                </a:rPr>
                <a:t>&gt;95%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767981" y="4530328"/>
              <a:ext cx="280519" cy="173363"/>
            </a:xfrm>
            <a:custGeom>
              <a:avLst/>
              <a:gdLst/>
              <a:ahLst/>
              <a:cxnLst/>
              <a:rect l="l" t="t" r="r" b="b"/>
              <a:pathLst>
                <a:path w="280519" h="173363">
                  <a:moveTo>
                    <a:pt x="173363" y="0"/>
                  </a:moveTo>
                  <a:lnTo>
                    <a:pt x="155503" y="17859"/>
                  </a:lnTo>
                  <a:lnTo>
                    <a:pt x="196453" y="58809"/>
                  </a:lnTo>
                  <a:lnTo>
                    <a:pt x="146574" y="108688"/>
                  </a:lnTo>
                  <a:lnTo>
                    <a:pt x="92996" y="55110"/>
                  </a:lnTo>
                  <a:lnTo>
                    <a:pt x="0" y="148106"/>
                  </a:lnTo>
                  <a:lnTo>
                    <a:pt x="25257" y="173363"/>
                  </a:lnTo>
                  <a:lnTo>
                    <a:pt x="92996" y="105624"/>
                  </a:lnTo>
                  <a:lnTo>
                    <a:pt x="146574" y="159202"/>
                  </a:lnTo>
                  <a:lnTo>
                    <a:pt x="221710" y="84066"/>
                  </a:lnTo>
                  <a:lnTo>
                    <a:pt x="262659" y="125016"/>
                  </a:lnTo>
                  <a:lnTo>
                    <a:pt x="280519" y="107156"/>
                  </a:lnTo>
                  <a:lnTo>
                    <a:pt x="280519" y="0"/>
                  </a:lnTo>
                  <a:lnTo>
                    <a:pt x="173363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191500" y="3524250"/>
            <a:ext cx="3429000" cy="1714500"/>
            <a:chOff x="8191500" y="3524250"/>
            <a:chExt cx="3429000" cy="1714500"/>
          </a:xfrm>
        </p:grpSpPr>
        <p:sp>
          <p:nvSpPr>
            <p:cNvPr id="49" name="Freeform 49"/>
            <p:cNvSpPr/>
            <p:nvPr/>
          </p:nvSpPr>
          <p:spPr>
            <a:xfrm>
              <a:off x="8191500" y="35242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8FA"/>
            </a:solidFill>
            <a:ln w="9525">
              <a:solidFill>
                <a:srgbClr val="E0E0E0"/>
              </a:solidFill>
            </a:ln>
            <a:effectLst>
              <a:outerShdw blurRad="114300" dist="19050" dir="10798281" algn="tl" rotWithShape="0">
                <a:srgbClr val="005587">
                  <a:alpha val="12000"/>
                </a:srgbClr>
              </a:outerShdw>
            </a:effectLst>
          </p:spPr>
        </p:sp>
        <p:sp>
          <p:nvSpPr>
            <p:cNvPr id="50" name="Freeform 50"/>
            <p:cNvSpPr/>
            <p:nvPr/>
          </p:nvSpPr>
          <p:spPr>
            <a:xfrm>
              <a:off x="8191500" y="352425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429625" y="3714750"/>
              <a:ext cx="285750" cy="381000"/>
              <a:chOff x="8429625" y="3714750"/>
              <a:chExt cx="285750" cy="3810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429625" y="3867150"/>
                <a:ext cx="285750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09537">
                    <a:moveTo>
                      <a:pt x="265202" y="12148"/>
                    </a:moveTo>
                    <a:cubicBezTo>
                      <a:pt x="271901" y="8798"/>
                      <a:pt x="278899" y="4758"/>
                      <a:pt x="285750" y="0"/>
                    </a:cubicBezTo>
                    <a:lnTo>
                      <a:pt x="285750" y="38100"/>
                    </a:lnTo>
                    <a:cubicBezTo>
                      <a:pt x="285750" y="77554"/>
                      <a:pt x="221782" y="109537"/>
                      <a:pt x="142875" y="109537"/>
                    </a:cubicBezTo>
                    <a:cubicBezTo>
                      <a:pt x="63967" y="109537"/>
                      <a:pt x="0" y="77554"/>
                      <a:pt x="0" y="38100"/>
                    </a:cubicBezTo>
                    <a:lnTo>
                      <a:pt x="0" y="0"/>
                    </a:lnTo>
                    <a:cubicBezTo>
                      <a:pt x="6851" y="4758"/>
                      <a:pt x="13849" y="8798"/>
                      <a:pt x="20549" y="12148"/>
                    </a:cubicBezTo>
                    <a:cubicBezTo>
                      <a:pt x="54315" y="29032"/>
                      <a:pt x="97631" y="38100"/>
                      <a:pt x="142875" y="38100"/>
                    </a:cubicBezTo>
                    <a:cubicBezTo>
                      <a:pt x="188119" y="38100"/>
                      <a:pt x="231434" y="29032"/>
                      <a:pt x="265202" y="12148"/>
                    </a:cubicBezTo>
                    <a:close/>
                  </a:path>
                </a:pathLst>
              </a:custGeom>
              <a:solidFill>
                <a:srgbClr val="F57C0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429625" y="3986212"/>
                <a:ext cx="28575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09538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77555"/>
                      <a:pt x="63967" y="109538"/>
                      <a:pt x="142875" y="109538"/>
                    </a:cubicBezTo>
                    <a:cubicBezTo>
                      <a:pt x="221782" y="109538"/>
                      <a:pt x="285750" y="77555"/>
                      <a:pt x="285750" y="38100"/>
                    </a:cubicBezTo>
                    <a:lnTo>
                      <a:pt x="285750" y="0"/>
                    </a:lnTo>
                    <a:cubicBezTo>
                      <a:pt x="278899" y="4758"/>
                      <a:pt x="271901" y="8799"/>
                      <a:pt x="265202" y="12149"/>
                    </a:cubicBezTo>
                    <a:cubicBezTo>
                      <a:pt x="231434" y="29032"/>
                      <a:pt x="188119" y="38100"/>
                      <a:pt x="142875" y="38100"/>
                    </a:cubicBezTo>
                    <a:cubicBezTo>
                      <a:pt x="97631" y="38100"/>
                      <a:pt x="54315" y="29032"/>
                      <a:pt x="20549" y="12149"/>
                    </a:cubicBezTo>
                    <a:cubicBezTo>
                      <a:pt x="13849" y="8799"/>
                      <a:pt x="6851" y="4758"/>
                      <a:pt x="0" y="0"/>
                    </a:cubicBezTo>
                    <a:close/>
                  </a:path>
                </a:pathLst>
              </a:custGeom>
              <a:solidFill>
                <a:srgbClr val="F57C0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429625" y="3714750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142875" y="0"/>
                    </a:moveTo>
                    <a:cubicBezTo>
                      <a:pt x="221782" y="0"/>
                      <a:pt x="285750" y="31984"/>
                      <a:pt x="285750" y="71438"/>
                    </a:cubicBezTo>
                    <a:cubicBezTo>
                      <a:pt x="285750" y="110891"/>
                      <a:pt x="221782" y="142875"/>
                      <a:pt x="142875" y="142875"/>
                    </a:cubicBezTo>
                    <a:cubicBezTo>
                      <a:pt x="63967" y="142875"/>
                      <a:pt x="0" y="110891"/>
                      <a:pt x="0" y="71438"/>
                    </a:cubicBezTo>
                    <a:cubicBezTo>
                      <a:pt x="0" y="31984"/>
                      <a:pt x="63967" y="0"/>
                      <a:pt x="142875" y="0"/>
                    </a:cubicBezTo>
                    <a:close/>
                  </a:path>
                </a:pathLst>
              </a:custGeom>
              <a:solidFill>
                <a:srgbClr val="F57C00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888730" y="3835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名单效率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68665" y="42681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alibri"/>
                  <a:ea typeface="Microsoft YaHei"/>
                  <a:cs typeface="Calibri"/>
                </a:rPr>
                <a:t>名单利用率提升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41995" y="4422458"/>
              <a:ext cx="114274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&gt;30%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0577981" y="4530328"/>
              <a:ext cx="280519" cy="173363"/>
            </a:xfrm>
            <a:custGeom>
              <a:avLst/>
              <a:gdLst/>
              <a:ahLst/>
              <a:cxnLst/>
              <a:rect l="l" t="t" r="r" b="b"/>
              <a:pathLst>
                <a:path w="280519" h="173363">
                  <a:moveTo>
                    <a:pt x="173363" y="0"/>
                  </a:moveTo>
                  <a:lnTo>
                    <a:pt x="155503" y="17859"/>
                  </a:lnTo>
                  <a:lnTo>
                    <a:pt x="196453" y="58809"/>
                  </a:lnTo>
                  <a:lnTo>
                    <a:pt x="146574" y="108688"/>
                  </a:lnTo>
                  <a:lnTo>
                    <a:pt x="92996" y="55110"/>
                  </a:lnTo>
                  <a:lnTo>
                    <a:pt x="0" y="148106"/>
                  </a:lnTo>
                  <a:lnTo>
                    <a:pt x="25257" y="173363"/>
                  </a:lnTo>
                  <a:lnTo>
                    <a:pt x="92996" y="105624"/>
                  </a:lnTo>
                  <a:lnTo>
                    <a:pt x="146574" y="159202"/>
                  </a:lnTo>
                  <a:lnTo>
                    <a:pt x="221710" y="84066"/>
                  </a:lnTo>
                  <a:lnTo>
                    <a:pt x="262659" y="125016"/>
                  </a:lnTo>
                  <a:lnTo>
                    <a:pt x="280519" y="107156"/>
                  </a:lnTo>
                  <a:lnTo>
                    <a:pt x="280519" y="0"/>
                  </a:lnTo>
                  <a:lnTo>
                    <a:pt x="173363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71500" y="5524500"/>
            <a:ext cx="11049000" cy="571500"/>
            <a:chOff x="571500" y="5524500"/>
            <a:chExt cx="11049000" cy="571500"/>
          </a:xfrm>
        </p:grpSpPr>
        <p:sp>
          <p:nvSpPr>
            <p:cNvPr id="60" name="Freeform 60"/>
            <p:cNvSpPr/>
            <p:nvPr/>
          </p:nvSpPr>
          <p:spPr>
            <a:xfrm>
              <a:off x="571500" y="55245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57200"/>
                  </a:lnTo>
                  <a:cubicBezTo>
                    <a:pt x="11049000" y="520326"/>
                    <a:pt x="10997826" y="571500"/>
                    <a:pt x="10934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05587">
                <a:alpha val="5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75385" y="5756910"/>
              <a:ext cx="72161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>指标说明：以上指标为标准化运营落地的关键成功要素，需定期追踪、公开公示、与绩效挂钩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59118" y="6514624"/>
            <a:ext cx="1555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13 | 标准化落地关键指标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5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04A02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144298" y="990600"/>
            <a:ext cx="5903405" cy="2500312"/>
            <a:chOff x="3144298" y="990600"/>
            <a:chExt cx="5903405" cy="2500312"/>
          </a:xfrm>
        </p:grpSpPr>
        <p:sp>
          <p:nvSpPr>
            <p:cNvPr id="5" name="Ellipse 5"/>
            <p:cNvSpPr/>
            <p:nvPr/>
          </p:nvSpPr>
          <p:spPr>
            <a:xfrm>
              <a:off x="5562600" y="990600"/>
              <a:ext cx="1066800" cy="106680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5638800" y="1066800"/>
              <a:ext cx="914400" cy="914400"/>
            </a:xfrm>
            <a:prstGeom prst="ellipse">
              <a:avLst/>
            </a:prstGeom>
            <a:solidFill>
              <a:srgbClr val="FFFFFF">
                <a:alpha val="25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5867400" y="1323975"/>
              <a:ext cx="457200" cy="400050"/>
              <a:chOff x="5867400" y="1323975"/>
              <a:chExt cx="457200" cy="4000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953125" y="13239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867400" y="1524000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0"/>
                    </a:moveTo>
                    <a:cubicBezTo>
                      <a:pt x="38381" y="0"/>
                      <a:pt x="0" y="38381"/>
                      <a:pt x="0" y="85725"/>
                    </a:cubicBezTo>
                    <a:lnTo>
                      <a:pt x="0" y="200025"/>
                    </a:lnTo>
                    <a:lnTo>
                      <a:pt x="228600" y="200025"/>
                    </a:lnTo>
                    <a:lnTo>
                      <a:pt x="228600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153150" y="1524000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71450" y="200025"/>
                    </a:lnTo>
                    <a:lnTo>
                      <a:pt x="171450" y="85725"/>
                    </a:lnTo>
                    <a:cubicBezTo>
                      <a:pt x="171450" y="38381"/>
                      <a:pt x="133071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53150" y="1352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cubicBezTo>
                      <a:pt x="88714" y="114300"/>
                      <a:pt x="114300" y="88713"/>
                      <a:pt x="114300" y="57150"/>
                    </a:cubicBezTo>
                    <a:cubicBezTo>
                      <a:pt x="114300" y="25587"/>
                      <a:pt x="88714" y="0"/>
                      <a:pt x="57150" y="0"/>
                    </a:cubicBezTo>
                    <a:cubicBezTo>
                      <a:pt x="25586" y="0"/>
                      <a:pt x="0" y="25587"/>
                      <a:pt x="0" y="57150"/>
                    </a:cubicBezTo>
                    <a:cubicBezTo>
                      <a:pt x="0" y="88713"/>
                      <a:pt x="25586" y="114300"/>
                      <a:pt x="57150" y="1143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3144298" y="2404110"/>
              <a:ext cx="5903405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携手推进，共创价值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7676" y="3155632"/>
              <a:ext cx="3656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BPO供应商联盟 · 标准化运营落地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09750" y="3810000"/>
            <a:ext cx="2667000" cy="1714500"/>
            <a:chOff x="1809750" y="3810000"/>
            <a:chExt cx="2667000" cy="1714500"/>
          </a:xfrm>
        </p:grpSpPr>
        <p:sp>
          <p:nvSpPr>
            <p:cNvPr id="15" name="Freeform 15"/>
            <p:cNvSpPr/>
            <p:nvPr/>
          </p:nvSpPr>
          <p:spPr>
            <a:xfrm>
              <a:off x="180975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80975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00325" y="41529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认证通过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80260" y="46329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所有供应商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49187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均通过认证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0260" y="52044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明确改进方向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62500" y="3810000"/>
            <a:ext cx="2667000" cy="1714500"/>
            <a:chOff x="4762500" y="3810000"/>
            <a:chExt cx="2667000" cy="1714500"/>
          </a:xfrm>
        </p:grpSpPr>
        <p:sp>
          <p:nvSpPr>
            <p:cNvPr id="22" name="Freeform 22"/>
            <p:cNvSpPr/>
            <p:nvPr/>
          </p:nvSpPr>
          <p:spPr>
            <a:xfrm>
              <a:off x="476250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76250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048250" y="4048125"/>
              <a:ext cx="381000" cy="381000"/>
              <a:chOff x="5048250" y="4048125"/>
              <a:chExt cx="381000" cy="381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143500" y="41433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048250" y="4048125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53075" y="41529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落地方案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33010" y="46329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差异化改进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3010" y="49187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三阶段推进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3010" y="52044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可量化指标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715250" y="3810000"/>
            <a:ext cx="2667000" cy="1714500"/>
            <a:chOff x="7715250" y="3810000"/>
            <a:chExt cx="2667000" cy="1714500"/>
          </a:xfrm>
        </p:grpSpPr>
        <p:sp>
          <p:nvSpPr>
            <p:cNvPr id="32" name="Freeform 32"/>
            <p:cNvSpPr/>
            <p:nvPr/>
          </p:nvSpPr>
          <p:spPr>
            <a:xfrm>
              <a:off x="771525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715250" y="3810000"/>
              <a:ext cx="2667000" cy="1714500"/>
            </a:xfrm>
            <a:custGeom>
              <a:avLst/>
              <a:gdLst/>
              <a:ahLst/>
              <a:cxnLst/>
              <a:rect l="l" t="t" r="r" b="b"/>
              <a:pathLst>
                <a:path w="2667000" h="1714500">
                  <a:moveTo>
                    <a:pt x="152400" y="0"/>
                  </a:moveTo>
                  <a:lnTo>
                    <a:pt x="2514600" y="0"/>
                  </a:lnTo>
                  <a:cubicBezTo>
                    <a:pt x="2598768" y="0"/>
                    <a:pt x="2667000" y="68232"/>
                    <a:pt x="2667000" y="152400"/>
                  </a:cubicBezTo>
                  <a:lnTo>
                    <a:pt x="2667000" y="1562100"/>
                  </a:lnTo>
                  <a:cubicBezTo>
                    <a:pt x="2667000" y="1646268"/>
                    <a:pt x="2598768" y="1714500"/>
                    <a:pt x="25146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05825" y="41529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持续开放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5760" y="46329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联盟持续共享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5760" y="49187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提升整体产能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5760" y="52044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Calibri"/>
                  <a:ea typeface="Microsoft YaHei"/>
                  <a:cs typeface="Calibri"/>
                </a:rPr>
                <a:t>携手共进发展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5143500" y="619125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19050" y="0"/>
                </a:moveTo>
                <a:lnTo>
                  <a:pt x="1885950" y="0"/>
                </a:lnTo>
                <a:cubicBezTo>
                  <a:pt x="1896471" y="0"/>
                  <a:pt x="1905000" y="8529"/>
                  <a:pt x="1905000" y="19050"/>
                </a:cubicBezTo>
                <a:lnTo>
                  <a:pt x="1905000" y="19050"/>
                </a:lnTo>
                <a:cubicBezTo>
                  <a:pt x="1905000" y="29571"/>
                  <a:pt x="1896471" y="38100"/>
                  <a:pt x="188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04A0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59118" y="6514624"/>
            <a:ext cx="2253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70000"/>
                  </a:srgbClr>
                </a:solidFill>
                <a:latin typeface="Calibri"/>
                <a:ea typeface="Microsoft YaHei"/>
                <a:cs typeface="Calibri"/>
              </a:rPr>
              <a:t>供应商联盟认证总结会 | 2026年4月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7079" y="651462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>
                    <a:alpha val="70000"/>
                  </a:srgbClr>
                </a:solidFill>
                <a:latin typeface="Calibri"/>
                <a:ea typeface="Microsoft YaHei"/>
                <a:cs typeface="Calibri"/>
              </a:rPr>
              <a:t>14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
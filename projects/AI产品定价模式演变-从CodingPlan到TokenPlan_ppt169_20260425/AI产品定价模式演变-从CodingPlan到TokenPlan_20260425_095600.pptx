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大家好，今天我们来看一个正在发生的商业故事——国内AI大模型定价模式在不到两年的时间里，走完了电信行业20年的演进路径。</a:t>
            </a:r>
          </a:p>
          <a:p>
            <a:endParaRPr lang="zh-CN" dirty="0"/>
          </a:p>
          <a:p>
            <a:r>
              <a:rPr lang="zh-CN" dirty="0"/>
              <a:t>AI产品定价模式演变，从Coding Plan到Token Plan。这不是一次简单的改名，而是商业模式从"卖工具使用权"到"卖算力资源包"的根本升级。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电信20年历史重演 ② 计量单位即定价权 ③ 核心结论先行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今天的分享分四个部分。</a:t>
            </a:r>
          </a:p>
          <a:p>
            <a:endParaRPr lang="zh-CN" dirty="0"/>
          </a:p>
          <a:p>
            <a:r>
              <a:rPr lang="zh-CN" dirty="0"/>
              <a:t>第一部分是事实层，看看发生了什么——时间线、定价对比、计量体系。第二部分是框架层，分析为什么这么演变——五力分析、三段式节奏。第三部分是洞察层，提炼五条可复用模式。最后对未来做四个趋势预判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事实→框架→洞察→预判 ② 层层递进的分析结构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先进入第一部分：发生了什么。</a:t>
            </a:r>
          </a:p>
          <a:p>
            <a:endParaRPr lang="zh-CN" dirty="0"/>
          </a:p>
          <a:p>
            <a:r>
              <a:rPr lang="zh-CN" dirty="0"/>
              <a:t>这两年定价模式的演变速度超乎想象。让我们沿着时间线看一看。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时间跨度2024Q4到2026-04 ② 七阶段快速演进</a:t>
            </a:r>
          </a:p>
          <a:p>
            <a:r>
              <a:rPr lang="zh-CN" dirty="0"/>
              <a:t>时长：0.5分钟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这张时间线展示了两年的关键节点。</a:t>
            </a:r>
          </a:p>
          <a:p>
            <a:endParaRPr lang="zh-CN" dirty="0"/>
          </a:p>
          <a:p>
            <a:r>
              <a:rPr lang="zh-CN" dirty="0"/>
              <a:t>起点是2024年四季度，DeepSeek带头降价，百万Token从几十元降到几毛钱。到2025年四季度，智谱率先推出Coding Plan，从按量付费转向固定月费订阅。中间经历了补贴收紧、Kimi切换Token计量。</a:t>
            </a:r>
          </a:p>
          <a:p>
            <a:endParaRPr lang="zh-CN" dirty="0"/>
          </a:p>
          <a:p>
            <a:r>
              <a:rPr lang="zh-CN" dirty="0"/>
              <a:t>转折点是2026年2月——OpenClaw在GitHub上拿到355K stars，Agent自动循环调用让Token消耗增长6到10倍。这直接催热了Coding Plan需求，也暴露了"不限量"模式的不可持续性。</a:t>
            </a:r>
          </a:p>
          <a:p>
            <a:endParaRPr lang="zh-CN" dirty="0"/>
          </a:p>
          <a:p>
            <a:r>
              <a:rPr lang="zh-CN" dirty="0"/>
              <a:t>随后，MiniMax将"Coding Plan"正式更名为"Token Plan"，腾讯最后入局。到了4月，阿里上线企业版Token Plan，小米以极低价入局。同时Anthropic从标准订阅中移除了OpenClaw访问——成本撑不住了。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OpenClaw是转折点 ② 7家全部上线 ③ 收紧信号出现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看一个很实际的问题：同样花40到50块钱，各平台给的到底多不多？</a:t>
            </a:r>
          </a:p>
          <a:p>
            <a:endParaRPr lang="zh-CN" dirty="0"/>
          </a:p>
          <a:p>
            <a:r>
              <a:rPr lang="zh-CN" dirty="0"/>
              <a:t>MiniMax Starter只要29元，但只有40 prompts每5小时。腾讯云39元给3500万Token，大约70轮深度问答。小米39元给6000万Credits。阿里40元给18000次API请求。Kimi和智谱都是49元。</a:t>
            </a:r>
          </a:p>
          <a:p>
            <a:endParaRPr lang="zh-CN" dirty="0"/>
          </a:p>
          <a:p>
            <a:r>
              <a:rPr lang="zh-CN" dirty="0"/>
              <a:t>[数据] 看起来百炼的18000次比MiniMax的40次多了几百倍，但这是不同计量单位，直接比数字毫无意义。这也是为什么90%的开发者容易踩坑。</a:t>
            </a:r>
          </a:p>
          <a:p>
            <a:endParaRPr lang="zh-CN" dirty="0"/>
          </a:p>
          <a:p>
            <a:r>
              <a:rPr lang="zh-CN" dirty="0"/>
              <a:t>要点：① 计量单位不同不能直接比数字 ② 90%开发者踩坑 ③ 同样价格实际差异巨大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这五种计量单位并存，是最大的信息壁垒。</a:t>
            </a:r>
          </a:p>
          <a:p>
            <a:endParaRPr lang="zh-CN" dirty="0"/>
          </a:p>
          <a:p>
            <a:r>
              <a:rPr lang="zh-CN" dirty="0"/>
              <a:t>API请求次数，数字看起来很大但实际消耗不透明。Prompt次数，一次提问大约等于1200到1600次API调用，稍微直观一些。Token计量最透明，直接按输入输出计费。Credit计量抽象了一层但可以预测。时间窗口配额限制的是节奏而不是总量。</a:t>
            </a:r>
          </a:p>
          <a:p>
            <a:endParaRPr lang="zh-CN" dirty="0"/>
          </a:p>
          <a:p>
            <a:r>
              <a:rPr lang="zh-CN" dirty="0"/>
              <a:t>演变方向很清晰：从API次数到Prompt到Token再到统一Credits。方向是越来越透明、越来越可预测。</a:t>
            </a:r>
          </a:p>
          <a:p>
            <a:endParaRPr lang="zh-CN" dirty="0"/>
          </a:p>
          <a:p>
            <a:r>
              <a:rPr lang="zh-CN" dirty="0"/>
              <a:t>[数据] 但即使在Agent场景下，只有5-15%的Token真正用于代码生成，85-95%是上下文开销——文件读取、工具输出、上下文重发。</a:t>
            </a:r>
          </a:p>
          <a:p>
            <a:endParaRPr lang="zh-CN" dirty="0"/>
          </a:p>
          <a:p>
            <a:r>
              <a:rPr lang="zh-CN" dirty="0"/>
              <a:t>要点：① 五种计量单位并存 ② 演变方向是越来越透明 ③ 85-95%的Token是上下文开销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了解了事实，我们进入第二部分：为什么这么演变？</a:t>
            </a:r>
          </a:p>
          <a:p>
            <a:endParaRPr lang="zh-CN" dirty="0"/>
          </a:p>
          <a:p>
            <a:r>
              <a:rPr lang="zh-CN" dirty="0"/>
              <a:t>这个演变不是偶然的，背后有三层驱动力同时作用。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三层驱动 ② 五力竞争 ③ 经典三段式</a:t>
            </a:r>
          </a:p>
          <a:p>
            <a:r>
              <a:rPr lang="zh-CN" dirty="0"/>
              <a:t>时长：0.5分钟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用波特五力来分析这个市场的竞争格局。</a:t>
            </a:r>
          </a:p>
          <a:p>
            <a:endParaRPr lang="zh-CN" dirty="0"/>
          </a:p>
          <a:p>
            <a:r>
              <a:rPr lang="zh-CN" dirty="0"/>
              <a:t>行业内竞争极高——七家平台同池价格战，首月7.9元起，全线跟进补贴。买方议价力强——用户切换成本几乎为零，API Key一换就走。替代品威胁高——开源模型加本地部署持续压制定价上限。</a:t>
            </a:r>
          </a:p>
          <a:p>
            <a:endParaRPr lang="zh-CN" dirty="0"/>
          </a:p>
          <a:p>
            <a:r>
              <a:rPr lang="zh-CN" dirty="0"/>
              <a:t>供应商议价力中偏高——GPU是刚性成本，但国产芯片替代在降低依赖。新进入者威胁中等——门槛高但小米等新玩家仍在进入。</a:t>
            </a:r>
          </a:p>
          <a:p>
            <a:endParaRPr lang="zh-CN" dirty="0"/>
          </a:p>
          <a:p>
            <a:r>
              <a:rPr lang="zh-CN" dirty="0"/>
              <a:t>核心判断：七家同池价格战加上用户零切换成本，等于买方强势，定价权争夺白热化。</a:t>
            </a:r>
          </a:p>
          <a:p>
            <a:endParaRPr lang="zh-CN" dirty="0"/>
          </a:p>
          <a:p>
            <a:r>
              <a:rPr lang="zh-CN" dirty="0"/>
              <a:t>要点：① 行业内竞争极高 ② 买方议价力强 ③ 定价权争夺白热化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定价模式的演变由三层驱动同时作用。</a:t>
            </a:r>
          </a:p>
          <a:p>
            <a:endParaRPr lang="zh-CN" dirty="0"/>
          </a:p>
          <a:p>
            <a:r>
              <a:rPr lang="zh-CN" dirty="0"/>
              <a:t>第一层是成本驱动。国产芯片放量、DeepSeek V4开源的MoE架构效率革命，都在降低Token成本。第二层是竞争驱动。价格战补贴圈用户，然后收紧测试价格弹性，最后精细分层。第三层是价值驱动——从卖Token到卖工作流再到卖生态。MiniMax的Token Plan不只卖编程，打包了图片、语音、音乐、视频。</a:t>
            </a:r>
          </a:p>
          <a:p>
            <a:endParaRPr lang="zh-CN" dirty="0"/>
          </a:p>
          <a:p>
            <a:r>
              <a:rPr lang="zh-CN" dirty="0"/>
              <a:t>要点：① 成本驱动 ② 竞争驱动 ③ 价值驱动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这是互联网定价的经典三段式，所有赛道都走这条路。</a:t>
            </a:r>
          </a:p>
          <a:p>
            <a:endParaRPr lang="zh-CN" dirty="0"/>
          </a:p>
          <a:p>
            <a:r>
              <a:rPr lang="zh-CN" dirty="0"/>
              <a:t>第一阶段补贴期，2024到2025年，抢用户规模建习惯，百万Token几毛钱。第二阶段收紧期，2025年下半年开始，取消首购优惠、停售低档、限时抢购，测试价格弹性。第三阶段分层期，2026年现在，极速版98到899元，企业版198到1398元，精细分层收割利润。</a:t>
            </a:r>
          </a:p>
          <a:p>
            <a:endParaRPr lang="zh-CN" dirty="0"/>
          </a:p>
          <a:p>
            <a:r>
              <a:rPr lang="zh-CN" dirty="0"/>
              <a:t>[Pause] 关键启示：进入新市场不要一开始就想好定价。先补贴跑量，再收紧测试弹性，最后精细分层。</a:t>
            </a:r>
          </a:p>
          <a:p>
            <a:endParaRPr lang="zh-CN" dirty="0"/>
          </a:p>
          <a:p>
            <a:r>
              <a:rPr lang="zh-CN" dirty="0"/>
              <a:t>要点：① 补贴→收紧→分层 ② 所有赛道通用 ③ 先进入者有先发优势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基于前面的分析，我们能提炼出什么？</a:t>
            </a:r>
          </a:p>
          <a:p>
            <a:endParaRPr lang="zh-CN" dirty="0"/>
          </a:p>
          <a:p>
            <a:r>
              <a:rPr lang="zh-CN" dirty="0"/>
              <a:t>五条可复用的定价模式规律。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五条规律 ② 跨场景可复用</a:t>
            </a:r>
          </a:p>
          <a:p>
            <a:r>
              <a:rPr lang="zh-CN" dirty="0"/>
              <a:t>时长：0.5分钟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第一条：计量单位即定价权。谁定义计量单位谁就掌握定价权，模糊计量利早期获客，透明计量利长期信任。</a:t>
            </a:r>
          </a:p>
          <a:p>
            <a:endParaRPr lang="zh-CN" dirty="0"/>
          </a:p>
          <a:p>
            <a:r>
              <a:rPr lang="zh-CN" dirty="0"/>
              <a:t>第二条：补贴-收紧-分层。所有互联网赛道都走这三步，先跑量再测弹性最后精细分层。</a:t>
            </a:r>
          </a:p>
          <a:p>
            <a:endParaRPr lang="zh-CN" dirty="0"/>
          </a:p>
          <a:p>
            <a:r>
              <a:rPr lang="zh-CN" dirty="0"/>
              <a:t>第三条：入口到生态。用编程高频刚需获客，用多媒体低频高价值场景提高ARPU。从"编程工具"升级为"AI工作室"。</a:t>
            </a:r>
          </a:p>
          <a:p>
            <a:endParaRPr lang="zh-CN" dirty="0"/>
          </a:p>
          <a:p>
            <a:r>
              <a:rPr lang="zh-CN" dirty="0"/>
              <a:t>第四条：国内外差异。国内七家抢用户比谁更便宜，海外面对Claude三巨头比谁更强。同一产品两套价格体系的合理性来源于竞争环境差异。</a:t>
            </a:r>
          </a:p>
          <a:p>
            <a:endParaRPr lang="zh-CN" dirty="0"/>
          </a:p>
          <a:p>
            <a:r>
              <a:rPr lang="zh-CN" dirty="0"/>
              <a:t>第五条：Agent时代成本不可逆增长。70%的coding agent token是浪费，实际账单是标价的2到5倍，订阅费是地板不是天花板。</a:t>
            </a:r>
          </a:p>
          <a:p>
            <a:endParaRPr lang="zh-CN" dirty="0"/>
          </a:p>
          <a:p>
            <a:r>
              <a:rPr lang="zh-CN" dirty="0"/>
              <a:t>要点：① 五条规律可跨场景复用 ② 适用于所有"算力即服务"商业模式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最后我们深入看一下Agent场景下的成本结构。</a:t>
            </a:r>
          </a:p>
          <a:p>
            <a:endParaRPr lang="zh-CN" dirty="0"/>
          </a:p>
          <a:p>
            <a:r>
              <a:rPr lang="zh-CN" dirty="0"/>
              <a:t>[数据] 一个开发者8个月Claude Code消耗100亿Token，按API价格计算超过15000美元。但Max plan只花了800美元，节省了93%。这说明什么？订阅模式下的成本放大效应。</a:t>
            </a:r>
          </a:p>
          <a:p>
            <a:endParaRPr lang="zh-CN" dirty="0"/>
          </a:p>
          <a:p>
            <a:r>
              <a:rPr lang="zh-CN" dirty="0"/>
              <a:t>Token构成中，文件读取占35-45%，工具输出15-25%，上下文重发15-20%，推理10-15%。真正用于代码生成的只有5-15%。也就是说，85-95%的Token消耗是Agent的上下文开销。</a:t>
            </a:r>
          </a:p>
          <a:p>
            <a:endParaRPr lang="zh-CN" dirty="0"/>
          </a:p>
          <a:p>
            <a:r>
              <a:rPr lang="zh-CN" dirty="0"/>
              <a:t>Cursor 2025年6月转credit-based后，重度用户一周超支350美元，引发了退款风波。这就是"订阅费是地板不是天花板"的真实写照。</a:t>
            </a:r>
          </a:p>
          <a:p>
            <a:endParaRPr lang="zh-CN" dirty="0"/>
          </a:p>
          <a:p>
            <a:r>
              <a:rPr lang="zh-CN" dirty="0"/>
              <a:t>要点：① 85-95%是上下文开销 ② 实际账单是标价2-5倍 ③ 订阅模式不可持续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基于以上分析，我们对未来做四个趋势预判。</a:t>
            </a:r>
          </a:p>
          <a:p>
            <a:endParaRPr lang="zh-CN" dirty="0"/>
          </a:p>
          <a:p>
            <a:r>
              <a:rPr lang="zh-CN" dirty="0"/>
              <a:t>趋势一：Token成本将持续下降。国产芯片放量、MoE效率革命、推理芯片竞争，三股力量同时作用。利润空间将来自服务溢价而非算力差价。</a:t>
            </a:r>
          </a:p>
          <a:p>
            <a:endParaRPr lang="zh-CN" dirty="0"/>
          </a:p>
          <a:p>
            <a:r>
              <a:rPr lang="zh-CN" dirty="0"/>
              <a:t>趋势二：国产芯片替代加速。英伟达市占率从66%降到54%，预计今年跌破50%。华为、寒武纪、平头哥形成国产算力三角。国内厂商成本结构会和海外产生分化，定价策略可以更激进。</a:t>
            </a:r>
          </a:p>
          <a:p>
            <a:endParaRPr lang="zh-CN" dirty="0"/>
          </a:p>
          <a:p>
            <a:r>
              <a:rPr lang="zh-CN" dirty="0"/>
              <a:t>趋势三：开源模型重塑定价权。DeepSeek模式是开源加极致低价加不卖订阅。厂商的定价权将来自服务便利性而非模型独占性。</a:t>
            </a:r>
          </a:p>
          <a:p>
            <a:endParaRPr lang="zh-CN" dirty="0"/>
          </a:p>
          <a:p>
            <a:r>
              <a:rPr lang="zh-CN" dirty="0"/>
              <a:t>趋势四：Agent成本指数增长不可逆。推理需求已达训练的4到5倍，IDC预测2028年推理占73%。不限量模式不可持续，所有厂商最终都会转向精细计量。</a:t>
            </a:r>
          </a:p>
          <a:p>
            <a:endParaRPr lang="zh-CN" dirty="0"/>
          </a:p>
          <a:p>
            <a:r>
              <a:rPr lang="zh-CN" dirty="0"/>
              <a:t>[Pause] 核心结论：Coding Plan是过渡产品，Token Plan是终态。我们核心学到三件事——计量单位即定价权、补贴-收紧-分层节奏、入口到生态升级路径。</a:t>
            </a:r>
          </a:p>
          <a:p>
            <a:endParaRPr lang="zh-CN" dirty="0"/>
          </a:p>
          <a:p>
            <a:r>
              <a:rPr lang="zh-CN" dirty="0"/>
              <a:t>要点：① 四趋势 ② 核心结论 ③ 三件事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总结一下。</a:t>
            </a:r>
          </a:p>
          <a:p>
            <a:endParaRPr lang="zh-CN" dirty="0"/>
          </a:p>
          <a:p>
            <a:r>
              <a:rPr lang="zh-CN" dirty="0"/>
              <a:t>AI定价模式的演变，本质上是从"卖工具订阅"到"卖算力资源包"的商业模式升级，精确重演了电信行业从话费套餐到流量套餐的20年历史。</a:t>
            </a:r>
          </a:p>
          <a:p>
            <a:endParaRPr lang="zh-CN" dirty="0"/>
          </a:p>
          <a:p>
            <a:r>
              <a:rPr lang="zh-CN" dirty="0"/>
              <a:t>核心三件事值得记住：计量单位即定价权、补贴-收紧-分层的三段式节奏、从入口产品到生态产品的升级路径。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谢谢大家的聆听。</a:t>
            </a:r>
          </a:p>
          <a:p>
            <a:endParaRPr lang="zh-CN" dirty="0"/>
          </a:p>
          <a:p>
            <a:r>
              <a:rPr lang="zh-CN" dirty="0"/>
              <a:t>要点：① 三件事 ② 商业逻辑清晰 ③ 可迁移到其他算力服务场景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7620000" y="-476250"/>
            <a:ext cx="5715000" cy="3810000"/>
          </a:xfrm>
          <a:prstGeom prst="ellipse">
            <a:avLst/>
          </a:prstGeom>
          <a:gradFill>
            <a:gsLst>
              <a:gs pos="0">
                <a:srgbClr val="D97757">
                  <a:alpha val="30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-476250" y="3524250"/>
            <a:ext cx="4762500" cy="3429000"/>
          </a:xfrm>
          <a:prstGeom prst="ellipse">
            <a:avLst/>
          </a:prstGeom>
          <a:gradFill>
            <a:gsLst>
              <a:gs pos="0">
                <a:srgbClr val="4A90D9">
                  <a:alpha val="20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952500" y="1587500"/>
            <a:ext cx="10477500" cy="3492500"/>
            <a:chOff x="952500" y="1587500"/>
            <a:chExt cx="10477500" cy="3492500"/>
          </a:xfrm>
        </p:grpSpPr>
        <p:sp>
          <p:nvSpPr>
            <p:cNvPr id="12" name="Freeform 12"/>
            <p:cNvSpPr/>
            <p:nvPr/>
          </p:nvSpPr>
          <p:spPr>
            <a:xfrm>
              <a:off x="952500" y="1587500"/>
              <a:ext cx="2381250" cy="508000"/>
            </a:xfrm>
            <a:custGeom>
              <a:avLst/>
              <a:gdLst/>
              <a:ahLst/>
              <a:cxnLst/>
              <a:rect l="l" t="t" r="r" b="b"/>
              <a:pathLst>
                <a:path w="2381250" h="508000">
                  <a:moveTo>
                    <a:pt x="0" y="317500"/>
                  </a:moveTo>
                  <a:cubicBezTo>
                    <a:pt x="952500" y="0"/>
                    <a:pt x="1746250" y="63500"/>
                    <a:pt x="2381250" y="5080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190500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190500"/>
                  </a:moveTo>
                  <a:cubicBezTo>
                    <a:pt x="635000" y="571500"/>
                    <a:pt x="1111250" y="508000"/>
                    <a:pt x="1428750" y="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572500" y="4191000"/>
              <a:ext cx="1905000" cy="381000"/>
            </a:xfrm>
            <a:custGeom>
              <a:avLst/>
              <a:gdLst/>
              <a:ahLst/>
              <a:cxnLst/>
              <a:rect l="l" t="t" r="r" b="b"/>
              <a:pathLst>
                <a:path w="1905000" h="381000">
                  <a:moveTo>
                    <a:pt x="0" y="381000"/>
                  </a:moveTo>
                  <a:cubicBezTo>
                    <a:pt x="635000" y="0"/>
                    <a:pt x="1270000" y="0"/>
                    <a:pt x="1905000" y="3810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477500" y="4572000"/>
              <a:ext cx="952500" cy="508000"/>
            </a:xfrm>
            <a:custGeom>
              <a:avLst/>
              <a:gdLst/>
              <a:ahLst/>
              <a:cxnLst/>
              <a:rect l="l" t="t" r="r" b="b"/>
              <a:pathLst>
                <a:path w="952500" h="508000">
                  <a:moveTo>
                    <a:pt x="0" y="0"/>
                  </a:moveTo>
                  <a:cubicBezTo>
                    <a:pt x="317500" y="444500"/>
                    <a:pt x="635000" y="508000"/>
                    <a:pt x="952500" y="190500"/>
                  </a:cubicBezTo>
                </a:path>
              </a:pathLst>
            </a:custGeom>
            <a:noFill/>
            <a:ln w="9525">
              <a:solidFill>
                <a:srgbClr val="4A90D9">
                  <a:alpha val="40000"/>
                </a:srgb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14400" y="1866900"/>
            <a:ext cx="10553700" cy="2933700"/>
            <a:chOff x="914400" y="1866900"/>
            <a:chExt cx="10553700" cy="2933700"/>
          </a:xfrm>
        </p:grpSpPr>
        <p:sp>
          <p:nvSpPr>
            <p:cNvPr id="17" name="Ellipse 17"/>
            <p:cNvSpPr/>
            <p:nvPr/>
          </p:nvSpPr>
          <p:spPr>
            <a:xfrm>
              <a:off x="914400" y="18669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76600" y="2038350"/>
              <a:ext cx="114300" cy="1143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724400" y="18669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524875" y="4524375"/>
              <a:ext cx="95250" cy="9525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410825" y="4505325"/>
              <a:ext cx="133350" cy="13335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391900" y="4724400"/>
              <a:ext cx="76200" cy="76200"/>
            </a:xfrm>
            <a:prstGeom prst="ellipse">
              <a:avLst/>
            </a:prstGeom>
            <a:solidFill>
              <a:srgbClr val="4A90D9">
                <a:alpha val="6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657350" y="1095375"/>
            <a:ext cx="9344025" cy="3914775"/>
            <a:chOff x="1657350" y="1095375"/>
            <a:chExt cx="9344025" cy="3914775"/>
          </a:xfrm>
        </p:grpSpPr>
        <p:sp>
          <p:nvSpPr>
            <p:cNvPr id="24" name="Ellipse 24"/>
            <p:cNvSpPr/>
            <p:nvPr/>
          </p:nvSpPr>
          <p:spPr>
            <a:xfrm>
              <a:off x="9925050" y="1638300"/>
              <a:ext cx="152400" cy="15240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906125" y="1095375"/>
              <a:ext cx="95250" cy="9525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657350" y="4895850"/>
              <a:ext cx="114300" cy="114300"/>
            </a:xfrm>
            <a:prstGeom prst="ellipse">
              <a:avLst/>
            </a:prstGeom>
            <a:solidFill>
              <a:srgbClr val="D97757">
                <a:alpha val="70000"/>
              </a:srgbClr>
            </a:solidFill>
            <a:ln>
              <a:noFill/>
            </a:ln>
          </p:spPr>
        </p:sp>
      </p:grpSp>
      <p:sp>
        <p:nvSpPr>
          <p:cNvPr id="28" name="Freeform 28"/>
          <p:cNvSpPr/>
          <p:nvPr/>
        </p:nvSpPr>
        <p:spPr>
          <a:xfrm>
            <a:off x="571500" y="571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58165" y="839152"/>
            <a:ext cx="1544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AI PRICING EVOLUTION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99989" y="2245995"/>
            <a:ext cx="5392022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AI产品定价模式演变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38066" y="3091815"/>
            <a:ext cx="35158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从 Coding Plan 到 Token Plan</a:t>
            </a:r>
          </a:p>
        </p:txBody>
      </p:sp>
      <p:sp>
        <p:nvSpPr>
          <p:cNvPr id="32" name="Freeform 32"/>
          <p:cNvSpPr/>
          <p:nvPr/>
        </p:nvSpPr>
        <p:spPr>
          <a:xfrm>
            <a:off x="5143500" y="36195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279702" y="3950018"/>
            <a:ext cx="3632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电信20年历史的重演 — 计量单位即定价权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58165" y="636365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2026-04-25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76528" y="63636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基于国内AI大模型厂商定价策略分析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Line 6"/>
          <p:cNvSpPr/>
          <p:nvPr/>
        </p:nvSpPr>
        <p:spPr>
          <a:xfrm>
            <a:off x="571500" y="123825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628650" y="1676400"/>
            <a:ext cx="3441739" cy="2936081"/>
            <a:chOff x="628650" y="1676400"/>
            <a:chExt cx="3441739" cy="2936081"/>
          </a:xfrm>
        </p:grpSpPr>
        <p:grpSp>
          <p:nvGrpSpPr>
            <p:cNvPr id="11" name="Group 11"/>
            <p:cNvGrpSpPr/>
            <p:nvPr/>
          </p:nvGrpSpPr>
          <p:grpSpPr>
            <a:xfrm>
              <a:off x="628650" y="1676400"/>
              <a:ext cx="3441739" cy="507206"/>
              <a:chOff x="628650" y="1676400"/>
              <a:chExt cx="3441739" cy="5072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28650" y="1676400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09051" y="1825942"/>
                <a:ext cx="963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19200" y="1695450"/>
                <a:ext cx="1188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发生了什么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23962" y="1955006"/>
                <a:ext cx="28464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事实层 — 时间线、定价对比、计量体系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28650" y="2486025"/>
              <a:ext cx="2948820" cy="507206"/>
              <a:chOff x="628650" y="2486025"/>
              <a:chExt cx="2948820" cy="5072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28650" y="2486025"/>
                <a:ext cx="457200" cy="457200"/>
              </a:xfrm>
              <a:prstGeom prst="ellipse">
                <a:avLst/>
              </a:prstGeom>
              <a:solidFill>
                <a:srgbClr val="4A90D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83173" y="26355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19200" y="2505075"/>
                <a:ext cx="16483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为什么这么演变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23962" y="2764631"/>
                <a:ext cx="23535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框架层 — 五力分析、三段式节奏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28650" y="3295650"/>
              <a:ext cx="2455902" cy="507206"/>
              <a:chOff x="628650" y="3295650"/>
              <a:chExt cx="2455902" cy="5072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28650" y="3295650"/>
                <a:ext cx="457200" cy="457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3173" y="3445192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19200" y="3314700"/>
                <a:ext cx="1188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能提炼什么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23962" y="3574256"/>
                <a:ext cx="186059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洞察层 — 五条可复用模式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28650" y="4105275"/>
              <a:ext cx="1774031" cy="507206"/>
              <a:chOff x="628650" y="4105275"/>
              <a:chExt cx="1774031" cy="5072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28650" y="4105275"/>
                <a:ext cx="457200" cy="457200"/>
              </a:xfrm>
              <a:prstGeom prst="ellipse">
                <a:avLst/>
              </a:pr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83173" y="425481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9200" y="412432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未来预判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23962" y="4383881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趋势与核心结论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429500" y="1524000"/>
            <a:ext cx="3810000" cy="3429000"/>
            <a:chOff x="7429500" y="1524000"/>
            <a:chExt cx="3810000" cy="3429000"/>
          </a:xfrm>
        </p:grpSpPr>
        <p:sp>
          <p:nvSpPr>
            <p:cNvPr id="28" name="Freeform 28"/>
            <p:cNvSpPr/>
            <p:nvPr/>
          </p:nvSpPr>
          <p:spPr>
            <a:xfrm>
              <a:off x="7429500" y="1524000"/>
              <a:ext cx="3810000" cy="3429000"/>
            </a:xfrm>
            <a:custGeom>
              <a:avLst/>
              <a:gdLst/>
              <a:ahLst/>
              <a:cxnLst/>
              <a:rect l="l" t="t" r="r" b="b"/>
              <a:pathLst>
                <a:path w="3810000" h="3429000">
                  <a:moveTo>
                    <a:pt x="152400" y="0"/>
                  </a:moveTo>
                  <a:lnTo>
                    <a:pt x="3657600" y="0"/>
                  </a:lnTo>
                  <a:cubicBezTo>
                    <a:pt x="3741768" y="0"/>
                    <a:pt x="3810000" y="68232"/>
                    <a:pt x="3810000" y="152400"/>
                  </a:cubicBezTo>
                  <a:lnTo>
                    <a:pt x="3810000" y="3276600"/>
                  </a:lnTo>
                  <a:cubicBezTo>
                    <a:pt x="3810000" y="3360768"/>
                    <a:pt x="3741768" y="3429000"/>
                    <a:pt x="3657600" y="3429000"/>
                  </a:cubicBezTo>
                  <a:lnTo>
                    <a:pt x="152400" y="3429000"/>
                  </a:lnTo>
                  <a:cubicBezTo>
                    <a:pt x="68232" y="3429000"/>
                    <a:pt x="0" y="3360768"/>
                    <a:pt x="0" y="3276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83168" y="177546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定价模式演进路径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715250" y="2190750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76200" y="0"/>
                  </a:moveTo>
                  <a:lnTo>
                    <a:pt x="3162300" y="0"/>
                  </a:lnTo>
                  <a:cubicBezTo>
                    <a:pt x="3204384" y="0"/>
                    <a:pt x="3238500" y="34116"/>
                    <a:pt x="3238500" y="76200"/>
                  </a:cubicBezTo>
                  <a:lnTo>
                    <a:pt x="3238500" y="400050"/>
                  </a:lnTo>
                  <a:cubicBezTo>
                    <a:pt x="3238500" y="442134"/>
                    <a:pt x="3204384" y="476250"/>
                    <a:pt x="3162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 w="19050">
              <a:solidFill>
                <a:srgbClr val="4A90D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8346" y="2366010"/>
              <a:ext cx="18523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API 按量计费（2024）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334500" y="26670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64748B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9277350" y="29146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15250" y="309562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76200" y="0"/>
                  </a:moveTo>
                  <a:lnTo>
                    <a:pt x="3162300" y="0"/>
                  </a:lnTo>
                  <a:cubicBezTo>
                    <a:pt x="3204384" y="0"/>
                    <a:pt x="3238500" y="34116"/>
                    <a:pt x="3238500" y="76200"/>
                  </a:cubicBezTo>
                  <a:lnTo>
                    <a:pt x="3238500" y="400050"/>
                  </a:lnTo>
                  <a:cubicBezTo>
                    <a:pt x="3238500" y="442134"/>
                    <a:pt x="3204384" y="476250"/>
                    <a:pt x="3162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97757">
                <a:alpha val="15000"/>
              </a:srgbClr>
            </a:solidFill>
            <a:ln w="19050">
              <a:solidFill>
                <a:srgbClr val="D97757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33524" y="3270885"/>
              <a:ext cx="22019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Coding Plan 订阅（2025）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334500" y="357187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64748B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9277350" y="38195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715250" y="4000500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76200" y="0"/>
                  </a:moveTo>
                  <a:lnTo>
                    <a:pt x="3162300" y="0"/>
                  </a:lnTo>
                  <a:cubicBezTo>
                    <a:pt x="3204384" y="0"/>
                    <a:pt x="3238500" y="34116"/>
                    <a:pt x="3238500" y="76200"/>
                  </a:cubicBezTo>
                  <a:lnTo>
                    <a:pt x="3238500" y="400050"/>
                  </a:lnTo>
                  <a:cubicBezTo>
                    <a:pt x="3238500" y="442134"/>
                    <a:pt x="3204384" y="476250"/>
                    <a:pt x="3162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B981">
                <a:alpha val="15000"/>
              </a:srgbClr>
            </a:solidFill>
            <a:ln w="19050">
              <a:solidFill>
                <a:srgbClr val="10B98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077105" y="4175760"/>
              <a:ext cx="25147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Token Plan 精细计量（2026）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32767" y="4609624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从模糊打包 → 透明计费 → 按需选择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887141" y="650652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 / 15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D97757">
                  <a:alpha val="25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4A90D9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927878" y="1047750"/>
            <a:ext cx="2336244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46992" y="2632710"/>
            <a:ext cx="8980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SECTION 01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70108" y="332613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发生了什么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79307" y="4076700"/>
            <a:ext cx="42333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事实层 — 从价格战到Token Plan的关键事件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87141" y="645890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 / 15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6554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TIMELINE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2925" y="661988"/>
            <a:ext cx="488775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两年七阶段，定价模式快速演进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10477500" cy="342900"/>
          </a:xfrm>
          <a:custGeom>
            <a:avLst/>
            <a:gdLst/>
            <a:ahLst/>
            <a:cxnLst/>
            <a:rect l="l" t="t" r="r" b="b"/>
            <a:pathLst>
              <a:path w="10477500" h="3429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85750"/>
                </a:lnTo>
                <a:cubicBezTo>
                  <a:pt x="10477500" y="317313"/>
                  <a:pt x="10451913" y="342900"/>
                  <a:pt x="104203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97757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840520" y="1248728"/>
            <a:ext cx="39394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核心结论：Coding Plan是过渡产品，Token Plan是终态</a:t>
            </a:r>
          </a:p>
        </p:txBody>
      </p:sp>
      <p:sp>
        <p:nvSpPr>
          <p:cNvPr id="8" name="Line 8"/>
          <p:cNvSpPr/>
          <p:nvPr/>
        </p:nvSpPr>
        <p:spPr>
          <a:xfrm>
            <a:off x="952500" y="19050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38100" cap="rnd">
            <a:gradFill>
              <a:gsLst>
                <a:gs pos="0">
                  <a:srgbClr val="D97757"/>
                </a:gs>
                <a:gs pos="50000">
                  <a:srgbClr val="4A90D9"/>
                </a:gs>
                <a:gs pos="100000">
                  <a:srgbClr val="10B981"/>
                </a:gs>
              </a:gsLst>
              <a:lin ang="0" scaled="1"/>
            </a:gradFill>
          </a:ln>
        </p:spPr>
      </p:sp>
      <p:grpSp>
        <p:nvGrpSpPr>
          <p:cNvPr id="44" name="Group 44"/>
          <p:cNvGrpSpPr/>
          <p:nvPr/>
        </p:nvGrpSpPr>
        <p:grpSpPr>
          <a:xfrm>
            <a:off x="389001" y="1598295"/>
            <a:ext cx="10185654" cy="842486"/>
            <a:chOff x="389001" y="1598295"/>
            <a:chExt cx="10185654" cy="842486"/>
          </a:xfrm>
        </p:grpSpPr>
        <p:sp>
          <p:nvSpPr>
            <p:cNvPr id="9" name="Ellipse 9"/>
            <p:cNvSpPr/>
            <p:nvPr/>
          </p:nvSpPr>
          <p:spPr>
            <a:xfrm>
              <a:off x="838200" y="1790700"/>
              <a:ext cx="228600" cy="228600"/>
            </a:xfrm>
            <a:prstGeom prst="ellipse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3045" y="1863566"/>
              <a:ext cx="589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540" y="1598295"/>
              <a:ext cx="505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2024Q4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9001" y="2093595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DeepSeek带头降价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5119" y="2273141"/>
              <a:ext cx="9547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百万Token几毛钱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314575" y="1790700"/>
              <a:ext cx="228600" cy="228600"/>
            </a:xfrm>
            <a:prstGeom prst="ellipse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83606" y="186356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75915" y="1598295"/>
              <a:ext cx="505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2025Q4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6226" y="2093595"/>
              <a:ext cx="1245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智谱推出Coding Plan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96678" y="22731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固定月费订阅制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790950" y="1790700"/>
              <a:ext cx="228600" cy="228600"/>
            </a:xfrm>
            <a:prstGeom prst="ellipse">
              <a:avLst/>
            </a:prstGeom>
            <a:solidFill>
              <a:srgbClr val="D9775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59981" y="186356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66092" y="1598295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2025H2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30930" y="20935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补贴收紧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0164" y="2273141"/>
              <a:ext cx="8101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限购/停售低档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267325" y="1790700"/>
              <a:ext cx="228600" cy="228600"/>
            </a:xfrm>
            <a:prstGeom prst="ellipse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36356" y="186356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21764" y="1598295"/>
              <a:ext cx="5197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2026-01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1695" y="2093595"/>
              <a:ext cx="11598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Kimi切换Token计量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74121" y="2273141"/>
              <a:ext cx="10150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从Prompt到Token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43700" y="1790700"/>
              <a:ext cx="228600" cy="228600"/>
            </a:xfrm>
            <a:prstGeom prst="ellipse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12731" y="186356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80887" y="15982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2026-02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16088" y="2093595"/>
              <a:ext cx="8838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OpenClaw爆火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83631" y="2273141"/>
              <a:ext cx="9487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Token消耗6-10倍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220075" y="1790700"/>
              <a:ext cx="228600" cy="228600"/>
            </a:xfrm>
            <a:prstGeom prst="ellipse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89106" y="186356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57262" y="15982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2026-03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6428" y="2093595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MiniMax更名Token Plan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62424" y="227314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腾讯最后入局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791700" y="1790700"/>
              <a:ext cx="228600" cy="2286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60731" y="1863566"/>
              <a:ext cx="905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28887" y="1598295"/>
              <a:ext cx="5542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2026-04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37345" y="2093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阿里企业版Token Plan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3803" y="227314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小米极低价入局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52450" y="2790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关键驱动事件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571500" y="3190875"/>
            <a:ext cx="11049000" cy="2143125"/>
            <a:chOff x="571500" y="3190875"/>
            <a:chExt cx="11049000" cy="2143125"/>
          </a:xfrm>
        </p:grpSpPr>
        <p:sp>
          <p:nvSpPr>
            <p:cNvPr id="46" name="Freeform 46"/>
            <p:cNvSpPr/>
            <p:nvPr/>
          </p:nvSpPr>
          <p:spPr>
            <a:xfrm>
              <a:off x="571500" y="3190875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857250"/>
                  </a:lnTo>
                  <a:cubicBezTo>
                    <a:pt x="5334000" y="909855"/>
                    <a:pt x="5291355" y="952500"/>
                    <a:pt x="5238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71500" y="3190875"/>
              <a:ext cx="5334000" cy="38100"/>
            </a:xfrm>
            <a:custGeom>
              <a:avLst/>
              <a:gdLst/>
              <a:ahLst/>
              <a:cxnLst/>
              <a:rect l="l" t="t" r="r" b="b"/>
              <a:pathLst>
                <a:path w="5334000" h="38100">
                  <a:moveTo>
                    <a:pt x="19050" y="0"/>
                  </a:moveTo>
                  <a:lnTo>
                    <a:pt x="5314950" y="0"/>
                  </a:lnTo>
                  <a:cubicBezTo>
                    <a:pt x="5325471" y="0"/>
                    <a:pt x="5334000" y="8529"/>
                    <a:pt x="5334000" y="19050"/>
                  </a:cubicBezTo>
                  <a:lnTo>
                    <a:pt x="5334000" y="19050"/>
                  </a:lnTo>
                  <a:cubicBezTo>
                    <a:pt x="5334000" y="29571"/>
                    <a:pt x="5325471" y="38100"/>
                    <a:pt x="5314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0105" y="3378518"/>
              <a:ext cx="1452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OpenClaw 爆火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962" y="3640931"/>
              <a:ext cx="3043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GitHub 355K stars，Agent自动循环调用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962" y="3860006"/>
              <a:ext cx="2936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Token消耗增长6-10倍，阿里云算力告急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286500" y="3190875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857250"/>
                  </a:lnTo>
                  <a:cubicBezTo>
                    <a:pt x="5334000" y="909855"/>
                    <a:pt x="5291355" y="952500"/>
                    <a:pt x="5238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286500" y="3190875"/>
              <a:ext cx="5334000" cy="38100"/>
            </a:xfrm>
            <a:custGeom>
              <a:avLst/>
              <a:gdLst/>
              <a:ahLst/>
              <a:cxnLst/>
              <a:rect l="l" t="t" r="r" b="b"/>
              <a:pathLst>
                <a:path w="5334000" h="38100">
                  <a:moveTo>
                    <a:pt x="19050" y="0"/>
                  </a:moveTo>
                  <a:lnTo>
                    <a:pt x="5314950" y="0"/>
                  </a:lnTo>
                  <a:cubicBezTo>
                    <a:pt x="5325471" y="0"/>
                    <a:pt x="5334000" y="8529"/>
                    <a:pt x="5334000" y="19050"/>
                  </a:cubicBezTo>
                  <a:lnTo>
                    <a:pt x="5334000" y="19050"/>
                  </a:lnTo>
                  <a:cubicBezTo>
                    <a:pt x="5334000" y="29571"/>
                    <a:pt x="5325471" y="38100"/>
                    <a:pt x="5314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55105" y="337851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Anthropic 收缩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7962" y="3640931"/>
              <a:ext cx="29367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2026-04 从标准订阅移除OpenClaw访问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57962" y="3860006"/>
              <a:ext cx="27807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Agent成本撑不住了，标志性收紧事件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857250"/>
                  </a:lnTo>
                  <a:cubicBezTo>
                    <a:pt x="5334000" y="909855"/>
                    <a:pt x="5291355" y="952500"/>
                    <a:pt x="5238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571500" y="4381500"/>
              <a:ext cx="5334000" cy="38100"/>
            </a:xfrm>
            <a:custGeom>
              <a:avLst/>
              <a:gdLst/>
              <a:ahLst/>
              <a:cxnLst/>
              <a:rect l="l" t="t" r="r" b="b"/>
              <a:pathLst>
                <a:path w="5334000" h="38100">
                  <a:moveTo>
                    <a:pt x="19050" y="0"/>
                  </a:moveTo>
                  <a:lnTo>
                    <a:pt x="5314950" y="0"/>
                  </a:lnTo>
                  <a:cubicBezTo>
                    <a:pt x="5325471" y="0"/>
                    <a:pt x="5334000" y="8529"/>
                    <a:pt x="5334000" y="19050"/>
                  </a:cubicBezTo>
                  <a:lnTo>
                    <a:pt x="5334000" y="19050"/>
                  </a:lnTo>
                  <a:cubicBezTo>
                    <a:pt x="5334000" y="29571"/>
                    <a:pt x="5325471" y="38100"/>
                    <a:pt x="5314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0105" y="4569142"/>
              <a:ext cx="17112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DeepSeek V4 发布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2962" y="4831556"/>
              <a:ext cx="2534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1.6T参数仅激活49B，成本暴降73%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2962" y="5050631"/>
              <a:ext cx="2912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适配华为昇腾+寒武纪，开源重塑定价权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6286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857250"/>
                  </a:lnTo>
                  <a:cubicBezTo>
                    <a:pt x="5334000" y="909855"/>
                    <a:pt x="5291355" y="952500"/>
                    <a:pt x="52387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286500" y="4381500"/>
              <a:ext cx="5334000" cy="38100"/>
            </a:xfrm>
            <a:custGeom>
              <a:avLst/>
              <a:gdLst/>
              <a:ahLst/>
              <a:cxnLst/>
              <a:rect l="l" t="t" r="r" b="b"/>
              <a:pathLst>
                <a:path w="5334000" h="38100">
                  <a:moveTo>
                    <a:pt x="19050" y="0"/>
                  </a:moveTo>
                  <a:lnTo>
                    <a:pt x="5314950" y="0"/>
                  </a:lnTo>
                  <a:cubicBezTo>
                    <a:pt x="5325471" y="0"/>
                    <a:pt x="5334000" y="8529"/>
                    <a:pt x="5334000" y="19050"/>
                  </a:cubicBezTo>
                  <a:lnTo>
                    <a:pt x="5334000" y="19050"/>
                  </a:lnTo>
                  <a:cubicBezTo>
                    <a:pt x="5334000" y="29571"/>
                    <a:pt x="5325471" y="38100"/>
                    <a:pt x="5314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5105" y="4569142"/>
              <a:ext cx="1742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华为昇腾 950 量产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57962" y="4831556"/>
              <a:ext cx="23124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FP4算力2.87倍H20，定价仅1/3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57962" y="5050631"/>
              <a:ext cx="21645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芯片供给直接绑定定价天花板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59118" y="5704999"/>
            <a:ext cx="4310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数据来源：各厂商官方公告、OpenRouter、IDC预测、伯恩斯坦研究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87141" y="645890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4 / 15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PRICING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2925" y="661988"/>
            <a:ext cx="419766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六大平台入门档定价全景图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0477500" cy="304800"/>
          </a:xfrm>
          <a:custGeom>
            <a:avLst/>
            <a:gdLst/>
            <a:ahLst/>
            <a:cxnLst/>
            <a:rect l="l" t="t" r="r" b="b"/>
            <a:pathLst>
              <a:path w="10477500" h="3048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47650"/>
                </a:lnTo>
                <a:cubicBezTo>
                  <a:pt x="10477500" y="279213"/>
                  <a:pt x="10451913" y="304800"/>
                  <a:pt x="104203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97757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598990" y="1191578"/>
            <a:ext cx="4422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同样 ¥40-50/月，实际可用量差异巨大 — 直接比数字毫无意义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1775460"/>
            <a:ext cx="10858500" cy="3653790"/>
            <a:chOff x="571500" y="1775460"/>
            <a:chExt cx="10858500" cy="3653790"/>
          </a:xfrm>
        </p:grpSpPr>
        <p:sp>
          <p:nvSpPr>
            <p:cNvPr id="8" name="TextBox 8"/>
            <p:cNvSpPr txBox="1"/>
            <p:nvPr/>
          </p:nvSpPr>
          <p:spPr>
            <a:xfrm>
              <a:off x="746760" y="17754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平台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8510" y="17754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月费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71010" y="1775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计量方式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14260" y="17754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额度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0260" y="17754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实际等效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000250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076450"/>
              <a:ext cx="10858500" cy="495300"/>
            </a:xfrm>
            <a:custGeom>
              <a:avLst/>
              <a:gdLst/>
              <a:ahLst/>
              <a:cxnLst/>
              <a:rect l="l" t="t" r="r" b="b"/>
              <a:pathLst>
                <a:path w="10858500" h="495300">
                  <a:moveTo>
                    <a:pt x="76200" y="0"/>
                  </a:moveTo>
                  <a:lnTo>
                    <a:pt x="10782300" y="0"/>
                  </a:lnTo>
                  <a:cubicBezTo>
                    <a:pt x="10824384" y="0"/>
                    <a:pt x="10858500" y="34116"/>
                    <a:pt x="10858500" y="76200"/>
                  </a:cubicBezTo>
                  <a:lnTo>
                    <a:pt x="10858500" y="419100"/>
                  </a:lnTo>
                  <a:cubicBezTo>
                    <a:pt x="10858500" y="461184"/>
                    <a:pt x="10824384" y="495300"/>
                    <a:pt x="107823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6760" y="2251710"/>
              <a:ext cx="14842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MiniMax Starter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16605" y="22355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¥29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71962" y="22598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Prompt (5h窗口)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16165" y="2267902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40 prompts/5h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03118" y="2275999"/>
              <a:ext cx="950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连续每5h 40次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71500" y="2647950"/>
              <a:ext cx="10858500" cy="495300"/>
            </a:xfrm>
            <a:custGeom>
              <a:avLst/>
              <a:gdLst/>
              <a:ahLst/>
              <a:cxnLst/>
              <a:rect l="l" t="t" r="r" b="b"/>
              <a:pathLst>
                <a:path w="10858500" h="495300">
                  <a:moveTo>
                    <a:pt x="76200" y="0"/>
                  </a:moveTo>
                  <a:lnTo>
                    <a:pt x="10782300" y="0"/>
                  </a:lnTo>
                  <a:cubicBezTo>
                    <a:pt x="10824384" y="0"/>
                    <a:pt x="10858500" y="34116"/>
                    <a:pt x="10858500" y="76200"/>
                  </a:cubicBezTo>
                  <a:lnTo>
                    <a:pt x="10858500" y="419100"/>
                  </a:lnTo>
                  <a:cubicBezTo>
                    <a:pt x="10858500" y="461184"/>
                    <a:pt x="10824384" y="495300"/>
                    <a:pt x="107823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2823210"/>
              <a:ext cx="15578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腾讯云 Token Lite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16605" y="28070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¥39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71962" y="2831306"/>
              <a:ext cx="4804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16165" y="2839402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3500万 Token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03118" y="2847499"/>
              <a:ext cx="971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~70轮深度问答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71500" y="3219450"/>
              <a:ext cx="10858500" cy="495300"/>
            </a:xfrm>
            <a:custGeom>
              <a:avLst/>
              <a:gdLst/>
              <a:ahLst/>
              <a:cxnLst/>
              <a:rect l="l" t="t" r="r" b="b"/>
              <a:pathLst>
                <a:path w="10858500" h="495300">
                  <a:moveTo>
                    <a:pt x="76200" y="0"/>
                  </a:moveTo>
                  <a:lnTo>
                    <a:pt x="10782300" y="0"/>
                  </a:lnTo>
                  <a:cubicBezTo>
                    <a:pt x="10824384" y="0"/>
                    <a:pt x="10858500" y="34116"/>
                    <a:pt x="10858500" y="76200"/>
                  </a:cubicBezTo>
                  <a:lnTo>
                    <a:pt x="10858500" y="419100"/>
                  </a:lnTo>
                  <a:cubicBezTo>
                    <a:pt x="10858500" y="461184"/>
                    <a:pt x="10824384" y="495300"/>
                    <a:pt x="107823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6760" y="3394710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小米 MiMo Lite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16605" y="33785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¥39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71962" y="3402806"/>
              <a:ext cx="1269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Credit (2x倍率)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16165" y="3410902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6000万 Credits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03118" y="3418999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~3000万Token等效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71500" y="3790950"/>
              <a:ext cx="10858500" cy="495300"/>
            </a:xfrm>
            <a:custGeom>
              <a:avLst/>
              <a:gdLst/>
              <a:ahLst/>
              <a:cxnLst/>
              <a:rect l="l" t="t" r="r" b="b"/>
              <a:pathLst>
                <a:path w="10858500" h="495300">
                  <a:moveTo>
                    <a:pt x="76200" y="0"/>
                  </a:moveTo>
                  <a:lnTo>
                    <a:pt x="10782300" y="0"/>
                  </a:lnTo>
                  <a:cubicBezTo>
                    <a:pt x="10824384" y="0"/>
                    <a:pt x="10858500" y="34116"/>
                    <a:pt x="10858500" y="76200"/>
                  </a:cubicBezTo>
                  <a:lnTo>
                    <a:pt x="10858500" y="419100"/>
                  </a:lnTo>
                  <a:cubicBezTo>
                    <a:pt x="10858500" y="461184"/>
                    <a:pt x="10824384" y="495300"/>
                    <a:pt x="107823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6760" y="3966210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阿里百炼 Lite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16605" y="39500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¥40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71962" y="3974306"/>
              <a:ext cx="5872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API请求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16165" y="3982402"/>
              <a:ext cx="8011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18000次/月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03118" y="3990499"/>
              <a:ext cx="11853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~20-120次提问/天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71500" y="4362450"/>
              <a:ext cx="10858500" cy="495300"/>
            </a:xfrm>
            <a:custGeom>
              <a:avLst/>
              <a:gdLst/>
              <a:ahLst/>
              <a:cxnLst/>
              <a:rect l="l" t="t" r="r" b="b"/>
              <a:pathLst>
                <a:path w="10858500" h="495300">
                  <a:moveTo>
                    <a:pt x="76200" y="0"/>
                  </a:moveTo>
                  <a:lnTo>
                    <a:pt x="10782300" y="0"/>
                  </a:lnTo>
                  <a:cubicBezTo>
                    <a:pt x="10824384" y="0"/>
                    <a:pt x="10858500" y="34116"/>
                    <a:pt x="10858500" y="76200"/>
                  </a:cubicBezTo>
                  <a:lnTo>
                    <a:pt x="10858500" y="419100"/>
                  </a:lnTo>
                  <a:cubicBezTo>
                    <a:pt x="10858500" y="461184"/>
                    <a:pt x="10824384" y="495300"/>
                    <a:pt x="107823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6760" y="4537710"/>
              <a:ext cx="11438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Kimi Andante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16605" y="45215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¥49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71962" y="4545806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 (3倍活动)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16165" y="45539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未公开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03118" y="4561999"/>
              <a:ext cx="8435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按Token消耗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71500" y="4933950"/>
              <a:ext cx="10858500" cy="495300"/>
            </a:xfrm>
            <a:custGeom>
              <a:avLst/>
              <a:gdLst/>
              <a:ahLst/>
              <a:cxnLst/>
              <a:rect l="l" t="t" r="r" b="b"/>
              <a:pathLst>
                <a:path w="10858500" h="495300">
                  <a:moveTo>
                    <a:pt x="76200" y="0"/>
                  </a:moveTo>
                  <a:lnTo>
                    <a:pt x="10782300" y="0"/>
                  </a:lnTo>
                  <a:cubicBezTo>
                    <a:pt x="10824384" y="0"/>
                    <a:pt x="10858500" y="34116"/>
                    <a:pt x="10858500" y="76200"/>
                  </a:cubicBezTo>
                  <a:lnTo>
                    <a:pt x="10858500" y="419100"/>
                  </a:lnTo>
                  <a:cubicBezTo>
                    <a:pt x="10858500" y="461184"/>
                    <a:pt x="10824384" y="495300"/>
                    <a:pt x="10782300" y="495300"/>
                  </a:cubicBezTo>
                  <a:lnTo>
                    <a:pt x="76200" y="495300"/>
                  </a:lnTo>
                  <a:cubicBezTo>
                    <a:pt x="34116" y="495300"/>
                    <a:pt x="0" y="461184"/>
                    <a:pt x="0" y="4191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6760" y="5109210"/>
              <a:ext cx="1208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智谱 GLM Lite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16605" y="509301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¥49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71962" y="5117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Prompt (5h窗口)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16165" y="51254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~80 prompts/5h, 2400/月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03118" y="5133499"/>
              <a:ext cx="971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每天~80次提问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571500" y="5667375"/>
            <a:ext cx="10477500" cy="619125"/>
          </a:xfrm>
          <a:custGeom>
            <a:avLst/>
            <a:gdLst/>
            <a:ahLst/>
            <a:cxnLst/>
            <a:rect l="l" t="t" r="r" b="b"/>
            <a:pathLst>
              <a:path w="10477500" h="619125">
                <a:moveTo>
                  <a:pt x="95250" y="0"/>
                </a:moveTo>
                <a:lnTo>
                  <a:pt x="10382250" y="0"/>
                </a:lnTo>
                <a:cubicBezTo>
                  <a:pt x="10434855" y="0"/>
                  <a:pt x="10477500" y="42645"/>
                  <a:pt x="10477500" y="95250"/>
                </a:cubicBezTo>
                <a:lnTo>
                  <a:pt x="10477500" y="523875"/>
                </a:lnTo>
                <a:cubicBezTo>
                  <a:pt x="10477500" y="576480"/>
                  <a:pt x="10434855" y="619125"/>
                  <a:pt x="10382250" y="619125"/>
                </a:cubicBezTo>
                <a:lnTo>
                  <a:pt x="95250" y="619125"/>
                </a:lnTo>
                <a:cubicBezTo>
                  <a:pt x="42645" y="619125"/>
                  <a:pt x="0" y="576480"/>
                  <a:pt x="0" y="5238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42962" y="5784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关键发现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3915" y="6030278"/>
            <a:ext cx="9273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同样 ¥40-50/月，阿里百炼给18000次API请求 vs MiniMax给40 prompts/5h（≈1200 API/5h），看起来百炼多15倍，但实际消耗完全不同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60070" y="6379845"/>
            <a:ext cx="39267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数据来源：各厂商官方公告 2026-04 | 90%开发者在计量对比上踩坑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887141" y="660177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5 / 15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6094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METRICS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2925" y="661988"/>
            <a:ext cx="528455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五种计量体系并存 — 最大信息壁垒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0477500" cy="304800"/>
          </a:xfrm>
          <a:custGeom>
            <a:avLst/>
            <a:gdLst/>
            <a:ahLst/>
            <a:cxnLst/>
            <a:rect l="l" t="t" r="r" b="b"/>
            <a:pathLst>
              <a:path w="10477500" h="3048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47650"/>
                </a:lnTo>
                <a:cubicBezTo>
                  <a:pt x="10477500" y="279213"/>
                  <a:pt x="10451913" y="304800"/>
                  <a:pt x="104203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4444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56422" y="1191578"/>
            <a:ext cx="27076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直接比数字毫无意义，90%开发者踩坑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71500" y="1619250"/>
            <a:ext cx="11239500" cy="1809750"/>
            <a:chOff x="571500" y="1619250"/>
            <a:chExt cx="11239500" cy="1809750"/>
          </a:xfrm>
        </p:grpSpPr>
        <p:sp>
          <p:nvSpPr>
            <p:cNvPr id="8" name="Freeform 8"/>
            <p:cNvSpPr/>
            <p:nvPr/>
          </p:nvSpPr>
          <p:spPr>
            <a:xfrm>
              <a:off x="571500" y="1619250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714500"/>
                  </a:lnTo>
                  <a:cubicBezTo>
                    <a:pt x="2095500" y="1767105"/>
                    <a:pt x="2052855" y="1809750"/>
                    <a:pt x="2000250" y="1809750"/>
                  </a:cubicBezTo>
                  <a:lnTo>
                    <a:pt x="95250" y="1809750"/>
                  </a:lnTo>
                  <a:cubicBezTo>
                    <a:pt x="42645" y="1809750"/>
                    <a:pt x="0" y="1767105"/>
                    <a:pt x="0" y="1714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71500" y="1619250"/>
              <a:ext cx="2095500" cy="47625"/>
            </a:xfrm>
            <a:custGeom>
              <a:avLst/>
              <a:gdLst/>
              <a:ahLst/>
              <a:cxnLst/>
              <a:rect l="l" t="t" r="r" b="b"/>
              <a:pathLst>
                <a:path w="2095500" h="47625">
                  <a:moveTo>
                    <a:pt x="19050" y="0"/>
                  </a:moveTo>
                  <a:lnTo>
                    <a:pt x="2076450" y="0"/>
                  </a:lnTo>
                  <a:cubicBezTo>
                    <a:pt x="2086971" y="0"/>
                    <a:pt x="2095500" y="8529"/>
                    <a:pt x="2095500" y="19050"/>
                  </a:cubicBezTo>
                  <a:lnTo>
                    <a:pt x="2095500" y="28575"/>
                  </a:lnTo>
                  <a:cubicBezTo>
                    <a:pt x="2095500" y="39096"/>
                    <a:pt x="2086971" y="47625"/>
                    <a:pt x="2076450" y="47625"/>
                  </a:cubicBezTo>
                  <a:lnTo>
                    <a:pt x="19050" y="47625"/>
                  </a:lnTo>
                  <a:cubicBezTo>
                    <a:pt x="8529" y="47625"/>
                    <a:pt x="0" y="39096"/>
                    <a:pt x="0" y="285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7008" y="1839278"/>
              <a:ext cx="9444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API 请求次数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33124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采用者：阿里/火山/腾讯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371249"/>
              <a:ext cx="11710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1提问 = 5-30次API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6093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数字大但消耗不透明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2000" y="2952750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114300" y="0"/>
                  </a:moveTo>
                  <a:lnTo>
                    <a:pt x="457200" y="0"/>
                  </a:lnTo>
                  <a:cubicBezTo>
                    <a:pt x="520326" y="0"/>
                    <a:pt x="571500" y="51174"/>
                    <a:pt x="571500" y="114300"/>
                  </a:cubicBezTo>
                  <a:lnTo>
                    <a:pt x="571500" y="114300"/>
                  </a:lnTo>
                  <a:cubicBezTo>
                    <a:pt x="571500" y="177426"/>
                    <a:pt x="520326" y="228600"/>
                    <a:pt x="457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2331" y="3017520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透明度:低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857500" y="1619250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714500"/>
                  </a:lnTo>
                  <a:cubicBezTo>
                    <a:pt x="2095500" y="1767105"/>
                    <a:pt x="2052855" y="1809750"/>
                    <a:pt x="2000250" y="1809750"/>
                  </a:cubicBezTo>
                  <a:lnTo>
                    <a:pt x="95250" y="1809750"/>
                  </a:lnTo>
                  <a:cubicBezTo>
                    <a:pt x="42645" y="1809750"/>
                    <a:pt x="0" y="1767105"/>
                    <a:pt x="0" y="1714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57500" y="1619250"/>
              <a:ext cx="2095500" cy="47625"/>
            </a:xfrm>
            <a:custGeom>
              <a:avLst/>
              <a:gdLst/>
              <a:ahLst/>
              <a:cxnLst/>
              <a:rect l="l" t="t" r="r" b="b"/>
              <a:pathLst>
                <a:path w="2095500" h="47625">
                  <a:moveTo>
                    <a:pt x="19050" y="0"/>
                  </a:moveTo>
                  <a:lnTo>
                    <a:pt x="2076450" y="0"/>
                  </a:lnTo>
                  <a:cubicBezTo>
                    <a:pt x="2086971" y="0"/>
                    <a:pt x="2095500" y="8529"/>
                    <a:pt x="2095500" y="19050"/>
                  </a:cubicBezTo>
                  <a:lnTo>
                    <a:pt x="2095500" y="28575"/>
                  </a:lnTo>
                  <a:cubicBezTo>
                    <a:pt x="2095500" y="39096"/>
                    <a:pt x="2086971" y="47625"/>
                    <a:pt x="2076450" y="47625"/>
                  </a:cubicBezTo>
                  <a:lnTo>
                    <a:pt x="19050" y="47625"/>
                  </a:lnTo>
                  <a:cubicBezTo>
                    <a:pt x="8529" y="47625"/>
                    <a:pt x="0" y="39096"/>
                    <a:pt x="0" y="285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24957" y="1839278"/>
              <a:ext cx="9605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Prompt 次数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35618" y="2133124"/>
              <a:ext cx="17762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采用者：智谱/MiniMax早期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35618" y="237124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 Prompt≈1200-1600 API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5618" y="260937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比API次数直观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048000" y="2952750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114300" y="0"/>
                  </a:moveTo>
                  <a:lnTo>
                    <a:pt x="457200" y="0"/>
                  </a:lnTo>
                  <a:cubicBezTo>
                    <a:pt x="520326" y="0"/>
                    <a:pt x="571500" y="51174"/>
                    <a:pt x="571500" y="114300"/>
                  </a:cubicBezTo>
                  <a:lnTo>
                    <a:pt x="571500" y="114300"/>
                  </a:lnTo>
                  <a:cubicBezTo>
                    <a:pt x="571500" y="177426"/>
                    <a:pt x="520326" y="228600"/>
                    <a:pt x="457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08331" y="3017520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透明度:中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143500" y="1619250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714500"/>
                  </a:lnTo>
                  <a:cubicBezTo>
                    <a:pt x="2095500" y="1767105"/>
                    <a:pt x="2052855" y="1809750"/>
                    <a:pt x="2000250" y="1809750"/>
                  </a:cubicBezTo>
                  <a:lnTo>
                    <a:pt x="95250" y="1809750"/>
                  </a:lnTo>
                  <a:cubicBezTo>
                    <a:pt x="42645" y="1809750"/>
                    <a:pt x="0" y="1767105"/>
                    <a:pt x="0" y="1714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143500" y="1619250"/>
              <a:ext cx="2095500" cy="47625"/>
            </a:xfrm>
            <a:custGeom>
              <a:avLst/>
              <a:gdLst/>
              <a:ahLst/>
              <a:cxnLst/>
              <a:rect l="l" t="t" r="r" b="b"/>
              <a:pathLst>
                <a:path w="2095500" h="47625">
                  <a:moveTo>
                    <a:pt x="19050" y="0"/>
                  </a:moveTo>
                  <a:lnTo>
                    <a:pt x="2076450" y="0"/>
                  </a:lnTo>
                  <a:cubicBezTo>
                    <a:pt x="2086971" y="0"/>
                    <a:pt x="2095500" y="8529"/>
                    <a:pt x="2095500" y="19050"/>
                  </a:cubicBezTo>
                  <a:lnTo>
                    <a:pt x="2095500" y="28575"/>
                  </a:lnTo>
                  <a:cubicBezTo>
                    <a:pt x="2095500" y="39096"/>
                    <a:pt x="2086971" y="47625"/>
                    <a:pt x="2076450" y="47625"/>
                  </a:cubicBezTo>
                  <a:lnTo>
                    <a:pt x="19050" y="47625"/>
                  </a:lnTo>
                  <a:cubicBezTo>
                    <a:pt x="8529" y="47625"/>
                    <a:pt x="0" y="39096"/>
                    <a:pt x="0" y="285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71339" y="1839278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Token 计量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21618" y="2133124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采用者：Kimi/MiniMax新版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1618" y="2371249"/>
              <a:ext cx="1413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按输入输出Token计费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1618" y="26093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最透明，用户难预估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334000" y="2952750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114300" y="0"/>
                  </a:moveTo>
                  <a:lnTo>
                    <a:pt x="457200" y="0"/>
                  </a:lnTo>
                  <a:cubicBezTo>
                    <a:pt x="520326" y="0"/>
                    <a:pt x="571500" y="51174"/>
                    <a:pt x="571500" y="114300"/>
                  </a:cubicBezTo>
                  <a:lnTo>
                    <a:pt x="571500" y="114300"/>
                  </a:lnTo>
                  <a:cubicBezTo>
                    <a:pt x="571500" y="177426"/>
                    <a:pt x="520326" y="228600"/>
                    <a:pt x="457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94331" y="3017520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透明度:高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429500" y="1619250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714500"/>
                  </a:lnTo>
                  <a:cubicBezTo>
                    <a:pt x="2095500" y="1767105"/>
                    <a:pt x="2052855" y="1809750"/>
                    <a:pt x="2000250" y="1809750"/>
                  </a:cubicBezTo>
                  <a:lnTo>
                    <a:pt x="95250" y="1809750"/>
                  </a:lnTo>
                  <a:cubicBezTo>
                    <a:pt x="42645" y="1809750"/>
                    <a:pt x="0" y="1767105"/>
                    <a:pt x="0" y="1714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429500" y="1619250"/>
              <a:ext cx="2095500" cy="47625"/>
            </a:xfrm>
            <a:custGeom>
              <a:avLst/>
              <a:gdLst/>
              <a:ahLst/>
              <a:cxnLst/>
              <a:rect l="l" t="t" r="r" b="b"/>
              <a:pathLst>
                <a:path w="2095500" h="47625">
                  <a:moveTo>
                    <a:pt x="19050" y="0"/>
                  </a:moveTo>
                  <a:lnTo>
                    <a:pt x="2076450" y="0"/>
                  </a:lnTo>
                  <a:cubicBezTo>
                    <a:pt x="2086971" y="0"/>
                    <a:pt x="2095500" y="8529"/>
                    <a:pt x="2095500" y="19050"/>
                  </a:cubicBezTo>
                  <a:lnTo>
                    <a:pt x="2095500" y="28575"/>
                  </a:lnTo>
                  <a:cubicBezTo>
                    <a:pt x="2095500" y="39096"/>
                    <a:pt x="2086971" y="47625"/>
                    <a:pt x="2076450" y="47625"/>
                  </a:cubicBezTo>
                  <a:lnTo>
                    <a:pt x="19050" y="47625"/>
                  </a:lnTo>
                  <a:cubicBezTo>
                    <a:pt x="8529" y="47625"/>
                    <a:pt x="0" y="39096"/>
                    <a:pt x="0" y="285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33186" y="1839278"/>
              <a:ext cx="8881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Credit 计量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7618" y="2133124"/>
              <a:ext cx="17905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采用者：Cursor/小米/阿里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7618" y="23712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统一Credit池，不同倍率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7618" y="26093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抽象但可预测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620000" y="2952750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114300" y="0"/>
                  </a:moveTo>
                  <a:lnTo>
                    <a:pt x="457200" y="0"/>
                  </a:lnTo>
                  <a:cubicBezTo>
                    <a:pt x="520326" y="0"/>
                    <a:pt x="571500" y="51174"/>
                    <a:pt x="571500" y="114300"/>
                  </a:cubicBezTo>
                  <a:lnTo>
                    <a:pt x="571500" y="114300"/>
                  </a:lnTo>
                  <a:cubicBezTo>
                    <a:pt x="571500" y="177426"/>
                    <a:pt x="520326" y="228600"/>
                    <a:pt x="457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80331" y="3017520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透明度:中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715500" y="1619250"/>
              <a:ext cx="2095500" cy="1809750"/>
            </a:xfrm>
            <a:custGeom>
              <a:avLst/>
              <a:gdLst/>
              <a:ahLst/>
              <a:cxnLst/>
              <a:rect l="l" t="t" r="r" b="b"/>
              <a:pathLst>
                <a:path w="2095500" h="180975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714500"/>
                  </a:lnTo>
                  <a:cubicBezTo>
                    <a:pt x="2095500" y="1767105"/>
                    <a:pt x="2052855" y="1809750"/>
                    <a:pt x="2000250" y="1809750"/>
                  </a:cubicBezTo>
                  <a:lnTo>
                    <a:pt x="95250" y="1809750"/>
                  </a:lnTo>
                  <a:cubicBezTo>
                    <a:pt x="42645" y="1809750"/>
                    <a:pt x="0" y="1767105"/>
                    <a:pt x="0" y="1714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715500" y="1619250"/>
              <a:ext cx="2095500" cy="47625"/>
            </a:xfrm>
            <a:custGeom>
              <a:avLst/>
              <a:gdLst/>
              <a:ahLst/>
              <a:cxnLst/>
              <a:rect l="l" t="t" r="r" b="b"/>
              <a:pathLst>
                <a:path w="2095500" h="47625">
                  <a:moveTo>
                    <a:pt x="19050" y="0"/>
                  </a:moveTo>
                  <a:lnTo>
                    <a:pt x="2076450" y="0"/>
                  </a:lnTo>
                  <a:cubicBezTo>
                    <a:pt x="2086971" y="0"/>
                    <a:pt x="2095500" y="8529"/>
                    <a:pt x="2095500" y="19050"/>
                  </a:cubicBezTo>
                  <a:lnTo>
                    <a:pt x="2095500" y="28575"/>
                  </a:lnTo>
                  <a:cubicBezTo>
                    <a:pt x="2095500" y="39096"/>
                    <a:pt x="2086971" y="47625"/>
                    <a:pt x="2076450" y="47625"/>
                  </a:cubicBezTo>
                  <a:lnTo>
                    <a:pt x="19050" y="47625"/>
                  </a:lnTo>
                  <a:cubicBezTo>
                    <a:pt x="8529" y="47625"/>
                    <a:pt x="0" y="39096"/>
                    <a:pt x="0" y="285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66855" y="18392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时间窗口配额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93618" y="2133124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采用者：智谱/Claude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93618" y="2371249"/>
              <a:ext cx="15413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每5小时限额+周/月上限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93618" y="26093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限制节奏而非总量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9906000" y="2952750"/>
              <a:ext cx="571500" cy="228600"/>
            </a:xfrm>
            <a:custGeom>
              <a:avLst/>
              <a:gdLst/>
              <a:ahLst/>
              <a:cxnLst/>
              <a:rect l="l" t="t" r="r" b="b"/>
              <a:pathLst>
                <a:path w="571500" h="228600">
                  <a:moveTo>
                    <a:pt x="114300" y="0"/>
                  </a:moveTo>
                  <a:lnTo>
                    <a:pt x="457200" y="0"/>
                  </a:lnTo>
                  <a:cubicBezTo>
                    <a:pt x="520326" y="0"/>
                    <a:pt x="571500" y="51174"/>
                    <a:pt x="571500" y="114300"/>
                  </a:cubicBezTo>
                  <a:lnTo>
                    <a:pt x="571500" y="114300"/>
                  </a:lnTo>
                  <a:cubicBezTo>
                    <a:pt x="571500" y="177426"/>
                    <a:pt x="520326" y="228600"/>
                    <a:pt x="457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64748B">
                <a:alpha val="10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66331" y="3017520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透明度:中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52450" y="36480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计量单位演变趋势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571500" y="4000500"/>
            <a:ext cx="11049000" cy="571500"/>
            <a:chOff x="571500" y="4000500"/>
            <a:chExt cx="11049000" cy="571500"/>
          </a:xfrm>
        </p:grpSpPr>
        <p:sp>
          <p:nvSpPr>
            <p:cNvPr id="50" name="Freeform 50"/>
            <p:cNvSpPr/>
            <p:nvPr/>
          </p:nvSpPr>
          <p:spPr>
            <a:xfrm>
              <a:off x="571500" y="4000500"/>
              <a:ext cx="11049000" cy="571500"/>
            </a:xfrm>
            <a:custGeom>
              <a:avLst/>
              <a:gdLst/>
              <a:ahLst/>
              <a:cxnLst/>
              <a:rect l="l" t="t" r="r" b="b"/>
              <a:pathLst>
                <a:path w="11049000" h="5715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76250"/>
                  </a:lnTo>
                  <a:cubicBezTo>
                    <a:pt x="11049000" y="528855"/>
                    <a:pt x="11006355" y="571500"/>
                    <a:pt x="1095375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571500" y="4000500"/>
              <a:ext cx="2762250" cy="571500"/>
            </a:xfrm>
            <a:custGeom>
              <a:avLst/>
              <a:gdLst/>
              <a:ahLst/>
              <a:cxnLst/>
              <a:rect l="l" t="t" r="r" b="b"/>
              <a:pathLst>
                <a:path w="2762250" h="57150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476250"/>
                  </a:lnTo>
                  <a:cubicBezTo>
                    <a:pt x="2762250" y="528855"/>
                    <a:pt x="2719605" y="571500"/>
                    <a:pt x="26670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412919" y="420433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API 请求次数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3409950" y="42672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3619500" y="4000500"/>
              <a:ext cx="2762250" cy="571500"/>
            </a:xfrm>
            <a:custGeom>
              <a:avLst/>
              <a:gdLst/>
              <a:ahLst/>
              <a:cxnLst/>
              <a:rect l="l" t="t" r="r" b="b"/>
              <a:pathLst>
                <a:path w="2762250" h="57150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476250"/>
                  </a:lnTo>
                  <a:cubicBezTo>
                    <a:pt x="2762250" y="528855"/>
                    <a:pt x="2719605" y="571500"/>
                    <a:pt x="26670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51718" y="4204335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Prompt 次数</a:t>
              </a:r>
            </a:p>
          </p:txBody>
        </p:sp>
        <p:sp>
          <p:nvSpPr>
            <p:cNvPr id="56" name="Polygon 56"/>
            <p:cNvSpPr/>
            <p:nvPr/>
          </p:nvSpPr>
          <p:spPr>
            <a:xfrm>
              <a:off x="6457950" y="42672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667500" y="4000500"/>
              <a:ext cx="2762250" cy="571500"/>
            </a:xfrm>
            <a:custGeom>
              <a:avLst/>
              <a:gdLst/>
              <a:ahLst/>
              <a:cxnLst/>
              <a:rect l="l" t="t" r="r" b="b"/>
              <a:pathLst>
                <a:path w="2762250" h="57150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476250"/>
                  </a:lnTo>
                  <a:cubicBezTo>
                    <a:pt x="2762250" y="528855"/>
                    <a:pt x="2719605" y="571500"/>
                    <a:pt x="266700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93905" y="4204335"/>
              <a:ext cx="13094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Token / Credit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9505950" y="42672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715500" y="40005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476250"/>
                  </a:lnTo>
                  <a:cubicBezTo>
                    <a:pt x="1905000" y="528855"/>
                    <a:pt x="1862355" y="571500"/>
                    <a:pt x="1809750" y="571500"/>
                  </a:cubicBezTo>
                  <a:lnTo>
                    <a:pt x="95250" y="571500"/>
                  </a:lnTo>
                  <a:cubicBezTo>
                    <a:pt x="42645" y="571500"/>
                    <a:pt x="0" y="528855"/>
                    <a:pt x="0" y="476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0B981">
                <a:alpha val="15000"/>
              </a:srgbClr>
            </a:solidFill>
            <a:ln w="19050">
              <a:solidFill>
                <a:srgbClr val="10B981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109892" y="4204335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统一 Credits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4526161" y="490251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方向：越来越透明、越来越可预测</a:t>
            </a:r>
          </a:p>
        </p:txBody>
      </p:sp>
      <p:sp>
        <p:nvSpPr>
          <p:cNvPr id="64" name="Freeform 64"/>
          <p:cNvSpPr/>
          <p:nvPr/>
        </p:nvSpPr>
        <p:spPr>
          <a:xfrm>
            <a:off x="571500" y="5334000"/>
            <a:ext cx="10477500" cy="762000"/>
          </a:xfrm>
          <a:custGeom>
            <a:avLst/>
            <a:gdLst/>
            <a:ahLst/>
            <a:cxnLst/>
            <a:rect l="l" t="t" r="r" b="b"/>
            <a:pathLst>
              <a:path w="10477500" h="762000">
                <a:moveTo>
                  <a:pt x="95250" y="0"/>
                </a:moveTo>
                <a:lnTo>
                  <a:pt x="10382250" y="0"/>
                </a:lnTo>
                <a:cubicBezTo>
                  <a:pt x="10434855" y="0"/>
                  <a:pt x="10477500" y="42645"/>
                  <a:pt x="10477500" y="95250"/>
                </a:cubicBezTo>
                <a:lnTo>
                  <a:pt x="10477500" y="666750"/>
                </a:lnTo>
                <a:cubicBezTo>
                  <a:pt x="10477500" y="719355"/>
                  <a:pt x="10434855" y="762000"/>
                  <a:pt x="10382250" y="762000"/>
                </a:cubicBezTo>
                <a:lnTo>
                  <a:pt x="95250" y="762000"/>
                </a:lnTo>
                <a:cubicBezTo>
                  <a:pt x="42645" y="762000"/>
                  <a:pt x="0" y="719355"/>
                  <a:pt x="0" y="666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90D9">
              <a:alpha val="8000"/>
            </a:srgbClr>
          </a:solidFill>
          <a:ln w="9525">
            <a:solidFill>
              <a:srgbClr val="4A90D9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42962" y="5498306"/>
            <a:ext cx="12448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Agent 场景消耗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3915" y="5744528"/>
            <a:ext cx="61300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文件读取 35-45% | 工具输出 15-25% | 上下文重发 15-20% | 推理 10-15% | 代码生成仅 5-15%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60070" y="6284595"/>
            <a:ext cx="4222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数据来源：DEV Community 研究、OpenRouter 公开数据、Cursor 官方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87141" y="660177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 / 15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4A90D9">
                  <a:alpha val="25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4A90D9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SECTION 02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4A90D9"/>
              </a:gs>
              <a:gs pos="100000">
                <a:srgbClr val="10B981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118038" y="3326130"/>
            <a:ext cx="3955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为什么这么演变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46446" y="4076700"/>
            <a:ext cx="4299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框架层 — 五力分析 + 三段式节奏 + 三层驱动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87141" y="645890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7 / 15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9084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FIVE FORCES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678180"/>
            <a:ext cx="68161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五力竞争分析：行业内竞争极高，买方议价力强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66800"/>
            <a:ext cx="10477500" cy="304800"/>
          </a:xfrm>
          <a:custGeom>
            <a:avLst/>
            <a:gdLst/>
            <a:ahLst/>
            <a:cxnLst/>
            <a:rect l="l" t="t" r="r" b="b"/>
            <a:pathLst>
              <a:path w="10477500" h="3048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47650"/>
                </a:lnTo>
                <a:cubicBezTo>
                  <a:pt x="10477500" y="279213"/>
                  <a:pt x="10451913" y="304800"/>
                  <a:pt x="104203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97757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67224" y="1163002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七家平台同池竞争，用户切换成本几乎为零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571625"/>
            <a:ext cx="11430000" cy="3810000"/>
            <a:chOff x="381000" y="1571625"/>
            <a:chExt cx="11430000" cy="3810000"/>
          </a:xfrm>
        </p:grpSpPr>
        <p:sp>
          <p:nvSpPr>
            <p:cNvPr id="8" name="Freeform 8"/>
            <p:cNvSpPr/>
            <p:nvPr/>
          </p:nvSpPr>
          <p:spPr>
            <a:xfrm>
              <a:off x="4191000" y="1571625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409700"/>
                  </a:lnTo>
                  <a:cubicBezTo>
                    <a:pt x="3810000" y="1472826"/>
                    <a:pt x="3758826" y="1524000"/>
                    <a:pt x="3695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97757">
                <a:alpha val="8000"/>
              </a:srgbClr>
            </a:solidFill>
            <a:ln w="19050">
              <a:solidFill>
                <a:srgbClr val="D9775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61290" y="17592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行业内竞争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47290" y="1916430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极高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0436" y="2267902"/>
              <a:ext cx="1031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7家同池价格战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66063" y="247745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首月7.9元起，全线跟进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45931" y="26870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补贴期全面重叠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78029" y="290464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191000" y="1571625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409700"/>
                  </a:lnTo>
                  <a:cubicBezTo>
                    <a:pt x="3810000" y="1472826"/>
                    <a:pt x="3758826" y="1524000"/>
                    <a:pt x="36957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90D9">
                <a:alpha val="5000"/>
              </a:srgbClr>
            </a:solidFill>
            <a:ln w="9525">
              <a:solidFill>
                <a:srgbClr val="4A90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61290" y="17592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行业内竞争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97106" y="1996440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极高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80436" y="2344102"/>
              <a:ext cx="10311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7家同池价格战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9444" y="2553652"/>
              <a:ext cx="8931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首月7.9元起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22608" y="27632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全线跟进补贴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78029" y="2980849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81000" y="2524125"/>
              <a:ext cx="3524250" cy="1333500"/>
            </a:xfrm>
            <a:custGeom>
              <a:avLst/>
              <a:gdLst/>
              <a:ahLst/>
              <a:cxnLst/>
              <a:rect l="l" t="t" r="r" b="b"/>
              <a:pathLst>
                <a:path w="3524250" h="13335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219200"/>
                  </a:lnTo>
                  <a:cubicBezTo>
                    <a:pt x="3524250" y="1282326"/>
                    <a:pt x="3473076" y="1333500"/>
                    <a:pt x="340995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0B981">
                <a:alpha val="8000"/>
              </a:srgbClr>
            </a:solidFill>
            <a:ln w="19050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38121" y="271986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买方议价力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2248" y="2901315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368" y="3276124"/>
              <a:ext cx="17477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7+平台可选，切换成本极低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4368" y="34666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API Key一换即走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368" y="365712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用户迁移零成本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8286750" y="2524125"/>
              <a:ext cx="3524250" cy="1333500"/>
            </a:xfrm>
            <a:custGeom>
              <a:avLst/>
              <a:gdLst/>
              <a:ahLst/>
              <a:cxnLst/>
              <a:rect l="l" t="t" r="r" b="b"/>
              <a:pathLst>
                <a:path w="3524250" h="13335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219200"/>
                  </a:lnTo>
                  <a:cubicBezTo>
                    <a:pt x="3524250" y="1282326"/>
                    <a:pt x="3473076" y="1333500"/>
                    <a:pt x="340995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97757">
                <a:alpha val="8000"/>
              </a:srgbClr>
            </a:solidFill>
            <a:ln w="19050">
              <a:solidFill>
                <a:srgbClr val="D9775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43871" y="271986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替代品威胁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87998" y="2901315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0118" y="3276124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开源模型+本地部署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0118" y="3466624"/>
              <a:ext cx="11354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DeepSeek V4开源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0118" y="365712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持续压制定价上限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4191000" y="1571625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219200"/>
                  </a:lnTo>
                  <a:cubicBezTo>
                    <a:pt x="3810000" y="1282326"/>
                    <a:pt x="3758826" y="1333500"/>
                    <a:pt x="3695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90D9">
                <a:alpha val="8000"/>
              </a:srgbClr>
            </a:solidFill>
            <a:ln w="19050">
              <a:solidFill>
                <a:srgbClr val="4A90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93234" y="1767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新进入者威胁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35123" y="1948815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64368" y="2323624"/>
              <a:ext cx="1669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门槛高（百亿融资+算力）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4368" y="25141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小米等新玩家仍在进入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4368" y="2704624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$1/$3极低价破局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191000" y="4048125"/>
              <a:ext cx="3810000" cy="1333500"/>
            </a:xfrm>
            <a:custGeom>
              <a:avLst/>
              <a:gdLst/>
              <a:ahLst/>
              <a:cxnLst/>
              <a:rect l="l" t="t" r="r" b="b"/>
              <a:pathLst>
                <a:path w="3810000" h="1333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219200"/>
                  </a:lnTo>
                  <a:cubicBezTo>
                    <a:pt x="3810000" y="1282326"/>
                    <a:pt x="3758826" y="1333500"/>
                    <a:pt x="3695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F4444">
                <a:alpha val="8000"/>
              </a:srgbClr>
            </a:solidFill>
            <a:ln w="19050">
              <a:solidFill>
                <a:srgbClr val="EF444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93234" y="42438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供应商议价力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59088" y="4425315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中偏高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4368" y="4800124"/>
              <a:ext cx="971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GPU是刚性成本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64368" y="499062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但国产芯片替代降低依赖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64368" y="5181124"/>
              <a:ext cx="1256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华为昇腾950量产中</a:t>
              </a:r>
            </a:p>
          </p:txBody>
        </p:sp>
        <p:sp>
          <p:nvSpPr>
            <p:cNvPr id="46" name="Polygon 46"/>
            <p:cNvSpPr/>
            <p:nvPr/>
          </p:nvSpPr>
          <p:spPr>
            <a:xfrm>
              <a:off x="4000500" y="312420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47" name="Polygon 47"/>
            <p:cNvSpPr/>
            <p:nvPr/>
          </p:nvSpPr>
          <p:spPr>
            <a:xfrm>
              <a:off x="8096250" y="312420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66675"/>
                  </a:moveTo>
                  <a:lnTo>
                    <a:pt x="95250" y="0"/>
                  </a:lnTo>
                  <a:lnTo>
                    <a:pt x="95250" y="13335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3905250" y="31908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952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8191500" y="31908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96000" y="1571625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6038850" y="27908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6096000" y="290512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6038850" y="29051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lnTo>
                    <a:pt x="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</p:grpSp>
      <p:sp>
        <p:nvSpPr>
          <p:cNvPr id="55" name="Freeform 55"/>
          <p:cNvSpPr/>
          <p:nvPr/>
        </p:nvSpPr>
        <p:spPr>
          <a:xfrm>
            <a:off x="571500" y="5667375"/>
            <a:ext cx="10477500" cy="476250"/>
          </a:xfrm>
          <a:custGeom>
            <a:avLst/>
            <a:gdLst/>
            <a:ahLst/>
            <a:cxnLst/>
            <a:rect l="l" t="t" r="r" b="b"/>
            <a:pathLst>
              <a:path w="10477500" h="476250">
                <a:moveTo>
                  <a:pt x="95250" y="0"/>
                </a:moveTo>
                <a:lnTo>
                  <a:pt x="10382250" y="0"/>
                </a:lnTo>
                <a:cubicBezTo>
                  <a:pt x="10434855" y="0"/>
                  <a:pt x="10477500" y="42645"/>
                  <a:pt x="10477500" y="95250"/>
                </a:cubicBezTo>
                <a:lnTo>
                  <a:pt x="10477500" y="381000"/>
                </a:lnTo>
                <a:cubicBezTo>
                  <a:pt x="10477500" y="433605"/>
                  <a:pt x="10434855" y="476250"/>
                  <a:pt x="103822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0B981">
              <a:alpha val="8000"/>
            </a:srgbClr>
          </a:solidFill>
          <a:ln w="9525">
            <a:solidFill>
              <a:srgbClr val="10B981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43915" y="5773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4868" y="5971699"/>
            <a:ext cx="41970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七家同池价格战 + 用户零切换成本 = 买方强势，定价权争夺白热化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887141" y="63636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8 / 15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5787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DRIVERS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678180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定价模式演进的三层驱动逻辑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66800"/>
            <a:ext cx="10477500" cy="304800"/>
          </a:xfrm>
          <a:custGeom>
            <a:avLst/>
            <a:gdLst/>
            <a:ahLst/>
            <a:cxnLst/>
            <a:rect l="l" t="t" r="r" b="b"/>
            <a:pathLst>
              <a:path w="10477500" h="3048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47650"/>
                </a:lnTo>
                <a:cubicBezTo>
                  <a:pt x="10477500" y="279213"/>
                  <a:pt x="10451913" y="304800"/>
                  <a:pt x="104203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90D9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67224" y="1163002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从底层算力到生态价值，三层驱动同时作用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71500" y="1619250"/>
            <a:ext cx="11049000" cy="4095750"/>
            <a:chOff x="571500" y="1619250"/>
            <a:chExt cx="11049000" cy="4095750"/>
          </a:xfrm>
        </p:grpSpPr>
        <p:sp>
          <p:nvSpPr>
            <p:cNvPr id="8" name="Freeform 8"/>
            <p:cNvSpPr/>
            <p:nvPr/>
          </p:nvSpPr>
          <p:spPr>
            <a:xfrm>
              <a:off x="571500" y="1619250"/>
              <a:ext cx="11049000" cy="1238250"/>
            </a:xfrm>
            <a:custGeom>
              <a:avLst/>
              <a:gdLst/>
              <a:ahLst/>
              <a:cxnLst/>
              <a:rect l="l" t="t" r="r" b="b"/>
              <a:pathLst>
                <a:path w="11049000" h="12382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123950"/>
                  </a:lnTo>
                  <a:cubicBezTo>
                    <a:pt x="11049000" y="1187076"/>
                    <a:pt x="10997826" y="1238250"/>
                    <a:pt x="1093470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4A90D9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71500" y="1619250"/>
              <a:ext cx="11049000" cy="57150"/>
            </a:xfrm>
            <a:custGeom>
              <a:avLst/>
              <a:gdLst/>
              <a:ahLst/>
              <a:cxnLst/>
              <a:rect l="l" t="t" r="r" b="b"/>
              <a:pathLst>
                <a:path w="11049000" h="57150">
                  <a:moveTo>
                    <a:pt x="28575" y="0"/>
                  </a:moveTo>
                  <a:lnTo>
                    <a:pt x="11020425" y="0"/>
                  </a:lnTo>
                  <a:cubicBezTo>
                    <a:pt x="11036207" y="0"/>
                    <a:pt x="11049000" y="12793"/>
                    <a:pt x="11049000" y="28575"/>
                  </a:cubicBezTo>
                  <a:lnTo>
                    <a:pt x="11049000" y="28575"/>
                  </a:lnTo>
                  <a:cubicBezTo>
                    <a:pt x="11049000" y="44357"/>
                    <a:pt x="11036207" y="57150"/>
                    <a:pt x="1102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33450" y="1695450"/>
              <a:ext cx="609600" cy="609600"/>
            </a:xfrm>
            <a:prstGeom prst="ellipse">
              <a:avLst/>
            </a:prstGeom>
            <a:solidFill>
              <a:srgbClr val="4A90D9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95407" y="19469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43075" y="1790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成本驱动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47838" y="2069306"/>
              <a:ext cx="25013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算力成本 → Token成本 → 套餐定价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0" y="1762125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76200" y="0"/>
                  </a:moveTo>
                  <a:lnTo>
                    <a:pt x="5448300" y="0"/>
                  </a:lnTo>
                  <a:cubicBezTo>
                    <a:pt x="5490384" y="0"/>
                    <a:pt x="5524500" y="34116"/>
                    <a:pt x="5524500" y="76200"/>
                  </a:cubicBezTo>
                  <a:lnTo>
                    <a:pt x="5524500" y="876300"/>
                  </a:lnTo>
                  <a:cubicBezTo>
                    <a:pt x="5524500" y="918384"/>
                    <a:pt x="5490384" y="952500"/>
                    <a:pt x="54483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3118" y="1914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关键要素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93118" y="2133124"/>
              <a:ext cx="39834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国产芯片放量(华为950) → 算力成本下降 → Token定价空间打开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93118" y="2352199"/>
              <a:ext cx="38054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DeepSeek V4开源 → MoE架构效率革命 → 1.6T参数仅激活49B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3118" y="2571274"/>
              <a:ext cx="2466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推理芯片竞争加剧 → 推理成本持续下降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3048000"/>
              <a:ext cx="11049000" cy="1238250"/>
            </a:xfrm>
            <a:custGeom>
              <a:avLst/>
              <a:gdLst/>
              <a:ahLst/>
              <a:cxnLst/>
              <a:rect l="l" t="t" r="r" b="b"/>
              <a:pathLst>
                <a:path w="11049000" h="12382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123950"/>
                  </a:lnTo>
                  <a:cubicBezTo>
                    <a:pt x="11049000" y="1187076"/>
                    <a:pt x="10997826" y="1238250"/>
                    <a:pt x="1093470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D9775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3048000"/>
              <a:ext cx="11049000" cy="57150"/>
            </a:xfrm>
            <a:custGeom>
              <a:avLst/>
              <a:gdLst/>
              <a:ahLst/>
              <a:cxnLst/>
              <a:rect l="l" t="t" r="r" b="b"/>
              <a:pathLst>
                <a:path w="11049000" h="57150">
                  <a:moveTo>
                    <a:pt x="28575" y="0"/>
                  </a:moveTo>
                  <a:lnTo>
                    <a:pt x="11020425" y="0"/>
                  </a:lnTo>
                  <a:cubicBezTo>
                    <a:pt x="11036207" y="0"/>
                    <a:pt x="11049000" y="12793"/>
                    <a:pt x="11049000" y="28575"/>
                  </a:cubicBezTo>
                  <a:lnTo>
                    <a:pt x="11049000" y="28575"/>
                  </a:lnTo>
                  <a:cubicBezTo>
                    <a:pt x="11049000" y="44357"/>
                    <a:pt x="11036207" y="57150"/>
                    <a:pt x="1102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33450" y="3124200"/>
              <a:ext cx="609600" cy="609600"/>
            </a:xfrm>
            <a:prstGeom prst="ellipse">
              <a:avLst/>
            </a:prstGeom>
            <a:solidFill>
              <a:srgbClr val="D97757">
                <a:alpha val="1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72404" y="33756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43075" y="32194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竞争驱动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7838" y="3498056"/>
              <a:ext cx="2378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价格战 → 补贴圈用户 → 收紧利润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715000" y="3190875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76200" y="0"/>
                  </a:moveTo>
                  <a:lnTo>
                    <a:pt x="5448300" y="0"/>
                  </a:lnTo>
                  <a:cubicBezTo>
                    <a:pt x="5490384" y="0"/>
                    <a:pt x="5524500" y="34116"/>
                    <a:pt x="5524500" y="76200"/>
                  </a:cubicBezTo>
                  <a:lnTo>
                    <a:pt x="5524500" y="876300"/>
                  </a:lnTo>
                  <a:cubicBezTo>
                    <a:pt x="5524500" y="918384"/>
                    <a:pt x="5490384" y="952500"/>
                    <a:pt x="54483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93118" y="33427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关键要素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93118" y="3561874"/>
              <a:ext cx="35348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2024-2025 补贴期：百万Token几毛钱，首月7.9元获客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93118" y="3780949"/>
              <a:ext cx="3670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2025H2 收紧期：限购、停售低档、限时抢购测试价格弹性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93118" y="4000024"/>
              <a:ext cx="27801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 分层期：极速版¥98-899，利润最大化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71500" y="4476750"/>
              <a:ext cx="11049000" cy="1238250"/>
            </a:xfrm>
            <a:custGeom>
              <a:avLst/>
              <a:gdLst/>
              <a:ahLst/>
              <a:cxnLst/>
              <a:rect l="l" t="t" r="r" b="b"/>
              <a:pathLst>
                <a:path w="11049000" h="123825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123950"/>
                  </a:lnTo>
                  <a:cubicBezTo>
                    <a:pt x="11049000" y="1187076"/>
                    <a:pt x="10997826" y="1238250"/>
                    <a:pt x="10934700" y="1238250"/>
                  </a:cubicBezTo>
                  <a:lnTo>
                    <a:pt x="114300" y="1238250"/>
                  </a:lnTo>
                  <a:cubicBezTo>
                    <a:pt x="51174" y="1238250"/>
                    <a:pt x="0" y="1187076"/>
                    <a:pt x="0" y="112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10B98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1500" y="4476750"/>
              <a:ext cx="11049000" cy="57150"/>
            </a:xfrm>
            <a:custGeom>
              <a:avLst/>
              <a:gdLst/>
              <a:ahLst/>
              <a:cxnLst/>
              <a:rect l="l" t="t" r="r" b="b"/>
              <a:pathLst>
                <a:path w="11049000" h="57150">
                  <a:moveTo>
                    <a:pt x="28575" y="0"/>
                  </a:moveTo>
                  <a:lnTo>
                    <a:pt x="11020425" y="0"/>
                  </a:lnTo>
                  <a:cubicBezTo>
                    <a:pt x="11036207" y="0"/>
                    <a:pt x="11049000" y="12793"/>
                    <a:pt x="11049000" y="28575"/>
                  </a:cubicBezTo>
                  <a:lnTo>
                    <a:pt x="11049000" y="28575"/>
                  </a:lnTo>
                  <a:cubicBezTo>
                    <a:pt x="11049000" y="44357"/>
                    <a:pt x="11036207" y="57150"/>
                    <a:pt x="1102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33450" y="4552950"/>
              <a:ext cx="609600" cy="609600"/>
            </a:xfrm>
            <a:prstGeom prst="ellipse">
              <a:avLst/>
            </a:prstGeom>
            <a:solidFill>
              <a:srgbClr val="10B981">
                <a:alpha val="1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72404" y="48044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3075" y="46482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价值驱动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7838" y="4926806"/>
              <a:ext cx="2337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从卖Token → 卖工作流 → 卖生态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715000" y="4619625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76200" y="0"/>
                  </a:moveTo>
                  <a:lnTo>
                    <a:pt x="5448300" y="0"/>
                  </a:lnTo>
                  <a:cubicBezTo>
                    <a:pt x="5490384" y="0"/>
                    <a:pt x="5524500" y="34116"/>
                    <a:pt x="5524500" y="76200"/>
                  </a:cubicBezTo>
                  <a:lnTo>
                    <a:pt x="5524500" y="876300"/>
                  </a:lnTo>
                  <a:cubicBezTo>
                    <a:pt x="5524500" y="918384"/>
                    <a:pt x="5490384" y="952500"/>
                    <a:pt x="54483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93118" y="47715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关键要素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93118" y="4990624"/>
              <a:ext cx="36345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用编程高频刚需获客 → 用多媒体低频高价值场景提高ARPU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93118" y="5209699"/>
              <a:ext cx="2972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MiniMax Token Plan打包图片/语音/音乐/视频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93118" y="5428774"/>
              <a:ext cx="24526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从"编程工具"升级为"AI多媒体工作室"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3964495" y="5966460"/>
            <a:ext cx="4263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三层驱动同时作用，决定定价模式的演变方向与速度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60070" y="6379845"/>
            <a:ext cx="48074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分析框架：成本-竞争-价值三层驱动模型 | 数据来源：各厂商公告、IDC、伯恩斯坦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87141" y="6601778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 / 15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9775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9544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THREE-PHASE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678180"/>
            <a:ext cx="62687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补贴 → 收紧 → 分层：互联网定价经典三段式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66800"/>
            <a:ext cx="10477500" cy="304800"/>
          </a:xfrm>
          <a:custGeom>
            <a:avLst/>
            <a:gdLst/>
            <a:ahLst/>
            <a:cxnLst/>
            <a:rect l="l" t="t" r="r" b="b"/>
            <a:pathLst>
              <a:path w="10477500" h="3048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47650"/>
                </a:lnTo>
                <a:cubicBezTo>
                  <a:pt x="10477500" y="279213"/>
                  <a:pt x="10451913" y="304800"/>
                  <a:pt x="104203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97757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359810" y="1163002"/>
            <a:ext cx="29008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所有互联网赛道都走这三步，AI也不例外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571500" y="1619250"/>
            <a:ext cx="11049000" cy="3429000"/>
            <a:chOff x="571500" y="1619250"/>
            <a:chExt cx="11049000" cy="3429000"/>
          </a:xfrm>
        </p:grpSpPr>
        <p:sp>
          <p:nvSpPr>
            <p:cNvPr id="8" name="Freeform 8"/>
            <p:cNvSpPr/>
            <p:nvPr/>
          </p:nvSpPr>
          <p:spPr>
            <a:xfrm>
              <a:off x="571500" y="1619250"/>
              <a:ext cx="3429000" cy="3429000"/>
            </a:xfrm>
            <a:custGeom>
              <a:avLst/>
              <a:gdLst/>
              <a:ahLst/>
              <a:cxnLst/>
              <a:rect l="l" t="t" r="r" b="b"/>
              <a:pathLst>
                <a:path w="3429000" h="3429000">
                  <a:moveTo>
                    <a:pt x="133350" y="0"/>
                  </a:moveTo>
                  <a:lnTo>
                    <a:pt x="3295650" y="0"/>
                  </a:lnTo>
                  <a:cubicBezTo>
                    <a:pt x="3369297" y="0"/>
                    <a:pt x="3429000" y="59703"/>
                    <a:pt x="3429000" y="133350"/>
                  </a:cubicBezTo>
                  <a:lnTo>
                    <a:pt x="3429000" y="3295650"/>
                  </a:lnTo>
                  <a:cubicBezTo>
                    <a:pt x="3429000" y="3369297"/>
                    <a:pt x="3369297" y="3429000"/>
                    <a:pt x="3295650" y="3429000"/>
                  </a:cubicBezTo>
                  <a:lnTo>
                    <a:pt x="133350" y="3429000"/>
                  </a:lnTo>
                  <a:cubicBezTo>
                    <a:pt x="59703" y="3429000"/>
                    <a:pt x="0" y="3369297"/>
                    <a:pt x="0" y="3295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8FAFC"/>
            </a:solidFill>
            <a:ln w="19050">
              <a:solidFill>
                <a:srgbClr val="4A90D9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71500" y="1619250"/>
              <a:ext cx="3429000" cy="76200"/>
            </a:xfrm>
            <a:custGeom>
              <a:avLst/>
              <a:gdLst/>
              <a:ahLst/>
              <a:cxnLst/>
              <a:rect l="l" t="t" r="r" b="b"/>
              <a:pathLst>
                <a:path w="3429000" h="762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8100"/>
                  </a:lnTo>
                  <a:cubicBezTo>
                    <a:pt x="3429000" y="59142"/>
                    <a:pt x="3411942" y="76200"/>
                    <a:pt x="3390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000250" y="1762125"/>
              <a:ext cx="571500" cy="571500"/>
            </a:xfrm>
            <a:prstGeom prst="ellipse">
              <a:avLst/>
            </a:prstGeom>
            <a:solidFill>
              <a:srgbClr val="4A90D9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32446" y="196215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49088" y="2425065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补贴期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5763" y="2736056"/>
              <a:ext cx="940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2024 - 2025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9625" y="3048000"/>
              <a:ext cx="2952750" cy="190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4385" y="32042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目的：抢用户规模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6290" y="3506152"/>
              <a:ext cx="13071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百万 Token 几毛钱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6290" y="3744278"/>
              <a:ext cx="11384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首月 7.9 元入局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6290" y="39824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建立使用习惯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6290" y="42205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跑量验证需求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09625" y="4524375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0393" y="46081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关键词：获客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4095750" y="323850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952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000500" y="333375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95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4748B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381500" y="1619250"/>
              <a:ext cx="3429000" cy="3429000"/>
            </a:xfrm>
            <a:custGeom>
              <a:avLst/>
              <a:gdLst/>
              <a:ahLst/>
              <a:cxnLst/>
              <a:rect l="l" t="t" r="r" b="b"/>
              <a:pathLst>
                <a:path w="3429000" h="3429000">
                  <a:moveTo>
                    <a:pt x="133350" y="0"/>
                  </a:moveTo>
                  <a:lnTo>
                    <a:pt x="3295650" y="0"/>
                  </a:lnTo>
                  <a:cubicBezTo>
                    <a:pt x="3369297" y="0"/>
                    <a:pt x="3429000" y="59703"/>
                    <a:pt x="3429000" y="133350"/>
                  </a:cubicBezTo>
                  <a:lnTo>
                    <a:pt x="3429000" y="3295650"/>
                  </a:lnTo>
                  <a:cubicBezTo>
                    <a:pt x="3429000" y="3369297"/>
                    <a:pt x="3369297" y="3429000"/>
                    <a:pt x="3295650" y="3429000"/>
                  </a:cubicBezTo>
                  <a:lnTo>
                    <a:pt x="133350" y="3429000"/>
                  </a:lnTo>
                  <a:cubicBezTo>
                    <a:pt x="59703" y="3429000"/>
                    <a:pt x="0" y="3369297"/>
                    <a:pt x="0" y="3295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8FAFC"/>
            </a:solidFill>
            <a:ln w="19050">
              <a:solidFill>
                <a:srgbClr val="D9775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381500" y="1619250"/>
              <a:ext cx="3429000" cy="76200"/>
            </a:xfrm>
            <a:custGeom>
              <a:avLst/>
              <a:gdLst/>
              <a:ahLst/>
              <a:cxnLst/>
              <a:rect l="l" t="t" r="r" b="b"/>
              <a:pathLst>
                <a:path w="3429000" h="762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8100"/>
                  </a:lnTo>
                  <a:cubicBezTo>
                    <a:pt x="3429000" y="59142"/>
                    <a:pt x="3411942" y="76200"/>
                    <a:pt x="3390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810250" y="1762125"/>
              <a:ext cx="571500" cy="571500"/>
            </a:xfrm>
            <a:prstGeom prst="ellipse">
              <a:avLst/>
            </a:prstGeom>
            <a:solidFill>
              <a:srgbClr val="D97757">
                <a:alpha val="15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3692" y="19621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9088" y="2425065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收紧期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7179" y="2736056"/>
              <a:ext cx="1137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2025 H2 - 至今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619625" y="3048000"/>
              <a:ext cx="2952750" cy="190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604385" y="32042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目的：测试价格弹性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6290" y="3506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取消首购优惠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6290" y="37442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停售低档套餐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6290" y="3982402"/>
              <a:ext cx="1330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每天10:30限时抢购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6290" y="42205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筛选付费用户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619625" y="4524375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70393" y="46081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关键词：测试</a:t>
              </a:r>
            </a:p>
          </p:txBody>
        </p:sp>
        <p:sp>
          <p:nvSpPr>
            <p:cNvPr id="38" name="Polygon 38"/>
            <p:cNvSpPr/>
            <p:nvPr/>
          </p:nvSpPr>
          <p:spPr>
            <a:xfrm>
              <a:off x="7905750" y="3238500"/>
              <a:ext cx="95250" cy="190500"/>
            </a:xfrm>
            <a:custGeom>
              <a:avLst/>
              <a:gdLst/>
              <a:ahLst/>
              <a:cxnLst/>
              <a:rect l="l" t="t" r="r" b="b"/>
              <a:pathLst>
                <a:path w="95250" h="190500">
                  <a:moveTo>
                    <a:pt x="952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4748B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7810500" y="333375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95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4748B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191500" y="1619250"/>
              <a:ext cx="3429000" cy="3429000"/>
            </a:xfrm>
            <a:custGeom>
              <a:avLst/>
              <a:gdLst/>
              <a:ahLst/>
              <a:cxnLst/>
              <a:rect l="l" t="t" r="r" b="b"/>
              <a:pathLst>
                <a:path w="3429000" h="3429000">
                  <a:moveTo>
                    <a:pt x="133350" y="0"/>
                  </a:moveTo>
                  <a:lnTo>
                    <a:pt x="3295650" y="0"/>
                  </a:lnTo>
                  <a:cubicBezTo>
                    <a:pt x="3369297" y="0"/>
                    <a:pt x="3429000" y="59703"/>
                    <a:pt x="3429000" y="133350"/>
                  </a:cubicBezTo>
                  <a:lnTo>
                    <a:pt x="3429000" y="3295650"/>
                  </a:lnTo>
                  <a:cubicBezTo>
                    <a:pt x="3429000" y="3369297"/>
                    <a:pt x="3369297" y="3429000"/>
                    <a:pt x="3295650" y="3429000"/>
                  </a:cubicBezTo>
                  <a:lnTo>
                    <a:pt x="133350" y="3429000"/>
                  </a:lnTo>
                  <a:cubicBezTo>
                    <a:pt x="59703" y="3429000"/>
                    <a:pt x="0" y="3369297"/>
                    <a:pt x="0" y="3295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8FAFC"/>
            </a:solidFill>
            <a:ln w="19050">
              <a:solidFill>
                <a:srgbClr val="10B981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91500" y="1619250"/>
              <a:ext cx="3429000" cy="76200"/>
            </a:xfrm>
            <a:custGeom>
              <a:avLst/>
              <a:gdLst/>
              <a:ahLst/>
              <a:cxnLst/>
              <a:rect l="l" t="t" r="r" b="b"/>
              <a:pathLst>
                <a:path w="3429000" h="762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38100"/>
                  </a:lnTo>
                  <a:cubicBezTo>
                    <a:pt x="3429000" y="59142"/>
                    <a:pt x="3411942" y="76200"/>
                    <a:pt x="3390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620250" y="1762125"/>
              <a:ext cx="571500" cy="571500"/>
            </a:xfrm>
            <a:prstGeom prst="ellipse">
              <a:avLst/>
            </a:prstGeom>
            <a:solidFill>
              <a:srgbClr val="10B981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823692" y="19621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9088" y="2425065"/>
              <a:ext cx="8738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分层期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52193" y="2736056"/>
              <a:ext cx="9076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2026 - 现在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29625" y="3048000"/>
              <a:ext cx="2952750" cy="190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14385" y="32042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目的：利润最大化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6290" y="350615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极速版 ¥98-899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6290" y="3744278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Kimi Allegro ¥559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6290" y="3982402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企业版 ¥198-1398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16290" y="42205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精细分层收割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8429625" y="4524375"/>
              <a:ext cx="952500" cy="266700"/>
            </a:xfrm>
            <a:custGeom>
              <a:avLst/>
              <a:gdLst/>
              <a:ahLst/>
              <a:cxnLst/>
              <a:rect l="l" t="t" r="r" b="b"/>
              <a:pathLst>
                <a:path w="952500" h="266700">
                  <a:moveTo>
                    <a:pt x="133350" y="0"/>
                  </a:moveTo>
                  <a:lnTo>
                    <a:pt x="819150" y="0"/>
                  </a:lnTo>
                  <a:cubicBezTo>
                    <a:pt x="892797" y="0"/>
                    <a:pt x="952500" y="59703"/>
                    <a:pt x="952500" y="133350"/>
                  </a:cubicBezTo>
                  <a:lnTo>
                    <a:pt x="952500" y="133350"/>
                  </a:lnTo>
                  <a:cubicBezTo>
                    <a:pt x="952500" y="206997"/>
                    <a:pt x="892797" y="266700"/>
                    <a:pt x="819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80393" y="46081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关键词：收割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571500" y="53340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552450"/>
                </a:lnTo>
                <a:cubicBezTo>
                  <a:pt x="11049000" y="615576"/>
                  <a:pt x="10997826" y="666750"/>
                  <a:pt x="10934700" y="666750"/>
                </a:cubicBezTo>
                <a:lnTo>
                  <a:pt x="114300" y="666750"/>
                </a:lnTo>
                <a:cubicBezTo>
                  <a:pt x="51174" y="666750"/>
                  <a:pt x="0" y="615576"/>
                  <a:pt x="0" y="55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90D9">
              <a:alpha val="8000"/>
            </a:srgbClr>
          </a:solidFill>
          <a:ln w="9525">
            <a:solidFill>
              <a:srgbClr val="4A90D9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42962" y="5479256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可复用模式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3915" y="5744528"/>
            <a:ext cx="60074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进入新市场时，不要一开始就想好定价。先补贴跑量，再收紧测试弹性，最后精细分层。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0070" y="6284595"/>
            <a:ext cx="30658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数据来源：各厂商官方公告、产品定价页面 2026-04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864138" y="660177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2286000" y="571500"/>
            <a:ext cx="7620000" cy="5715000"/>
          </a:xfrm>
          <a:prstGeom prst="ellipse">
            <a:avLst/>
          </a:prstGeom>
          <a:gradFill>
            <a:gsLst>
              <a:gs pos="0">
                <a:srgbClr val="10B981">
                  <a:alpha val="25000"/>
                </a:srgbClr>
              </a:gs>
              <a:gs pos="100000">
                <a:srgbClr val="10B98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143000" y="1143000"/>
            <a:ext cx="1524000" cy="1524000"/>
          </a:xfrm>
          <a:prstGeom prst="ellipse">
            <a:avLst/>
          </a:prstGeom>
          <a:solidFill>
            <a:srgbClr val="10B981">
              <a:alpha val="5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334500" y="4000500"/>
            <a:ext cx="1905000" cy="1905000"/>
          </a:xfrm>
          <a:prstGeom prst="ellipse">
            <a:avLst/>
          </a:prstGeom>
          <a:solidFill>
            <a:srgbClr val="D97757">
              <a:alpha val="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40342" y="1047750"/>
            <a:ext cx="2911316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FFFFFF">
                    <a:alpha val="3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5084" y="2632710"/>
            <a:ext cx="9418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SECTION 03</a:t>
            </a:r>
          </a:p>
        </p:txBody>
      </p:sp>
      <p:sp>
        <p:nvSpPr>
          <p:cNvPr id="15" name="Freeform 15"/>
          <p:cNvSpPr/>
          <p:nvPr/>
        </p:nvSpPr>
        <p:spPr>
          <a:xfrm>
            <a:off x="5143500" y="304800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670108" y="3326130"/>
            <a:ext cx="285178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能提炼什么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7919" y="4076700"/>
            <a:ext cx="35761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洞察层 — 五条可复用的定价模式规律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883307" y="6458902"/>
            <a:ext cx="4253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 / 15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6247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678180"/>
            <a:ext cx="39178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五条可复用的定价模式规律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1190625"/>
            <a:ext cx="11049000" cy="4762500"/>
            <a:chOff x="571500" y="1190625"/>
            <a:chExt cx="11049000" cy="4762500"/>
          </a:xfrm>
        </p:grpSpPr>
        <p:sp>
          <p:nvSpPr>
            <p:cNvPr id="6" name="Freeform 6"/>
            <p:cNvSpPr/>
            <p:nvPr/>
          </p:nvSpPr>
          <p:spPr>
            <a:xfrm>
              <a:off x="571500" y="1190625"/>
              <a:ext cx="3524250" cy="2286000"/>
            </a:xfrm>
            <a:custGeom>
              <a:avLst/>
              <a:gdLst/>
              <a:ahLst/>
              <a:cxnLst/>
              <a:rect l="l" t="t" r="r" b="b"/>
              <a:pathLst>
                <a:path w="3524250" h="2286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2171700"/>
                  </a:lnTo>
                  <a:cubicBezTo>
                    <a:pt x="3524250" y="2234826"/>
                    <a:pt x="3473076" y="2286000"/>
                    <a:pt x="340995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190625"/>
              <a:ext cx="3524250" cy="57150"/>
            </a:xfrm>
            <a:custGeom>
              <a:avLst/>
              <a:gdLst/>
              <a:ahLst/>
              <a:cxnLst/>
              <a:rect l="l" t="t" r="r" b="b"/>
              <a:pathLst>
                <a:path w="3524250" h="57150">
                  <a:moveTo>
                    <a:pt x="28575" y="0"/>
                  </a:moveTo>
                  <a:lnTo>
                    <a:pt x="3495675" y="0"/>
                  </a:lnTo>
                  <a:cubicBezTo>
                    <a:pt x="3511457" y="0"/>
                    <a:pt x="3524250" y="12793"/>
                    <a:pt x="3524250" y="28575"/>
                  </a:cubicBezTo>
                  <a:lnTo>
                    <a:pt x="3524250" y="28575"/>
                  </a:lnTo>
                  <a:cubicBezTo>
                    <a:pt x="3524250" y="44357"/>
                    <a:pt x="3511457" y="57150"/>
                    <a:pt x="3495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42589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0105" y="1711642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计量单位即定价权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2029778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谁定义计量单位，谁就掌握定价权。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3915" y="2248852"/>
              <a:ext cx="2464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MiniMax从Prompt转Token、Kimi从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2439352"/>
              <a:ext cx="25186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Prompt转Token，都在争夺定义权。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857250" y="2905125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33350" y="0"/>
                  </a:moveTo>
                  <a:lnTo>
                    <a:pt x="1009650" y="0"/>
                  </a:lnTo>
                  <a:cubicBezTo>
                    <a:pt x="1083297" y="0"/>
                    <a:pt x="1143000" y="59703"/>
                    <a:pt x="1143000" y="133350"/>
                  </a:cubicBezTo>
                  <a:lnTo>
                    <a:pt x="1143000" y="133350"/>
                  </a:lnTo>
                  <a:cubicBezTo>
                    <a:pt x="1143000" y="206997"/>
                    <a:pt x="1083297" y="266700"/>
                    <a:pt x="1009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97757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3331" y="2988945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模糊→透明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286250" y="1190625"/>
              <a:ext cx="3524250" cy="2286000"/>
            </a:xfrm>
            <a:custGeom>
              <a:avLst/>
              <a:gdLst/>
              <a:ahLst/>
              <a:cxnLst/>
              <a:rect l="l" t="t" r="r" b="b"/>
              <a:pathLst>
                <a:path w="3524250" h="2286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2171700"/>
                  </a:lnTo>
                  <a:cubicBezTo>
                    <a:pt x="3524250" y="2234826"/>
                    <a:pt x="3473076" y="2286000"/>
                    <a:pt x="340995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86250" y="1190625"/>
              <a:ext cx="3524250" cy="57150"/>
            </a:xfrm>
            <a:custGeom>
              <a:avLst/>
              <a:gdLst/>
              <a:ahLst/>
              <a:cxnLst/>
              <a:rect l="l" t="t" r="r" b="b"/>
              <a:pathLst>
                <a:path w="3524250" h="57150">
                  <a:moveTo>
                    <a:pt x="28575" y="0"/>
                  </a:moveTo>
                  <a:lnTo>
                    <a:pt x="3495675" y="0"/>
                  </a:lnTo>
                  <a:cubicBezTo>
                    <a:pt x="3511457" y="0"/>
                    <a:pt x="3524250" y="12793"/>
                    <a:pt x="3524250" y="28575"/>
                  </a:cubicBezTo>
                  <a:lnTo>
                    <a:pt x="3524250" y="28575"/>
                  </a:lnTo>
                  <a:cubicBezTo>
                    <a:pt x="3524250" y="44357"/>
                    <a:pt x="3511457" y="57150"/>
                    <a:pt x="3495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4855" y="1425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4855" y="1711642"/>
              <a:ext cx="15041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补贴-收紧-分层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58665" y="202977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所有互联网赛道定价都走这三步。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58665" y="22488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先补贴跑量，再收紧测试弹性，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8665" y="24393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最后精细分层最大化利润。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572000" y="2905125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33350" y="0"/>
                  </a:moveTo>
                  <a:lnTo>
                    <a:pt x="1009650" y="0"/>
                  </a:lnTo>
                  <a:cubicBezTo>
                    <a:pt x="1083297" y="0"/>
                    <a:pt x="1143000" y="59703"/>
                    <a:pt x="1143000" y="133350"/>
                  </a:cubicBezTo>
                  <a:lnTo>
                    <a:pt x="1143000" y="133350"/>
                  </a:lnTo>
                  <a:cubicBezTo>
                    <a:pt x="1143000" y="206997"/>
                    <a:pt x="1083297" y="266700"/>
                    <a:pt x="1009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90D9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87027" y="29889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经典三段式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01000" y="1190625"/>
              <a:ext cx="3619500" cy="2286000"/>
            </a:xfrm>
            <a:custGeom>
              <a:avLst/>
              <a:gdLst/>
              <a:ahLst/>
              <a:cxnLst/>
              <a:rect l="l" t="t" r="r" b="b"/>
              <a:pathLst>
                <a:path w="3619500" h="2286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2171700"/>
                  </a:lnTo>
                  <a:cubicBezTo>
                    <a:pt x="3619500" y="2234826"/>
                    <a:pt x="3568326" y="2286000"/>
                    <a:pt x="3505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001000" y="1190625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9605" y="1425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9605" y="17116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入口到生态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73415" y="2029778"/>
              <a:ext cx="2756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Coding是获客入口，Token是生态载体。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73415" y="22488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用编程高频刚需获客，用多媒体低频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3415" y="243935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高价值场景提高ARPU。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286750" y="2905125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133350" y="0"/>
                  </a:moveTo>
                  <a:lnTo>
                    <a:pt x="1009650" y="0"/>
                  </a:lnTo>
                  <a:cubicBezTo>
                    <a:pt x="1083297" y="0"/>
                    <a:pt x="1143000" y="59703"/>
                    <a:pt x="1143000" y="133350"/>
                  </a:cubicBezTo>
                  <a:lnTo>
                    <a:pt x="1143000" y="133350"/>
                  </a:lnTo>
                  <a:cubicBezTo>
                    <a:pt x="1143000" y="206997"/>
                    <a:pt x="1083297" y="266700"/>
                    <a:pt x="1009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0B981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32831" y="2988945"/>
              <a:ext cx="6508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工具→生态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71500" y="3667125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171700"/>
                  </a:lnTo>
                  <a:cubicBezTo>
                    <a:pt x="5334000" y="2234826"/>
                    <a:pt x="5282826" y="2286000"/>
                    <a:pt x="52197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71500" y="3667125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0105" y="39023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0105" y="418814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国内外定价逻辑根本差异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3915" y="4506278"/>
              <a:ext cx="2564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国内：7家同池打价格战，比谁更便宜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3915" y="4744402"/>
              <a:ext cx="34540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海外：面对Claude/GPT三巨头，需要证明"我不差"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3915" y="4982528"/>
              <a:ext cx="37071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同一产品两套价格体系的合理性来源于竞争环境差异。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096000" y="3667125"/>
              <a:ext cx="5524500" cy="2286000"/>
            </a:xfrm>
            <a:custGeom>
              <a:avLst/>
              <a:gdLst/>
              <a:ahLst/>
              <a:cxnLst/>
              <a:rect l="l" t="t" r="r" b="b"/>
              <a:pathLst>
                <a:path w="5524500" h="22860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2171700"/>
                  </a:lnTo>
                  <a:cubicBezTo>
                    <a:pt x="5524500" y="2234826"/>
                    <a:pt x="5473326" y="2286000"/>
                    <a:pt x="5410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096000" y="3667125"/>
              <a:ext cx="5524500" cy="57150"/>
            </a:xfrm>
            <a:custGeom>
              <a:avLst/>
              <a:gdLst/>
              <a:ahLst/>
              <a:cxnLst/>
              <a:rect l="l" t="t" r="r" b="b"/>
              <a:pathLst>
                <a:path w="5524500" h="57150">
                  <a:moveTo>
                    <a:pt x="28575" y="0"/>
                  </a:moveTo>
                  <a:lnTo>
                    <a:pt x="5495925" y="0"/>
                  </a:lnTo>
                  <a:cubicBezTo>
                    <a:pt x="5511707" y="0"/>
                    <a:pt x="5524500" y="12793"/>
                    <a:pt x="5524500" y="28575"/>
                  </a:cubicBezTo>
                  <a:lnTo>
                    <a:pt x="5524500" y="28575"/>
                  </a:lnTo>
                  <a:cubicBezTo>
                    <a:pt x="5524500" y="44357"/>
                    <a:pt x="5511707" y="57150"/>
                    <a:pt x="5495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64605" y="39023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64605" y="4188142"/>
              <a:ext cx="25289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Agent 时代成本不可逆增长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68415" y="4506278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70% coding agent token 是浪费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8415" y="4744402"/>
              <a:ext cx="343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一个开发者8个月消耗100亿Token，API价$15,000+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68415" y="4982528"/>
              <a:ext cx="35001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实际账单是标价的2-5倍，订阅费是地板不是天花板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3498202" y="6165056"/>
            <a:ext cx="51955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这些规律不仅适用于AI定价，也适用于所有"算力即服务"的商业模式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864138" y="660177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 / 15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199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COST STRUCTURE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678180"/>
            <a:ext cx="58661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Agent 场景下，订阅费是地板不是天花板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66800"/>
            <a:ext cx="10477500" cy="304800"/>
          </a:xfrm>
          <a:custGeom>
            <a:avLst/>
            <a:gdLst/>
            <a:ahLst/>
            <a:cxnLst/>
            <a:rect l="l" t="t" r="r" b="b"/>
            <a:pathLst>
              <a:path w="10477500" h="304800">
                <a:moveTo>
                  <a:pt x="57150" y="0"/>
                </a:moveTo>
                <a:lnTo>
                  <a:pt x="10420350" y="0"/>
                </a:lnTo>
                <a:cubicBezTo>
                  <a:pt x="10451913" y="0"/>
                  <a:pt x="10477500" y="25587"/>
                  <a:pt x="10477500" y="57150"/>
                </a:cubicBezTo>
                <a:lnTo>
                  <a:pt x="10477500" y="247650"/>
                </a:lnTo>
                <a:cubicBezTo>
                  <a:pt x="10477500" y="279213"/>
                  <a:pt x="10451913" y="304800"/>
                  <a:pt x="104203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4444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30157" y="1163002"/>
            <a:ext cx="21601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实际账单往往是标价的 2-5 倍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552450" y="1619250"/>
            <a:ext cx="11068050" cy="3810000"/>
            <a:chOff x="552450" y="1619250"/>
            <a:chExt cx="11068050" cy="3810000"/>
          </a:xfrm>
        </p:grpSpPr>
        <p:sp>
          <p:nvSpPr>
            <p:cNvPr id="8" name="Freeform 8"/>
            <p:cNvSpPr/>
            <p:nvPr/>
          </p:nvSpPr>
          <p:spPr>
            <a:xfrm>
              <a:off x="571500" y="1619250"/>
              <a:ext cx="1714500" cy="1143000"/>
            </a:xfrm>
            <a:custGeom>
              <a:avLst/>
              <a:gdLst/>
              <a:ahLst/>
              <a:cxnLst/>
              <a:rect l="l" t="t" r="r" b="b"/>
              <a:pathLst>
                <a:path w="1714500" h="1143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1047750"/>
                  </a:lnTo>
                  <a:cubicBezTo>
                    <a:pt x="1714500" y="1100355"/>
                    <a:pt x="1671855" y="1143000"/>
                    <a:pt x="1619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2410" y="1847374"/>
              <a:ext cx="672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8个月消耗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7598" y="2042160"/>
              <a:ext cx="106230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100亿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0569" y="246649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476500" y="1619250"/>
              <a:ext cx="1714500" cy="1143000"/>
            </a:xfrm>
            <a:custGeom>
              <a:avLst/>
              <a:gdLst/>
              <a:ahLst/>
              <a:cxnLst/>
              <a:rect l="l" t="t" r="r" b="b"/>
              <a:pathLst>
                <a:path w="1714500" h="1143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1047750"/>
                  </a:lnTo>
                  <a:cubicBezTo>
                    <a:pt x="1714500" y="1100355"/>
                    <a:pt x="1671855" y="1143000"/>
                    <a:pt x="1619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57930" y="1847374"/>
              <a:ext cx="5516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API 价格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81895" y="2042160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$15K+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3889" y="246649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USD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381500" y="1619250"/>
              <a:ext cx="1714500" cy="1143000"/>
            </a:xfrm>
            <a:custGeom>
              <a:avLst/>
              <a:gdLst/>
              <a:ahLst/>
              <a:cxnLst/>
              <a:rect l="l" t="t" r="r" b="b"/>
              <a:pathLst>
                <a:path w="1714500" h="1143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1047750"/>
                  </a:lnTo>
                  <a:cubicBezTo>
                    <a:pt x="1714500" y="1100355"/>
                    <a:pt x="1671855" y="1143000"/>
                    <a:pt x="1619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70692" y="1847374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Max Plan 花费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9003" y="2042160"/>
              <a:ext cx="979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$800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16329" y="2466499"/>
              <a:ext cx="444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省 93%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286500" y="1619250"/>
              <a:ext cx="1714500" cy="1143000"/>
            </a:xfrm>
            <a:custGeom>
              <a:avLst/>
              <a:gdLst/>
              <a:ahLst/>
              <a:cxnLst/>
              <a:rect l="l" t="t" r="r" b="b"/>
              <a:pathLst>
                <a:path w="1714500" h="1143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1047750"/>
                  </a:lnTo>
                  <a:cubicBezTo>
                    <a:pt x="1714500" y="1100355"/>
                    <a:pt x="1671855" y="1143000"/>
                    <a:pt x="1619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00611" y="1847374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Token 浪费率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7867" y="2042160"/>
              <a:ext cx="7517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70%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9412" y="2466499"/>
              <a:ext cx="10286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DEV Community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191500" y="1619250"/>
              <a:ext cx="1714500" cy="1143000"/>
            </a:xfrm>
            <a:custGeom>
              <a:avLst/>
              <a:gdLst/>
              <a:ahLst/>
              <a:cxnLst/>
              <a:rect l="l" t="t" r="r" b="b"/>
              <a:pathLst>
                <a:path w="1714500" h="1143000">
                  <a:moveTo>
                    <a:pt x="95250" y="0"/>
                  </a:moveTo>
                  <a:lnTo>
                    <a:pt x="1619250" y="0"/>
                  </a:lnTo>
                  <a:cubicBezTo>
                    <a:pt x="1671855" y="0"/>
                    <a:pt x="1714500" y="42645"/>
                    <a:pt x="1714500" y="95250"/>
                  </a:cubicBezTo>
                  <a:lnTo>
                    <a:pt x="1714500" y="1047750"/>
                  </a:lnTo>
                  <a:cubicBezTo>
                    <a:pt x="1714500" y="1100355"/>
                    <a:pt x="1671855" y="1143000"/>
                    <a:pt x="1619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51570" y="18473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超支案例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59003" y="2042160"/>
              <a:ext cx="97949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$350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95252" y="2466499"/>
              <a:ext cx="11069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Cursor 一周超支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2450" y="2981325"/>
              <a:ext cx="28904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Agent 场景 Token 消耗构成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71500" y="3333750"/>
              <a:ext cx="11049000" cy="2095500"/>
            </a:xfrm>
            <a:custGeom>
              <a:avLst/>
              <a:gdLst/>
              <a:ahLst/>
              <a:cxnLst/>
              <a:rect l="l" t="t" r="r" b="b"/>
              <a:pathLst>
                <a:path w="11049000" h="20955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981200"/>
                  </a:lnTo>
                  <a:cubicBezTo>
                    <a:pt x="11049000" y="2044326"/>
                    <a:pt x="10997826" y="2095500"/>
                    <a:pt x="10934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39165" y="3543300"/>
              <a:ext cx="7130286" cy="1576388"/>
              <a:chOff x="939165" y="3543300"/>
              <a:chExt cx="7130286" cy="1576388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939165" y="35537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文件读取</a:t>
                </a:r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1905000" y="3543300"/>
                <a:ext cx="5524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190500">
                    <a:moveTo>
                      <a:pt x="38100" y="0"/>
                    </a:moveTo>
                    <a:lnTo>
                      <a:pt x="5486400" y="0"/>
                    </a:lnTo>
                    <a:cubicBezTo>
                      <a:pt x="5507442" y="0"/>
                      <a:pt x="5524500" y="17058"/>
                      <a:pt x="5524500" y="38100"/>
                    </a:cubicBezTo>
                    <a:lnTo>
                      <a:pt x="5524500" y="152400"/>
                    </a:lnTo>
                    <a:cubicBezTo>
                      <a:pt x="5524500" y="173442"/>
                      <a:pt x="5507442" y="190500"/>
                      <a:pt x="54864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D97757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11415" y="3572828"/>
                <a:ext cx="5580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97757"/>
                    </a:solidFill>
                    <a:latin typeface="Arial"/>
                    <a:ea typeface="Microsoft YaHei"/>
                    <a:cs typeface="Arial"/>
                  </a:rPr>
                  <a:t>35-45%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9165" y="38871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工具输出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905000" y="3876675"/>
                <a:ext cx="2952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190500">
                    <a:moveTo>
                      <a:pt x="38100" y="0"/>
                    </a:moveTo>
                    <a:lnTo>
                      <a:pt x="2914650" y="0"/>
                    </a:lnTo>
                    <a:cubicBezTo>
                      <a:pt x="2935692" y="0"/>
                      <a:pt x="2952750" y="17058"/>
                      <a:pt x="2952750" y="38100"/>
                    </a:cubicBezTo>
                    <a:lnTo>
                      <a:pt x="2952750" y="152400"/>
                    </a:lnTo>
                    <a:cubicBezTo>
                      <a:pt x="2952750" y="173442"/>
                      <a:pt x="2935692" y="190500"/>
                      <a:pt x="291465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4A90D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939665" y="3906202"/>
                <a:ext cx="5177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4A90D9"/>
                    </a:solidFill>
                    <a:latin typeface="Arial"/>
                    <a:ea typeface="Microsoft YaHei"/>
                    <a:cs typeface="Arial"/>
                  </a:rPr>
                  <a:t>15-25%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39165" y="4220528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上下文重发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1905000" y="4210050"/>
                <a:ext cx="2667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190500">
                    <a:moveTo>
                      <a:pt x="38100" y="0"/>
                    </a:moveTo>
                    <a:lnTo>
                      <a:pt x="2628900" y="0"/>
                    </a:lnTo>
                    <a:cubicBezTo>
                      <a:pt x="2649942" y="0"/>
                      <a:pt x="2667000" y="17058"/>
                      <a:pt x="2667000" y="38100"/>
                    </a:cubicBezTo>
                    <a:lnTo>
                      <a:pt x="2667000" y="152400"/>
                    </a:lnTo>
                    <a:cubicBezTo>
                      <a:pt x="2667000" y="173442"/>
                      <a:pt x="2649942" y="190500"/>
                      <a:pt x="26289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53915" y="4239578"/>
                <a:ext cx="5177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15-20%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39165" y="45539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推理计算</a:t>
                </a:r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1905000" y="4543425"/>
                <a:ext cx="1714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190500">
                    <a:moveTo>
                      <a:pt x="38100" y="0"/>
                    </a:moveTo>
                    <a:lnTo>
                      <a:pt x="1676400" y="0"/>
                    </a:lnTo>
                    <a:cubicBezTo>
                      <a:pt x="1697442" y="0"/>
                      <a:pt x="1714500" y="17058"/>
                      <a:pt x="1714500" y="38100"/>
                    </a:cubicBezTo>
                    <a:lnTo>
                      <a:pt x="1714500" y="152400"/>
                    </a:lnTo>
                    <a:cubicBezTo>
                      <a:pt x="1714500" y="173442"/>
                      <a:pt x="1697442" y="190500"/>
                      <a:pt x="16764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701415" y="4572952"/>
                <a:ext cx="4775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10-15%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39165" y="4887278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代码生成</a:t>
                </a: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1905000" y="4876800"/>
                <a:ext cx="952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190500">
                    <a:moveTo>
                      <a:pt x="38100" y="0"/>
                    </a:moveTo>
                    <a:lnTo>
                      <a:pt x="914400" y="0"/>
                    </a:lnTo>
                    <a:cubicBezTo>
                      <a:pt x="935442" y="0"/>
                      <a:pt x="952500" y="17058"/>
                      <a:pt x="952500" y="38100"/>
                    </a:cubicBezTo>
                    <a:lnTo>
                      <a:pt x="952500" y="152400"/>
                    </a:lnTo>
                    <a:cubicBezTo>
                      <a:pt x="952500" y="173442"/>
                      <a:pt x="935442" y="190500"/>
                      <a:pt x="914400" y="190500"/>
                    </a:cubicBez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2939415" y="4906328"/>
                <a:ext cx="4292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5-15%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8083868" y="3514249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仅 5-15% 用于代码生成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83868" y="3752374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85-95% 是 Agent 上下文开销</a:t>
              </a:r>
            </a:p>
          </p:txBody>
        </p:sp>
      </p:grpSp>
      <p:sp>
        <p:nvSpPr>
          <p:cNvPr id="49" name="Freeform 49"/>
          <p:cNvSpPr/>
          <p:nvPr/>
        </p:nvSpPr>
        <p:spPr>
          <a:xfrm>
            <a:off x="571500" y="5715000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428625"/>
                </a:lnTo>
                <a:cubicBezTo>
                  <a:pt x="11049000" y="481230"/>
                  <a:pt x="11006355" y="523875"/>
                  <a:pt x="10953750" y="523875"/>
                </a:cubicBezTo>
                <a:lnTo>
                  <a:pt x="95250" y="523875"/>
                </a:lnTo>
                <a:cubicBezTo>
                  <a:pt x="42645" y="523875"/>
                  <a:pt x="0" y="481230"/>
                  <a:pt x="0" y="42862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3915" y="5839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含义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4868" y="6038374"/>
            <a:ext cx="81058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Agent 时代，用户成本会指数级增长。定价模式必须适应这个现实。Cursor 2025-06 转 credit-based 引发退款风波就是证明。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070" y="6427470"/>
            <a:ext cx="39596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数据来源：DEV Community 研究、Cursor 官方公告、用户社区报告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864138" y="660177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13 / 15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10528"/>
            <a:ext cx="10848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FUTURE TRENDS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678180"/>
            <a:ext cx="35957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2E"/>
                </a:solidFill>
                <a:latin typeface="Arial"/>
                <a:ea typeface="Microsoft YaHei"/>
                <a:cs typeface="Arial"/>
              </a:rPr>
              <a:t>四大趋势预判与核心结论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71500" y="1190625"/>
            <a:ext cx="11049000" cy="4869656"/>
            <a:chOff x="571500" y="1190625"/>
            <a:chExt cx="11049000" cy="4869656"/>
          </a:xfrm>
        </p:grpSpPr>
        <p:sp>
          <p:nvSpPr>
            <p:cNvPr id="6" name="Freeform 6"/>
            <p:cNvSpPr/>
            <p:nvPr/>
          </p:nvSpPr>
          <p:spPr>
            <a:xfrm>
              <a:off x="571500" y="1190625"/>
              <a:ext cx="5429250" cy="1714500"/>
            </a:xfrm>
            <a:custGeom>
              <a:avLst/>
              <a:gdLst/>
              <a:ahLst/>
              <a:cxnLst/>
              <a:rect l="l" t="t" r="r" b="b"/>
              <a:pathLst>
                <a:path w="5429250" h="1714500">
                  <a:moveTo>
                    <a:pt x="114300" y="0"/>
                  </a:moveTo>
                  <a:lnTo>
                    <a:pt x="5314950" y="0"/>
                  </a:lnTo>
                  <a:cubicBezTo>
                    <a:pt x="5378076" y="0"/>
                    <a:pt x="5429250" y="51174"/>
                    <a:pt x="5429250" y="114300"/>
                  </a:cubicBezTo>
                  <a:lnTo>
                    <a:pt x="5429250" y="1600200"/>
                  </a:lnTo>
                  <a:cubicBezTo>
                    <a:pt x="5429250" y="1663326"/>
                    <a:pt x="5378076" y="1714500"/>
                    <a:pt x="53149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4A90D9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190625"/>
              <a:ext cx="5429250" cy="57150"/>
            </a:xfrm>
            <a:custGeom>
              <a:avLst/>
              <a:gdLst/>
              <a:ahLst/>
              <a:cxnLst/>
              <a:rect l="l" t="t" r="r" b="b"/>
              <a:pathLst>
                <a:path w="5429250" h="57150">
                  <a:moveTo>
                    <a:pt x="28575" y="0"/>
                  </a:moveTo>
                  <a:lnTo>
                    <a:pt x="5400675" y="0"/>
                  </a:lnTo>
                  <a:cubicBezTo>
                    <a:pt x="5416457" y="0"/>
                    <a:pt x="5429250" y="12793"/>
                    <a:pt x="5429250" y="28575"/>
                  </a:cubicBezTo>
                  <a:lnTo>
                    <a:pt x="5429250" y="28575"/>
                  </a:lnTo>
                  <a:cubicBezTo>
                    <a:pt x="5429250" y="44357"/>
                    <a:pt x="5416457" y="57150"/>
                    <a:pt x="5400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8200" y="140970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趋势一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058" y="1719739"/>
              <a:ext cx="19974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Token 成本将持续下降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3915" y="2029778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国产芯片放量（华为950年内75万片）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3915" y="2248852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DeepSeek V4 MoE效率革命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2467928"/>
              <a:ext cx="2625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推理芯片竞争（NVIDIA/Google/华为）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857250" y="2714625"/>
              <a:ext cx="1524000" cy="95250"/>
            </a:xfrm>
            <a:custGeom>
              <a:avLst/>
              <a:gdLst/>
              <a:ahLst/>
              <a:cxnLst/>
              <a:rect l="l" t="t" r="r" b="b"/>
              <a:pathLst>
                <a:path w="1524000" h="95250">
                  <a:moveTo>
                    <a:pt x="47625" y="0"/>
                  </a:moveTo>
                  <a:lnTo>
                    <a:pt x="1476375" y="0"/>
                  </a:lnTo>
                  <a:cubicBezTo>
                    <a:pt x="1502678" y="0"/>
                    <a:pt x="1524000" y="21322"/>
                    <a:pt x="1524000" y="47625"/>
                  </a:cubicBezTo>
                  <a:lnTo>
                    <a:pt x="1524000" y="47625"/>
                  </a:lnTo>
                  <a:cubicBezTo>
                    <a:pt x="1524000" y="73928"/>
                    <a:pt x="1502678" y="95250"/>
                    <a:pt x="14763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4A90D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64118" y="26950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利润来自服务溢价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191250" y="1190625"/>
              <a:ext cx="5429250" cy="1714500"/>
            </a:xfrm>
            <a:custGeom>
              <a:avLst/>
              <a:gdLst/>
              <a:ahLst/>
              <a:cxnLst/>
              <a:rect l="l" t="t" r="r" b="b"/>
              <a:pathLst>
                <a:path w="5429250" h="1714500">
                  <a:moveTo>
                    <a:pt x="114300" y="0"/>
                  </a:moveTo>
                  <a:lnTo>
                    <a:pt x="5314950" y="0"/>
                  </a:lnTo>
                  <a:cubicBezTo>
                    <a:pt x="5378076" y="0"/>
                    <a:pt x="5429250" y="51174"/>
                    <a:pt x="5429250" y="114300"/>
                  </a:cubicBezTo>
                  <a:lnTo>
                    <a:pt x="5429250" y="1600200"/>
                  </a:lnTo>
                  <a:cubicBezTo>
                    <a:pt x="5429250" y="1663326"/>
                    <a:pt x="5378076" y="1714500"/>
                    <a:pt x="53149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191250" y="1190625"/>
              <a:ext cx="5429250" cy="57150"/>
            </a:xfrm>
            <a:custGeom>
              <a:avLst/>
              <a:gdLst/>
              <a:ahLst/>
              <a:cxnLst/>
              <a:rect l="l" t="t" r="r" b="b"/>
              <a:pathLst>
                <a:path w="5429250" h="57150">
                  <a:moveTo>
                    <a:pt x="28575" y="0"/>
                  </a:moveTo>
                  <a:lnTo>
                    <a:pt x="5400675" y="0"/>
                  </a:lnTo>
                  <a:cubicBezTo>
                    <a:pt x="5416457" y="0"/>
                    <a:pt x="5429250" y="12793"/>
                    <a:pt x="5429250" y="28575"/>
                  </a:cubicBezTo>
                  <a:lnTo>
                    <a:pt x="5429250" y="28575"/>
                  </a:lnTo>
                  <a:cubicBezTo>
                    <a:pt x="5429250" y="44357"/>
                    <a:pt x="5416457" y="57150"/>
                    <a:pt x="5400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57950" y="140970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趋势二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0808" y="1719739"/>
              <a:ext cx="15965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国产芯片替代加速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3665" y="2029778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英伟达市占率 66%→54%→50%以下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3665" y="2248852"/>
              <a:ext cx="20355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华为+寒武纪+平头哥算力三角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3665" y="2467928"/>
              <a:ext cx="18055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CUDA→CANN迁移效率超90%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477000" y="2714625"/>
              <a:ext cx="1714500" cy="95250"/>
            </a:xfrm>
            <a:custGeom>
              <a:avLst/>
              <a:gdLst/>
              <a:ahLst/>
              <a:cxnLst/>
              <a:rect l="l" t="t" r="r" b="b"/>
              <a:pathLst>
                <a:path w="1714500" h="95250">
                  <a:moveTo>
                    <a:pt x="47625" y="0"/>
                  </a:moveTo>
                  <a:lnTo>
                    <a:pt x="1666875" y="0"/>
                  </a:lnTo>
                  <a:cubicBezTo>
                    <a:pt x="1693178" y="0"/>
                    <a:pt x="1714500" y="21322"/>
                    <a:pt x="1714500" y="47625"/>
                  </a:cubicBezTo>
                  <a:lnTo>
                    <a:pt x="1714500" y="47625"/>
                  </a:lnTo>
                  <a:cubicBezTo>
                    <a:pt x="1714500" y="73928"/>
                    <a:pt x="1693178" y="95250"/>
                    <a:pt x="16668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4368" y="26950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定价策略可更激进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1500" y="3095625"/>
              <a:ext cx="5429250" cy="1714500"/>
            </a:xfrm>
            <a:custGeom>
              <a:avLst/>
              <a:gdLst/>
              <a:ahLst/>
              <a:cxnLst/>
              <a:rect l="l" t="t" r="r" b="b"/>
              <a:pathLst>
                <a:path w="5429250" h="1714500">
                  <a:moveTo>
                    <a:pt x="114300" y="0"/>
                  </a:moveTo>
                  <a:lnTo>
                    <a:pt x="5314950" y="0"/>
                  </a:lnTo>
                  <a:cubicBezTo>
                    <a:pt x="5378076" y="0"/>
                    <a:pt x="5429250" y="51174"/>
                    <a:pt x="5429250" y="114300"/>
                  </a:cubicBezTo>
                  <a:lnTo>
                    <a:pt x="5429250" y="1600200"/>
                  </a:lnTo>
                  <a:cubicBezTo>
                    <a:pt x="5429250" y="1663326"/>
                    <a:pt x="5378076" y="1714500"/>
                    <a:pt x="53149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D9775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71500" y="3095625"/>
              <a:ext cx="5429250" cy="57150"/>
            </a:xfrm>
            <a:custGeom>
              <a:avLst/>
              <a:gdLst/>
              <a:ahLst/>
              <a:cxnLst/>
              <a:rect l="l" t="t" r="r" b="b"/>
              <a:pathLst>
                <a:path w="5429250" h="57150">
                  <a:moveTo>
                    <a:pt x="28575" y="0"/>
                  </a:moveTo>
                  <a:lnTo>
                    <a:pt x="5400675" y="0"/>
                  </a:lnTo>
                  <a:cubicBezTo>
                    <a:pt x="5416457" y="0"/>
                    <a:pt x="5429250" y="12793"/>
                    <a:pt x="5429250" y="28575"/>
                  </a:cubicBezTo>
                  <a:lnTo>
                    <a:pt x="5429250" y="28575"/>
                  </a:lnTo>
                  <a:cubicBezTo>
                    <a:pt x="5429250" y="44357"/>
                    <a:pt x="5416457" y="57150"/>
                    <a:pt x="5400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9775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8200" y="331470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趋势三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058" y="3624739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开源模型重塑定价权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915" y="3934778"/>
              <a:ext cx="28636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DeepSeek模式：开源+极致低价+不卖订阅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915" y="4153852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V3.2在OpenRouter月调用5.35万亿token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915" y="4372928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开源模型的免费部署能力压制定价上限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191250" y="3095625"/>
              <a:ext cx="5429250" cy="1714500"/>
            </a:xfrm>
            <a:custGeom>
              <a:avLst/>
              <a:gdLst/>
              <a:ahLst/>
              <a:cxnLst/>
              <a:rect l="l" t="t" r="r" b="b"/>
              <a:pathLst>
                <a:path w="5429250" h="1714500">
                  <a:moveTo>
                    <a:pt x="114300" y="0"/>
                  </a:moveTo>
                  <a:lnTo>
                    <a:pt x="5314950" y="0"/>
                  </a:lnTo>
                  <a:cubicBezTo>
                    <a:pt x="5378076" y="0"/>
                    <a:pt x="5429250" y="51174"/>
                    <a:pt x="5429250" y="114300"/>
                  </a:cubicBezTo>
                  <a:lnTo>
                    <a:pt x="5429250" y="1600200"/>
                  </a:lnTo>
                  <a:cubicBezTo>
                    <a:pt x="5429250" y="1663326"/>
                    <a:pt x="5378076" y="1714500"/>
                    <a:pt x="531495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AFC"/>
            </a:solidFill>
            <a:ln w="9525">
              <a:solidFill>
                <a:srgbClr val="EF444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191250" y="3095625"/>
              <a:ext cx="5429250" cy="57150"/>
            </a:xfrm>
            <a:custGeom>
              <a:avLst/>
              <a:gdLst/>
              <a:ahLst/>
              <a:cxnLst/>
              <a:rect l="l" t="t" r="r" b="b"/>
              <a:pathLst>
                <a:path w="5429250" h="57150">
                  <a:moveTo>
                    <a:pt x="28575" y="0"/>
                  </a:moveTo>
                  <a:lnTo>
                    <a:pt x="5400675" y="0"/>
                  </a:lnTo>
                  <a:cubicBezTo>
                    <a:pt x="5416457" y="0"/>
                    <a:pt x="5429250" y="12793"/>
                    <a:pt x="5429250" y="28575"/>
                  </a:cubicBezTo>
                  <a:lnTo>
                    <a:pt x="5429250" y="28575"/>
                  </a:lnTo>
                  <a:cubicBezTo>
                    <a:pt x="5429250" y="44357"/>
                    <a:pt x="5416457" y="57150"/>
                    <a:pt x="5400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7950" y="3314700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趋势四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808" y="3624739"/>
              <a:ext cx="23297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Agent成本指数增长不可逆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3665" y="3934778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推理需求2026年已达训练的4-5倍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3665" y="4153852"/>
              <a:ext cx="25186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IDC预测2028年推理工作负载占比73%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3665" y="4372928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不限量模式不可持续，必须精细计量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71500" y="5095875"/>
              <a:ext cx="11049000" cy="952500"/>
            </a:xfrm>
            <a:custGeom>
              <a:avLst/>
              <a:gdLst/>
              <a:ahLst/>
              <a:cxnLst/>
              <a:rect l="l" t="t" r="r" b="b"/>
              <a:pathLst>
                <a:path w="11049000" h="95250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819150"/>
                  </a:lnTo>
                  <a:cubicBezTo>
                    <a:pt x="11049000" y="892797"/>
                    <a:pt x="10989297" y="952500"/>
                    <a:pt x="109156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1A1A2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664803" y="5283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7757"/>
                  </a:solidFill>
                  <a:latin typeface="Arial"/>
                  <a:ea typeface="Microsoft YaHei"/>
                  <a:cs typeface="Arial"/>
                </a:rPr>
                <a:t>核心结论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7380" y="5536882"/>
              <a:ext cx="50772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Coding Plan 是过渡产品，Token Plan 是终态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15985" y="5831681"/>
              <a:ext cx="59600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核心学到三件事：计量单位即定价权、补贴-收紧-分层节奏、入口到生态升级路径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864138" y="6601778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50000">
                <a:srgbClr val="16213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2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476250" y="190500"/>
            <a:ext cx="4762500" cy="3429000"/>
          </a:xfrm>
          <a:prstGeom prst="ellipse">
            <a:avLst/>
          </a:prstGeom>
          <a:gradFill>
            <a:gsLst>
              <a:gs pos="0">
                <a:srgbClr val="4A90D9">
                  <a:alpha val="15000"/>
                </a:srgbClr>
              </a:gs>
              <a:gs pos="100000">
                <a:srgbClr val="4A90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6667500" y="2857500"/>
            <a:ext cx="5334000" cy="3810000"/>
          </a:xfrm>
          <a:prstGeom prst="ellipse">
            <a:avLst/>
          </a:prstGeom>
          <a:gradFill>
            <a:gsLst>
              <a:gs pos="0">
                <a:srgbClr val="D97757">
                  <a:alpha val="20000"/>
                </a:srgbClr>
              </a:gs>
              <a:gs pos="100000">
                <a:srgbClr val="D977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428750" y="1111250"/>
            <a:ext cx="9366250" cy="4127500"/>
            <a:chOff x="1428750" y="1111250"/>
            <a:chExt cx="9366250" cy="4127500"/>
          </a:xfrm>
        </p:grpSpPr>
        <p:sp>
          <p:nvSpPr>
            <p:cNvPr id="12" name="Freeform 12"/>
            <p:cNvSpPr/>
            <p:nvPr/>
          </p:nvSpPr>
          <p:spPr>
            <a:xfrm>
              <a:off x="1428750" y="1111250"/>
              <a:ext cx="1905000" cy="603250"/>
            </a:xfrm>
            <a:custGeom>
              <a:avLst/>
              <a:gdLst/>
              <a:ahLst/>
              <a:cxnLst/>
              <a:rect l="l" t="t" r="r" b="b"/>
              <a:pathLst>
                <a:path w="1905000" h="603250">
                  <a:moveTo>
                    <a:pt x="0" y="317500"/>
                  </a:moveTo>
                  <a:cubicBezTo>
                    <a:pt x="635000" y="0"/>
                    <a:pt x="1270000" y="95250"/>
                    <a:pt x="1905000" y="60325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33750" y="1714500"/>
              <a:ext cx="539750" cy="1333500"/>
            </a:xfrm>
            <a:custGeom>
              <a:avLst/>
              <a:gdLst/>
              <a:ahLst/>
              <a:cxnLst/>
              <a:rect l="l" t="t" r="r" b="b"/>
              <a:pathLst>
                <a:path w="539750" h="1333500">
                  <a:moveTo>
                    <a:pt x="0" y="0"/>
                  </a:moveTo>
                  <a:cubicBezTo>
                    <a:pt x="444500" y="444500"/>
                    <a:pt x="539750" y="889000"/>
                    <a:pt x="285750" y="133350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048750" y="3492500"/>
              <a:ext cx="1428750" cy="508000"/>
            </a:xfrm>
            <a:custGeom>
              <a:avLst/>
              <a:gdLst/>
              <a:ahLst/>
              <a:cxnLst/>
              <a:rect l="l" t="t" r="r" b="b"/>
              <a:pathLst>
                <a:path w="1428750" h="508000">
                  <a:moveTo>
                    <a:pt x="0" y="317500"/>
                  </a:moveTo>
                  <a:cubicBezTo>
                    <a:pt x="635000" y="0"/>
                    <a:pt x="1111250" y="63500"/>
                    <a:pt x="1428750" y="50800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87000" y="4000500"/>
              <a:ext cx="508000" cy="1238250"/>
            </a:xfrm>
            <a:custGeom>
              <a:avLst/>
              <a:gdLst/>
              <a:ahLst/>
              <a:cxnLst/>
              <a:rect l="l" t="t" r="r" b="b"/>
              <a:pathLst>
                <a:path w="508000" h="1238250">
                  <a:moveTo>
                    <a:pt x="190500" y="0"/>
                  </a:moveTo>
                  <a:cubicBezTo>
                    <a:pt x="508000" y="508000"/>
                    <a:pt x="444500" y="920750"/>
                    <a:pt x="0" y="1238250"/>
                  </a:cubicBezTo>
                </a:path>
              </a:pathLst>
            </a:custGeom>
            <a:noFill/>
            <a:ln w="9525">
              <a:solidFill>
                <a:srgbClr val="4A90D9">
                  <a:alpha val="30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381125" y="1381125"/>
            <a:ext cx="2276475" cy="1704975"/>
            <a:chOff x="1381125" y="1381125"/>
            <a:chExt cx="2276475" cy="1704975"/>
          </a:xfrm>
        </p:grpSpPr>
        <p:sp>
          <p:nvSpPr>
            <p:cNvPr id="17" name="Ellipse 17"/>
            <p:cNvSpPr/>
            <p:nvPr/>
          </p:nvSpPr>
          <p:spPr>
            <a:xfrm>
              <a:off x="1381125" y="1381125"/>
              <a:ext cx="95250" cy="9525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267075" y="1647825"/>
              <a:ext cx="133350" cy="13335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581400" y="3009900"/>
              <a:ext cx="76200" cy="76200"/>
            </a:xfrm>
            <a:prstGeom prst="ellipse">
              <a:avLst/>
            </a:prstGeom>
            <a:solidFill>
              <a:srgbClr val="4A90D9">
                <a:alpha val="50000"/>
              </a:srgbClr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8991600" y="3752850"/>
            <a:ext cx="1562100" cy="1533525"/>
            <a:chOff x="8991600" y="3752850"/>
            <a:chExt cx="1562100" cy="1533525"/>
          </a:xfrm>
        </p:grpSpPr>
        <p:sp>
          <p:nvSpPr>
            <p:cNvPr id="21" name="Ellipse 21"/>
            <p:cNvSpPr/>
            <p:nvPr/>
          </p:nvSpPr>
          <p:spPr>
            <a:xfrm>
              <a:off x="8991600" y="3752850"/>
              <a:ext cx="114300" cy="11430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01300" y="3924300"/>
              <a:ext cx="152400" cy="15240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239375" y="5191125"/>
              <a:ext cx="95250" cy="95250"/>
            </a:xfrm>
            <a:prstGeom prst="ellipse">
              <a:avLst/>
            </a:prstGeom>
            <a:solidFill>
              <a:srgbClr val="D97757">
                <a:alpha val="60000"/>
              </a:srgbClr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651373" y="2156460"/>
            <a:ext cx="8892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7757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48395" y="2531745"/>
            <a:ext cx="1295210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</a:t>
            </a:r>
          </a:p>
        </p:txBody>
      </p:sp>
      <p:sp>
        <p:nvSpPr>
          <p:cNvPr id="27" name="Freeform 27"/>
          <p:cNvSpPr/>
          <p:nvPr/>
        </p:nvSpPr>
        <p:spPr>
          <a:xfrm>
            <a:off x="5143500" y="3333750"/>
            <a:ext cx="1905000" cy="28575"/>
          </a:xfrm>
          <a:custGeom>
            <a:avLst/>
            <a:gdLst/>
            <a:ahLst/>
            <a:cxnLst/>
            <a:rect l="l" t="t" r="r" b="b"/>
            <a:pathLst>
              <a:path w="1905000" h="28575">
                <a:moveTo>
                  <a:pt x="14288" y="0"/>
                </a:moveTo>
                <a:lnTo>
                  <a:pt x="1890712" y="0"/>
                </a:lnTo>
                <a:cubicBezTo>
                  <a:pt x="1898603" y="0"/>
                  <a:pt x="1905000" y="6397"/>
                  <a:pt x="1905000" y="14288"/>
                </a:cubicBezTo>
                <a:lnTo>
                  <a:pt x="1905000" y="14288"/>
                </a:lnTo>
                <a:cubicBezTo>
                  <a:pt x="1905000" y="22178"/>
                  <a:pt x="1898603" y="28575"/>
                  <a:pt x="1890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D97757"/>
              </a:gs>
              <a:gs pos="100000">
                <a:srgbClr val="E8956F"/>
              </a:gs>
            </a:gsLst>
            <a:lin ang="0" scaled="1"/>
          </a:gra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628787" y="3743325"/>
            <a:ext cx="49344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 val="70000"/>
                  </a:srgbClr>
                </a:solidFill>
                <a:latin typeface="Arial"/>
                <a:ea typeface="Microsoft YaHei"/>
                <a:cs typeface="Arial"/>
              </a:rPr>
              <a:t>计量单位即定价权 — 从 Coding Plan 到 Token Plan</a:t>
            </a:r>
          </a:p>
        </p:txBody>
      </p:sp>
      <p:sp>
        <p:nvSpPr>
          <p:cNvPr id="29" name="Freeform 29"/>
          <p:cNvSpPr/>
          <p:nvPr/>
        </p:nvSpPr>
        <p:spPr>
          <a:xfrm>
            <a:off x="4191000" y="4381500"/>
            <a:ext cx="3810000" cy="1143000"/>
          </a:xfrm>
          <a:custGeom>
            <a:avLst/>
            <a:gdLst/>
            <a:ahLst/>
            <a:cxnLst/>
            <a:rect l="l" t="t" r="r" b="b"/>
            <a:pathLst>
              <a:path w="3810000" h="114300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1028700"/>
                </a:lnTo>
                <a:cubicBezTo>
                  <a:pt x="3810000" y="1091826"/>
                  <a:pt x="3758826" y="1143000"/>
                  <a:pt x="3695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620702" y="46805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核心三件事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6750" y="4953952"/>
            <a:ext cx="39985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 val="65000"/>
                  </a:srgbClr>
                </a:solidFill>
                <a:latin typeface="Arial"/>
                <a:ea typeface="Microsoft YaHei"/>
                <a:cs typeface="Arial"/>
              </a:rPr>
              <a:t>计量单位即定价权 | 补贴-收紧-分层节奏 | 入口到生态升级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92021" y="5209699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2026-04-25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58165" y="63636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基于国内AI大模型厂商定价策略分析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05273" y="6363652"/>
            <a:ext cx="18285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AI Pricing Evolution 2026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
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8F6F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1009650"/>
            <a:ext cx="12192000" cy="952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1038225"/>
            <a:ext cx="12192000" cy="2857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457200" y="123825"/>
            <a:ext cx="800100" cy="800100"/>
          </a:xfrm>
          <a:prstGeom prst="ellipse">
            <a:avLst/>
          </a:prstGeom>
          <a:noFill/>
          <a:ln w="4762">
            <a:solidFill>
              <a:srgbClr val="C9A962">
                <a:alpha val="2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552450" y="219075"/>
            <a:ext cx="609600" cy="609600"/>
          </a:xfrm>
          <a:prstGeom prst="ellipse">
            <a:avLst/>
          </a:prstGeom>
          <a:noFill/>
          <a:ln w="14288">
            <a:solidFill>
              <a:srgbClr val="C9A962">
                <a:alpha val="4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647700" y="314325"/>
            <a:ext cx="419100" cy="419100"/>
          </a:xfrm>
          <a:prstGeom prst="ellipse">
            <a:avLst/>
          </a:prstGeom>
          <a:noFill/>
          <a:ln w="7620">
            <a:solidFill>
              <a:srgbClr val="C9A962">
                <a:alpha val="30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762000" y="428625"/>
            <a:ext cx="190500" cy="190500"/>
          </a:xfrm>
          <a:prstGeom prst="ellipse">
            <a:avLst/>
          </a:prstGeom>
          <a:solidFill>
            <a:srgbClr val="C9A962">
              <a:alpha val="25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819150" y="485775"/>
            <a:ext cx="76200" cy="76200"/>
          </a:xfrm>
          <a:prstGeom prst="ellipse">
            <a:avLst/>
          </a:prstGeom>
          <a:solidFill>
            <a:srgbClr val="C9A962">
              <a:alpha val="5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362075" y="266700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462088" y="366712"/>
            <a:ext cx="28575" cy="28575"/>
          </a:xfrm>
          <a:prstGeom prst="ellipse">
            <a:avLst/>
          </a:prstGeom>
          <a:solidFill>
            <a:srgbClr val="C9A962">
              <a:alpha val="25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319212" y="461962"/>
            <a:ext cx="28575" cy="28575"/>
          </a:xfrm>
          <a:prstGeom prst="ellipse">
            <a:avLst/>
          </a:prstGeom>
          <a:solidFill>
            <a:srgbClr val="C9A962">
              <a:alpha val="20000"/>
            </a:srgbClr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10096500" y="285750"/>
            <a:ext cx="1714500" cy="476250"/>
          </a:xfrm>
          <a:custGeom>
            <a:avLst/>
            <a:gdLst/>
            <a:ahLst/>
            <a:cxnLst/>
            <a:rect l="l" t="t" r="r" b="b"/>
            <a:pathLst>
              <a:path w="1714500" h="476250">
                <a:moveTo>
                  <a:pt x="38100" y="0"/>
                </a:moveTo>
                <a:lnTo>
                  <a:pt x="1676400" y="0"/>
                </a:lnTo>
                <a:cubicBezTo>
                  <a:pt x="1697442" y="0"/>
                  <a:pt x="1714500" y="17058"/>
                  <a:pt x="1714500" y="38100"/>
                </a:cubicBezTo>
                <a:lnTo>
                  <a:pt x="1714500" y="438150"/>
                </a:lnTo>
                <a:cubicBezTo>
                  <a:pt x="1714500" y="459192"/>
                  <a:pt x="1697442" y="476250"/>
                  <a:pt x="16764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358838" y="461010"/>
            <a:ext cx="11898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334750" y="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857250" y="0"/>
                </a:moveTo>
                <a:lnTo>
                  <a:pt x="85725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9A0E26">
              <a:alpha val="30000"/>
            </a:srgbClr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11715750" y="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76250" y="0"/>
                </a:moveTo>
                <a:lnTo>
                  <a:pt x="47625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2667000" y="2476500"/>
            <a:ext cx="6858000" cy="1714500"/>
          </a:xfrm>
          <a:custGeom>
            <a:avLst/>
            <a:gdLst/>
            <a:ahLst/>
            <a:cxnLst/>
            <a:rect l="l" t="t" r="r" b="b"/>
            <a:pathLst>
              <a:path w="6858000" h="1714500">
                <a:moveTo>
                  <a:pt x="19050" y="0"/>
                </a:moveTo>
                <a:lnTo>
                  <a:pt x="6838950" y="0"/>
                </a:lnTo>
                <a:cubicBezTo>
                  <a:pt x="6849471" y="0"/>
                  <a:pt x="6858000" y="8529"/>
                  <a:pt x="6858000" y="19050"/>
                </a:cubicBezTo>
                <a:lnTo>
                  <a:pt x="6858000" y="1695450"/>
                </a:lnTo>
                <a:cubicBezTo>
                  <a:pt x="6858000" y="1705971"/>
                  <a:pt x="6849471" y="1714500"/>
                  <a:pt x="6838950" y="1714500"/>
                </a:cubicBezTo>
                <a:lnTo>
                  <a:pt x="19050" y="1714500"/>
                </a:lnTo>
                <a:cubicBezTo>
                  <a:pt x="8529" y="1714500"/>
                  <a:pt x="0" y="1705971"/>
                  <a:pt x="0" y="1695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noFill/>
          <a:ln w="9525">
            <a:solidFill>
              <a:srgbClr val="F5F0E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908353" y="2626995"/>
            <a:ext cx="437529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C41230"/>
                </a:solidFill>
                <a:latin typeface="Arial"/>
                <a:ea typeface="Microsoft YaHei"/>
                <a:cs typeface="Arial"/>
              </a:rPr>
              <a:t>BPO 供应商联盟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72589" y="3441382"/>
            <a:ext cx="12468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认证总结会</a:t>
            </a:r>
          </a:p>
        </p:txBody>
      </p:sp>
      <p:sp>
        <p:nvSpPr>
          <p:cNvPr id="22" name="Line 22"/>
          <p:cNvSpPr/>
          <p:nvPr/>
        </p:nvSpPr>
        <p:spPr>
          <a:xfrm>
            <a:off x="3619500" y="40957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C9A962"/>
            </a:solidFill>
          </a:ln>
        </p:spPr>
      </p:sp>
      <p:sp>
        <p:nvSpPr>
          <p:cNvPr id="23" name="Line 23"/>
          <p:cNvSpPr/>
          <p:nvPr/>
        </p:nvSpPr>
        <p:spPr>
          <a:xfrm>
            <a:off x="6667500" y="40957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C9A962"/>
            </a:solidFill>
          </a:ln>
        </p:spPr>
      </p:sp>
      <p:sp>
        <p:nvSpPr>
          <p:cNvPr id="24" name="Rectangle 24"/>
          <p:cNvSpPr/>
          <p:nvPr/>
        </p:nvSpPr>
        <p:spPr>
          <a:xfrm rot="2700000">
            <a:off x="6000750" y="4000500"/>
            <a:ext cx="190500" cy="19050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 rot="2700000">
            <a:off x="6048375" y="4048125"/>
            <a:ext cx="95250" cy="95250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3581400" y="4057650"/>
            <a:ext cx="76200" cy="7620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3600450" y="4076700"/>
            <a:ext cx="38100" cy="381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34400" y="4057650"/>
            <a:ext cx="76200" cy="7620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8553450" y="4076700"/>
            <a:ext cx="38100" cy="381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797266" y="4569142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标准化运营方法论与落地实践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67350" y="49187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数据科技业务部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478480" y="5331142"/>
            <a:ext cx="12350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41230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5905500"/>
            <a:ext cx="12192000" cy="1905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0" y="5934075"/>
            <a:ext cx="12192000" cy="9525"/>
          </a:xfrm>
          <a:prstGeom prst="rect">
            <a:avLst/>
          </a:prstGeom>
          <a:solidFill>
            <a:srgbClr val="C9A962">
              <a:alpha val="50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787461" y="6220778"/>
            <a:ext cx="617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2026.04</a:t>
            </a:r>
          </a:p>
        </p:txBody>
      </p:sp>
      <p:sp>
        <p:nvSpPr>
          <p:cNvPr id="36" name="Freeform 36"/>
          <p:cNvSpPr/>
          <p:nvPr/>
        </p:nvSpPr>
        <p:spPr>
          <a:xfrm>
            <a:off x="0" y="647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0" y="0"/>
                </a:lnTo>
                <a:lnTo>
                  <a:pt x="381000" y="381000"/>
                </a:lnTo>
                <a:close/>
              </a:path>
            </a:pathLst>
          </a:custGeom>
          <a:solidFill>
            <a:srgbClr val="C41230">
              <a:alpha val="10000"/>
            </a:srgbClr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209550" y="6591300"/>
            <a:ext cx="57150" cy="5715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11811000" y="647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381000"/>
                </a:moveTo>
                <a:lnTo>
                  <a:pt x="38100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C41230">
              <a:alpha val="10000"/>
            </a:srgbClr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12001500" y="6667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90500"/>
                </a:moveTo>
                <a:lnTo>
                  <a:pt x="19050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C9A962">
              <a:alpha val="20000"/>
            </a:srgbClr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333375" y="1905000"/>
            <a:ext cx="9525" cy="2857500"/>
          </a:xfrm>
          <a:prstGeom prst="rect">
            <a:avLst/>
          </a:prstGeom>
          <a:solidFill>
            <a:srgbClr val="F5F0EB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314325" y="1885950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319088" y="3319462"/>
            <a:ext cx="28575" cy="28575"/>
          </a:xfrm>
          <a:prstGeom prst="ellipse">
            <a:avLst/>
          </a:prstGeom>
          <a:solidFill>
            <a:srgbClr val="C41230">
              <a:alpha val="20000"/>
            </a:srgbClr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314325" y="4743450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11849100" y="1905000"/>
            <a:ext cx="9525" cy="2857500"/>
          </a:xfrm>
          <a:prstGeom prst="rect">
            <a:avLst/>
          </a:prstGeom>
          <a:solidFill>
            <a:srgbClr val="F5F0EB"/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11830050" y="1885950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11834812" y="3319462"/>
            <a:ext cx="28575" cy="28575"/>
          </a:xfrm>
          <a:prstGeom prst="ellipse">
            <a:avLst/>
          </a:prstGeom>
          <a:solidFill>
            <a:srgbClr val="C41230">
              <a:alpha val="20000"/>
            </a:srgbClr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11830050" y="4743450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3810000" y="0"/>
            <a:ext cx="8382000" cy="6858000"/>
          </a:xfrm>
          <a:custGeom>
            <a:avLst/>
            <a:gdLst/>
            <a:ahLst/>
            <a:cxnLst/>
            <a:rect l="l" t="t" r="r" b="b"/>
            <a:pathLst>
              <a:path w="8382000" h="6858000">
                <a:moveTo>
                  <a:pt x="952500" y="0"/>
                </a:moveTo>
                <a:lnTo>
                  <a:pt x="8382000" y="0"/>
                </a:lnTo>
                <a:lnTo>
                  <a:pt x="838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14375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676275"/>
            <a:ext cx="12192000" cy="952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704850"/>
            <a:ext cx="12192000" cy="2857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44830" y="230505"/>
            <a:ext cx="7940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 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5415" y="343852"/>
            <a:ext cx="7320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19327" y="307181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00" y="1524000"/>
            <a:ext cx="19050" cy="3810000"/>
          </a:xfrm>
          <a:prstGeom prst="rect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23925" y="1485900"/>
            <a:ext cx="76200" cy="76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23925" y="5295900"/>
            <a:ext cx="76200" cy="76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85850" y="1133475"/>
            <a:ext cx="1839516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C41230">
                    <a:alpha val="10000"/>
                  </a:srgbClr>
                </a:solidFill>
                <a:latin typeface="Arial"/>
                <a:ea typeface="Microsoft YaHei"/>
                <a:cs typeface="Arial"/>
              </a:rPr>
              <a:t>Index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874520" y="1169670"/>
            <a:ext cx="3459480" cy="649605"/>
            <a:chOff x="1874520" y="1169670"/>
            <a:chExt cx="3459480" cy="649605"/>
          </a:xfrm>
        </p:grpSpPr>
        <p:sp>
          <p:nvSpPr>
            <p:cNvPr id="14" name="TextBox 14"/>
            <p:cNvSpPr txBox="1"/>
            <p:nvPr/>
          </p:nvSpPr>
          <p:spPr>
            <a:xfrm>
              <a:off x="1874520" y="1169670"/>
              <a:ext cx="37379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55545" y="125063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核心方法论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63165" y="1553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电销管理六大核心模块体系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476500" y="1809750"/>
              <a:ext cx="28575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476500" y="1809750"/>
              <a:ext cx="285750" cy="9525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874520" y="2026920"/>
            <a:ext cx="3459480" cy="649605"/>
            <a:chOff x="1874520" y="2026920"/>
            <a:chExt cx="3459480" cy="649605"/>
          </a:xfrm>
        </p:grpSpPr>
        <p:sp>
          <p:nvSpPr>
            <p:cNvPr id="20" name="TextBox 20"/>
            <p:cNvSpPr txBox="1"/>
            <p:nvPr/>
          </p:nvSpPr>
          <p:spPr>
            <a:xfrm>
              <a:off x="1874520" y="2026920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55545" y="2107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认证结果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63165" y="24107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供应商认证评分与核心收获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76500" y="2667000"/>
              <a:ext cx="28575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76500" y="2667000"/>
              <a:ext cx="285750" cy="9525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874520" y="2884170"/>
            <a:ext cx="3459480" cy="649605"/>
            <a:chOff x="1874520" y="2884170"/>
            <a:chExt cx="3459480" cy="649605"/>
          </a:xfrm>
        </p:grpSpPr>
        <p:sp>
          <p:nvSpPr>
            <p:cNvPr id="26" name="TextBox 26"/>
            <p:cNvSpPr txBox="1"/>
            <p:nvPr/>
          </p:nvSpPr>
          <p:spPr>
            <a:xfrm>
              <a:off x="1874520" y="2884170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55545" y="29651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落地方案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63165" y="32680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三阶段推进计划与关键指标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476500" y="3524250"/>
              <a:ext cx="28575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476500" y="3524250"/>
              <a:ext cx="285750" cy="9525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637020" y="1169670"/>
            <a:ext cx="3459480" cy="649605"/>
            <a:chOff x="6637020" y="1169670"/>
            <a:chExt cx="3459480" cy="649605"/>
          </a:xfrm>
        </p:grpSpPr>
        <p:sp>
          <p:nvSpPr>
            <p:cNvPr id="32" name="TextBox 32"/>
            <p:cNvSpPr txBox="1"/>
            <p:nvPr/>
          </p:nvSpPr>
          <p:spPr>
            <a:xfrm>
              <a:off x="6637020" y="1169670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18045" y="12506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总结展望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25665" y="15535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联盟持续开放共享推进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239000" y="1809750"/>
              <a:ext cx="28575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0" y="1809750"/>
              <a:ext cx="285750" cy="9525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</p:grpSp>
      <p:sp>
        <p:nvSpPr>
          <p:cNvPr id="38" name="Ellipse 38"/>
          <p:cNvSpPr/>
          <p:nvPr/>
        </p:nvSpPr>
        <p:spPr>
          <a:xfrm>
            <a:off x="9810750" y="4095750"/>
            <a:ext cx="2286000" cy="2286000"/>
          </a:xfrm>
          <a:prstGeom prst="ellipse">
            <a:avLst/>
          </a:prstGeom>
          <a:noFill/>
          <a:ln w="4762">
            <a:solidFill>
              <a:srgbClr val="C9A962">
                <a:alpha val="10000"/>
              </a:srgbClr>
            </a:solidFill>
          </a:ln>
        </p:spPr>
      </p:sp>
      <p:sp>
        <p:nvSpPr>
          <p:cNvPr id="39" name="Ellipse 39"/>
          <p:cNvSpPr/>
          <p:nvPr/>
        </p:nvSpPr>
        <p:spPr>
          <a:xfrm>
            <a:off x="10191750" y="4476750"/>
            <a:ext cx="1524000" cy="1524000"/>
          </a:xfrm>
          <a:prstGeom prst="ellipse">
            <a:avLst/>
          </a:prstGeom>
          <a:noFill/>
          <a:ln w="9525">
            <a:solidFill>
              <a:srgbClr val="C9A962">
                <a:alpha val="15000"/>
              </a:srgbClr>
            </a:solidFill>
          </a:ln>
        </p:spPr>
      </p:sp>
      <p:sp>
        <p:nvSpPr>
          <p:cNvPr id="40" name="Line 4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F0EDE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69570" y="6522720"/>
            <a:ext cx="7852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A0E2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191250" y="0"/>
            <a:ext cx="6000750" cy="6858000"/>
          </a:xfrm>
          <a:custGeom>
            <a:avLst/>
            <a:gdLst/>
            <a:ahLst/>
            <a:cxnLst/>
            <a:rect l="l" t="t" r="r" b="b"/>
            <a:pathLst>
              <a:path w="6000750" h="6858000">
                <a:moveTo>
                  <a:pt x="1905000" y="0"/>
                </a:moveTo>
                <a:lnTo>
                  <a:pt x="6000750" y="0"/>
                </a:lnTo>
                <a:lnTo>
                  <a:pt x="60007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81028">
              <a:alpha val="60000"/>
            </a:srgbClr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7143750" y="0"/>
            <a:ext cx="5048250" cy="6858000"/>
          </a:xfrm>
          <a:custGeom>
            <a:avLst/>
            <a:gdLst/>
            <a:ahLst/>
            <a:cxnLst/>
            <a:rect l="l" t="t" r="r" b="b"/>
            <a:pathLst>
              <a:path w="5048250" h="6858000">
                <a:moveTo>
                  <a:pt x="1905000" y="0"/>
                </a:moveTo>
                <a:lnTo>
                  <a:pt x="5048250" y="0"/>
                </a:lnTo>
                <a:lnTo>
                  <a:pt x="50482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31530">
              <a:alpha val="4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8096250" y="0"/>
            <a:ext cx="4095750" cy="6858000"/>
          </a:xfrm>
          <a:custGeom>
            <a:avLst/>
            <a:gdLst/>
            <a:ahLst/>
            <a:cxnLst/>
            <a:rect l="l" t="t" r="r" b="b"/>
            <a:pathLst>
              <a:path w="4095750" h="6858000">
                <a:moveTo>
                  <a:pt x="1905000" y="0"/>
                </a:moveTo>
                <a:lnTo>
                  <a:pt x="4095750" y="0"/>
                </a:lnTo>
                <a:lnTo>
                  <a:pt x="40957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41230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620500" y="0"/>
            <a:ext cx="571500" cy="6858000"/>
          </a:xfrm>
          <a:prstGeom prst="rect">
            <a:avLst/>
          </a:prstGeom>
          <a:solidFill>
            <a:srgbClr val="7A0B1E">
              <a:alpha val="4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2001500" y="0"/>
            <a:ext cx="190500" cy="6858000"/>
          </a:xfrm>
          <a:prstGeom prst="rect">
            <a:avLst/>
          </a:prstGeom>
          <a:solidFill>
            <a:srgbClr val="5A081A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2286000"/>
            <a:ext cx="76200" cy="2286000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2333625"/>
            <a:ext cx="38100" cy="2190750"/>
          </a:xfrm>
          <a:prstGeom prst="rect">
            <a:avLst/>
          </a:prstGeom>
          <a:solidFill>
            <a:srgbClr val="D4B87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0" y="2200275"/>
            <a:ext cx="76200" cy="76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0" y="4581525"/>
            <a:ext cx="76200" cy="76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0" y="571500"/>
            <a:ext cx="2857500" cy="9525"/>
          </a:xfrm>
          <a:prstGeom prst="rect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19125"/>
            <a:ext cx="1905000" cy="9525"/>
          </a:xfrm>
          <a:prstGeom prst="rect">
            <a:avLst/>
          </a:prstGeom>
          <a:solidFill>
            <a:srgbClr val="C9A962">
              <a:alpha val="20000"/>
            </a:srgbClr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9334500" y="2095500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71" y="0"/>
                  <a:pt x="1524000" y="8529"/>
                  <a:pt x="1524000" y="19050"/>
                </a:cubicBezTo>
                <a:lnTo>
                  <a:pt x="1524000" y="19050"/>
                </a:lnTo>
                <a:cubicBezTo>
                  <a:pt x="1524000" y="29571"/>
                  <a:pt x="1515471" y="38100"/>
                  <a:pt x="1504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35000"/>
            </a:srgbClr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9525000" y="2286000"/>
            <a:ext cx="1333500" cy="38100"/>
          </a:xfrm>
          <a:custGeom>
            <a:avLst/>
            <a:gdLst/>
            <a:ahLst/>
            <a:cxnLst/>
            <a:rect l="l" t="t" r="r" b="b"/>
            <a:pathLst>
              <a:path w="1333500" h="38100">
                <a:moveTo>
                  <a:pt x="19050" y="0"/>
                </a:moveTo>
                <a:lnTo>
                  <a:pt x="1314450" y="0"/>
                </a:lnTo>
                <a:cubicBezTo>
                  <a:pt x="1324971" y="0"/>
                  <a:pt x="1333500" y="8529"/>
                  <a:pt x="1333500" y="19050"/>
                </a:cubicBezTo>
                <a:lnTo>
                  <a:pt x="1333500" y="19050"/>
                </a:lnTo>
                <a:cubicBezTo>
                  <a:pt x="1333500" y="29571"/>
                  <a:pt x="1324971" y="38100"/>
                  <a:pt x="1314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28000"/>
            </a:srgbClr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9715500" y="2476500"/>
            <a:ext cx="1143000" cy="38100"/>
          </a:xfrm>
          <a:custGeom>
            <a:avLst/>
            <a:gdLst/>
            <a:ahLst/>
            <a:cxnLst/>
            <a:rect l="l" t="t" r="r" b="b"/>
            <a:pathLst>
              <a:path w="1143000" h="38100">
                <a:moveTo>
                  <a:pt x="19050" y="0"/>
                </a:moveTo>
                <a:lnTo>
                  <a:pt x="1123950" y="0"/>
                </a:lnTo>
                <a:cubicBezTo>
                  <a:pt x="1134471" y="0"/>
                  <a:pt x="1143000" y="8529"/>
                  <a:pt x="1143000" y="19050"/>
                </a:cubicBezTo>
                <a:lnTo>
                  <a:pt x="1143000" y="19050"/>
                </a:lnTo>
                <a:cubicBezTo>
                  <a:pt x="1143000" y="29571"/>
                  <a:pt x="1134471" y="38100"/>
                  <a:pt x="1123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22000"/>
            </a:srgbClr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9906000" y="2667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19050" y="0"/>
                </a:moveTo>
                <a:lnTo>
                  <a:pt x="933450" y="0"/>
                </a:lnTo>
                <a:cubicBezTo>
                  <a:pt x="943971" y="0"/>
                  <a:pt x="952500" y="8529"/>
                  <a:pt x="952500" y="19050"/>
                </a:cubicBezTo>
                <a:lnTo>
                  <a:pt x="952500" y="19050"/>
                </a:lnTo>
                <a:cubicBezTo>
                  <a:pt x="952500" y="29571"/>
                  <a:pt x="943971" y="38100"/>
                  <a:pt x="933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16000"/>
            </a:srgbClr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10096500" y="28575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10000"/>
            </a:srgbClr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9048750" y="142875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0" y="0"/>
                </a:moveTo>
                <a:lnTo>
                  <a:pt x="1428750" y="476250"/>
                </a:lnTo>
              </a:path>
            </a:pathLst>
          </a:custGeom>
          <a:noFill/>
          <a:ln w="9525">
            <a:solidFill>
              <a:srgbClr val="C9A962">
                <a:alpha val="1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9239250" y="142875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0" y="0"/>
                </a:moveTo>
                <a:lnTo>
                  <a:pt x="1428750" y="476250"/>
                </a:lnTo>
              </a:path>
            </a:pathLst>
          </a:custGeom>
          <a:noFill/>
          <a:ln w="4762">
            <a:solidFill>
              <a:srgbClr val="C9A962">
                <a:alpha val="8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9429750" y="142875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0" y="0"/>
                </a:moveTo>
                <a:lnTo>
                  <a:pt x="1428750" y="476250"/>
                </a:lnTo>
              </a:path>
            </a:pathLst>
          </a:custGeom>
          <a:noFill/>
          <a:ln w="4762">
            <a:solidFill>
              <a:srgbClr val="C9A962">
                <a:alpha val="6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9906000" y="4191000"/>
            <a:ext cx="1905000" cy="1905000"/>
          </a:xfrm>
          <a:prstGeom prst="ellipse">
            <a:avLst/>
          </a:prstGeom>
          <a:noFill/>
          <a:ln w="4762">
            <a:solidFill>
              <a:srgbClr val="C9A962">
                <a:alpha val="6000"/>
              </a:srgbClr>
            </a:solidFill>
          </a:ln>
        </p:spPr>
      </p:sp>
      <p:sp>
        <p:nvSpPr>
          <p:cNvPr id="23" name="Ellipse 23"/>
          <p:cNvSpPr/>
          <p:nvPr/>
        </p:nvSpPr>
        <p:spPr>
          <a:xfrm>
            <a:off x="10096500" y="4381500"/>
            <a:ext cx="1524000" cy="1524000"/>
          </a:xfrm>
          <a:prstGeom prst="ellipse">
            <a:avLst/>
          </a:prstGeom>
          <a:noFill/>
          <a:ln w="9525">
            <a:solidFill>
              <a:srgbClr val="C9A962">
                <a:alpha val="10000"/>
              </a:srgbClr>
            </a:solidFill>
          </a:ln>
        </p:spPr>
      </p:sp>
      <p:sp>
        <p:nvSpPr>
          <p:cNvPr id="24" name="Ellipse 24"/>
          <p:cNvSpPr/>
          <p:nvPr/>
        </p:nvSpPr>
        <p:spPr>
          <a:xfrm>
            <a:off x="10287000" y="4572000"/>
            <a:ext cx="1143000" cy="1143000"/>
          </a:xfrm>
          <a:prstGeom prst="ellipse">
            <a:avLst/>
          </a:prstGeom>
          <a:noFill/>
          <a:ln w="14288">
            <a:solidFill>
              <a:srgbClr val="C9A962">
                <a:alpha val="15000"/>
              </a:srgbClr>
            </a:solidFill>
          </a:ln>
        </p:spPr>
      </p:sp>
      <p:sp>
        <p:nvSpPr>
          <p:cNvPr id="25" name="Ellipse 25"/>
          <p:cNvSpPr/>
          <p:nvPr/>
        </p:nvSpPr>
        <p:spPr>
          <a:xfrm>
            <a:off x="10477500" y="4762500"/>
            <a:ext cx="762000" cy="762000"/>
          </a:xfrm>
          <a:prstGeom prst="ellipse">
            <a:avLst/>
          </a:prstGeom>
          <a:noFill/>
          <a:ln w="9525">
            <a:solidFill>
              <a:srgbClr val="C9A962">
                <a:alpha val="12000"/>
              </a:srgbClr>
            </a:solidFill>
          </a:ln>
        </p:spPr>
      </p:sp>
      <p:sp>
        <p:nvSpPr>
          <p:cNvPr id="26" name="Ellipse 26"/>
          <p:cNvSpPr/>
          <p:nvPr/>
        </p:nvSpPr>
        <p:spPr>
          <a:xfrm>
            <a:off x="10668000" y="4953000"/>
            <a:ext cx="381000" cy="381000"/>
          </a:xfrm>
          <a:prstGeom prst="ellipse">
            <a:avLst/>
          </a:prstGeom>
          <a:solidFill>
            <a:srgbClr val="C9A962">
              <a:alpha val="8000"/>
            </a:srgbClr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10782300" y="5067300"/>
            <a:ext cx="152400" cy="152400"/>
          </a:xfrm>
          <a:prstGeom prst="ellipse">
            <a:avLst/>
          </a:pr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57200" y="2362200"/>
            <a:ext cx="3737991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 val="6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29" name="Line 29"/>
          <p:cNvSpPr/>
          <p:nvPr/>
        </p:nvSpPr>
        <p:spPr>
          <a:xfrm>
            <a:off x="3238500" y="266700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28575">
            <a:solidFill>
              <a:srgbClr val="C9A962"/>
            </a:solidFill>
          </a:ln>
        </p:spPr>
      </p:sp>
      <p:sp>
        <p:nvSpPr>
          <p:cNvPr id="30" name="Line 30"/>
          <p:cNvSpPr/>
          <p:nvPr/>
        </p:nvSpPr>
        <p:spPr>
          <a:xfrm>
            <a:off x="3238500" y="2733675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31" name="Ellipse 31"/>
          <p:cNvSpPr/>
          <p:nvPr/>
        </p:nvSpPr>
        <p:spPr>
          <a:xfrm>
            <a:off x="4810125" y="2619375"/>
            <a:ext cx="95250" cy="9525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4838700" y="2647950"/>
            <a:ext cx="38100" cy="38100"/>
          </a:xfrm>
          <a:prstGeom prst="ellipse">
            <a:avLst/>
          </a:prstGeom>
          <a:solidFill>
            <a:srgbClr val="D4B87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188970" y="3103245"/>
            <a:ext cx="308943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核心方法论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19450" y="3933825"/>
            <a:ext cx="49234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5F0EB">
                    <a:alpha val="90000"/>
                  </a:srgbClr>
                </a:solidFill>
                <a:latin typeface="Arial"/>
                <a:ea typeface="Microsoft YaHei"/>
                <a:cs typeface="Arial"/>
              </a:rPr>
              <a:t>电销管理六大模块 + 三会标准流程 + 名单管控策略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238500" y="4333875"/>
            <a:ext cx="1905000" cy="9525"/>
          </a:xfrm>
          <a:prstGeom prst="rect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6" name="Line 3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FFFFFF">
                <a:alpha val="10000"/>
              </a:srgbClr>
            </a:solidFill>
          </a:ln>
        </p:spPr>
      </p:sp>
      <p:sp>
        <p:nvSpPr>
          <p:cNvPr id="37" name="Ellipse 37"/>
          <p:cNvSpPr/>
          <p:nvPr/>
        </p:nvSpPr>
        <p:spPr>
          <a:xfrm>
            <a:off x="361950" y="6315075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1791950" y="6315075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831544" y="650652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14375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"/>
            <a:ext cx="12192000" cy="952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704850"/>
            <a:ext cx="12192000" cy="2857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66675" y="190500"/>
            <a:ext cx="342900" cy="342900"/>
          </a:xfrm>
          <a:prstGeom prst="ellipse">
            <a:avLst/>
          </a:prstGeom>
          <a:noFill/>
          <a:ln w="9525">
            <a:solidFill>
              <a:srgbClr val="C9A962">
                <a:alpha val="3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61925" y="285750"/>
            <a:ext cx="152400" cy="152400"/>
          </a:xfrm>
          <a:prstGeom prst="ellipse">
            <a:avLst/>
          </a:prstGeom>
          <a:noFill/>
          <a:ln w="4762">
            <a:solidFill>
              <a:srgbClr val="C9A962">
                <a:alpha val="2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09550" y="333375"/>
            <a:ext cx="57150" cy="57150"/>
          </a:xfrm>
          <a:prstGeom prst="ellipse">
            <a:avLst/>
          </a:prstGeom>
          <a:solidFill>
            <a:srgbClr val="C9A962">
              <a:alpha val="2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01015" y="262890"/>
            <a:ext cx="312350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电销管理六大核心模块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19327" y="307181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763375" y="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28625" y="0"/>
                </a:moveTo>
                <a:lnTo>
                  <a:pt x="428625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9A0E26">
              <a:alpha val="30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11953875" y="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238125" y="238125"/>
                </a:lnTo>
                <a:lnTo>
                  <a:pt x="0" y="0"/>
                </a:lnTo>
                <a:close/>
              </a:path>
            </a:pathLst>
          </a:cu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81000" y="904875"/>
            <a:ext cx="38100" cy="22860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381000" y="1114425"/>
            <a:ext cx="38100" cy="381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08635" y="956310"/>
            <a:ext cx="47625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六大模块相互支撑形成闭环：人、资源、执行、动力四维一体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1476375"/>
            <a:ext cx="3429000" cy="1381125"/>
            <a:chOff x="571500" y="1476375"/>
            <a:chExt cx="3429000" cy="1381125"/>
          </a:xfrm>
        </p:grpSpPr>
        <p:sp>
          <p:nvSpPr>
            <p:cNvPr id="16" name="Freeform 16"/>
            <p:cNvSpPr/>
            <p:nvPr/>
          </p:nvSpPr>
          <p:spPr>
            <a:xfrm>
              <a:off x="571500" y="1476375"/>
              <a:ext cx="3429000" cy="1381125"/>
            </a:xfrm>
            <a:custGeom>
              <a:avLst/>
              <a:gdLst/>
              <a:ahLst/>
              <a:cxnLst/>
              <a:rect l="l" t="t" r="r" b="b"/>
              <a:pathLst>
                <a:path w="3429000" h="1381125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1343025"/>
                  </a:lnTo>
                  <a:cubicBezTo>
                    <a:pt x="3429000" y="1364067"/>
                    <a:pt x="3411942" y="1381125"/>
                    <a:pt x="3390900" y="1381125"/>
                  </a:cubicBezTo>
                  <a:lnTo>
                    <a:pt x="38100" y="1381125"/>
                  </a:lnTo>
                  <a:cubicBezTo>
                    <a:pt x="17058" y="1381125"/>
                    <a:pt x="0" y="1364067"/>
                    <a:pt x="0" y="13430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71500" y="1476375"/>
              <a:ext cx="3429000" cy="38100"/>
            </a:xfrm>
            <a:custGeom>
              <a:avLst/>
              <a:gdLst/>
              <a:ahLst/>
              <a:cxnLst/>
              <a:rect l="l" t="t" r="r" b="b"/>
              <a:pathLst>
                <a:path w="3429000" h="381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8529"/>
                    <a:pt x="3429000" y="19050"/>
                  </a:cubicBezTo>
                  <a:lnTo>
                    <a:pt x="3429000" y="19050"/>
                  </a:lnTo>
                  <a:cubicBezTo>
                    <a:pt x="3429000" y="29571"/>
                    <a:pt x="3411942" y="38100"/>
                    <a:pt x="3390900" y="38100"/>
                  </a:cubicBezTo>
                  <a:lnTo>
                    <a:pt x="38100" y="38100"/>
                  </a:lnTo>
                  <a:cubicBezTo>
                    <a:pt x="17058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4123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5808" y="16721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坐席分级管理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" y="1934528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ABC分级竞争机制，同等级竞争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21440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清晰晋升路径，名单量差异化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8665" y="2410778"/>
              <a:ext cx="1467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A级比C级多15条名单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81500" y="1476375"/>
            <a:ext cx="3429000" cy="1381125"/>
            <a:chOff x="4381500" y="1476375"/>
            <a:chExt cx="3429000" cy="1381125"/>
          </a:xfrm>
        </p:grpSpPr>
        <p:sp>
          <p:nvSpPr>
            <p:cNvPr id="23" name="Freeform 23"/>
            <p:cNvSpPr/>
            <p:nvPr/>
          </p:nvSpPr>
          <p:spPr>
            <a:xfrm>
              <a:off x="4381500" y="1476375"/>
              <a:ext cx="3429000" cy="1381125"/>
            </a:xfrm>
            <a:custGeom>
              <a:avLst/>
              <a:gdLst/>
              <a:ahLst/>
              <a:cxnLst/>
              <a:rect l="l" t="t" r="r" b="b"/>
              <a:pathLst>
                <a:path w="3429000" h="1381125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1343025"/>
                  </a:lnTo>
                  <a:cubicBezTo>
                    <a:pt x="3429000" y="1364067"/>
                    <a:pt x="3411942" y="1381125"/>
                    <a:pt x="3390900" y="1381125"/>
                  </a:cubicBezTo>
                  <a:lnTo>
                    <a:pt x="38100" y="1381125"/>
                  </a:lnTo>
                  <a:cubicBezTo>
                    <a:pt x="17058" y="1381125"/>
                    <a:pt x="0" y="1364067"/>
                    <a:pt x="0" y="13430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381500" y="1476375"/>
              <a:ext cx="3429000" cy="38100"/>
            </a:xfrm>
            <a:custGeom>
              <a:avLst/>
              <a:gdLst/>
              <a:ahLst/>
              <a:cxnLst/>
              <a:rect l="l" t="t" r="r" b="b"/>
              <a:pathLst>
                <a:path w="3429000" h="381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8529"/>
                    <a:pt x="3429000" y="19050"/>
                  </a:cubicBezTo>
                  <a:lnTo>
                    <a:pt x="3429000" y="19050"/>
                  </a:lnTo>
                  <a:cubicBezTo>
                    <a:pt x="3429000" y="29571"/>
                    <a:pt x="3411942" y="38100"/>
                    <a:pt x="3390900" y="38100"/>
                  </a:cubicBezTo>
                  <a:lnTo>
                    <a:pt x="38100" y="38100"/>
                  </a:lnTo>
                  <a:cubicBezTo>
                    <a:pt x="17058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4123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55808" y="16721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话术沉淀体系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58665" y="1934528"/>
              <a:ext cx="21045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7类专项话术库，月度迭代更新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58665" y="2144078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节日/老客/金额/存量分类等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8665" y="241077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绩优分享标准化流程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91500" y="1476375"/>
            <a:ext cx="3429000" cy="1381125"/>
            <a:chOff x="8191500" y="1476375"/>
            <a:chExt cx="3429000" cy="1381125"/>
          </a:xfrm>
        </p:grpSpPr>
        <p:sp>
          <p:nvSpPr>
            <p:cNvPr id="30" name="Freeform 30"/>
            <p:cNvSpPr/>
            <p:nvPr/>
          </p:nvSpPr>
          <p:spPr>
            <a:xfrm>
              <a:off x="8191500" y="1476375"/>
              <a:ext cx="3429000" cy="1381125"/>
            </a:xfrm>
            <a:custGeom>
              <a:avLst/>
              <a:gdLst/>
              <a:ahLst/>
              <a:cxnLst/>
              <a:rect l="l" t="t" r="r" b="b"/>
              <a:pathLst>
                <a:path w="3429000" h="1381125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1343025"/>
                  </a:lnTo>
                  <a:cubicBezTo>
                    <a:pt x="3429000" y="1364067"/>
                    <a:pt x="3411942" y="1381125"/>
                    <a:pt x="3390900" y="1381125"/>
                  </a:cubicBezTo>
                  <a:lnTo>
                    <a:pt x="38100" y="1381125"/>
                  </a:lnTo>
                  <a:cubicBezTo>
                    <a:pt x="17058" y="1381125"/>
                    <a:pt x="0" y="1364067"/>
                    <a:pt x="0" y="13430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191500" y="1476375"/>
              <a:ext cx="3429000" cy="38100"/>
            </a:xfrm>
            <a:custGeom>
              <a:avLst/>
              <a:gdLst/>
              <a:ahLst/>
              <a:cxnLst/>
              <a:rect l="l" t="t" r="r" b="b"/>
              <a:pathLst>
                <a:path w="3429000" h="381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8529"/>
                    <a:pt x="3429000" y="19050"/>
                  </a:cubicBezTo>
                  <a:lnTo>
                    <a:pt x="3429000" y="19050"/>
                  </a:lnTo>
                  <a:cubicBezTo>
                    <a:pt x="3429000" y="29571"/>
                    <a:pt x="3411942" y="38100"/>
                    <a:pt x="3390900" y="38100"/>
                  </a:cubicBezTo>
                  <a:lnTo>
                    <a:pt x="38100" y="38100"/>
                  </a:lnTo>
                  <a:cubicBezTo>
                    <a:pt x="17058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4123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65808" y="16721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团队激励方案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68665" y="1934528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日周维度即时激励，PK活动为主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68665" y="2144078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可视化排名，追踪榜/光榜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68665" y="2410778"/>
              <a:ext cx="1491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团队PK比现金更有效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3048000"/>
            <a:ext cx="3429000" cy="1381125"/>
            <a:chOff x="571500" y="3048000"/>
            <a:chExt cx="3429000" cy="1381125"/>
          </a:xfrm>
        </p:grpSpPr>
        <p:sp>
          <p:nvSpPr>
            <p:cNvPr id="37" name="Freeform 37"/>
            <p:cNvSpPr/>
            <p:nvPr/>
          </p:nvSpPr>
          <p:spPr>
            <a:xfrm>
              <a:off x="571500" y="3048000"/>
              <a:ext cx="3429000" cy="1381125"/>
            </a:xfrm>
            <a:custGeom>
              <a:avLst/>
              <a:gdLst/>
              <a:ahLst/>
              <a:cxnLst/>
              <a:rect l="l" t="t" r="r" b="b"/>
              <a:pathLst>
                <a:path w="3429000" h="1381125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1343025"/>
                  </a:lnTo>
                  <a:cubicBezTo>
                    <a:pt x="3429000" y="1364067"/>
                    <a:pt x="3411942" y="1381125"/>
                    <a:pt x="3390900" y="1381125"/>
                  </a:cubicBezTo>
                  <a:lnTo>
                    <a:pt x="38100" y="1381125"/>
                  </a:lnTo>
                  <a:cubicBezTo>
                    <a:pt x="17058" y="1381125"/>
                    <a:pt x="0" y="1364067"/>
                    <a:pt x="0" y="13430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71500" y="3048000"/>
              <a:ext cx="3429000" cy="38100"/>
            </a:xfrm>
            <a:custGeom>
              <a:avLst/>
              <a:gdLst/>
              <a:ahLst/>
              <a:cxnLst/>
              <a:rect l="l" t="t" r="r" b="b"/>
              <a:pathLst>
                <a:path w="3429000" h="381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8529"/>
                    <a:pt x="3429000" y="19050"/>
                  </a:cubicBezTo>
                  <a:lnTo>
                    <a:pt x="3429000" y="19050"/>
                  </a:lnTo>
                  <a:cubicBezTo>
                    <a:pt x="3429000" y="29571"/>
                    <a:pt x="3411942" y="38100"/>
                    <a:pt x="3390900" y="38100"/>
                  </a:cubicBezTo>
                  <a:lnTo>
                    <a:pt x="38100" y="38100"/>
                  </a:lnTo>
                  <a:cubicBezTo>
                    <a:pt x="17058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9A96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5808" y="324373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三会管理流程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8665" y="3506152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早会15分钟：复盘/目标/动作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8665" y="3715702"/>
              <a:ext cx="19282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午会10分钟：缺口告知/叫醒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8665" y="3982402"/>
              <a:ext cx="2369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晚会不限时：复盘培训/问题解决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381500" y="3048000"/>
            <a:ext cx="3429000" cy="1381125"/>
            <a:chOff x="4381500" y="3048000"/>
            <a:chExt cx="3429000" cy="1381125"/>
          </a:xfrm>
        </p:grpSpPr>
        <p:sp>
          <p:nvSpPr>
            <p:cNvPr id="44" name="Freeform 44"/>
            <p:cNvSpPr/>
            <p:nvPr/>
          </p:nvSpPr>
          <p:spPr>
            <a:xfrm>
              <a:off x="4381500" y="3048000"/>
              <a:ext cx="3429000" cy="1381125"/>
            </a:xfrm>
            <a:custGeom>
              <a:avLst/>
              <a:gdLst/>
              <a:ahLst/>
              <a:cxnLst/>
              <a:rect l="l" t="t" r="r" b="b"/>
              <a:pathLst>
                <a:path w="3429000" h="1381125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1343025"/>
                  </a:lnTo>
                  <a:cubicBezTo>
                    <a:pt x="3429000" y="1364067"/>
                    <a:pt x="3411942" y="1381125"/>
                    <a:pt x="3390900" y="1381125"/>
                  </a:cubicBezTo>
                  <a:lnTo>
                    <a:pt x="38100" y="1381125"/>
                  </a:lnTo>
                  <a:cubicBezTo>
                    <a:pt x="17058" y="1381125"/>
                    <a:pt x="0" y="1364067"/>
                    <a:pt x="0" y="13430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4381500" y="3048000"/>
              <a:ext cx="3429000" cy="38100"/>
            </a:xfrm>
            <a:custGeom>
              <a:avLst/>
              <a:gdLst/>
              <a:ahLst/>
              <a:cxnLst/>
              <a:rect l="l" t="t" r="r" b="b"/>
              <a:pathLst>
                <a:path w="3429000" h="381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8529"/>
                    <a:pt x="3429000" y="19050"/>
                  </a:cubicBezTo>
                  <a:lnTo>
                    <a:pt x="3429000" y="19050"/>
                  </a:lnTo>
                  <a:cubicBezTo>
                    <a:pt x="3429000" y="29571"/>
                    <a:pt x="3411942" y="38100"/>
                    <a:pt x="3390900" y="38100"/>
                  </a:cubicBezTo>
                  <a:lnTo>
                    <a:pt x="38100" y="38100"/>
                  </a:lnTo>
                  <a:cubicBezTo>
                    <a:pt x="17058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9A96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55808" y="324373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名单管控规则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58665" y="3506152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新名单静置2-3天，拨打≤40次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58665" y="3715702"/>
              <a:ext cx="2050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周末全量回收，ABCD客户分级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58665" y="3982402"/>
              <a:ext cx="21360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5万+高价值名单匹配最优坐席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191500" y="3048000"/>
            <a:ext cx="3429000" cy="1381125"/>
            <a:chOff x="8191500" y="3048000"/>
            <a:chExt cx="3429000" cy="1381125"/>
          </a:xfrm>
        </p:grpSpPr>
        <p:sp>
          <p:nvSpPr>
            <p:cNvPr id="51" name="Freeform 51"/>
            <p:cNvSpPr/>
            <p:nvPr/>
          </p:nvSpPr>
          <p:spPr>
            <a:xfrm>
              <a:off x="8191500" y="3048000"/>
              <a:ext cx="3429000" cy="1381125"/>
            </a:xfrm>
            <a:custGeom>
              <a:avLst/>
              <a:gdLst/>
              <a:ahLst/>
              <a:cxnLst/>
              <a:rect l="l" t="t" r="r" b="b"/>
              <a:pathLst>
                <a:path w="3429000" h="1381125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1343025"/>
                  </a:lnTo>
                  <a:cubicBezTo>
                    <a:pt x="3429000" y="1364067"/>
                    <a:pt x="3411942" y="1381125"/>
                    <a:pt x="3390900" y="1381125"/>
                  </a:cubicBezTo>
                  <a:lnTo>
                    <a:pt x="38100" y="1381125"/>
                  </a:lnTo>
                  <a:cubicBezTo>
                    <a:pt x="17058" y="1381125"/>
                    <a:pt x="0" y="1364067"/>
                    <a:pt x="0" y="13430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191500" y="3048000"/>
              <a:ext cx="3429000" cy="38100"/>
            </a:xfrm>
            <a:custGeom>
              <a:avLst/>
              <a:gdLst/>
              <a:ahLst/>
              <a:cxnLst/>
              <a:rect l="l" t="t" r="r" b="b"/>
              <a:pathLst>
                <a:path w="3429000" h="381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8529"/>
                    <a:pt x="3429000" y="19050"/>
                  </a:cubicBezTo>
                  <a:lnTo>
                    <a:pt x="3429000" y="19050"/>
                  </a:lnTo>
                  <a:cubicBezTo>
                    <a:pt x="3429000" y="29571"/>
                    <a:pt x="3411942" y="38100"/>
                    <a:pt x="3390900" y="38100"/>
                  </a:cubicBezTo>
                  <a:lnTo>
                    <a:pt x="38100" y="38100"/>
                  </a:lnTo>
                  <a:cubicBezTo>
                    <a:pt x="17058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9A96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65808" y="3243739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分时段拨打策略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68665" y="3506152"/>
              <a:ext cx="1905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9:00-9:30 回拨高意向客户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68665" y="371570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18:30-19:30 黄金时段打新名单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68665" y="398240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接通率第二高的黄金时段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3954756" y="4752499"/>
            <a:ext cx="42824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标准化运营是提升电销产能的关键 | 成熟自建电销职场管理经验提炼</a:t>
            </a:r>
          </a:p>
        </p:txBody>
      </p:sp>
      <p:sp>
        <p:nvSpPr>
          <p:cNvPr id="59" name="Freeform 59"/>
          <p:cNvSpPr/>
          <p:nvPr/>
        </p:nvSpPr>
        <p:spPr>
          <a:xfrm>
            <a:off x="38100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moveTo>
                  <a:pt x="0" y="0"/>
                </a:moveTo>
                <a:lnTo>
                  <a:pt x="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0" name="Freeform 60"/>
          <p:cNvSpPr/>
          <p:nvPr/>
        </p:nvSpPr>
        <p:spPr>
          <a:xfrm>
            <a:off x="1171575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0"/>
                </a:lnTo>
                <a:moveTo>
                  <a:pt x="95250" y="0"/>
                </a:moveTo>
                <a:lnTo>
                  <a:pt x="9525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1" name="Freeform 61"/>
          <p:cNvSpPr/>
          <p:nvPr/>
        </p:nvSpPr>
        <p:spPr>
          <a:xfrm>
            <a:off x="38100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moveTo>
                  <a:pt x="0" y="9525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2" name="Freeform 62"/>
          <p:cNvSpPr/>
          <p:nvPr/>
        </p:nvSpPr>
        <p:spPr>
          <a:xfrm>
            <a:off x="1171575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95250"/>
                </a:moveTo>
                <a:lnTo>
                  <a:pt x="0" y="95250"/>
                </a:lnTo>
                <a:moveTo>
                  <a:pt x="95250" y="95250"/>
                </a:moveTo>
                <a:lnTo>
                  <a:pt x="95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3" name="Line 6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EAEA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370522" y="6530816"/>
            <a:ext cx="21175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数据来源：312下午供应商联盟分享材料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784294" y="6530816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核心方法论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451479" y="651462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77777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14375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"/>
            <a:ext cx="12192000" cy="952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704850"/>
            <a:ext cx="12192000" cy="2857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66675" y="190500"/>
            <a:ext cx="342900" cy="342900"/>
          </a:xfrm>
          <a:prstGeom prst="ellipse">
            <a:avLst/>
          </a:prstGeom>
          <a:noFill/>
          <a:ln w="9525">
            <a:solidFill>
              <a:srgbClr val="C9A962">
                <a:alpha val="3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61925" y="285750"/>
            <a:ext cx="152400" cy="152400"/>
          </a:xfrm>
          <a:prstGeom prst="ellipse">
            <a:avLst/>
          </a:prstGeom>
          <a:noFill/>
          <a:ln w="4762">
            <a:solidFill>
              <a:srgbClr val="C9A962">
                <a:alpha val="2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09550" y="333375"/>
            <a:ext cx="57150" cy="57150"/>
          </a:xfrm>
          <a:prstGeom prst="ellipse">
            <a:avLst/>
          </a:prstGeom>
          <a:solidFill>
            <a:srgbClr val="C9A962">
              <a:alpha val="2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01015" y="262890"/>
            <a:ext cx="2474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ABC分级竞争机制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19327" y="307181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763375" y="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28625" y="0"/>
                </a:moveTo>
                <a:lnTo>
                  <a:pt x="428625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9A0E26">
              <a:alpha val="30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11953875" y="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238125" y="238125"/>
                </a:lnTo>
                <a:lnTo>
                  <a:pt x="0" y="0"/>
                </a:lnTo>
                <a:close/>
              </a:path>
            </a:pathLst>
          </a:cu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81000" y="904875"/>
            <a:ext cx="38100" cy="22860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381000" y="1114425"/>
            <a:ext cx="38100" cy="381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08635" y="956310"/>
            <a:ext cx="56563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同等级竞争保证公平感，但固定名单额度导致"阶层固化"是失败核心原因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71500" y="1428750"/>
            <a:ext cx="4572000" cy="4572000"/>
            <a:chOff x="571500" y="1428750"/>
            <a:chExt cx="4572000" cy="4572000"/>
          </a:xfrm>
        </p:grpSpPr>
        <p:sp>
          <p:nvSpPr>
            <p:cNvPr id="16" name="Freeform 16"/>
            <p:cNvSpPr/>
            <p:nvPr/>
          </p:nvSpPr>
          <p:spPr>
            <a:xfrm>
              <a:off x="571500" y="1428750"/>
              <a:ext cx="4572000" cy="4572000"/>
            </a:xfrm>
            <a:custGeom>
              <a:avLst/>
              <a:gdLst/>
              <a:ahLst/>
              <a:cxnLst/>
              <a:rect l="l" t="t" r="r" b="b"/>
              <a:pathLst>
                <a:path w="4572000" h="4572000">
                  <a:moveTo>
                    <a:pt x="38100" y="0"/>
                  </a:moveTo>
                  <a:lnTo>
                    <a:pt x="4533900" y="0"/>
                  </a:lnTo>
                  <a:cubicBezTo>
                    <a:pt x="4554942" y="0"/>
                    <a:pt x="4572000" y="17058"/>
                    <a:pt x="4572000" y="38100"/>
                  </a:cubicBezTo>
                  <a:lnTo>
                    <a:pt x="4572000" y="4533900"/>
                  </a:lnTo>
                  <a:cubicBezTo>
                    <a:pt x="4572000" y="4554942"/>
                    <a:pt x="4554942" y="4572000"/>
                    <a:pt x="4533900" y="4572000"/>
                  </a:cubicBezTo>
                  <a:lnTo>
                    <a:pt x="38100" y="4572000"/>
                  </a:lnTo>
                  <a:cubicBezTo>
                    <a:pt x="17058" y="4572000"/>
                    <a:pt x="0" y="4554942"/>
                    <a:pt x="0" y="453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1428750"/>
              <a:ext cx="38100" cy="4572000"/>
            </a:xfrm>
            <a:prstGeom prst="rect">
              <a:avLst/>
            </a:prstGeom>
            <a:solidFill>
              <a:srgbClr val="C4123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0575" y="16287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核心原则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762000" y="1952625"/>
              <a:ext cx="4143375" cy="1190625"/>
            </a:xfrm>
            <a:custGeom>
              <a:avLst/>
              <a:gdLst/>
              <a:ahLst/>
              <a:cxnLst/>
              <a:rect l="l" t="t" r="r" b="b"/>
              <a:pathLst>
                <a:path w="4143375" h="1190625">
                  <a:moveTo>
                    <a:pt x="38100" y="0"/>
                  </a:moveTo>
                  <a:lnTo>
                    <a:pt x="4105275" y="0"/>
                  </a:lnTo>
                  <a:cubicBezTo>
                    <a:pt x="4126317" y="0"/>
                    <a:pt x="4143375" y="17058"/>
                    <a:pt x="4143375" y="38100"/>
                  </a:cubicBezTo>
                  <a:lnTo>
                    <a:pt x="4143375" y="1152525"/>
                  </a:lnTo>
                  <a:cubicBezTo>
                    <a:pt x="4143375" y="1173567"/>
                    <a:pt x="4126317" y="1190625"/>
                    <a:pt x="4105275" y="1190625"/>
                  </a:cubicBezTo>
                  <a:lnTo>
                    <a:pt x="38100" y="1190625"/>
                  </a:lnTo>
                  <a:cubicBezTo>
                    <a:pt x="17058" y="1190625"/>
                    <a:pt x="0" y="1173567"/>
                    <a:pt x="0" y="11525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904875" y="2095500"/>
              <a:ext cx="381000" cy="381000"/>
            </a:xfrm>
            <a:prstGeom prst="ellipse">
              <a:avLst/>
            </a:prstGeom>
            <a:solidFill>
              <a:srgbClr val="C4123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7176" y="219741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12558" y="2100739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同等级竞争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15415" y="2363152"/>
              <a:ext cx="2035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C级不越级A级，保证竞争信心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5415" y="2601278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C打赢C升B，B打赢B升A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15415" y="28394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清晰晋升路径，不跨级挑战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62000" y="3286125"/>
              <a:ext cx="4143375" cy="1190625"/>
            </a:xfrm>
            <a:custGeom>
              <a:avLst/>
              <a:gdLst/>
              <a:ahLst/>
              <a:cxnLst/>
              <a:rect l="l" t="t" r="r" b="b"/>
              <a:pathLst>
                <a:path w="4143375" h="1190625">
                  <a:moveTo>
                    <a:pt x="38100" y="0"/>
                  </a:moveTo>
                  <a:lnTo>
                    <a:pt x="4105275" y="0"/>
                  </a:lnTo>
                  <a:cubicBezTo>
                    <a:pt x="4126317" y="0"/>
                    <a:pt x="4143375" y="17058"/>
                    <a:pt x="4143375" y="38100"/>
                  </a:cubicBezTo>
                  <a:lnTo>
                    <a:pt x="4143375" y="1152525"/>
                  </a:lnTo>
                  <a:cubicBezTo>
                    <a:pt x="4143375" y="1173567"/>
                    <a:pt x="4126317" y="1190625"/>
                    <a:pt x="4105275" y="1190625"/>
                  </a:cubicBezTo>
                  <a:lnTo>
                    <a:pt x="38100" y="1190625"/>
                  </a:lnTo>
                  <a:cubicBezTo>
                    <a:pt x="17058" y="1190625"/>
                    <a:pt x="0" y="1173567"/>
                    <a:pt x="0" y="11525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04875" y="3429000"/>
              <a:ext cx="381000" cy="381000"/>
            </a:xfrm>
            <a:prstGeom prst="ellipse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21298" y="35309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12558" y="343423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名单量差异化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15415" y="3696652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A级比C级多15条名单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15415" y="39347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额外奖励给能力突出的批次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15415" y="4172902"/>
              <a:ext cx="16445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手动+预测外呼均差异化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762000" y="4619625"/>
              <a:ext cx="4143375" cy="1190625"/>
            </a:xfrm>
            <a:custGeom>
              <a:avLst/>
              <a:gdLst/>
              <a:ahLst/>
              <a:cxnLst/>
              <a:rect l="l" t="t" r="r" b="b"/>
              <a:pathLst>
                <a:path w="4143375" h="1190625">
                  <a:moveTo>
                    <a:pt x="38100" y="0"/>
                  </a:moveTo>
                  <a:lnTo>
                    <a:pt x="4105275" y="0"/>
                  </a:lnTo>
                  <a:cubicBezTo>
                    <a:pt x="4126317" y="0"/>
                    <a:pt x="4143375" y="17058"/>
                    <a:pt x="4143375" y="38100"/>
                  </a:cubicBezTo>
                  <a:lnTo>
                    <a:pt x="4143375" y="1152525"/>
                  </a:lnTo>
                  <a:cubicBezTo>
                    <a:pt x="4143375" y="1173567"/>
                    <a:pt x="4126317" y="1190625"/>
                    <a:pt x="4105275" y="1190625"/>
                  </a:cubicBezTo>
                  <a:lnTo>
                    <a:pt x="38100" y="1190625"/>
                  </a:lnTo>
                  <a:cubicBezTo>
                    <a:pt x="17058" y="1190625"/>
                    <a:pt x="0" y="1173567"/>
                    <a:pt x="0" y="11525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04875" y="4762500"/>
              <a:ext cx="381000" cy="3810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1298" y="48644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12558" y="4767739"/>
              <a:ext cx="18409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5S管理 + 可视化激励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15415" y="50301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龙虎榜、追踪榜、光榜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15415" y="526827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明确个人和团队排名位置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15415" y="55064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从小的执行要求入手训练执行力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429250" y="1428750"/>
            <a:ext cx="6191250" cy="4572000"/>
            <a:chOff x="5429250" y="1428750"/>
            <a:chExt cx="6191250" cy="4572000"/>
          </a:xfrm>
        </p:grpSpPr>
        <p:sp>
          <p:nvSpPr>
            <p:cNvPr id="41" name="Freeform 41"/>
            <p:cNvSpPr/>
            <p:nvPr/>
          </p:nvSpPr>
          <p:spPr>
            <a:xfrm>
              <a:off x="5429250" y="1428750"/>
              <a:ext cx="6191250" cy="4572000"/>
            </a:xfrm>
            <a:custGeom>
              <a:avLst/>
              <a:gdLst/>
              <a:ahLst/>
              <a:cxnLst/>
              <a:rect l="l" t="t" r="r" b="b"/>
              <a:pathLst>
                <a:path w="6191250" h="4572000">
                  <a:moveTo>
                    <a:pt x="38100" y="0"/>
                  </a:moveTo>
                  <a:lnTo>
                    <a:pt x="6153150" y="0"/>
                  </a:lnTo>
                  <a:cubicBezTo>
                    <a:pt x="6174192" y="0"/>
                    <a:pt x="6191250" y="17058"/>
                    <a:pt x="6191250" y="38100"/>
                  </a:cubicBezTo>
                  <a:lnTo>
                    <a:pt x="6191250" y="4533900"/>
                  </a:lnTo>
                  <a:cubicBezTo>
                    <a:pt x="6191250" y="4554942"/>
                    <a:pt x="6174192" y="4572000"/>
                    <a:pt x="6153150" y="4572000"/>
                  </a:cubicBezTo>
                  <a:lnTo>
                    <a:pt x="38100" y="4572000"/>
                  </a:lnTo>
                  <a:cubicBezTo>
                    <a:pt x="17058" y="4572000"/>
                    <a:pt x="0" y="4554942"/>
                    <a:pt x="0" y="453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0" y="1428750"/>
              <a:ext cx="38100" cy="457200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48325" y="1628775"/>
              <a:ext cx="30284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失败教训：王者荣耀段位分级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5953125" y="2047875"/>
              <a:ext cx="9525" cy="3381375"/>
            </a:xfrm>
            <a:custGeom>
              <a:avLst/>
              <a:gdLst/>
              <a:ahLst/>
              <a:cxnLst/>
              <a:rect l="l" t="t" r="r" b="b"/>
              <a:pathLst>
                <a:path w="9525" h="3381375">
                  <a:moveTo>
                    <a:pt x="0" y="0"/>
                  </a:moveTo>
                  <a:lnTo>
                    <a:pt x="0" y="3381375"/>
                  </a:lnTo>
                </a:path>
              </a:pathLst>
            </a:custGeom>
            <a:noFill/>
            <a:ln w="19050">
              <a:solidFill>
                <a:srgbClr val="C9A962">
                  <a:alpha val="30000"/>
                </a:srgbClr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5819775" y="2200275"/>
              <a:ext cx="266700" cy="266700"/>
            </a:xfrm>
            <a:prstGeom prst="ellipse">
              <a:avLst/>
            </a:prstGeom>
            <a:solidFill>
              <a:srgbClr val="C4123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23670" y="2292191"/>
              <a:ext cx="58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!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238875" y="2095500"/>
              <a:ext cx="5048250" cy="857250"/>
            </a:xfrm>
            <a:custGeom>
              <a:avLst/>
              <a:gdLst/>
              <a:ahLst/>
              <a:cxnLst/>
              <a:rect l="l" t="t" r="r" b="b"/>
              <a:pathLst>
                <a:path w="5048250" h="857250">
                  <a:moveTo>
                    <a:pt x="38100" y="0"/>
                  </a:moveTo>
                  <a:lnTo>
                    <a:pt x="5010150" y="0"/>
                  </a:lnTo>
                  <a:cubicBezTo>
                    <a:pt x="5031192" y="0"/>
                    <a:pt x="5048250" y="17058"/>
                    <a:pt x="5048250" y="38100"/>
                  </a:cubicBezTo>
                  <a:lnTo>
                    <a:pt x="5048250" y="819150"/>
                  </a:lnTo>
                  <a:cubicBezTo>
                    <a:pt x="5048250" y="840192"/>
                    <a:pt x="5031192" y="857250"/>
                    <a:pt x="5010150" y="857250"/>
                  </a:cubicBezTo>
                  <a:lnTo>
                    <a:pt x="38100" y="857250"/>
                  </a:lnTo>
                  <a:cubicBezTo>
                    <a:pt x="17058" y="857250"/>
                    <a:pt x="0" y="840192"/>
                    <a:pt x="0" y="819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238875" y="2095500"/>
              <a:ext cx="38100" cy="857250"/>
            </a:xfrm>
            <a:custGeom>
              <a:avLst/>
              <a:gdLst/>
              <a:ahLst/>
              <a:cxnLst/>
              <a:rect l="l" t="t" r="r" b="b"/>
              <a:pathLst>
                <a:path w="38100" h="857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838200"/>
                  </a:lnTo>
                  <a:cubicBezTo>
                    <a:pt x="38100" y="848721"/>
                    <a:pt x="29571" y="857250"/>
                    <a:pt x="19050" y="857250"/>
                  </a:cubicBezTo>
                  <a:lnTo>
                    <a:pt x="19050" y="857250"/>
                  </a:lnTo>
                  <a:cubicBezTo>
                    <a:pt x="8529" y="857250"/>
                    <a:pt x="0" y="848721"/>
                    <a:pt x="0" y="838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4123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14135" y="22517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初期效果很好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16040" y="250602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坐席主动加班冲业绩，段位晋升激励明显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16992" y="273319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按周度业绩升降档，对应不同名单额度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819775" y="3438525"/>
              <a:ext cx="266700" cy="266700"/>
            </a:xfrm>
            <a:prstGeom prst="ellipse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07856" y="353044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?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6238875" y="3333750"/>
              <a:ext cx="5048250" cy="857250"/>
            </a:xfrm>
            <a:custGeom>
              <a:avLst/>
              <a:gdLst/>
              <a:ahLst/>
              <a:cxnLst/>
              <a:rect l="l" t="t" r="r" b="b"/>
              <a:pathLst>
                <a:path w="5048250" h="857250">
                  <a:moveTo>
                    <a:pt x="38100" y="0"/>
                  </a:moveTo>
                  <a:lnTo>
                    <a:pt x="5010150" y="0"/>
                  </a:lnTo>
                  <a:cubicBezTo>
                    <a:pt x="5031192" y="0"/>
                    <a:pt x="5048250" y="17058"/>
                    <a:pt x="5048250" y="38100"/>
                  </a:cubicBezTo>
                  <a:lnTo>
                    <a:pt x="5048250" y="819150"/>
                  </a:lnTo>
                  <a:cubicBezTo>
                    <a:pt x="5048250" y="840192"/>
                    <a:pt x="5031192" y="857250"/>
                    <a:pt x="5010150" y="857250"/>
                  </a:cubicBezTo>
                  <a:lnTo>
                    <a:pt x="38100" y="857250"/>
                  </a:lnTo>
                  <a:cubicBezTo>
                    <a:pt x="17058" y="857250"/>
                    <a:pt x="0" y="840192"/>
                    <a:pt x="0" y="819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6238875" y="3333750"/>
              <a:ext cx="38100" cy="857250"/>
            </a:xfrm>
            <a:custGeom>
              <a:avLst/>
              <a:gdLst/>
              <a:ahLst/>
              <a:cxnLst/>
              <a:rect l="l" t="t" r="r" b="b"/>
              <a:pathLst>
                <a:path w="38100" h="857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838200"/>
                  </a:lnTo>
                  <a:cubicBezTo>
                    <a:pt x="38100" y="848721"/>
                    <a:pt x="29571" y="857250"/>
                    <a:pt x="19050" y="857250"/>
                  </a:cubicBezTo>
                  <a:lnTo>
                    <a:pt x="19050" y="857250"/>
                  </a:lnTo>
                  <a:cubicBezTo>
                    <a:pt x="8529" y="857250"/>
                    <a:pt x="0" y="848721"/>
                    <a:pt x="0" y="838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9A96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14135" y="34899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问题逐渐暴露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16040" y="37442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分级后直接对应固定名单额度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16992" y="3971449"/>
              <a:ext cx="30293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低段位坐席认为"永远升不上去"，产生不公平感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819775" y="4676775"/>
              <a:ext cx="266700" cy="266700"/>
            </a:xfrm>
            <a:prstGeom prst="ellipse">
              <a:avLst/>
            </a:prstGeom>
            <a:solidFill>
              <a:srgbClr val="9A0E2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07856" y="476869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x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6238875" y="4572000"/>
              <a:ext cx="5048250" cy="857250"/>
            </a:xfrm>
            <a:custGeom>
              <a:avLst/>
              <a:gdLst/>
              <a:ahLst/>
              <a:cxnLst/>
              <a:rect l="l" t="t" r="r" b="b"/>
              <a:pathLst>
                <a:path w="5048250" h="857250">
                  <a:moveTo>
                    <a:pt x="38100" y="0"/>
                  </a:moveTo>
                  <a:lnTo>
                    <a:pt x="5010150" y="0"/>
                  </a:lnTo>
                  <a:cubicBezTo>
                    <a:pt x="5031192" y="0"/>
                    <a:pt x="5048250" y="17058"/>
                    <a:pt x="5048250" y="38100"/>
                  </a:cubicBezTo>
                  <a:lnTo>
                    <a:pt x="5048250" y="819150"/>
                  </a:lnTo>
                  <a:cubicBezTo>
                    <a:pt x="5048250" y="840192"/>
                    <a:pt x="5031192" y="857250"/>
                    <a:pt x="5010150" y="857250"/>
                  </a:cubicBezTo>
                  <a:lnTo>
                    <a:pt x="38100" y="857250"/>
                  </a:lnTo>
                  <a:cubicBezTo>
                    <a:pt x="17058" y="857250"/>
                    <a:pt x="0" y="840192"/>
                    <a:pt x="0" y="819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6238875" y="4572000"/>
              <a:ext cx="38100" cy="857250"/>
            </a:xfrm>
            <a:custGeom>
              <a:avLst/>
              <a:gdLst/>
              <a:ahLst/>
              <a:cxnLst/>
              <a:rect l="l" t="t" r="r" b="b"/>
              <a:pathLst>
                <a:path w="38100" h="857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838200"/>
                  </a:lnTo>
                  <a:cubicBezTo>
                    <a:pt x="38100" y="848721"/>
                    <a:pt x="29571" y="857250"/>
                    <a:pt x="19050" y="857250"/>
                  </a:cubicBezTo>
                  <a:lnTo>
                    <a:pt x="19050" y="857250"/>
                  </a:lnTo>
                  <a:cubicBezTo>
                    <a:pt x="8529" y="857250"/>
                    <a:pt x="0" y="848721"/>
                    <a:pt x="0" y="838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9A0E2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14135" y="47282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A0E26"/>
                  </a:solidFill>
                  <a:latin typeface="Arial"/>
                  <a:ea typeface="Microsoft YaHei"/>
                  <a:cs typeface="Arial"/>
                </a:rPr>
                <a:t>效果逐渐下滑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16040" y="49825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产生倦怠情绪，激励效果消退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16992" y="520969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慢慢失去动力，整体效果不如预期</a:t>
              </a:r>
            </a:p>
          </p:txBody>
        </p:sp>
      </p:grpSp>
      <p:sp>
        <p:nvSpPr>
          <p:cNvPr id="67" name="Freeform 67"/>
          <p:cNvSpPr/>
          <p:nvPr/>
        </p:nvSpPr>
        <p:spPr>
          <a:xfrm>
            <a:off x="38100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moveTo>
                  <a:pt x="0" y="0"/>
                </a:moveTo>
                <a:lnTo>
                  <a:pt x="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8" name="Freeform 68"/>
          <p:cNvSpPr/>
          <p:nvPr/>
        </p:nvSpPr>
        <p:spPr>
          <a:xfrm>
            <a:off x="1171575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0"/>
                </a:lnTo>
                <a:moveTo>
                  <a:pt x="95250" y="0"/>
                </a:moveTo>
                <a:lnTo>
                  <a:pt x="9525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9" name="Freeform 69"/>
          <p:cNvSpPr/>
          <p:nvPr/>
        </p:nvSpPr>
        <p:spPr>
          <a:xfrm>
            <a:off x="38100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moveTo>
                  <a:pt x="0" y="9525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70" name="Freeform 70"/>
          <p:cNvSpPr/>
          <p:nvPr/>
        </p:nvSpPr>
        <p:spPr>
          <a:xfrm>
            <a:off x="1171575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95250"/>
                </a:moveTo>
                <a:lnTo>
                  <a:pt x="0" y="95250"/>
                </a:lnTo>
                <a:moveTo>
                  <a:pt x="95250" y="95250"/>
                </a:moveTo>
                <a:lnTo>
                  <a:pt x="95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71" name="Line 7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EAEA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370522" y="6530816"/>
            <a:ext cx="36718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数据来源：312下午供应商联盟分享材料 | 过往段位分级失败案例分析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784294" y="6530816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核心方法论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451479" y="651462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77777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14375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"/>
            <a:ext cx="12192000" cy="952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704850"/>
            <a:ext cx="12192000" cy="2857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66675" y="190500"/>
            <a:ext cx="342900" cy="342900"/>
          </a:xfrm>
          <a:prstGeom prst="ellipse">
            <a:avLst/>
          </a:prstGeom>
          <a:noFill/>
          <a:ln w="9525">
            <a:solidFill>
              <a:srgbClr val="C9A962">
                <a:alpha val="3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61925" y="285750"/>
            <a:ext cx="152400" cy="152400"/>
          </a:xfrm>
          <a:prstGeom prst="ellipse">
            <a:avLst/>
          </a:prstGeom>
          <a:noFill/>
          <a:ln w="4762">
            <a:solidFill>
              <a:srgbClr val="C9A962">
                <a:alpha val="2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09550" y="333375"/>
            <a:ext cx="57150" cy="57150"/>
          </a:xfrm>
          <a:prstGeom prst="ellipse">
            <a:avLst/>
          </a:prstGeom>
          <a:solidFill>
            <a:srgbClr val="C9A962">
              <a:alpha val="2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01015" y="262890"/>
            <a:ext cx="28474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名单全生命周期管理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19327" y="307181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763375" y="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28625" y="0"/>
                </a:moveTo>
                <a:lnTo>
                  <a:pt x="428625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9A0E26">
              <a:alpha val="30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11953875" y="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238125" y="238125"/>
                </a:lnTo>
                <a:lnTo>
                  <a:pt x="0" y="0"/>
                </a:lnTo>
                <a:close/>
              </a:path>
            </a:pathLst>
          </a:cu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81000" y="904875"/>
            <a:ext cx="38100" cy="22860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381000" y="1114425"/>
            <a:ext cx="38100" cy="381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08635" y="956310"/>
            <a:ext cx="58140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精细化名单管控是提升转化效率的关键，从静置到拨打到回收形成完整闭环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1476375"/>
            <a:ext cx="11049000" cy="714375"/>
            <a:chOff x="571500" y="1476375"/>
            <a:chExt cx="11049000" cy="714375"/>
          </a:xfrm>
        </p:grpSpPr>
        <p:sp>
          <p:nvSpPr>
            <p:cNvPr id="16" name="Freeform 16"/>
            <p:cNvSpPr/>
            <p:nvPr/>
          </p:nvSpPr>
          <p:spPr>
            <a:xfrm>
              <a:off x="571500" y="1476375"/>
              <a:ext cx="11049000" cy="714375"/>
            </a:xfrm>
            <a:custGeom>
              <a:avLst/>
              <a:gdLst/>
              <a:ahLst/>
              <a:cxnLst/>
              <a:rect l="l" t="t" r="r" b="b"/>
              <a:pathLst>
                <a:path w="11049000" h="714375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676275"/>
                  </a:lnTo>
                  <a:cubicBezTo>
                    <a:pt x="11049000" y="697317"/>
                    <a:pt x="11031942" y="714375"/>
                    <a:pt x="11010900" y="714375"/>
                  </a:cubicBezTo>
                  <a:lnTo>
                    <a:pt x="38100" y="714375"/>
                  </a:lnTo>
                  <a:cubicBezTo>
                    <a:pt x="17058" y="714375"/>
                    <a:pt x="0" y="697317"/>
                    <a:pt x="0" y="6762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71500" y="1476375"/>
              <a:ext cx="38100" cy="714375"/>
            </a:xfrm>
            <a:custGeom>
              <a:avLst/>
              <a:gdLst/>
              <a:ahLst/>
              <a:cxnLst/>
              <a:rect l="l" t="t" r="r" b="b"/>
              <a:pathLst>
                <a:path w="38100" h="714375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695325"/>
                  </a:lnTo>
                  <a:cubicBezTo>
                    <a:pt x="38100" y="705846"/>
                    <a:pt x="29571" y="714375"/>
                    <a:pt x="19050" y="714375"/>
                  </a:cubicBezTo>
                  <a:lnTo>
                    <a:pt x="19050" y="714375"/>
                  </a:lnTo>
                  <a:cubicBezTo>
                    <a:pt x="8529" y="714375"/>
                    <a:pt x="0" y="705846"/>
                    <a:pt x="0" y="69532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41230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90575" y="1619250"/>
              <a:ext cx="419100" cy="419100"/>
            </a:xfrm>
            <a:prstGeom prst="ellipse">
              <a:avLst/>
            </a:prstGeom>
            <a:solidFill>
              <a:srgbClr val="C4123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7282" y="1765935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64932" y="1624489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新名单静置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7790" y="1886902"/>
              <a:ext cx="32087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2-3天不动用，给名单"冷静期"，避免过早浪费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2333625"/>
            <a:ext cx="11049000" cy="714375"/>
            <a:chOff x="571500" y="2333625"/>
            <a:chExt cx="11049000" cy="714375"/>
          </a:xfrm>
        </p:grpSpPr>
        <p:sp>
          <p:nvSpPr>
            <p:cNvPr id="23" name="Freeform 23"/>
            <p:cNvSpPr/>
            <p:nvPr/>
          </p:nvSpPr>
          <p:spPr>
            <a:xfrm>
              <a:off x="571500" y="2333625"/>
              <a:ext cx="11049000" cy="714375"/>
            </a:xfrm>
            <a:custGeom>
              <a:avLst/>
              <a:gdLst/>
              <a:ahLst/>
              <a:cxnLst/>
              <a:rect l="l" t="t" r="r" b="b"/>
              <a:pathLst>
                <a:path w="11049000" h="714375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676275"/>
                  </a:lnTo>
                  <a:cubicBezTo>
                    <a:pt x="11049000" y="697317"/>
                    <a:pt x="11031942" y="714375"/>
                    <a:pt x="11010900" y="714375"/>
                  </a:cubicBezTo>
                  <a:lnTo>
                    <a:pt x="38100" y="714375"/>
                  </a:lnTo>
                  <a:cubicBezTo>
                    <a:pt x="17058" y="714375"/>
                    <a:pt x="0" y="697317"/>
                    <a:pt x="0" y="6762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71500" y="2333625"/>
              <a:ext cx="38100" cy="714375"/>
            </a:xfrm>
            <a:custGeom>
              <a:avLst/>
              <a:gdLst/>
              <a:ahLst/>
              <a:cxnLst/>
              <a:rect l="l" t="t" r="r" b="b"/>
              <a:pathLst>
                <a:path w="38100" h="714375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695325"/>
                  </a:lnTo>
                  <a:cubicBezTo>
                    <a:pt x="38100" y="705846"/>
                    <a:pt x="29571" y="714375"/>
                    <a:pt x="19050" y="714375"/>
                  </a:cubicBezTo>
                  <a:lnTo>
                    <a:pt x="19050" y="714375"/>
                  </a:lnTo>
                  <a:cubicBezTo>
                    <a:pt x="8529" y="714375"/>
                    <a:pt x="0" y="705846"/>
                    <a:pt x="0" y="69532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41230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90575" y="2476500"/>
              <a:ext cx="419100" cy="419100"/>
            </a:xfrm>
            <a:prstGeom prst="ellipse">
              <a:avLst/>
            </a:prstGeom>
            <a:solidFill>
              <a:srgbClr val="C4123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4279" y="26231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64932" y="248173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拨打频次控制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67790" y="2744152"/>
              <a:ext cx="37454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单名单拨打频次 ≤ 40次，超频停止拨打，避免投诉违规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3190875"/>
            <a:ext cx="11049000" cy="714375"/>
            <a:chOff x="571500" y="3190875"/>
            <a:chExt cx="11049000" cy="714375"/>
          </a:xfrm>
        </p:grpSpPr>
        <p:sp>
          <p:nvSpPr>
            <p:cNvPr id="30" name="Freeform 30"/>
            <p:cNvSpPr/>
            <p:nvPr/>
          </p:nvSpPr>
          <p:spPr>
            <a:xfrm>
              <a:off x="571500" y="3190875"/>
              <a:ext cx="11049000" cy="714375"/>
            </a:xfrm>
            <a:custGeom>
              <a:avLst/>
              <a:gdLst/>
              <a:ahLst/>
              <a:cxnLst/>
              <a:rect l="l" t="t" r="r" b="b"/>
              <a:pathLst>
                <a:path w="11049000" h="714375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676275"/>
                  </a:lnTo>
                  <a:cubicBezTo>
                    <a:pt x="11049000" y="697317"/>
                    <a:pt x="11031942" y="714375"/>
                    <a:pt x="11010900" y="714375"/>
                  </a:cubicBezTo>
                  <a:lnTo>
                    <a:pt x="38100" y="714375"/>
                  </a:lnTo>
                  <a:cubicBezTo>
                    <a:pt x="17058" y="714375"/>
                    <a:pt x="0" y="697317"/>
                    <a:pt x="0" y="6762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71500" y="3190875"/>
              <a:ext cx="38100" cy="714375"/>
            </a:xfrm>
            <a:custGeom>
              <a:avLst/>
              <a:gdLst/>
              <a:ahLst/>
              <a:cxnLst/>
              <a:rect l="l" t="t" r="r" b="b"/>
              <a:pathLst>
                <a:path w="38100" h="714375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695325"/>
                  </a:lnTo>
                  <a:cubicBezTo>
                    <a:pt x="38100" y="705846"/>
                    <a:pt x="29571" y="714375"/>
                    <a:pt x="19050" y="714375"/>
                  </a:cubicBezTo>
                  <a:lnTo>
                    <a:pt x="19050" y="714375"/>
                  </a:lnTo>
                  <a:cubicBezTo>
                    <a:pt x="8529" y="714375"/>
                    <a:pt x="0" y="705846"/>
                    <a:pt x="0" y="69532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9A96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90575" y="3333750"/>
              <a:ext cx="419100" cy="419100"/>
            </a:xfrm>
            <a:prstGeom prst="ellipse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4279" y="34804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64932" y="333898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黄金时段策略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67790" y="3601402"/>
              <a:ext cx="41441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18:30-19:30 接通率第二高，全部拨打新名单，疑难客户跟进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4048125"/>
            <a:ext cx="11049000" cy="714375"/>
            <a:chOff x="571500" y="4048125"/>
            <a:chExt cx="11049000" cy="714375"/>
          </a:xfrm>
        </p:grpSpPr>
        <p:sp>
          <p:nvSpPr>
            <p:cNvPr id="37" name="Freeform 37"/>
            <p:cNvSpPr/>
            <p:nvPr/>
          </p:nvSpPr>
          <p:spPr>
            <a:xfrm>
              <a:off x="571500" y="4048125"/>
              <a:ext cx="11049000" cy="714375"/>
            </a:xfrm>
            <a:custGeom>
              <a:avLst/>
              <a:gdLst/>
              <a:ahLst/>
              <a:cxnLst/>
              <a:rect l="l" t="t" r="r" b="b"/>
              <a:pathLst>
                <a:path w="11049000" h="714375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676275"/>
                  </a:lnTo>
                  <a:cubicBezTo>
                    <a:pt x="11049000" y="697317"/>
                    <a:pt x="11031942" y="714375"/>
                    <a:pt x="11010900" y="714375"/>
                  </a:cubicBezTo>
                  <a:lnTo>
                    <a:pt x="38100" y="714375"/>
                  </a:lnTo>
                  <a:cubicBezTo>
                    <a:pt x="17058" y="714375"/>
                    <a:pt x="0" y="697317"/>
                    <a:pt x="0" y="6762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71500" y="4048125"/>
              <a:ext cx="38100" cy="714375"/>
            </a:xfrm>
            <a:custGeom>
              <a:avLst/>
              <a:gdLst/>
              <a:ahLst/>
              <a:cxnLst/>
              <a:rect l="l" t="t" r="r" b="b"/>
              <a:pathLst>
                <a:path w="38100" h="714375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695325"/>
                  </a:lnTo>
                  <a:cubicBezTo>
                    <a:pt x="38100" y="705846"/>
                    <a:pt x="29571" y="714375"/>
                    <a:pt x="19050" y="714375"/>
                  </a:cubicBezTo>
                  <a:lnTo>
                    <a:pt x="19050" y="714375"/>
                  </a:lnTo>
                  <a:cubicBezTo>
                    <a:pt x="8529" y="714375"/>
                    <a:pt x="0" y="705846"/>
                    <a:pt x="0" y="69532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790575" y="4191000"/>
              <a:ext cx="419100" cy="419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4279" y="43376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64932" y="419623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周末全量回收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67790" y="4458652"/>
              <a:ext cx="43205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周一全量清零手中名单，请假直接清零，保证名单资源不被闲置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1500" y="4905375"/>
            <a:ext cx="11049000" cy="714375"/>
            <a:chOff x="571500" y="4905375"/>
            <a:chExt cx="11049000" cy="714375"/>
          </a:xfrm>
        </p:grpSpPr>
        <p:sp>
          <p:nvSpPr>
            <p:cNvPr id="44" name="Freeform 44"/>
            <p:cNvSpPr/>
            <p:nvPr/>
          </p:nvSpPr>
          <p:spPr>
            <a:xfrm>
              <a:off x="571500" y="4905375"/>
              <a:ext cx="11049000" cy="714375"/>
            </a:xfrm>
            <a:custGeom>
              <a:avLst/>
              <a:gdLst/>
              <a:ahLst/>
              <a:cxnLst/>
              <a:rect l="l" t="t" r="r" b="b"/>
              <a:pathLst>
                <a:path w="11049000" h="714375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676275"/>
                  </a:lnTo>
                  <a:cubicBezTo>
                    <a:pt x="11049000" y="697317"/>
                    <a:pt x="11031942" y="714375"/>
                    <a:pt x="11010900" y="714375"/>
                  </a:cubicBezTo>
                  <a:lnTo>
                    <a:pt x="38100" y="714375"/>
                  </a:lnTo>
                  <a:cubicBezTo>
                    <a:pt x="17058" y="714375"/>
                    <a:pt x="0" y="697317"/>
                    <a:pt x="0" y="6762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571500" y="4905375"/>
              <a:ext cx="38100" cy="714375"/>
            </a:xfrm>
            <a:custGeom>
              <a:avLst/>
              <a:gdLst/>
              <a:ahLst/>
              <a:cxnLst/>
              <a:rect l="l" t="t" r="r" b="b"/>
              <a:pathLst>
                <a:path w="38100" h="714375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695325"/>
                  </a:lnTo>
                  <a:cubicBezTo>
                    <a:pt x="38100" y="705846"/>
                    <a:pt x="29571" y="714375"/>
                    <a:pt x="19050" y="714375"/>
                  </a:cubicBezTo>
                  <a:lnTo>
                    <a:pt x="19050" y="714375"/>
                  </a:lnTo>
                  <a:cubicBezTo>
                    <a:pt x="8529" y="714375"/>
                    <a:pt x="0" y="705846"/>
                    <a:pt x="0" y="69532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90575" y="5048250"/>
              <a:ext cx="419100" cy="419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4279" y="51949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64932" y="5053489"/>
              <a:ext cx="20169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客户分级 + 高价值匹配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67790" y="5315902"/>
              <a:ext cx="49952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ABCD标签体系，5万+额度名单优先分配给态度/能力/结果指标最优的坐席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38100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moveTo>
                  <a:pt x="0" y="0"/>
                </a:moveTo>
                <a:lnTo>
                  <a:pt x="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52" name="Freeform 52"/>
          <p:cNvSpPr/>
          <p:nvPr/>
        </p:nvSpPr>
        <p:spPr>
          <a:xfrm>
            <a:off x="1171575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0"/>
                </a:lnTo>
                <a:moveTo>
                  <a:pt x="95250" y="0"/>
                </a:moveTo>
                <a:lnTo>
                  <a:pt x="9525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53" name="Freeform 53"/>
          <p:cNvSpPr/>
          <p:nvPr/>
        </p:nvSpPr>
        <p:spPr>
          <a:xfrm>
            <a:off x="38100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moveTo>
                  <a:pt x="0" y="9525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54" name="Freeform 54"/>
          <p:cNvSpPr/>
          <p:nvPr/>
        </p:nvSpPr>
        <p:spPr>
          <a:xfrm>
            <a:off x="1171575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95250"/>
                </a:moveTo>
                <a:lnTo>
                  <a:pt x="0" y="95250"/>
                </a:lnTo>
                <a:moveTo>
                  <a:pt x="95250" y="95250"/>
                </a:moveTo>
                <a:lnTo>
                  <a:pt x="95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55" name="Line 5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EAEA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370522" y="6530816"/>
            <a:ext cx="39128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数据来源：312下午供应商联盟分享材料 | 名单管控规则与分时段拨打策略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784294" y="6530816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核心方法论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51479" y="651462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77777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A0E2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191250" y="0"/>
            <a:ext cx="6000750" cy="6858000"/>
          </a:xfrm>
          <a:custGeom>
            <a:avLst/>
            <a:gdLst/>
            <a:ahLst/>
            <a:cxnLst/>
            <a:rect l="l" t="t" r="r" b="b"/>
            <a:pathLst>
              <a:path w="6000750" h="6858000">
                <a:moveTo>
                  <a:pt x="1905000" y="0"/>
                </a:moveTo>
                <a:lnTo>
                  <a:pt x="6000750" y="0"/>
                </a:lnTo>
                <a:lnTo>
                  <a:pt x="60007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81028">
              <a:alpha val="60000"/>
            </a:srgbClr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7143750" y="0"/>
            <a:ext cx="5048250" cy="6858000"/>
          </a:xfrm>
          <a:custGeom>
            <a:avLst/>
            <a:gdLst/>
            <a:ahLst/>
            <a:cxnLst/>
            <a:rect l="l" t="t" r="r" b="b"/>
            <a:pathLst>
              <a:path w="5048250" h="6858000">
                <a:moveTo>
                  <a:pt x="1905000" y="0"/>
                </a:moveTo>
                <a:lnTo>
                  <a:pt x="5048250" y="0"/>
                </a:lnTo>
                <a:lnTo>
                  <a:pt x="50482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31530">
              <a:alpha val="4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8096250" y="0"/>
            <a:ext cx="4095750" cy="6858000"/>
          </a:xfrm>
          <a:custGeom>
            <a:avLst/>
            <a:gdLst/>
            <a:ahLst/>
            <a:cxnLst/>
            <a:rect l="l" t="t" r="r" b="b"/>
            <a:pathLst>
              <a:path w="4095750" h="6858000">
                <a:moveTo>
                  <a:pt x="1905000" y="0"/>
                </a:moveTo>
                <a:lnTo>
                  <a:pt x="4095750" y="0"/>
                </a:lnTo>
                <a:lnTo>
                  <a:pt x="40957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41230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620500" y="0"/>
            <a:ext cx="571500" cy="6858000"/>
          </a:xfrm>
          <a:prstGeom prst="rect">
            <a:avLst/>
          </a:prstGeom>
          <a:solidFill>
            <a:srgbClr val="7A0B1E">
              <a:alpha val="4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2001500" y="0"/>
            <a:ext cx="190500" cy="6858000"/>
          </a:xfrm>
          <a:prstGeom prst="rect">
            <a:avLst/>
          </a:prstGeom>
          <a:solidFill>
            <a:srgbClr val="5A081A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2286000"/>
            <a:ext cx="76200" cy="2286000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2333625"/>
            <a:ext cx="38100" cy="2190750"/>
          </a:xfrm>
          <a:prstGeom prst="rect">
            <a:avLst/>
          </a:prstGeom>
          <a:solidFill>
            <a:srgbClr val="D4B87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0" y="2200275"/>
            <a:ext cx="76200" cy="76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0" y="4581525"/>
            <a:ext cx="76200" cy="76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0" y="571500"/>
            <a:ext cx="2857500" cy="9525"/>
          </a:xfrm>
          <a:prstGeom prst="rect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19125"/>
            <a:ext cx="1905000" cy="9525"/>
          </a:xfrm>
          <a:prstGeom prst="rect">
            <a:avLst/>
          </a:prstGeom>
          <a:solidFill>
            <a:srgbClr val="C9A962">
              <a:alpha val="20000"/>
            </a:srgbClr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9334500" y="2095500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71" y="0"/>
                  <a:pt x="1524000" y="8529"/>
                  <a:pt x="1524000" y="19050"/>
                </a:cubicBezTo>
                <a:lnTo>
                  <a:pt x="1524000" y="19050"/>
                </a:lnTo>
                <a:cubicBezTo>
                  <a:pt x="1524000" y="29571"/>
                  <a:pt x="1515471" y="38100"/>
                  <a:pt x="1504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35000"/>
            </a:srgbClr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9525000" y="2286000"/>
            <a:ext cx="1333500" cy="38100"/>
          </a:xfrm>
          <a:custGeom>
            <a:avLst/>
            <a:gdLst/>
            <a:ahLst/>
            <a:cxnLst/>
            <a:rect l="l" t="t" r="r" b="b"/>
            <a:pathLst>
              <a:path w="1333500" h="38100">
                <a:moveTo>
                  <a:pt x="19050" y="0"/>
                </a:moveTo>
                <a:lnTo>
                  <a:pt x="1314450" y="0"/>
                </a:lnTo>
                <a:cubicBezTo>
                  <a:pt x="1324971" y="0"/>
                  <a:pt x="1333500" y="8529"/>
                  <a:pt x="1333500" y="19050"/>
                </a:cubicBezTo>
                <a:lnTo>
                  <a:pt x="1333500" y="19050"/>
                </a:lnTo>
                <a:cubicBezTo>
                  <a:pt x="1333500" y="29571"/>
                  <a:pt x="1324971" y="38100"/>
                  <a:pt x="1314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28000"/>
            </a:srgbClr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9715500" y="2476500"/>
            <a:ext cx="1143000" cy="38100"/>
          </a:xfrm>
          <a:custGeom>
            <a:avLst/>
            <a:gdLst/>
            <a:ahLst/>
            <a:cxnLst/>
            <a:rect l="l" t="t" r="r" b="b"/>
            <a:pathLst>
              <a:path w="1143000" h="38100">
                <a:moveTo>
                  <a:pt x="19050" y="0"/>
                </a:moveTo>
                <a:lnTo>
                  <a:pt x="1123950" y="0"/>
                </a:lnTo>
                <a:cubicBezTo>
                  <a:pt x="1134471" y="0"/>
                  <a:pt x="1143000" y="8529"/>
                  <a:pt x="1143000" y="19050"/>
                </a:cubicBezTo>
                <a:lnTo>
                  <a:pt x="1143000" y="19050"/>
                </a:lnTo>
                <a:cubicBezTo>
                  <a:pt x="1143000" y="29571"/>
                  <a:pt x="1134471" y="38100"/>
                  <a:pt x="1123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22000"/>
            </a:srgbClr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9906000" y="2667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19050" y="0"/>
                </a:moveTo>
                <a:lnTo>
                  <a:pt x="933450" y="0"/>
                </a:lnTo>
                <a:cubicBezTo>
                  <a:pt x="943971" y="0"/>
                  <a:pt x="952500" y="8529"/>
                  <a:pt x="952500" y="19050"/>
                </a:cubicBezTo>
                <a:lnTo>
                  <a:pt x="952500" y="19050"/>
                </a:lnTo>
                <a:cubicBezTo>
                  <a:pt x="952500" y="29571"/>
                  <a:pt x="943971" y="38100"/>
                  <a:pt x="933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16000"/>
            </a:srgbClr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10096500" y="28575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10000"/>
            </a:srgb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9906000" y="4191000"/>
            <a:ext cx="1905000" cy="1905000"/>
          </a:xfrm>
          <a:prstGeom prst="ellipse">
            <a:avLst/>
          </a:prstGeom>
          <a:noFill/>
          <a:ln w="4762">
            <a:solidFill>
              <a:srgbClr val="C9A962">
                <a:alpha val="6000"/>
              </a:srgbClr>
            </a:solidFill>
          </a:ln>
        </p:spPr>
      </p:sp>
      <p:sp>
        <p:nvSpPr>
          <p:cNvPr id="20" name="Ellipse 20"/>
          <p:cNvSpPr/>
          <p:nvPr/>
        </p:nvSpPr>
        <p:spPr>
          <a:xfrm>
            <a:off x="10096500" y="4381500"/>
            <a:ext cx="1524000" cy="1524000"/>
          </a:xfrm>
          <a:prstGeom prst="ellipse">
            <a:avLst/>
          </a:prstGeom>
          <a:noFill/>
          <a:ln w="9525">
            <a:solidFill>
              <a:srgbClr val="C9A962">
                <a:alpha val="10000"/>
              </a:srgbClr>
            </a:solidFill>
          </a:ln>
        </p:spPr>
      </p:sp>
      <p:sp>
        <p:nvSpPr>
          <p:cNvPr id="21" name="Ellipse 21"/>
          <p:cNvSpPr/>
          <p:nvPr/>
        </p:nvSpPr>
        <p:spPr>
          <a:xfrm>
            <a:off x="10287000" y="4572000"/>
            <a:ext cx="1143000" cy="1143000"/>
          </a:xfrm>
          <a:prstGeom prst="ellipse">
            <a:avLst/>
          </a:prstGeom>
          <a:noFill/>
          <a:ln w="14288">
            <a:solidFill>
              <a:srgbClr val="C9A962">
                <a:alpha val="15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10477500" y="4762500"/>
            <a:ext cx="762000" cy="762000"/>
          </a:xfrm>
          <a:prstGeom prst="ellipse">
            <a:avLst/>
          </a:prstGeom>
          <a:noFill/>
          <a:ln w="9525">
            <a:solidFill>
              <a:srgbClr val="C9A962">
                <a:alpha val="12000"/>
              </a:srgbClr>
            </a:solidFill>
          </a:ln>
        </p:spPr>
      </p:sp>
      <p:sp>
        <p:nvSpPr>
          <p:cNvPr id="23" name="Ellipse 23"/>
          <p:cNvSpPr/>
          <p:nvPr/>
        </p:nvSpPr>
        <p:spPr>
          <a:xfrm>
            <a:off x="10668000" y="4953000"/>
            <a:ext cx="381000" cy="381000"/>
          </a:xfrm>
          <a:prstGeom prst="ellipse">
            <a:avLst/>
          </a:prstGeom>
          <a:solidFill>
            <a:srgbClr val="C9A962">
              <a:alpha val="8000"/>
            </a:srgbClr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10782300" y="5067300"/>
            <a:ext cx="152400" cy="152400"/>
          </a:xfrm>
          <a:prstGeom prst="ellipse">
            <a:avLst/>
          </a:pr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57200" y="2362200"/>
            <a:ext cx="4658106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 val="6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6" name="Line 26"/>
          <p:cNvSpPr/>
          <p:nvPr/>
        </p:nvSpPr>
        <p:spPr>
          <a:xfrm>
            <a:off x="3238500" y="266700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28575">
            <a:solidFill>
              <a:srgbClr val="C9A962"/>
            </a:solidFill>
          </a:ln>
        </p:spPr>
      </p:sp>
      <p:sp>
        <p:nvSpPr>
          <p:cNvPr id="27" name="Line 27"/>
          <p:cNvSpPr/>
          <p:nvPr/>
        </p:nvSpPr>
        <p:spPr>
          <a:xfrm>
            <a:off x="3238500" y="2733675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28" name="Ellipse 28"/>
          <p:cNvSpPr/>
          <p:nvPr/>
        </p:nvSpPr>
        <p:spPr>
          <a:xfrm>
            <a:off x="4810125" y="2619375"/>
            <a:ext cx="95250" cy="9525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4838700" y="2647950"/>
            <a:ext cx="38100" cy="38100"/>
          </a:xfrm>
          <a:prstGeom prst="ellipse">
            <a:avLst/>
          </a:prstGeom>
          <a:solidFill>
            <a:srgbClr val="D4B87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188970" y="310324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认证结果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19450" y="3933825"/>
            <a:ext cx="347757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5F0EB">
                    <a:alpha val="90000"/>
                  </a:srgbClr>
                </a:solidFill>
                <a:latin typeface="Arial"/>
                <a:ea typeface="Microsoft YaHei"/>
                <a:cs typeface="Arial"/>
              </a:rPr>
              <a:t>5家供应商认证评分 + 核心收获对比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238500" y="4333875"/>
            <a:ext cx="1905000" cy="9525"/>
          </a:xfrm>
          <a:prstGeom prst="rect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FFFFFF">
                <a:alpha val="10000"/>
              </a:srgbClr>
            </a:solidFill>
          </a:ln>
        </p:spPr>
      </p:sp>
      <p:sp>
        <p:nvSpPr>
          <p:cNvPr id="34" name="Ellipse 34"/>
          <p:cNvSpPr/>
          <p:nvPr/>
        </p:nvSpPr>
        <p:spPr>
          <a:xfrm>
            <a:off x="361950" y="6315075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11791950" y="6315075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831544" y="650652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14375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"/>
            <a:ext cx="12192000" cy="952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704850"/>
            <a:ext cx="12192000" cy="2857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66675" y="190500"/>
            <a:ext cx="342900" cy="342900"/>
          </a:xfrm>
          <a:prstGeom prst="ellipse">
            <a:avLst/>
          </a:prstGeom>
          <a:noFill/>
          <a:ln w="9525">
            <a:solidFill>
              <a:srgbClr val="C9A962">
                <a:alpha val="3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61925" y="285750"/>
            <a:ext cx="152400" cy="152400"/>
          </a:xfrm>
          <a:prstGeom prst="ellipse">
            <a:avLst/>
          </a:prstGeom>
          <a:noFill/>
          <a:ln w="4762">
            <a:solidFill>
              <a:srgbClr val="C9A962">
                <a:alpha val="2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09550" y="333375"/>
            <a:ext cx="57150" cy="57150"/>
          </a:xfrm>
          <a:prstGeom prst="ellipse">
            <a:avLst/>
          </a:prstGeom>
          <a:solidFill>
            <a:srgbClr val="C9A962">
              <a:alpha val="2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01015" y="262890"/>
            <a:ext cx="291647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认证评分规则与结果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19327" y="307181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763375" y="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28625" y="0"/>
                </a:moveTo>
                <a:lnTo>
                  <a:pt x="428625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9A0E26">
              <a:alpha val="30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11953875" y="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238125" y="238125"/>
                </a:lnTo>
                <a:lnTo>
                  <a:pt x="0" y="0"/>
                </a:lnTo>
                <a:close/>
              </a:path>
            </a:pathLst>
          </a:cu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81000" y="904875"/>
            <a:ext cx="38100" cy="22860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381000" y="1114425"/>
            <a:ext cx="38100" cy="381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08635" y="956310"/>
            <a:ext cx="57264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5家供应商全部通过认证，岐力91分领跑，结构可落地性占比最高（50分）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71500" y="1428750"/>
            <a:ext cx="4381500" cy="4572000"/>
            <a:chOff x="571500" y="1428750"/>
            <a:chExt cx="4381500" cy="4572000"/>
          </a:xfrm>
        </p:grpSpPr>
        <p:sp>
          <p:nvSpPr>
            <p:cNvPr id="16" name="Freeform 16"/>
            <p:cNvSpPr/>
            <p:nvPr/>
          </p:nvSpPr>
          <p:spPr>
            <a:xfrm>
              <a:off x="571500" y="1428750"/>
              <a:ext cx="4381500" cy="4572000"/>
            </a:xfrm>
            <a:custGeom>
              <a:avLst/>
              <a:gdLst/>
              <a:ahLst/>
              <a:cxnLst/>
              <a:rect l="l" t="t" r="r" b="b"/>
              <a:pathLst>
                <a:path w="4381500" h="4572000">
                  <a:moveTo>
                    <a:pt x="38100" y="0"/>
                  </a:moveTo>
                  <a:lnTo>
                    <a:pt x="4343400" y="0"/>
                  </a:lnTo>
                  <a:cubicBezTo>
                    <a:pt x="4364442" y="0"/>
                    <a:pt x="4381500" y="17058"/>
                    <a:pt x="4381500" y="38100"/>
                  </a:cubicBezTo>
                  <a:lnTo>
                    <a:pt x="4381500" y="4533900"/>
                  </a:lnTo>
                  <a:cubicBezTo>
                    <a:pt x="4381500" y="4554942"/>
                    <a:pt x="4364442" y="4572000"/>
                    <a:pt x="4343400" y="4572000"/>
                  </a:cubicBezTo>
                  <a:lnTo>
                    <a:pt x="38100" y="4572000"/>
                  </a:lnTo>
                  <a:cubicBezTo>
                    <a:pt x="17058" y="4572000"/>
                    <a:pt x="0" y="4554942"/>
                    <a:pt x="0" y="453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1428750"/>
              <a:ext cx="38100" cy="4572000"/>
            </a:xfrm>
            <a:prstGeom prst="rect">
              <a:avLst/>
            </a:prstGeom>
            <a:solidFill>
              <a:srgbClr val="C4123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0575" y="16287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评分规则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762000" y="1952625"/>
              <a:ext cx="4000500" cy="714375"/>
            </a:xfrm>
            <a:custGeom>
              <a:avLst/>
              <a:gdLst/>
              <a:ahLst/>
              <a:cxnLst/>
              <a:rect l="l" t="t" r="r" b="b"/>
              <a:pathLst>
                <a:path w="4000500" h="714375">
                  <a:moveTo>
                    <a:pt x="38100" y="0"/>
                  </a:moveTo>
                  <a:lnTo>
                    <a:pt x="3962400" y="0"/>
                  </a:lnTo>
                  <a:cubicBezTo>
                    <a:pt x="3983442" y="0"/>
                    <a:pt x="4000500" y="17058"/>
                    <a:pt x="4000500" y="38100"/>
                  </a:cubicBezTo>
                  <a:lnTo>
                    <a:pt x="4000500" y="676275"/>
                  </a:lnTo>
                  <a:cubicBezTo>
                    <a:pt x="4000500" y="697317"/>
                    <a:pt x="3983442" y="714375"/>
                    <a:pt x="3962400" y="714375"/>
                  </a:cubicBezTo>
                  <a:lnTo>
                    <a:pt x="38100" y="714375"/>
                  </a:lnTo>
                  <a:cubicBezTo>
                    <a:pt x="17058" y="714375"/>
                    <a:pt x="0" y="697317"/>
                    <a:pt x="0" y="6762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9635" y="2108835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清晰表达有自己观点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1540" y="23631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表达逻辑、观点深度、独立思考能力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3952875" y="2047875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38100" y="0"/>
                  </a:moveTo>
                  <a:lnTo>
                    <a:pt x="628650" y="0"/>
                  </a:lnTo>
                  <a:cubicBezTo>
                    <a:pt x="649692" y="0"/>
                    <a:pt x="666750" y="17058"/>
                    <a:pt x="666750" y="38100"/>
                  </a:cubicBezTo>
                  <a:lnTo>
                    <a:pt x="666750" y="342900"/>
                  </a:lnTo>
                  <a:cubicBezTo>
                    <a:pt x="666750" y="363942"/>
                    <a:pt x="649692" y="381000"/>
                    <a:pt x="62865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4123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51728" y="2159318"/>
              <a:ext cx="4690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25分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62000" y="2809875"/>
              <a:ext cx="4000500" cy="714375"/>
            </a:xfrm>
            <a:custGeom>
              <a:avLst/>
              <a:gdLst/>
              <a:ahLst/>
              <a:cxnLst/>
              <a:rect l="l" t="t" r="r" b="b"/>
              <a:pathLst>
                <a:path w="4000500" h="714375">
                  <a:moveTo>
                    <a:pt x="38100" y="0"/>
                  </a:moveTo>
                  <a:lnTo>
                    <a:pt x="3962400" y="0"/>
                  </a:lnTo>
                  <a:cubicBezTo>
                    <a:pt x="3983442" y="0"/>
                    <a:pt x="4000500" y="17058"/>
                    <a:pt x="4000500" y="38100"/>
                  </a:cubicBezTo>
                  <a:lnTo>
                    <a:pt x="4000500" y="676275"/>
                  </a:lnTo>
                  <a:cubicBezTo>
                    <a:pt x="4000500" y="697317"/>
                    <a:pt x="3983442" y="714375"/>
                    <a:pt x="3962400" y="714375"/>
                  </a:cubicBezTo>
                  <a:lnTo>
                    <a:pt x="38100" y="714375"/>
                  </a:lnTo>
                  <a:cubicBezTo>
                    <a:pt x="17058" y="714375"/>
                    <a:pt x="0" y="697317"/>
                    <a:pt x="0" y="6762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9635" y="29660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内容完整贴合主题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1540" y="32204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内容覆盖度、与培训主题的匹配度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3952875" y="2905125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38100" y="0"/>
                  </a:moveTo>
                  <a:lnTo>
                    <a:pt x="628650" y="0"/>
                  </a:lnTo>
                  <a:cubicBezTo>
                    <a:pt x="649692" y="0"/>
                    <a:pt x="666750" y="17058"/>
                    <a:pt x="666750" y="38100"/>
                  </a:cubicBezTo>
                  <a:lnTo>
                    <a:pt x="666750" y="342900"/>
                  </a:lnTo>
                  <a:cubicBezTo>
                    <a:pt x="666750" y="363942"/>
                    <a:pt x="649692" y="381000"/>
                    <a:pt x="62865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4123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051728" y="3016568"/>
              <a:ext cx="4690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25分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762000" y="3667125"/>
              <a:ext cx="4000500" cy="714375"/>
            </a:xfrm>
            <a:custGeom>
              <a:avLst/>
              <a:gdLst/>
              <a:ahLst/>
              <a:cxnLst/>
              <a:rect l="l" t="t" r="r" b="b"/>
              <a:pathLst>
                <a:path w="4000500" h="714375">
                  <a:moveTo>
                    <a:pt x="38100" y="0"/>
                  </a:moveTo>
                  <a:lnTo>
                    <a:pt x="3962400" y="0"/>
                  </a:lnTo>
                  <a:cubicBezTo>
                    <a:pt x="3983442" y="0"/>
                    <a:pt x="4000500" y="17058"/>
                    <a:pt x="4000500" y="38100"/>
                  </a:cubicBezTo>
                  <a:lnTo>
                    <a:pt x="4000500" y="676275"/>
                  </a:lnTo>
                  <a:cubicBezTo>
                    <a:pt x="4000500" y="697317"/>
                    <a:pt x="3983442" y="714375"/>
                    <a:pt x="3962400" y="714375"/>
                  </a:cubicBezTo>
                  <a:lnTo>
                    <a:pt x="38100" y="714375"/>
                  </a:lnTo>
                  <a:cubicBezTo>
                    <a:pt x="17058" y="714375"/>
                    <a:pt x="0" y="697317"/>
                    <a:pt x="0" y="6762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9635" y="382333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结构清晰可落地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1540" y="40776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方案结构、可执行性、时间节点明确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3952875" y="3762375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38100" y="0"/>
                  </a:moveTo>
                  <a:lnTo>
                    <a:pt x="628650" y="0"/>
                  </a:lnTo>
                  <a:cubicBezTo>
                    <a:pt x="649692" y="0"/>
                    <a:pt x="666750" y="17058"/>
                    <a:pt x="666750" y="38100"/>
                  </a:cubicBezTo>
                  <a:lnTo>
                    <a:pt x="666750" y="342900"/>
                  </a:lnTo>
                  <a:cubicBezTo>
                    <a:pt x="666750" y="363942"/>
                    <a:pt x="649692" y="381000"/>
                    <a:pt x="62865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9A96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051728" y="3873818"/>
              <a:ext cx="4690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50分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6290" y="4649152"/>
              <a:ext cx="28023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汇报8分钟 + 提问2分钟，单家最长10分钟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6290" y="4887278"/>
              <a:ext cx="24036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四位评委打分，满分100，80分通过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62000" y="5238750"/>
              <a:ext cx="4000500" cy="571500"/>
            </a:xfrm>
            <a:custGeom>
              <a:avLst/>
              <a:gdLst/>
              <a:ahLst/>
              <a:cxnLst/>
              <a:rect l="l" t="t" r="r" b="b"/>
              <a:pathLst>
                <a:path w="4000500" h="571500">
                  <a:moveTo>
                    <a:pt x="38100" y="0"/>
                  </a:moveTo>
                  <a:lnTo>
                    <a:pt x="3962400" y="0"/>
                  </a:lnTo>
                  <a:cubicBezTo>
                    <a:pt x="3983442" y="0"/>
                    <a:pt x="4000500" y="17058"/>
                    <a:pt x="4000500" y="38100"/>
                  </a:cubicBezTo>
                  <a:lnTo>
                    <a:pt x="4000500" y="533400"/>
                  </a:lnTo>
                  <a:cubicBezTo>
                    <a:pt x="4000500" y="554442"/>
                    <a:pt x="3983442" y="571500"/>
                    <a:pt x="3962400" y="571500"/>
                  </a:cubicBezTo>
                  <a:lnTo>
                    <a:pt x="38100" y="571500"/>
                  </a:lnTo>
                  <a:cubicBezTo>
                    <a:pt x="17058" y="571500"/>
                    <a:pt x="0" y="554442"/>
                    <a:pt x="0" y="5334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C9A96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91540" y="5363528"/>
              <a:ext cx="26029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加分项：抓住底层逻辑、有延伸思考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1540" y="55826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落地可行性高、方案清晰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334000" y="1428750"/>
            <a:ext cx="6286500" cy="4572000"/>
            <a:chOff x="5334000" y="1428750"/>
            <a:chExt cx="6286500" cy="4572000"/>
          </a:xfrm>
        </p:grpSpPr>
        <p:sp>
          <p:nvSpPr>
            <p:cNvPr id="40" name="Freeform 40"/>
            <p:cNvSpPr/>
            <p:nvPr/>
          </p:nvSpPr>
          <p:spPr>
            <a:xfrm>
              <a:off x="5334000" y="1428750"/>
              <a:ext cx="6286500" cy="4572000"/>
            </a:xfrm>
            <a:custGeom>
              <a:avLst/>
              <a:gdLst/>
              <a:ahLst/>
              <a:cxnLst/>
              <a:rect l="l" t="t" r="r" b="b"/>
              <a:pathLst>
                <a:path w="6286500" h="4572000">
                  <a:moveTo>
                    <a:pt x="38100" y="0"/>
                  </a:moveTo>
                  <a:lnTo>
                    <a:pt x="6248400" y="0"/>
                  </a:lnTo>
                  <a:cubicBezTo>
                    <a:pt x="6269442" y="0"/>
                    <a:pt x="6286500" y="17058"/>
                    <a:pt x="6286500" y="38100"/>
                  </a:cubicBezTo>
                  <a:lnTo>
                    <a:pt x="6286500" y="4533900"/>
                  </a:lnTo>
                  <a:cubicBezTo>
                    <a:pt x="6286500" y="4554942"/>
                    <a:pt x="6269442" y="4572000"/>
                    <a:pt x="6248400" y="4572000"/>
                  </a:cubicBezTo>
                  <a:lnTo>
                    <a:pt x="38100" y="4572000"/>
                  </a:lnTo>
                  <a:cubicBezTo>
                    <a:pt x="17058" y="4572000"/>
                    <a:pt x="0" y="4554942"/>
                    <a:pt x="0" y="453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0" y="1428750"/>
              <a:ext cx="38100" cy="457200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553075" y="1628775"/>
              <a:ext cx="21428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认证结果 — 全部通过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5524500" y="1952625"/>
              <a:ext cx="5905500" cy="1047750"/>
            </a:xfrm>
            <a:custGeom>
              <a:avLst/>
              <a:gdLst/>
              <a:ahLst/>
              <a:cxnLst/>
              <a:rect l="l" t="t" r="r" b="b"/>
              <a:pathLst>
                <a:path w="5905500" h="1047750">
                  <a:moveTo>
                    <a:pt x="38100" y="0"/>
                  </a:moveTo>
                  <a:lnTo>
                    <a:pt x="5867400" y="0"/>
                  </a:lnTo>
                  <a:cubicBezTo>
                    <a:pt x="5888442" y="0"/>
                    <a:pt x="5905500" y="17058"/>
                    <a:pt x="5905500" y="38100"/>
                  </a:cubicBezTo>
                  <a:lnTo>
                    <a:pt x="5905500" y="1009650"/>
                  </a:lnTo>
                  <a:cubicBezTo>
                    <a:pt x="5905500" y="1030692"/>
                    <a:pt x="5888442" y="1047750"/>
                    <a:pt x="5867400" y="1047750"/>
                  </a:cubicBezTo>
                  <a:lnTo>
                    <a:pt x="38100" y="1047750"/>
                  </a:lnTo>
                  <a:cubicBezTo>
                    <a:pt x="17058" y="1047750"/>
                    <a:pt x="0" y="1030692"/>
                    <a:pt x="0" y="1009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5572125" y="2190750"/>
              <a:ext cx="571500" cy="571500"/>
            </a:xfrm>
            <a:prstGeom prst="ellipse">
              <a:avLst/>
            </a:prstGeom>
            <a:solidFill>
              <a:srgbClr val="C4123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98965" y="2374582"/>
              <a:ext cx="1178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11265" y="2186940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岐力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20790" y="2534602"/>
              <a:ext cx="35997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准入端话术模式表 + 三阶段落地计划 + 专项保障小组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21742" y="275224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认证第一名，方案完整且可执行性强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10382250" y="2143125"/>
              <a:ext cx="857250" cy="666750"/>
            </a:xfrm>
            <a:custGeom>
              <a:avLst/>
              <a:gdLst/>
              <a:ahLst/>
              <a:cxnLst/>
              <a:rect l="l" t="t" r="r" b="b"/>
              <a:pathLst>
                <a:path w="857250" h="666750">
                  <a:moveTo>
                    <a:pt x="57150" y="0"/>
                  </a:moveTo>
                  <a:lnTo>
                    <a:pt x="800100" y="0"/>
                  </a:lnTo>
                  <a:cubicBezTo>
                    <a:pt x="831663" y="0"/>
                    <a:pt x="857250" y="25587"/>
                    <a:pt x="857250" y="57150"/>
                  </a:cubicBezTo>
                  <a:lnTo>
                    <a:pt x="857250" y="609600"/>
                  </a:lnTo>
                  <a:cubicBezTo>
                    <a:pt x="857250" y="641163"/>
                    <a:pt x="831663" y="666750"/>
                    <a:pt x="80010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4123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35657" y="2185988"/>
              <a:ext cx="3504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91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733722" y="2569845"/>
              <a:ext cx="1543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分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5524500" y="3190875"/>
              <a:ext cx="5905500" cy="1047750"/>
            </a:xfrm>
            <a:custGeom>
              <a:avLst/>
              <a:gdLst/>
              <a:ahLst/>
              <a:cxnLst/>
              <a:rect l="l" t="t" r="r" b="b"/>
              <a:pathLst>
                <a:path w="5905500" h="1047750">
                  <a:moveTo>
                    <a:pt x="38100" y="0"/>
                  </a:moveTo>
                  <a:lnTo>
                    <a:pt x="5867400" y="0"/>
                  </a:lnTo>
                  <a:cubicBezTo>
                    <a:pt x="5888442" y="0"/>
                    <a:pt x="5905500" y="17058"/>
                    <a:pt x="5905500" y="38100"/>
                  </a:cubicBezTo>
                  <a:lnTo>
                    <a:pt x="5905500" y="1009650"/>
                  </a:lnTo>
                  <a:cubicBezTo>
                    <a:pt x="5905500" y="1030692"/>
                    <a:pt x="5888442" y="1047750"/>
                    <a:pt x="5867400" y="1047750"/>
                  </a:cubicBezTo>
                  <a:lnTo>
                    <a:pt x="38100" y="1047750"/>
                  </a:lnTo>
                  <a:cubicBezTo>
                    <a:pt x="17058" y="1047750"/>
                    <a:pt x="0" y="1030692"/>
                    <a:pt x="0" y="1009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5572125" y="3429000"/>
              <a:ext cx="571500" cy="571500"/>
            </a:xfrm>
            <a:prstGeom prst="ellipse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67336" y="361283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11265" y="3425190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汇讯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20790" y="3772852"/>
              <a:ext cx="357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BI看板已落地 + 共享话术库提议 + 管理工具需求明确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21742" y="39904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认证第二名，数字化管理领先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10382250" y="3381375"/>
              <a:ext cx="857250" cy="666750"/>
            </a:xfrm>
            <a:custGeom>
              <a:avLst/>
              <a:gdLst/>
              <a:ahLst/>
              <a:cxnLst/>
              <a:rect l="l" t="t" r="r" b="b"/>
              <a:pathLst>
                <a:path w="857250" h="666750">
                  <a:moveTo>
                    <a:pt x="57150" y="0"/>
                  </a:moveTo>
                  <a:lnTo>
                    <a:pt x="800100" y="0"/>
                  </a:lnTo>
                  <a:cubicBezTo>
                    <a:pt x="831663" y="0"/>
                    <a:pt x="857250" y="25587"/>
                    <a:pt x="857250" y="57150"/>
                  </a:cubicBezTo>
                  <a:lnTo>
                    <a:pt x="857250" y="609600"/>
                  </a:lnTo>
                  <a:cubicBezTo>
                    <a:pt x="857250" y="641163"/>
                    <a:pt x="831663" y="666750"/>
                    <a:pt x="80010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9A96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592526" y="3424238"/>
              <a:ext cx="43669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733722" y="3808095"/>
              <a:ext cx="1543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分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5524500" y="4429125"/>
              <a:ext cx="5905500" cy="1047750"/>
            </a:xfrm>
            <a:custGeom>
              <a:avLst/>
              <a:gdLst/>
              <a:ahLst/>
              <a:cxnLst/>
              <a:rect l="l" t="t" r="r" b="b"/>
              <a:pathLst>
                <a:path w="5905500" h="1047750">
                  <a:moveTo>
                    <a:pt x="38100" y="0"/>
                  </a:moveTo>
                  <a:lnTo>
                    <a:pt x="5867400" y="0"/>
                  </a:lnTo>
                  <a:cubicBezTo>
                    <a:pt x="5888442" y="0"/>
                    <a:pt x="5905500" y="17058"/>
                    <a:pt x="5905500" y="38100"/>
                  </a:cubicBezTo>
                  <a:lnTo>
                    <a:pt x="5905500" y="1009650"/>
                  </a:lnTo>
                  <a:cubicBezTo>
                    <a:pt x="5905500" y="1030692"/>
                    <a:pt x="5888442" y="1047750"/>
                    <a:pt x="5867400" y="1047750"/>
                  </a:cubicBezTo>
                  <a:lnTo>
                    <a:pt x="38100" y="1047750"/>
                  </a:lnTo>
                  <a:cubicBezTo>
                    <a:pt x="17058" y="1047750"/>
                    <a:pt x="0" y="1030692"/>
                    <a:pt x="0" y="1009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5572125" y="4667250"/>
              <a:ext cx="571500" cy="5715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767336" y="48510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11265" y="4663440"/>
              <a:ext cx="8738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赛维斯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20790" y="501110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结构完整、方案可落地、有独立思考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21742" y="52287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认证第三名，基础扎实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10382250" y="4619625"/>
              <a:ext cx="857250" cy="666750"/>
            </a:xfrm>
            <a:custGeom>
              <a:avLst/>
              <a:gdLst/>
              <a:ahLst/>
              <a:cxnLst/>
              <a:rect l="l" t="t" r="r" b="b"/>
              <a:pathLst>
                <a:path w="857250" h="666750">
                  <a:moveTo>
                    <a:pt x="57150" y="0"/>
                  </a:moveTo>
                  <a:lnTo>
                    <a:pt x="800100" y="0"/>
                  </a:lnTo>
                  <a:cubicBezTo>
                    <a:pt x="831663" y="0"/>
                    <a:pt x="857250" y="25587"/>
                    <a:pt x="857250" y="57150"/>
                  </a:cubicBezTo>
                  <a:lnTo>
                    <a:pt x="857250" y="609600"/>
                  </a:lnTo>
                  <a:cubicBezTo>
                    <a:pt x="857250" y="641163"/>
                    <a:pt x="831663" y="666750"/>
                    <a:pt x="80010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592526" y="4662488"/>
              <a:ext cx="43669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33722" y="5046345"/>
              <a:ext cx="1543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分</a:t>
              </a:r>
            </a:p>
          </p:txBody>
        </p:sp>
      </p:grpSp>
      <p:sp>
        <p:nvSpPr>
          <p:cNvPr id="71" name="Freeform 71"/>
          <p:cNvSpPr/>
          <p:nvPr/>
        </p:nvSpPr>
        <p:spPr>
          <a:xfrm>
            <a:off x="38100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moveTo>
                  <a:pt x="0" y="0"/>
                </a:moveTo>
                <a:lnTo>
                  <a:pt x="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72" name="Freeform 72"/>
          <p:cNvSpPr/>
          <p:nvPr/>
        </p:nvSpPr>
        <p:spPr>
          <a:xfrm>
            <a:off x="1171575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0"/>
                </a:lnTo>
                <a:moveTo>
                  <a:pt x="95250" y="0"/>
                </a:moveTo>
                <a:lnTo>
                  <a:pt x="9525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73" name="Freeform 73"/>
          <p:cNvSpPr/>
          <p:nvPr/>
        </p:nvSpPr>
        <p:spPr>
          <a:xfrm>
            <a:off x="38100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moveTo>
                  <a:pt x="0" y="9525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74" name="Freeform 74"/>
          <p:cNvSpPr/>
          <p:nvPr/>
        </p:nvSpPr>
        <p:spPr>
          <a:xfrm>
            <a:off x="1171575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95250"/>
                </a:moveTo>
                <a:lnTo>
                  <a:pt x="0" y="95250"/>
                </a:lnTo>
                <a:moveTo>
                  <a:pt x="95250" y="95250"/>
                </a:moveTo>
                <a:lnTo>
                  <a:pt x="95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75" name="Line 7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EAEA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370522" y="6530816"/>
            <a:ext cx="43345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数据来源：313上午供应商联盟认证总结会 | 四位评委打分，满分100分，80分通过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844540" y="65308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认证结果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451479" y="651462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77777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A0E2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191250" y="0"/>
            <a:ext cx="6000750" cy="6858000"/>
          </a:xfrm>
          <a:custGeom>
            <a:avLst/>
            <a:gdLst/>
            <a:ahLst/>
            <a:cxnLst/>
            <a:rect l="l" t="t" r="r" b="b"/>
            <a:pathLst>
              <a:path w="6000750" h="6858000">
                <a:moveTo>
                  <a:pt x="1905000" y="0"/>
                </a:moveTo>
                <a:lnTo>
                  <a:pt x="6000750" y="0"/>
                </a:lnTo>
                <a:lnTo>
                  <a:pt x="60007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81028">
              <a:alpha val="60000"/>
            </a:srgbClr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7143750" y="0"/>
            <a:ext cx="5048250" cy="6858000"/>
          </a:xfrm>
          <a:custGeom>
            <a:avLst/>
            <a:gdLst/>
            <a:ahLst/>
            <a:cxnLst/>
            <a:rect l="l" t="t" r="r" b="b"/>
            <a:pathLst>
              <a:path w="5048250" h="6858000">
                <a:moveTo>
                  <a:pt x="1905000" y="0"/>
                </a:moveTo>
                <a:lnTo>
                  <a:pt x="5048250" y="0"/>
                </a:lnTo>
                <a:lnTo>
                  <a:pt x="50482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31530">
              <a:alpha val="4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8096250" y="0"/>
            <a:ext cx="4095750" cy="6858000"/>
          </a:xfrm>
          <a:custGeom>
            <a:avLst/>
            <a:gdLst/>
            <a:ahLst/>
            <a:cxnLst/>
            <a:rect l="l" t="t" r="r" b="b"/>
            <a:pathLst>
              <a:path w="4095750" h="6858000">
                <a:moveTo>
                  <a:pt x="1905000" y="0"/>
                </a:moveTo>
                <a:lnTo>
                  <a:pt x="4095750" y="0"/>
                </a:lnTo>
                <a:lnTo>
                  <a:pt x="40957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41230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620500" y="0"/>
            <a:ext cx="571500" cy="6858000"/>
          </a:xfrm>
          <a:prstGeom prst="rect">
            <a:avLst/>
          </a:prstGeom>
          <a:solidFill>
            <a:srgbClr val="7A0B1E">
              <a:alpha val="4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2001500" y="0"/>
            <a:ext cx="190500" cy="6858000"/>
          </a:xfrm>
          <a:prstGeom prst="rect">
            <a:avLst/>
          </a:prstGeom>
          <a:solidFill>
            <a:srgbClr val="5A081A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2286000"/>
            <a:ext cx="76200" cy="2286000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2333625"/>
            <a:ext cx="38100" cy="2190750"/>
          </a:xfrm>
          <a:prstGeom prst="rect">
            <a:avLst/>
          </a:prstGeom>
          <a:solidFill>
            <a:srgbClr val="D4B87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0" y="2200275"/>
            <a:ext cx="76200" cy="76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0" y="4581525"/>
            <a:ext cx="76200" cy="76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0" y="571500"/>
            <a:ext cx="2857500" cy="9525"/>
          </a:xfrm>
          <a:prstGeom prst="rect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19125"/>
            <a:ext cx="1905000" cy="9525"/>
          </a:xfrm>
          <a:prstGeom prst="rect">
            <a:avLst/>
          </a:prstGeom>
          <a:solidFill>
            <a:srgbClr val="C9A962">
              <a:alpha val="20000"/>
            </a:srgbClr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9334500" y="2095500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71" y="0"/>
                  <a:pt x="1524000" y="8529"/>
                  <a:pt x="1524000" y="19050"/>
                </a:cubicBezTo>
                <a:lnTo>
                  <a:pt x="1524000" y="19050"/>
                </a:lnTo>
                <a:cubicBezTo>
                  <a:pt x="1524000" y="29571"/>
                  <a:pt x="1515471" y="38100"/>
                  <a:pt x="1504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35000"/>
            </a:srgbClr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9525000" y="2286000"/>
            <a:ext cx="1333500" cy="38100"/>
          </a:xfrm>
          <a:custGeom>
            <a:avLst/>
            <a:gdLst/>
            <a:ahLst/>
            <a:cxnLst/>
            <a:rect l="l" t="t" r="r" b="b"/>
            <a:pathLst>
              <a:path w="1333500" h="38100">
                <a:moveTo>
                  <a:pt x="19050" y="0"/>
                </a:moveTo>
                <a:lnTo>
                  <a:pt x="1314450" y="0"/>
                </a:lnTo>
                <a:cubicBezTo>
                  <a:pt x="1324971" y="0"/>
                  <a:pt x="1333500" y="8529"/>
                  <a:pt x="1333500" y="19050"/>
                </a:cubicBezTo>
                <a:lnTo>
                  <a:pt x="1333500" y="19050"/>
                </a:lnTo>
                <a:cubicBezTo>
                  <a:pt x="1333500" y="29571"/>
                  <a:pt x="1324971" y="38100"/>
                  <a:pt x="1314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28000"/>
            </a:srgbClr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9715500" y="2476500"/>
            <a:ext cx="1143000" cy="38100"/>
          </a:xfrm>
          <a:custGeom>
            <a:avLst/>
            <a:gdLst/>
            <a:ahLst/>
            <a:cxnLst/>
            <a:rect l="l" t="t" r="r" b="b"/>
            <a:pathLst>
              <a:path w="1143000" h="38100">
                <a:moveTo>
                  <a:pt x="19050" y="0"/>
                </a:moveTo>
                <a:lnTo>
                  <a:pt x="1123950" y="0"/>
                </a:lnTo>
                <a:cubicBezTo>
                  <a:pt x="1134471" y="0"/>
                  <a:pt x="1143000" y="8529"/>
                  <a:pt x="1143000" y="19050"/>
                </a:cubicBezTo>
                <a:lnTo>
                  <a:pt x="1143000" y="19050"/>
                </a:lnTo>
                <a:cubicBezTo>
                  <a:pt x="1143000" y="29571"/>
                  <a:pt x="1134471" y="38100"/>
                  <a:pt x="1123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22000"/>
            </a:srgbClr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9906000" y="2667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19050" y="0"/>
                </a:moveTo>
                <a:lnTo>
                  <a:pt x="933450" y="0"/>
                </a:lnTo>
                <a:cubicBezTo>
                  <a:pt x="943971" y="0"/>
                  <a:pt x="952500" y="8529"/>
                  <a:pt x="952500" y="19050"/>
                </a:cubicBezTo>
                <a:lnTo>
                  <a:pt x="952500" y="19050"/>
                </a:lnTo>
                <a:cubicBezTo>
                  <a:pt x="952500" y="29571"/>
                  <a:pt x="943971" y="38100"/>
                  <a:pt x="933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16000"/>
            </a:srgbClr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10096500" y="28575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10000"/>
            </a:srgb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9906000" y="4191000"/>
            <a:ext cx="1905000" cy="1905000"/>
          </a:xfrm>
          <a:prstGeom prst="ellipse">
            <a:avLst/>
          </a:prstGeom>
          <a:noFill/>
          <a:ln w="4762">
            <a:solidFill>
              <a:srgbClr val="C9A962">
                <a:alpha val="6000"/>
              </a:srgbClr>
            </a:solidFill>
          </a:ln>
        </p:spPr>
      </p:sp>
      <p:sp>
        <p:nvSpPr>
          <p:cNvPr id="20" name="Ellipse 20"/>
          <p:cNvSpPr/>
          <p:nvPr/>
        </p:nvSpPr>
        <p:spPr>
          <a:xfrm>
            <a:off x="10096500" y="4381500"/>
            <a:ext cx="1524000" cy="1524000"/>
          </a:xfrm>
          <a:prstGeom prst="ellipse">
            <a:avLst/>
          </a:prstGeom>
          <a:noFill/>
          <a:ln w="9525">
            <a:solidFill>
              <a:srgbClr val="C9A962">
                <a:alpha val="10000"/>
              </a:srgbClr>
            </a:solidFill>
          </a:ln>
        </p:spPr>
      </p:sp>
      <p:sp>
        <p:nvSpPr>
          <p:cNvPr id="21" name="Ellipse 21"/>
          <p:cNvSpPr/>
          <p:nvPr/>
        </p:nvSpPr>
        <p:spPr>
          <a:xfrm>
            <a:off x="10287000" y="4572000"/>
            <a:ext cx="1143000" cy="1143000"/>
          </a:xfrm>
          <a:prstGeom prst="ellipse">
            <a:avLst/>
          </a:prstGeom>
          <a:noFill/>
          <a:ln w="14288">
            <a:solidFill>
              <a:srgbClr val="C9A962">
                <a:alpha val="15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10477500" y="4762500"/>
            <a:ext cx="762000" cy="762000"/>
          </a:xfrm>
          <a:prstGeom prst="ellipse">
            <a:avLst/>
          </a:prstGeom>
          <a:noFill/>
          <a:ln w="9525">
            <a:solidFill>
              <a:srgbClr val="C9A962">
                <a:alpha val="12000"/>
              </a:srgbClr>
            </a:solidFill>
          </a:ln>
        </p:spPr>
      </p:sp>
      <p:sp>
        <p:nvSpPr>
          <p:cNvPr id="23" name="Ellipse 23"/>
          <p:cNvSpPr/>
          <p:nvPr/>
        </p:nvSpPr>
        <p:spPr>
          <a:xfrm>
            <a:off x="10668000" y="4953000"/>
            <a:ext cx="381000" cy="381000"/>
          </a:xfrm>
          <a:prstGeom prst="ellipse">
            <a:avLst/>
          </a:prstGeom>
          <a:solidFill>
            <a:srgbClr val="C9A962">
              <a:alpha val="8000"/>
            </a:srgbClr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10782300" y="5067300"/>
            <a:ext cx="152400" cy="152400"/>
          </a:xfrm>
          <a:prstGeom prst="ellipse">
            <a:avLst/>
          </a:pr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57200" y="2362200"/>
            <a:ext cx="4658106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 val="6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6" name="Line 26"/>
          <p:cNvSpPr/>
          <p:nvPr/>
        </p:nvSpPr>
        <p:spPr>
          <a:xfrm>
            <a:off x="3238500" y="266700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28575">
            <a:solidFill>
              <a:srgbClr val="C9A962"/>
            </a:solidFill>
          </a:ln>
        </p:spPr>
      </p:sp>
      <p:sp>
        <p:nvSpPr>
          <p:cNvPr id="27" name="Line 27"/>
          <p:cNvSpPr/>
          <p:nvPr/>
        </p:nvSpPr>
        <p:spPr>
          <a:xfrm>
            <a:off x="3238500" y="2733675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28" name="Ellipse 28"/>
          <p:cNvSpPr/>
          <p:nvPr/>
        </p:nvSpPr>
        <p:spPr>
          <a:xfrm>
            <a:off x="4810125" y="2619375"/>
            <a:ext cx="95250" cy="9525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4838700" y="2647950"/>
            <a:ext cx="38100" cy="38100"/>
          </a:xfrm>
          <a:prstGeom prst="ellipse">
            <a:avLst/>
          </a:prstGeom>
          <a:solidFill>
            <a:srgbClr val="D4B87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188970" y="310324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落地方案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19450" y="3933825"/>
            <a:ext cx="42333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5F0EB">
                    <a:alpha val="90000"/>
                  </a:srgbClr>
                </a:solidFill>
                <a:latin typeface="Arial"/>
                <a:ea typeface="Microsoft YaHei"/>
                <a:cs typeface="Arial"/>
              </a:rPr>
              <a:t>三阶段推进计划 + 各供应商差异化落地策略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238500" y="4333875"/>
            <a:ext cx="1905000" cy="9525"/>
          </a:xfrm>
          <a:prstGeom prst="rect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FFFFFF">
                <a:alpha val="10000"/>
              </a:srgbClr>
            </a:solidFill>
          </a:ln>
        </p:spPr>
      </p:sp>
      <p:sp>
        <p:nvSpPr>
          <p:cNvPr id="34" name="Ellipse 34"/>
          <p:cNvSpPr/>
          <p:nvPr/>
        </p:nvSpPr>
        <p:spPr>
          <a:xfrm>
            <a:off x="361950" y="6315075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11791950" y="6315075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831544" y="650652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14375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"/>
            <a:ext cx="12192000" cy="952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704850"/>
            <a:ext cx="12192000" cy="2857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66675" y="190500"/>
            <a:ext cx="342900" cy="342900"/>
          </a:xfrm>
          <a:prstGeom prst="ellipse">
            <a:avLst/>
          </a:prstGeom>
          <a:noFill/>
          <a:ln w="9525">
            <a:solidFill>
              <a:srgbClr val="C9A962">
                <a:alpha val="3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61925" y="285750"/>
            <a:ext cx="152400" cy="152400"/>
          </a:xfrm>
          <a:prstGeom prst="ellipse">
            <a:avLst/>
          </a:prstGeom>
          <a:noFill/>
          <a:ln w="4762">
            <a:solidFill>
              <a:srgbClr val="C9A962">
                <a:alpha val="2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09550" y="333375"/>
            <a:ext cx="57150" cy="57150"/>
          </a:xfrm>
          <a:prstGeom prst="ellipse">
            <a:avLst/>
          </a:prstGeom>
          <a:solidFill>
            <a:srgbClr val="C9A962">
              <a:alpha val="2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01015" y="262890"/>
            <a:ext cx="32339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岐力 — 三阶段落地方案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19327" y="307181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763375" y="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28625" y="0"/>
                </a:moveTo>
                <a:lnTo>
                  <a:pt x="428625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9A0E26">
              <a:alpha val="30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11953875" y="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238125" y="238125"/>
                </a:lnTo>
                <a:lnTo>
                  <a:pt x="0" y="0"/>
                </a:lnTo>
                <a:close/>
              </a:path>
            </a:pathLst>
          </a:cu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81000" y="904875"/>
            <a:ext cx="38100" cy="22860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381000" y="1114425"/>
            <a:ext cx="38100" cy="381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08635" y="956310"/>
            <a:ext cx="4937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从准入管控到培优打造再到全面标准化，循序渐进实现管理升级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1476375"/>
            <a:ext cx="3429000" cy="3048000"/>
            <a:chOff x="571500" y="1476375"/>
            <a:chExt cx="3429000" cy="3048000"/>
          </a:xfrm>
        </p:grpSpPr>
        <p:sp>
          <p:nvSpPr>
            <p:cNvPr id="16" name="Freeform 16"/>
            <p:cNvSpPr/>
            <p:nvPr/>
          </p:nvSpPr>
          <p:spPr>
            <a:xfrm>
              <a:off x="571500" y="1476375"/>
              <a:ext cx="3429000" cy="3048000"/>
            </a:xfrm>
            <a:custGeom>
              <a:avLst/>
              <a:gdLst/>
              <a:ahLst/>
              <a:cxnLst/>
              <a:rect l="l" t="t" r="r" b="b"/>
              <a:pathLst>
                <a:path w="3429000" h="30480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3009900"/>
                  </a:lnTo>
                  <a:cubicBezTo>
                    <a:pt x="3429000" y="3030942"/>
                    <a:pt x="3411942" y="3048000"/>
                    <a:pt x="3390900" y="3048000"/>
                  </a:cubicBezTo>
                  <a:lnTo>
                    <a:pt x="38100" y="3048000"/>
                  </a:lnTo>
                  <a:cubicBezTo>
                    <a:pt x="17058" y="3048000"/>
                    <a:pt x="0" y="3030942"/>
                    <a:pt x="0" y="3009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71500" y="1476375"/>
              <a:ext cx="3429000" cy="428625"/>
            </a:xfrm>
            <a:custGeom>
              <a:avLst/>
              <a:gdLst/>
              <a:ahLst/>
              <a:cxnLst/>
              <a:rect l="l" t="t" r="r" b="b"/>
              <a:pathLst>
                <a:path w="3429000" h="428625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390525"/>
                  </a:lnTo>
                  <a:cubicBezTo>
                    <a:pt x="3429000" y="411567"/>
                    <a:pt x="3411942" y="428625"/>
                    <a:pt x="3390900" y="428625"/>
                  </a:cubicBezTo>
                  <a:lnTo>
                    <a:pt x="38100" y="428625"/>
                  </a:lnTo>
                  <a:cubicBezTo>
                    <a:pt x="17058" y="428625"/>
                    <a:pt x="0" y="411567"/>
                    <a:pt x="0" y="3905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4123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37239" y="1635442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第一阶段：准入管控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5338" y="20693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6290" y="2315528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新员工手动流数据降低50%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6290" y="25250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管理层养成每日数据查看习惯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2809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0EDE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5338" y="29265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关键动作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7242" y="3199924"/>
              <a:ext cx="1854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执行话术模式表和人员画像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7242" y="3409474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新人新办法老人老办法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7242" y="3619024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管控准入端建立初步认知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6290" y="412527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周期：第1个月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381500" y="1476375"/>
            <a:ext cx="3429000" cy="3048000"/>
            <a:chOff x="4381500" y="1476375"/>
            <a:chExt cx="3429000" cy="3048000"/>
          </a:xfrm>
        </p:grpSpPr>
        <p:sp>
          <p:nvSpPr>
            <p:cNvPr id="29" name="Freeform 29"/>
            <p:cNvSpPr/>
            <p:nvPr/>
          </p:nvSpPr>
          <p:spPr>
            <a:xfrm>
              <a:off x="4381500" y="1476375"/>
              <a:ext cx="3429000" cy="3048000"/>
            </a:xfrm>
            <a:custGeom>
              <a:avLst/>
              <a:gdLst/>
              <a:ahLst/>
              <a:cxnLst/>
              <a:rect l="l" t="t" r="r" b="b"/>
              <a:pathLst>
                <a:path w="3429000" h="30480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3009900"/>
                  </a:lnTo>
                  <a:cubicBezTo>
                    <a:pt x="3429000" y="3030942"/>
                    <a:pt x="3411942" y="3048000"/>
                    <a:pt x="3390900" y="3048000"/>
                  </a:cubicBezTo>
                  <a:lnTo>
                    <a:pt x="38100" y="3048000"/>
                  </a:lnTo>
                  <a:cubicBezTo>
                    <a:pt x="17058" y="3048000"/>
                    <a:pt x="0" y="3030942"/>
                    <a:pt x="0" y="3009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381500" y="1476375"/>
              <a:ext cx="3429000" cy="428625"/>
            </a:xfrm>
            <a:custGeom>
              <a:avLst/>
              <a:gdLst/>
              <a:ahLst/>
              <a:cxnLst/>
              <a:rect l="l" t="t" r="r" b="b"/>
              <a:pathLst>
                <a:path w="3429000" h="428625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390525"/>
                  </a:lnTo>
                  <a:cubicBezTo>
                    <a:pt x="3429000" y="411567"/>
                    <a:pt x="3411942" y="428625"/>
                    <a:pt x="3390900" y="428625"/>
                  </a:cubicBezTo>
                  <a:lnTo>
                    <a:pt x="38100" y="428625"/>
                  </a:lnTo>
                  <a:cubicBezTo>
                    <a:pt x="17058" y="428625"/>
                    <a:pt x="0" y="411567"/>
                    <a:pt x="0" y="3905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9A96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47239" y="1635442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第二阶段：培优打造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5338" y="20693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6290" y="231552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覆盖25%-40%员工培优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6290" y="25250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打造核心团队，专项预算支持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572000" y="2809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0EDE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05338" y="29265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关键动作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07242" y="3199924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分模块赋能培训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7242" y="3409474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引入轻量级管理工具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7242" y="3619024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适配性底线标准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07242" y="3828574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标准化制度管理核心盘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06290" y="4125278"/>
              <a:ext cx="12584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周期：第2-3个月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191500" y="1476375"/>
            <a:ext cx="3429000" cy="3048000"/>
            <a:chOff x="8191500" y="1476375"/>
            <a:chExt cx="3429000" cy="3048000"/>
          </a:xfrm>
        </p:grpSpPr>
        <p:sp>
          <p:nvSpPr>
            <p:cNvPr id="43" name="Freeform 43"/>
            <p:cNvSpPr/>
            <p:nvPr/>
          </p:nvSpPr>
          <p:spPr>
            <a:xfrm>
              <a:off x="8191500" y="1476375"/>
              <a:ext cx="3429000" cy="3048000"/>
            </a:xfrm>
            <a:custGeom>
              <a:avLst/>
              <a:gdLst/>
              <a:ahLst/>
              <a:cxnLst/>
              <a:rect l="l" t="t" r="r" b="b"/>
              <a:pathLst>
                <a:path w="3429000" h="30480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3009900"/>
                  </a:lnTo>
                  <a:cubicBezTo>
                    <a:pt x="3429000" y="3030942"/>
                    <a:pt x="3411942" y="3048000"/>
                    <a:pt x="3390900" y="3048000"/>
                  </a:cubicBezTo>
                  <a:lnTo>
                    <a:pt x="38100" y="3048000"/>
                  </a:lnTo>
                  <a:cubicBezTo>
                    <a:pt x="17058" y="3048000"/>
                    <a:pt x="0" y="3030942"/>
                    <a:pt x="0" y="3009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191500" y="1476375"/>
              <a:ext cx="3429000" cy="428625"/>
            </a:xfrm>
            <a:custGeom>
              <a:avLst/>
              <a:gdLst/>
              <a:ahLst/>
              <a:cxnLst/>
              <a:rect l="l" t="t" r="r" b="b"/>
              <a:pathLst>
                <a:path w="3429000" h="428625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390525"/>
                  </a:lnTo>
                  <a:cubicBezTo>
                    <a:pt x="3429000" y="411567"/>
                    <a:pt x="3411942" y="428625"/>
                    <a:pt x="3390900" y="428625"/>
                  </a:cubicBezTo>
                  <a:lnTo>
                    <a:pt x="38100" y="428625"/>
                  </a:lnTo>
                  <a:cubicBezTo>
                    <a:pt x="17058" y="428625"/>
                    <a:pt x="0" y="411567"/>
                    <a:pt x="0" y="3905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53726" y="1635442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第三阶段：全面标准化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15338" y="20693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16290" y="23155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全团队标准化管理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16290" y="252507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成熟制度全项目推广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382000" y="2809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0EDE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15338" y="29265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关键动作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17242" y="3199924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验证成熟的制度迭代推广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17242" y="3409474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管理工具全项目覆盖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17242" y="3619024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常态化业务流程演练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17242" y="3828574"/>
              <a:ext cx="16623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预算向30%潜力员工倾斜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16290" y="4125278"/>
              <a:ext cx="12584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周期：第4-6个月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4762500"/>
            <a:ext cx="5334000" cy="1238250"/>
            <a:chOff x="571500" y="4762500"/>
            <a:chExt cx="5334000" cy="1238250"/>
          </a:xfrm>
        </p:grpSpPr>
        <p:sp>
          <p:nvSpPr>
            <p:cNvPr id="57" name="Freeform 57"/>
            <p:cNvSpPr/>
            <p:nvPr/>
          </p:nvSpPr>
          <p:spPr>
            <a:xfrm>
              <a:off x="571500" y="47625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38100" y="0"/>
                  </a:moveTo>
                  <a:lnTo>
                    <a:pt x="5295900" y="0"/>
                  </a:lnTo>
                  <a:cubicBezTo>
                    <a:pt x="5316942" y="0"/>
                    <a:pt x="5334000" y="17058"/>
                    <a:pt x="5334000" y="38100"/>
                  </a:cubicBezTo>
                  <a:lnTo>
                    <a:pt x="5334000" y="1200150"/>
                  </a:lnTo>
                  <a:cubicBezTo>
                    <a:pt x="5334000" y="1221192"/>
                    <a:pt x="5316942" y="1238250"/>
                    <a:pt x="5295900" y="1238250"/>
                  </a:cubicBezTo>
                  <a:lnTo>
                    <a:pt x="38100" y="1238250"/>
                  </a:lnTo>
                  <a:cubicBezTo>
                    <a:pt x="17058" y="1238250"/>
                    <a:pt x="0" y="1221192"/>
                    <a:pt x="0" y="1200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71500" y="4762500"/>
              <a:ext cx="38100" cy="1238250"/>
            </a:xfrm>
            <a:prstGeom prst="rect">
              <a:avLst/>
            </a:prstGeom>
            <a:solidFill>
              <a:srgbClr val="9A0E2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4385" y="49187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A0E26"/>
                  </a:solidFill>
                  <a:latin typeface="Arial"/>
                  <a:ea typeface="Microsoft YaHei"/>
                  <a:cs typeface="Arial"/>
                </a:rPr>
                <a:t>现存挑战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6290" y="517302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先天规模化交付供给不足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6290" y="5392102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存量人员不满足标准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6290" y="561117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短周期考核要求稳定交付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8195" y="580834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需平衡规模交付与质量标准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286500" y="4762500"/>
            <a:ext cx="5334000" cy="1238250"/>
            <a:chOff x="6286500" y="4762500"/>
            <a:chExt cx="5334000" cy="1238250"/>
          </a:xfrm>
        </p:grpSpPr>
        <p:sp>
          <p:nvSpPr>
            <p:cNvPr id="65" name="Freeform 65"/>
            <p:cNvSpPr/>
            <p:nvPr/>
          </p:nvSpPr>
          <p:spPr>
            <a:xfrm>
              <a:off x="6286500" y="47625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38100" y="0"/>
                  </a:moveTo>
                  <a:lnTo>
                    <a:pt x="5295900" y="0"/>
                  </a:lnTo>
                  <a:cubicBezTo>
                    <a:pt x="5316942" y="0"/>
                    <a:pt x="5334000" y="17058"/>
                    <a:pt x="5334000" y="38100"/>
                  </a:cubicBezTo>
                  <a:lnTo>
                    <a:pt x="5334000" y="1200150"/>
                  </a:lnTo>
                  <a:cubicBezTo>
                    <a:pt x="5334000" y="1221192"/>
                    <a:pt x="5316942" y="1238250"/>
                    <a:pt x="5295900" y="1238250"/>
                  </a:cubicBezTo>
                  <a:lnTo>
                    <a:pt x="38100" y="1238250"/>
                  </a:lnTo>
                  <a:cubicBezTo>
                    <a:pt x="17058" y="1238250"/>
                    <a:pt x="0" y="1221192"/>
                    <a:pt x="0" y="1200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86500" y="4762500"/>
              <a:ext cx="38100" cy="12382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09385" y="49187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保障措施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11290" y="5173028"/>
              <a:ext cx="29173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启动专项小组，组织发展部和合规部牵头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11290" y="539210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分阶段由不同部门推进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11290" y="5611178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所有任务绑定绩效考核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13195" y="5808345"/>
              <a:ext cx="20339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组织保障 + 绩效绑定 = 落地确定性</a:t>
              </a:r>
            </a:p>
          </p:txBody>
        </p:sp>
      </p:grpSp>
      <p:sp>
        <p:nvSpPr>
          <p:cNvPr id="73" name="Freeform 73"/>
          <p:cNvSpPr/>
          <p:nvPr/>
        </p:nvSpPr>
        <p:spPr>
          <a:xfrm>
            <a:off x="38100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moveTo>
                  <a:pt x="0" y="0"/>
                </a:moveTo>
                <a:lnTo>
                  <a:pt x="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74" name="Freeform 74"/>
          <p:cNvSpPr/>
          <p:nvPr/>
        </p:nvSpPr>
        <p:spPr>
          <a:xfrm>
            <a:off x="1171575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0"/>
                </a:lnTo>
                <a:moveTo>
                  <a:pt x="95250" y="0"/>
                </a:moveTo>
                <a:lnTo>
                  <a:pt x="9525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75" name="Freeform 75"/>
          <p:cNvSpPr/>
          <p:nvPr/>
        </p:nvSpPr>
        <p:spPr>
          <a:xfrm>
            <a:off x="38100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moveTo>
                  <a:pt x="0" y="9525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76" name="Freeform 76"/>
          <p:cNvSpPr/>
          <p:nvPr/>
        </p:nvSpPr>
        <p:spPr>
          <a:xfrm>
            <a:off x="1171575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95250"/>
                </a:moveTo>
                <a:lnTo>
                  <a:pt x="0" y="95250"/>
                </a:lnTo>
                <a:moveTo>
                  <a:pt x="95250" y="95250"/>
                </a:moveTo>
                <a:lnTo>
                  <a:pt x="95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77" name="Line 7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EAEA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370522" y="6530816"/>
            <a:ext cx="35513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数据来源：313上午供应商联盟认证总结会 | 岐力落地实施方案汇报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844540" y="65308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落地方案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487079" y="6514624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77777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14375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"/>
            <a:ext cx="12192000" cy="952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704850"/>
            <a:ext cx="12192000" cy="2857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66675" y="190500"/>
            <a:ext cx="342900" cy="342900"/>
          </a:xfrm>
          <a:prstGeom prst="ellipse">
            <a:avLst/>
          </a:prstGeom>
          <a:noFill/>
          <a:ln w="9525">
            <a:solidFill>
              <a:srgbClr val="C9A962">
                <a:alpha val="3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61925" y="285750"/>
            <a:ext cx="152400" cy="152400"/>
          </a:xfrm>
          <a:prstGeom prst="ellipse">
            <a:avLst/>
          </a:prstGeom>
          <a:noFill/>
          <a:ln w="4762">
            <a:solidFill>
              <a:srgbClr val="C9A962">
                <a:alpha val="2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09550" y="333375"/>
            <a:ext cx="57150" cy="57150"/>
          </a:xfrm>
          <a:prstGeom prst="ellipse">
            <a:avLst/>
          </a:prstGeom>
          <a:solidFill>
            <a:srgbClr val="C9A962">
              <a:alpha val="2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01015" y="262890"/>
            <a:ext cx="40206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各供应商核心收获与落地方向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19327" y="307181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763375" y="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28625" y="0"/>
                </a:moveTo>
                <a:lnTo>
                  <a:pt x="428625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9A0E26">
              <a:alpha val="30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11953875" y="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238125" y="238125"/>
                </a:lnTo>
                <a:lnTo>
                  <a:pt x="0" y="0"/>
                </a:lnTo>
                <a:close/>
              </a:path>
            </a:pathLst>
          </a:cu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81000" y="904875"/>
            <a:ext cx="38100" cy="22860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381000" y="1114425"/>
            <a:ext cx="38100" cy="381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08635" y="956310"/>
            <a:ext cx="65151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各供应商从不同切入点补强短板：华啸重数据、广重运营、瀚锐重新人、华道重团队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71500" y="1476375"/>
            <a:ext cx="5334000" cy="2286000"/>
            <a:chOff x="571500" y="1476375"/>
            <a:chExt cx="5334000" cy="2286000"/>
          </a:xfrm>
        </p:grpSpPr>
        <p:sp>
          <p:nvSpPr>
            <p:cNvPr id="16" name="Freeform 16"/>
            <p:cNvSpPr/>
            <p:nvPr/>
          </p:nvSpPr>
          <p:spPr>
            <a:xfrm>
              <a:off x="571500" y="1476375"/>
              <a:ext cx="5334000" cy="2286000"/>
            </a:xfrm>
            <a:custGeom>
              <a:avLst/>
              <a:gdLst/>
              <a:ahLst/>
              <a:cxnLst/>
              <a:rect l="l" t="t" r="r" b="b"/>
              <a:pathLst>
                <a:path w="5334000" h="2286000">
                  <a:moveTo>
                    <a:pt x="38100" y="0"/>
                  </a:moveTo>
                  <a:lnTo>
                    <a:pt x="5295900" y="0"/>
                  </a:lnTo>
                  <a:cubicBezTo>
                    <a:pt x="5316942" y="0"/>
                    <a:pt x="5334000" y="17058"/>
                    <a:pt x="5334000" y="38100"/>
                  </a:cubicBezTo>
                  <a:lnTo>
                    <a:pt x="5334000" y="2247900"/>
                  </a:lnTo>
                  <a:cubicBezTo>
                    <a:pt x="5334000" y="2268942"/>
                    <a:pt x="5316942" y="2286000"/>
                    <a:pt x="5295900" y="2286000"/>
                  </a:cubicBezTo>
                  <a:lnTo>
                    <a:pt x="38100" y="2286000"/>
                  </a:lnTo>
                  <a:cubicBezTo>
                    <a:pt x="17058" y="2286000"/>
                    <a:pt x="0" y="2268942"/>
                    <a:pt x="0" y="2247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1476375"/>
              <a:ext cx="38100" cy="2286000"/>
            </a:xfrm>
            <a:prstGeom prst="rect">
              <a:avLst/>
            </a:prstGeom>
            <a:solidFill>
              <a:srgbClr val="C4123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2480" y="16640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华啸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0665" y="16964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数据驱动 + SOP标准化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14375" y="195262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F0EDE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6290" y="2105978"/>
              <a:ext cx="26950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建立清晰坐席画像，结构化面试+试岗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6290" y="2334578"/>
              <a:ext cx="26950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名产分层精细化，按额度/活跃度分层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6290" y="2563178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动态话术入库更新机制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6290" y="2791778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引入自动化报表做实时监测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7242" y="3180874"/>
              <a:ext cx="3508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三个月：名产打标 → SOP框架 → 数据体系 → 复盘验证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0" y="1476375"/>
            <a:ext cx="5334000" cy="2286000"/>
            <a:chOff x="6286500" y="1476375"/>
            <a:chExt cx="5334000" cy="2286000"/>
          </a:xfrm>
        </p:grpSpPr>
        <p:sp>
          <p:nvSpPr>
            <p:cNvPr id="27" name="Freeform 27"/>
            <p:cNvSpPr/>
            <p:nvPr/>
          </p:nvSpPr>
          <p:spPr>
            <a:xfrm>
              <a:off x="6286500" y="1476375"/>
              <a:ext cx="5334000" cy="2286000"/>
            </a:xfrm>
            <a:custGeom>
              <a:avLst/>
              <a:gdLst/>
              <a:ahLst/>
              <a:cxnLst/>
              <a:rect l="l" t="t" r="r" b="b"/>
              <a:pathLst>
                <a:path w="5334000" h="2286000">
                  <a:moveTo>
                    <a:pt x="38100" y="0"/>
                  </a:moveTo>
                  <a:lnTo>
                    <a:pt x="5295900" y="0"/>
                  </a:lnTo>
                  <a:cubicBezTo>
                    <a:pt x="5316942" y="0"/>
                    <a:pt x="5334000" y="17058"/>
                    <a:pt x="5334000" y="38100"/>
                  </a:cubicBezTo>
                  <a:lnTo>
                    <a:pt x="5334000" y="2247900"/>
                  </a:lnTo>
                  <a:cubicBezTo>
                    <a:pt x="5334000" y="2268942"/>
                    <a:pt x="5316942" y="2286000"/>
                    <a:pt x="5295900" y="2286000"/>
                  </a:cubicBezTo>
                  <a:lnTo>
                    <a:pt x="38100" y="2286000"/>
                  </a:lnTo>
                  <a:cubicBezTo>
                    <a:pt x="17058" y="2286000"/>
                    <a:pt x="0" y="2268942"/>
                    <a:pt x="0" y="2247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1476375"/>
              <a:ext cx="38100" cy="228600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07480" y="16640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广达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30415" y="169640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人员培养 + 运营模块优化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429375" y="195262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F0EDE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11290" y="2105978"/>
              <a:ext cx="26106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补充抗压能力测试、工作稳定性考察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11290" y="2334578"/>
              <a:ext cx="19282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师徒带教二对一+复盘闭环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11290" y="2563178"/>
              <a:ext cx="2234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补充午会机制+夕会清问题闭环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11290" y="2791778"/>
              <a:ext cx="25416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优化拨打时段划分+客户全标签打标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12242" y="3180874"/>
              <a:ext cx="41365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18号前：人员培养/分层/拨打策略 | 20号前：异议处理+数据库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3952875"/>
            <a:ext cx="5334000" cy="2000250"/>
            <a:chOff x="571500" y="3952875"/>
            <a:chExt cx="5334000" cy="2000250"/>
          </a:xfrm>
        </p:grpSpPr>
        <p:sp>
          <p:nvSpPr>
            <p:cNvPr id="38" name="Freeform 38"/>
            <p:cNvSpPr/>
            <p:nvPr/>
          </p:nvSpPr>
          <p:spPr>
            <a:xfrm>
              <a:off x="571500" y="3952875"/>
              <a:ext cx="5334000" cy="2000250"/>
            </a:xfrm>
            <a:custGeom>
              <a:avLst/>
              <a:gdLst/>
              <a:ahLst/>
              <a:cxnLst/>
              <a:rect l="l" t="t" r="r" b="b"/>
              <a:pathLst>
                <a:path w="5334000" h="2000250">
                  <a:moveTo>
                    <a:pt x="38100" y="0"/>
                  </a:moveTo>
                  <a:lnTo>
                    <a:pt x="5295900" y="0"/>
                  </a:lnTo>
                  <a:cubicBezTo>
                    <a:pt x="5316942" y="0"/>
                    <a:pt x="5334000" y="17058"/>
                    <a:pt x="5334000" y="38100"/>
                  </a:cubicBezTo>
                  <a:lnTo>
                    <a:pt x="5334000" y="1962150"/>
                  </a:lnTo>
                  <a:cubicBezTo>
                    <a:pt x="5334000" y="1983192"/>
                    <a:pt x="5316942" y="2000250"/>
                    <a:pt x="5295900" y="2000250"/>
                  </a:cubicBezTo>
                  <a:lnTo>
                    <a:pt x="38100" y="2000250"/>
                  </a:lnTo>
                  <a:cubicBezTo>
                    <a:pt x="17058" y="2000250"/>
                    <a:pt x="0" y="1983192"/>
                    <a:pt x="0" y="1962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71500" y="3952875"/>
              <a:ext cx="38100" cy="200025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2480" y="41405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瀚锐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63040" y="4172902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招聘策略调整 + 老团队激活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14375" y="442912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F0EDE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6290" y="4582478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从"挖经验"转向"招服从性/执行力强"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6290" y="4811078"/>
              <a:ext cx="2625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- 30天成长计划纸质表，主管签字确认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6290" y="5039678"/>
              <a:ext cx="26413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师傅从Top员工改为中等+有耐心热情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6290" y="5268278"/>
              <a:ext cx="24573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晨会话术接龙，坐席自己总结分享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7242" y="5657374"/>
              <a:ext cx="44878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新团队全面执行新标准，倒逼老团队改变，外呼SOP已执行一周见效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286500" y="3952875"/>
            <a:ext cx="5334000" cy="2000250"/>
            <a:chOff x="6286500" y="3952875"/>
            <a:chExt cx="5334000" cy="2000250"/>
          </a:xfrm>
        </p:grpSpPr>
        <p:sp>
          <p:nvSpPr>
            <p:cNvPr id="49" name="Freeform 49"/>
            <p:cNvSpPr/>
            <p:nvPr/>
          </p:nvSpPr>
          <p:spPr>
            <a:xfrm>
              <a:off x="6286500" y="3952875"/>
              <a:ext cx="5334000" cy="2000250"/>
            </a:xfrm>
            <a:custGeom>
              <a:avLst/>
              <a:gdLst/>
              <a:ahLst/>
              <a:cxnLst/>
              <a:rect l="l" t="t" r="r" b="b"/>
              <a:pathLst>
                <a:path w="5334000" h="2000250">
                  <a:moveTo>
                    <a:pt x="38100" y="0"/>
                  </a:moveTo>
                  <a:lnTo>
                    <a:pt x="5295900" y="0"/>
                  </a:lnTo>
                  <a:cubicBezTo>
                    <a:pt x="5316942" y="0"/>
                    <a:pt x="5334000" y="17058"/>
                    <a:pt x="5334000" y="38100"/>
                  </a:cubicBezTo>
                  <a:lnTo>
                    <a:pt x="5334000" y="1962150"/>
                  </a:lnTo>
                  <a:cubicBezTo>
                    <a:pt x="5334000" y="1983192"/>
                    <a:pt x="5316942" y="2000250"/>
                    <a:pt x="5295900" y="2000250"/>
                  </a:cubicBezTo>
                  <a:lnTo>
                    <a:pt x="38100" y="2000250"/>
                  </a:lnTo>
                  <a:cubicBezTo>
                    <a:pt x="17058" y="2000250"/>
                    <a:pt x="0" y="1983192"/>
                    <a:pt x="0" y="1962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86500" y="3952875"/>
              <a:ext cx="38100" cy="2000250"/>
            </a:xfrm>
            <a:prstGeom prst="rect">
              <a:avLst/>
            </a:prstGeom>
            <a:solidFill>
              <a:srgbClr val="C41230">
                <a:alpha val="7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07480" y="41405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华道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78040" y="417290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晨会优化 + 师徒PK机制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6429375" y="442912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F0EDE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11290" y="458247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晨会以坐席个人汇报为主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11290" y="4811078"/>
              <a:ext cx="2303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公开最高最低业绩，不批评尾部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11290" y="5039678"/>
              <a:ext cx="1943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师傅班组PK机制+验收环节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11290" y="5268278"/>
              <a:ext cx="23192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- 60秒非有效名单统一回收至中乾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12242" y="5657374"/>
              <a:ext cx="44953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实操通关三次机会 | 上岗后30天每日培训 | 从新人阶段精准客户打标</a:t>
              </a:r>
            </a:p>
          </p:txBody>
        </p:sp>
      </p:grpSp>
      <p:sp>
        <p:nvSpPr>
          <p:cNvPr id="60" name="Freeform 60"/>
          <p:cNvSpPr/>
          <p:nvPr/>
        </p:nvSpPr>
        <p:spPr>
          <a:xfrm>
            <a:off x="38100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moveTo>
                  <a:pt x="0" y="0"/>
                </a:moveTo>
                <a:lnTo>
                  <a:pt x="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1" name="Freeform 61"/>
          <p:cNvSpPr/>
          <p:nvPr/>
        </p:nvSpPr>
        <p:spPr>
          <a:xfrm>
            <a:off x="1171575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0"/>
                </a:lnTo>
                <a:moveTo>
                  <a:pt x="95250" y="0"/>
                </a:moveTo>
                <a:lnTo>
                  <a:pt x="9525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2" name="Freeform 62"/>
          <p:cNvSpPr/>
          <p:nvPr/>
        </p:nvSpPr>
        <p:spPr>
          <a:xfrm>
            <a:off x="38100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moveTo>
                  <a:pt x="0" y="9525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3" name="Freeform 63"/>
          <p:cNvSpPr/>
          <p:nvPr/>
        </p:nvSpPr>
        <p:spPr>
          <a:xfrm>
            <a:off x="1171575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95250"/>
                </a:moveTo>
                <a:lnTo>
                  <a:pt x="0" y="95250"/>
                </a:lnTo>
                <a:moveTo>
                  <a:pt x="95250" y="95250"/>
                </a:moveTo>
                <a:lnTo>
                  <a:pt x="95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4" name="Line 64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EAEA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70522" y="6530816"/>
            <a:ext cx="39128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数据来源：313上午供应商联盟认证总结会 | 各供应商学习收获与落地计划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844540" y="65308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落地方案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522678" y="6514624"/>
            <a:ext cx="1102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77777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14375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"/>
            <a:ext cx="12192000" cy="952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704850"/>
            <a:ext cx="12192000" cy="2857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66675" y="190500"/>
            <a:ext cx="342900" cy="342900"/>
          </a:xfrm>
          <a:prstGeom prst="ellipse">
            <a:avLst/>
          </a:prstGeom>
          <a:noFill/>
          <a:ln w="9525">
            <a:solidFill>
              <a:srgbClr val="C9A962">
                <a:alpha val="3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61925" y="285750"/>
            <a:ext cx="152400" cy="152400"/>
          </a:xfrm>
          <a:prstGeom prst="ellipse">
            <a:avLst/>
          </a:prstGeom>
          <a:noFill/>
          <a:ln w="4762">
            <a:solidFill>
              <a:srgbClr val="C9A962">
                <a:alpha val="2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09550" y="333375"/>
            <a:ext cx="57150" cy="57150"/>
          </a:xfrm>
          <a:prstGeom prst="ellipse">
            <a:avLst/>
          </a:prstGeom>
          <a:solidFill>
            <a:srgbClr val="C9A962">
              <a:alpha val="2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01015" y="262890"/>
            <a:ext cx="37445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关键共识：规模与质量平衡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19327" y="307181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763375" y="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28625" y="0"/>
                </a:moveTo>
                <a:lnTo>
                  <a:pt x="428625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9A0E26">
              <a:alpha val="30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11953875" y="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238125" y="238125"/>
                </a:lnTo>
                <a:lnTo>
                  <a:pt x="0" y="0"/>
                </a:lnTo>
                <a:close/>
              </a:path>
            </a:pathLst>
          </a:cu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81000" y="904875"/>
            <a:ext cx="38100" cy="22860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381000" y="1114425"/>
            <a:ext cx="38100" cy="381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08635" y="956310"/>
            <a:ext cx="59893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规模与质量是跷跷板关系，当前阶段优先上规模，入场后逐步培育到合格标准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71500" y="1476375"/>
            <a:ext cx="5334000" cy="4572000"/>
            <a:chOff x="571500" y="1476375"/>
            <a:chExt cx="5334000" cy="4572000"/>
          </a:xfrm>
        </p:grpSpPr>
        <p:sp>
          <p:nvSpPr>
            <p:cNvPr id="16" name="Freeform 16"/>
            <p:cNvSpPr/>
            <p:nvPr/>
          </p:nvSpPr>
          <p:spPr>
            <a:xfrm>
              <a:off x="571500" y="1476375"/>
              <a:ext cx="5334000" cy="4572000"/>
            </a:xfrm>
            <a:custGeom>
              <a:avLst/>
              <a:gdLst/>
              <a:ahLst/>
              <a:cxnLst/>
              <a:rect l="l" t="t" r="r" b="b"/>
              <a:pathLst>
                <a:path w="5334000" h="4572000">
                  <a:moveTo>
                    <a:pt x="38100" y="0"/>
                  </a:moveTo>
                  <a:lnTo>
                    <a:pt x="5295900" y="0"/>
                  </a:lnTo>
                  <a:cubicBezTo>
                    <a:pt x="5316942" y="0"/>
                    <a:pt x="5334000" y="17058"/>
                    <a:pt x="5334000" y="38100"/>
                  </a:cubicBezTo>
                  <a:lnTo>
                    <a:pt x="5334000" y="4533900"/>
                  </a:lnTo>
                  <a:cubicBezTo>
                    <a:pt x="5334000" y="4554942"/>
                    <a:pt x="5316942" y="4572000"/>
                    <a:pt x="5295900" y="4572000"/>
                  </a:cubicBezTo>
                  <a:lnTo>
                    <a:pt x="38100" y="4572000"/>
                  </a:lnTo>
                  <a:cubicBezTo>
                    <a:pt x="17058" y="4572000"/>
                    <a:pt x="0" y="4554942"/>
                    <a:pt x="0" y="453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1476375"/>
              <a:ext cx="38100" cy="4572000"/>
            </a:xfrm>
            <a:prstGeom prst="rect">
              <a:avLst/>
            </a:prstGeom>
            <a:solidFill>
              <a:srgbClr val="C4123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0575" y="1676400"/>
              <a:ext cx="18438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管理SOP三维框架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762000" y="2000250"/>
              <a:ext cx="4905375" cy="1238250"/>
            </a:xfrm>
            <a:custGeom>
              <a:avLst/>
              <a:gdLst/>
              <a:ahLst/>
              <a:cxnLst/>
              <a:rect l="l" t="t" r="r" b="b"/>
              <a:pathLst>
                <a:path w="4905375" h="1238250">
                  <a:moveTo>
                    <a:pt x="38100" y="0"/>
                  </a:moveTo>
                  <a:lnTo>
                    <a:pt x="4867275" y="0"/>
                  </a:lnTo>
                  <a:cubicBezTo>
                    <a:pt x="4888317" y="0"/>
                    <a:pt x="4905375" y="17058"/>
                    <a:pt x="4905375" y="38100"/>
                  </a:cubicBezTo>
                  <a:lnTo>
                    <a:pt x="4905375" y="1200150"/>
                  </a:lnTo>
                  <a:cubicBezTo>
                    <a:pt x="4905375" y="1221192"/>
                    <a:pt x="4888317" y="1238250"/>
                    <a:pt x="4867275" y="1238250"/>
                  </a:cubicBezTo>
                  <a:lnTo>
                    <a:pt x="38100" y="1238250"/>
                  </a:lnTo>
                  <a:cubicBezTo>
                    <a:pt x="17058" y="1238250"/>
                    <a:pt x="0" y="1221192"/>
                    <a:pt x="0" y="1200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62000" y="2000250"/>
              <a:ext cx="47625" cy="1238250"/>
            </a:xfrm>
            <a:custGeom>
              <a:avLst/>
              <a:gdLst/>
              <a:ahLst/>
              <a:cxnLst/>
              <a:rect l="l" t="t" r="r" b="b"/>
              <a:pathLst>
                <a:path w="47625" h="1238250">
                  <a:moveTo>
                    <a:pt x="19050" y="0"/>
                  </a:moveTo>
                  <a:lnTo>
                    <a:pt x="28575" y="0"/>
                  </a:lnTo>
                  <a:cubicBezTo>
                    <a:pt x="39096" y="0"/>
                    <a:pt x="47625" y="8529"/>
                    <a:pt x="47625" y="19050"/>
                  </a:cubicBezTo>
                  <a:lnTo>
                    <a:pt x="47625" y="1219200"/>
                  </a:lnTo>
                  <a:cubicBezTo>
                    <a:pt x="47625" y="1229721"/>
                    <a:pt x="39096" y="1238250"/>
                    <a:pt x="28575" y="1238250"/>
                  </a:cubicBezTo>
                  <a:lnTo>
                    <a:pt x="19050" y="1238250"/>
                  </a:lnTo>
                  <a:cubicBezTo>
                    <a:pt x="8529" y="1238250"/>
                    <a:pt x="0" y="1229721"/>
                    <a:pt x="0" y="1219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4123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2980" y="21688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人员维度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6790" y="2458402"/>
              <a:ext cx="31397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团队搭建从0到1：选人 → 育人 → 留人 → 淘汰人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6790" y="2696528"/>
              <a:ext cx="3553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明确招聘标准，教会员工赚钱，能力培养后价值绑定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7742" y="297132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淘汰不合格人员，保证团队整体质量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762000" y="3381375"/>
              <a:ext cx="4905375" cy="1238250"/>
            </a:xfrm>
            <a:custGeom>
              <a:avLst/>
              <a:gdLst/>
              <a:ahLst/>
              <a:cxnLst/>
              <a:rect l="l" t="t" r="r" b="b"/>
              <a:pathLst>
                <a:path w="4905375" h="1238250">
                  <a:moveTo>
                    <a:pt x="38100" y="0"/>
                  </a:moveTo>
                  <a:lnTo>
                    <a:pt x="4867275" y="0"/>
                  </a:lnTo>
                  <a:cubicBezTo>
                    <a:pt x="4888317" y="0"/>
                    <a:pt x="4905375" y="17058"/>
                    <a:pt x="4905375" y="38100"/>
                  </a:cubicBezTo>
                  <a:lnTo>
                    <a:pt x="4905375" y="1200150"/>
                  </a:lnTo>
                  <a:cubicBezTo>
                    <a:pt x="4905375" y="1221192"/>
                    <a:pt x="4888317" y="1238250"/>
                    <a:pt x="4867275" y="1238250"/>
                  </a:cubicBezTo>
                  <a:lnTo>
                    <a:pt x="38100" y="1238250"/>
                  </a:lnTo>
                  <a:cubicBezTo>
                    <a:pt x="17058" y="1238250"/>
                    <a:pt x="0" y="1221192"/>
                    <a:pt x="0" y="1200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62000" y="3381375"/>
              <a:ext cx="47625" cy="1238250"/>
            </a:xfrm>
            <a:custGeom>
              <a:avLst/>
              <a:gdLst/>
              <a:ahLst/>
              <a:cxnLst/>
              <a:rect l="l" t="t" r="r" b="b"/>
              <a:pathLst>
                <a:path w="47625" h="1238250">
                  <a:moveTo>
                    <a:pt x="19050" y="0"/>
                  </a:moveTo>
                  <a:lnTo>
                    <a:pt x="28575" y="0"/>
                  </a:lnTo>
                  <a:cubicBezTo>
                    <a:pt x="39096" y="0"/>
                    <a:pt x="47625" y="8529"/>
                    <a:pt x="47625" y="19050"/>
                  </a:cubicBezTo>
                  <a:lnTo>
                    <a:pt x="47625" y="1219200"/>
                  </a:lnTo>
                  <a:cubicBezTo>
                    <a:pt x="47625" y="1229721"/>
                    <a:pt x="39096" y="1238250"/>
                    <a:pt x="28575" y="1238250"/>
                  </a:cubicBezTo>
                  <a:lnTo>
                    <a:pt x="19050" y="1238250"/>
                  </a:lnTo>
                  <a:cubicBezTo>
                    <a:pt x="8529" y="1238250"/>
                    <a:pt x="0" y="1229721"/>
                    <a:pt x="0" y="1219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9A96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2980" y="35499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职场维度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6790" y="3839528"/>
              <a:ext cx="3047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目标拆解从100到1：将甲方整体目标逐层拆解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6790" y="4077652"/>
              <a:ext cx="2940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每个班、每个组长、每个坐席都有明确目标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7742" y="43524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通过细节落地实现全员同频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762000" y="4762500"/>
              <a:ext cx="4905375" cy="1238250"/>
            </a:xfrm>
            <a:custGeom>
              <a:avLst/>
              <a:gdLst/>
              <a:ahLst/>
              <a:cxnLst/>
              <a:rect l="l" t="t" r="r" b="b"/>
              <a:pathLst>
                <a:path w="4905375" h="1238250">
                  <a:moveTo>
                    <a:pt x="38100" y="0"/>
                  </a:moveTo>
                  <a:lnTo>
                    <a:pt x="4867275" y="0"/>
                  </a:lnTo>
                  <a:cubicBezTo>
                    <a:pt x="4888317" y="0"/>
                    <a:pt x="4905375" y="17058"/>
                    <a:pt x="4905375" y="38100"/>
                  </a:cubicBezTo>
                  <a:lnTo>
                    <a:pt x="4905375" y="1200150"/>
                  </a:lnTo>
                  <a:cubicBezTo>
                    <a:pt x="4905375" y="1221192"/>
                    <a:pt x="4888317" y="1238250"/>
                    <a:pt x="4867275" y="1238250"/>
                  </a:cubicBezTo>
                  <a:lnTo>
                    <a:pt x="38100" y="1238250"/>
                  </a:lnTo>
                  <a:cubicBezTo>
                    <a:pt x="17058" y="1238250"/>
                    <a:pt x="0" y="1221192"/>
                    <a:pt x="0" y="1200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62000" y="4762500"/>
              <a:ext cx="47625" cy="1238250"/>
            </a:xfrm>
            <a:custGeom>
              <a:avLst/>
              <a:gdLst/>
              <a:ahLst/>
              <a:cxnLst/>
              <a:rect l="l" t="t" r="r" b="b"/>
              <a:pathLst>
                <a:path w="47625" h="1238250">
                  <a:moveTo>
                    <a:pt x="19050" y="0"/>
                  </a:moveTo>
                  <a:lnTo>
                    <a:pt x="28575" y="0"/>
                  </a:lnTo>
                  <a:cubicBezTo>
                    <a:pt x="39096" y="0"/>
                    <a:pt x="47625" y="8529"/>
                    <a:pt x="47625" y="19050"/>
                  </a:cubicBezTo>
                  <a:lnTo>
                    <a:pt x="47625" y="1219200"/>
                  </a:lnTo>
                  <a:cubicBezTo>
                    <a:pt x="47625" y="1229721"/>
                    <a:pt x="39096" y="1238250"/>
                    <a:pt x="28575" y="1238250"/>
                  </a:cubicBezTo>
                  <a:lnTo>
                    <a:pt x="19050" y="1238250"/>
                  </a:lnTo>
                  <a:cubicBezTo>
                    <a:pt x="8529" y="1238250"/>
                    <a:pt x="0" y="1229721"/>
                    <a:pt x="0" y="1219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2980" y="49310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资源维度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790" y="5220652"/>
              <a:ext cx="3270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客户名单全周期管理 + 激励体系升级为管理架构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6790" y="5458778"/>
              <a:ext cx="24266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日/周/月/年不同周期激励规则明确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7742" y="5733574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最大化利用往期资源，避免名单过期浪费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286500" y="1476375"/>
            <a:ext cx="5334000" cy="4524375"/>
            <a:chOff x="6286500" y="1476375"/>
            <a:chExt cx="5334000" cy="4524375"/>
          </a:xfrm>
        </p:grpSpPr>
        <p:sp>
          <p:nvSpPr>
            <p:cNvPr id="38" name="Freeform 38"/>
            <p:cNvSpPr/>
            <p:nvPr/>
          </p:nvSpPr>
          <p:spPr>
            <a:xfrm>
              <a:off x="6286500" y="1476375"/>
              <a:ext cx="5334000" cy="2190750"/>
            </a:xfrm>
            <a:custGeom>
              <a:avLst/>
              <a:gdLst/>
              <a:ahLst/>
              <a:cxnLst/>
              <a:rect l="l" t="t" r="r" b="b"/>
              <a:pathLst>
                <a:path w="5334000" h="2190750">
                  <a:moveTo>
                    <a:pt x="38100" y="0"/>
                  </a:moveTo>
                  <a:lnTo>
                    <a:pt x="5295900" y="0"/>
                  </a:lnTo>
                  <a:cubicBezTo>
                    <a:pt x="5316942" y="0"/>
                    <a:pt x="5334000" y="17058"/>
                    <a:pt x="5334000" y="38100"/>
                  </a:cubicBezTo>
                  <a:lnTo>
                    <a:pt x="5334000" y="2152650"/>
                  </a:lnTo>
                  <a:cubicBezTo>
                    <a:pt x="5334000" y="2173692"/>
                    <a:pt x="5316942" y="2190750"/>
                    <a:pt x="5295900" y="2190750"/>
                  </a:cubicBezTo>
                  <a:lnTo>
                    <a:pt x="38100" y="2190750"/>
                  </a:lnTo>
                  <a:cubicBezTo>
                    <a:pt x="17058" y="2190750"/>
                    <a:pt x="0" y="2173692"/>
                    <a:pt x="0" y="2152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86500" y="1476375"/>
              <a:ext cx="38100" cy="2190750"/>
            </a:xfrm>
            <a:prstGeom prst="rect">
              <a:avLst/>
            </a:prstGeom>
            <a:solidFill>
              <a:srgbClr val="C4123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05575" y="16764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当前阶段策略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477000" y="2000250"/>
              <a:ext cx="4905375" cy="714375"/>
            </a:xfrm>
            <a:custGeom>
              <a:avLst/>
              <a:gdLst/>
              <a:ahLst/>
              <a:cxnLst/>
              <a:rect l="l" t="t" r="r" b="b"/>
              <a:pathLst>
                <a:path w="4905375" h="714375">
                  <a:moveTo>
                    <a:pt x="38100" y="0"/>
                  </a:moveTo>
                  <a:lnTo>
                    <a:pt x="4867275" y="0"/>
                  </a:lnTo>
                  <a:cubicBezTo>
                    <a:pt x="4888317" y="0"/>
                    <a:pt x="4905375" y="17058"/>
                    <a:pt x="4905375" y="38100"/>
                  </a:cubicBezTo>
                  <a:lnTo>
                    <a:pt x="4905375" y="676275"/>
                  </a:lnTo>
                  <a:cubicBezTo>
                    <a:pt x="4905375" y="697317"/>
                    <a:pt x="4888317" y="714375"/>
                    <a:pt x="4867275" y="714375"/>
                  </a:cubicBezTo>
                  <a:lnTo>
                    <a:pt x="38100" y="714375"/>
                  </a:lnTo>
                  <a:cubicBezTo>
                    <a:pt x="17058" y="714375"/>
                    <a:pt x="0" y="697317"/>
                    <a:pt x="0" y="6762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C4123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2260" y="2156460"/>
              <a:ext cx="24227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1230"/>
                  </a:solidFill>
                  <a:latin typeface="Arial"/>
                  <a:ea typeface="Microsoft YaHei"/>
                  <a:cs typeface="Arial"/>
                </a:rPr>
                <a:t>优先上规模，入场后逐步培育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54165" y="241077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不突破底线标准前提下适当降低准入标准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477000" y="2857500"/>
              <a:ext cx="4905375" cy="666750"/>
            </a:xfrm>
            <a:custGeom>
              <a:avLst/>
              <a:gdLst/>
              <a:ahLst/>
              <a:cxnLst/>
              <a:rect l="l" t="t" r="r" b="b"/>
              <a:pathLst>
                <a:path w="4905375" h="666750">
                  <a:moveTo>
                    <a:pt x="38100" y="0"/>
                  </a:moveTo>
                  <a:lnTo>
                    <a:pt x="4867275" y="0"/>
                  </a:lnTo>
                  <a:cubicBezTo>
                    <a:pt x="4888317" y="0"/>
                    <a:pt x="4905375" y="17058"/>
                    <a:pt x="4905375" y="38100"/>
                  </a:cubicBezTo>
                  <a:lnTo>
                    <a:pt x="4905375" y="628650"/>
                  </a:lnTo>
                  <a:cubicBezTo>
                    <a:pt x="4905375" y="649692"/>
                    <a:pt x="4888317" y="666750"/>
                    <a:pt x="4867275" y="666750"/>
                  </a:cubicBezTo>
                  <a:lnTo>
                    <a:pt x="38100" y="666750"/>
                  </a:lnTo>
                  <a:cubicBezTo>
                    <a:pt x="17058" y="666750"/>
                    <a:pt x="0" y="649692"/>
                    <a:pt x="0" y="628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3212" y="2993231"/>
              <a:ext cx="24438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核心原则：追求产能而非堆人头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5118" y="3276124"/>
              <a:ext cx="329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五险一金标准提高后，更需要聚焦产能达标而非人数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286500" y="3905250"/>
              <a:ext cx="5334000" cy="2095500"/>
            </a:xfrm>
            <a:custGeom>
              <a:avLst/>
              <a:gdLst/>
              <a:ahLst/>
              <a:cxnLst/>
              <a:rect l="l" t="t" r="r" b="b"/>
              <a:pathLst>
                <a:path w="5334000" h="2095500">
                  <a:moveTo>
                    <a:pt x="38100" y="0"/>
                  </a:moveTo>
                  <a:lnTo>
                    <a:pt x="5295900" y="0"/>
                  </a:lnTo>
                  <a:cubicBezTo>
                    <a:pt x="5316942" y="0"/>
                    <a:pt x="5334000" y="17058"/>
                    <a:pt x="5334000" y="38100"/>
                  </a:cubicBezTo>
                  <a:lnTo>
                    <a:pt x="5334000" y="2057400"/>
                  </a:lnTo>
                  <a:cubicBezTo>
                    <a:pt x="5334000" y="2078442"/>
                    <a:pt x="5316942" y="2095500"/>
                    <a:pt x="5295900" y="2095500"/>
                  </a:cubicBezTo>
                  <a:lnTo>
                    <a:pt x="38100" y="2095500"/>
                  </a:lnTo>
                  <a:cubicBezTo>
                    <a:pt x="17058" y="2095500"/>
                    <a:pt x="0" y="2078442"/>
                    <a:pt x="0" y="20574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0EDE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86500" y="3905250"/>
              <a:ext cx="38100" cy="209550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05575" y="4105275"/>
              <a:ext cx="19013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9A962"/>
                  </a:solidFill>
                  <a:latin typeface="Arial"/>
                  <a:ea typeface="Microsoft YaHei"/>
                  <a:cs typeface="Arial"/>
                </a:rPr>
                <a:t>00后团队管理经验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6477000" y="4429125"/>
              <a:ext cx="2333625" cy="1428750"/>
            </a:xfrm>
            <a:custGeom>
              <a:avLst/>
              <a:gdLst/>
              <a:ahLst/>
              <a:cxnLst/>
              <a:rect l="l" t="t" r="r" b="b"/>
              <a:pathLst>
                <a:path w="2333625" h="1428750">
                  <a:moveTo>
                    <a:pt x="38100" y="0"/>
                  </a:moveTo>
                  <a:lnTo>
                    <a:pt x="2295525" y="0"/>
                  </a:lnTo>
                  <a:cubicBezTo>
                    <a:pt x="2316567" y="0"/>
                    <a:pt x="2333625" y="17058"/>
                    <a:pt x="2333625" y="38100"/>
                  </a:cubicBezTo>
                  <a:lnTo>
                    <a:pt x="2333625" y="1390650"/>
                  </a:lnTo>
                  <a:cubicBezTo>
                    <a:pt x="2333625" y="1411692"/>
                    <a:pt x="2316567" y="1428750"/>
                    <a:pt x="2295525" y="1428750"/>
                  </a:cubicBezTo>
                  <a:lnTo>
                    <a:pt x="38100" y="1428750"/>
                  </a:lnTo>
                  <a:cubicBezTo>
                    <a:pt x="17058" y="1428750"/>
                    <a:pt x="0" y="1411692"/>
                    <a:pt x="0" y="1390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05588" y="45934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选人策略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07492" y="487632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优先选择执行力强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07492" y="5085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踏实的候选人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07492" y="529542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用团队氛围感染新人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07492" y="55049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减少负面情绪传播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9048750" y="4429125"/>
              <a:ext cx="2333625" cy="1428750"/>
            </a:xfrm>
            <a:custGeom>
              <a:avLst/>
              <a:gdLst/>
              <a:ahLst/>
              <a:cxnLst/>
              <a:rect l="l" t="t" r="r" b="b"/>
              <a:pathLst>
                <a:path w="2333625" h="1428750">
                  <a:moveTo>
                    <a:pt x="38100" y="0"/>
                  </a:moveTo>
                  <a:lnTo>
                    <a:pt x="2295525" y="0"/>
                  </a:lnTo>
                  <a:cubicBezTo>
                    <a:pt x="2316567" y="0"/>
                    <a:pt x="2333625" y="17058"/>
                    <a:pt x="2333625" y="38100"/>
                  </a:cubicBezTo>
                  <a:lnTo>
                    <a:pt x="2333625" y="1390650"/>
                  </a:lnTo>
                  <a:cubicBezTo>
                    <a:pt x="2333625" y="1411692"/>
                    <a:pt x="2316567" y="1428750"/>
                    <a:pt x="2295525" y="1428750"/>
                  </a:cubicBezTo>
                  <a:lnTo>
                    <a:pt x="38100" y="1428750"/>
                  </a:lnTo>
                  <a:cubicBezTo>
                    <a:pt x="17058" y="1428750"/>
                    <a:pt x="0" y="1411692"/>
                    <a:pt x="0" y="1390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DFCFA"/>
            </a:solidFill>
            <a:ln w="9525">
              <a:solidFill>
                <a:srgbClr val="F0EDE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77338" y="45934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管理技巧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79242" y="48763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明确知道每个坐席行为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79242" y="50858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开会点出问题不点名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79242" y="529542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让问题坐席自我调节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79242" y="55049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维持团队正面氛围</a:t>
              </a:r>
            </a:p>
          </p:txBody>
        </p:sp>
      </p:grpSp>
      <p:sp>
        <p:nvSpPr>
          <p:cNvPr id="63" name="Freeform 63"/>
          <p:cNvSpPr/>
          <p:nvPr/>
        </p:nvSpPr>
        <p:spPr>
          <a:xfrm>
            <a:off x="38100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moveTo>
                  <a:pt x="0" y="0"/>
                </a:moveTo>
                <a:lnTo>
                  <a:pt x="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4" name="Freeform 64"/>
          <p:cNvSpPr/>
          <p:nvPr/>
        </p:nvSpPr>
        <p:spPr>
          <a:xfrm>
            <a:off x="11715750" y="133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0"/>
                </a:lnTo>
                <a:moveTo>
                  <a:pt x="95250" y="0"/>
                </a:moveTo>
                <a:lnTo>
                  <a:pt x="95250" y="9525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5" name="Freeform 65"/>
          <p:cNvSpPr/>
          <p:nvPr/>
        </p:nvSpPr>
        <p:spPr>
          <a:xfrm>
            <a:off x="38100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moveTo>
                  <a:pt x="0" y="9525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6" name="Freeform 66"/>
          <p:cNvSpPr/>
          <p:nvPr/>
        </p:nvSpPr>
        <p:spPr>
          <a:xfrm>
            <a:off x="1171575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95250"/>
                </a:moveTo>
                <a:lnTo>
                  <a:pt x="0" y="95250"/>
                </a:lnTo>
                <a:moveTo>
                  <a:pt x="95250" y="95250"/>
                </a:moveTo>
                <a:lnTo>
                  <a:pt x="95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67" name="Line 6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EAEA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370522" y="6530816"/>
            <a:ext cx="36718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数据来源：313上午供应商联盟认证总结会 | 关键共识与冲突解决方案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844540" y="65308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落地方案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87079" y="6514624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77777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A0E2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191250" y="0"/>
            <a:ext cx="6000750" cy="6858000"/>
          </a:xfrm>
          <a:custGeom>
            <a:avLst/>
            <a:gdLst/>
            <a:ahLst/>
            <a:cxnLst/>
            <a:rect l="l" t="t" r="r" b="b"/>
            <a:pathLst>
              <a:path w="6000750" h="6858000">
                <a:moveTo>
                  <a:pt x="1905000" y="0"/>
                </a:moveTo>
                <a:lnTo>
                  <a:pt x="6000750" y="0"/>
                </a:lnTo>
                <a:lnTo>
                  <a:pt x="60007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81028">
              <a:alpha val="60000"/>
            </a:srgbClr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7143750" y="0"/>
            <a:ext cx="5048250" cy="6858000"/>
          </a:xfrm>
          <a:custGeom>
            <a:avLst/>
            <a:gdLst/>
            <a:ahLst/>
            <a:cxnLst/>
            <a:rect l="l" t="t" r="r" b="b"/>
            <a:pathLst>
              <a:path w="5048250" h="6858000">
                <a:moveTo>
                  <a:pt x="1905000" y="0"/>
                </a:moveTo>
                <a:lnTo>
                  <a:pt x="5048250" y="0"/>
                </a:lnTo>
                <a:lnTo>
                  <a:pt x="50482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31530">
              <a:alpha val="4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8096250" y="0"/>
            <a:ext cx="4095750" cy="6858000"/>
          </a:xfrm>
          <a:custGeom>
            <a:avLst/>
            <a:gdLst/>
            <a:ahLst/>
            <a:cxnLst/>
            <a:rect l="l" t="t" r="r" b="b"/>
            <a:pathLst>
              <a:path w="4095750" h="6858000">
                <a:moveTo>
                  <a:pt x="1905000" y="0"/>
                </a:moveTo>
                <a:lnTo>
                  <a:pt x="4095750" y="0"/>
                </a:lnTo>
                <a:lnTo>
                  <a:pt x="40957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41230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620500" y="0"/>
            <a:ext cx="571500" cy="6858000"/>
          </a:xfrm>
          <a:prstGeom prst="rect">
            <a:avLst/>
          </a:prstGeom>
          <a:solidFill>
            <a:srgbClr val="7A0B1E">
              <a:alpha val="4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2001500" y="0"/>
            <a:ext cx="190500" cy="6858000"/>
          </a:xfrm>
          <a:prstGeom prst="rect">
            <a:avLst/>
          </a:prstGeom>
          <a:solidFill>
            <a:srgbClr val="5A081A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2286000"/>
            <a:ext cx="76200" cy="2286000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2333625"/>
            <a:ext cx="38100" cy="2190750"/>
          </a:xfrm>
          <a:prstGeom prst="rect">
            <a:avLst/>
          </a:prstGeom>
          <a:solidFill>
            <a:srgbClr val="D4B87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0" y="2200275"/>
            <a:ext cx="76200" cy="76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0" y="4581525"/>
            <a:ext cx="76200" cy="76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0" y="571500"/>
            <a:ext cx="2857500" cy="9525"/>
          </a:xfrm>
          <a:prstGeom prst="rect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19125"/>
            <a:ext cx="1905000" cy="9525"/>
          </a:xfrm>
          <a:prstGeom prst="rect">
            <a:avLst/>
          </a:prstGeom>
          <a:solidFill>
            <a:srgbClr val="C9A962">
              <a:alpha val="20000"/>
            </a:srgbClr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9334500" y="2095500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71" y="0"/>
                  <a:pt x="1524000" y="8529"/>
                  <a:pt x="1524000" y="19050"/>
                </a:cubicBezTo>
                <a:lnTo>
                  <a:pt x="1524000" y="19050"/>
                </a:lnTo>
                <a:cubicBezTo>
                  <a:pt x="1524000" y="29571"/>
                  <a:pt x="1515471" y="38100"/>
                  <a:pt x="1504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35000"/>
            </a:srgbClr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9525000" y="2286000"/>
            <a:ext cx="1333500" cy="38100"/>
          </a:xfrm>
          <a:custGeom>
            <a:avLst/>
            <a:gdLst/>
            <a:ahLst/>
            <a:cxnLst/>
            <a:rect l="l" t="t" r="r" b="b"/>
            <a:pathLst>
              <a:path w="1333500" h="38100">
                <a:moveTo>
                  <a:pt x="19050" y="0"/>
                </a:moveTo>
                <a:lnTo>
                  <a:pt x="1314450" y="0"/>
                </a:lnTo>
                <a:cubicBezTo>
                  <a:pt x="1324971" y="0"/>
                  <a:pt x="1333500" y="8529"/>
                  <a:pt x="1333500" y="19050"/>
                </a:cubicBezTo>
                <a:lnTo>
                  <a:pt x="1333500" y="19050"/>
                </a:lnTo>
                <a:cubicBezTo>
                  <a:pt x="1333500" y="29571"/>
                  <a:pt x="1324971" y="38100"/>
                  <a:pt x="1314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28000"/>
            </a:srgbClr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9715500" y="2476500"/>
            <a:ext cx="1143000" cy="38100"/>
          </a:xfrm>
          <a:custGeom>
            <a:avLst/>
            <a:gdLst/>
            <a:ahLst/>
            <a:cxnLst/>
            <a:rect l="l" t="t" r="r" b="b"/>
            <a:pathLst>
              <a:path w="1143000" h="38100">
                <a:moveTo>
                  <a:pt x="19050" y="0"/>
                </a:moveTo>
                <a:lnTo>
                  <a:pt x="1123950" y="0"/>
                </a:lnTo>
                <a:cubicBezTo>
                  <a:pt x="1134471" y="0"/>
                  <a:pt x="1143000" y="8529"/>
                  <a:pt x="1143000" y="19050"/>
                </a:cubicBezTo>
                <a:lnTo>
                  <a:pt x="1143000" y="19050"/>
                </a:lnTo>
                <a:cubicBezTo>
                  <a:pt x="1143000" y="29571"/>
                  <a:pt x="1134471" y="38100"/>
                  <a:pt x="1123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22000"/>
            </a:srgbClr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9906000" y="2667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19050" y="0"/>
                </a:moveTo>
                <a:lnTo>
                  <a:pt x="933450" y="0"/>
                </a:lnTo>
                <a:cubicBezTo>
                  <a:pt x="943971" y="0"/>
                  <a:pt x="952500" y="8529"/>
                  <a:pt x="952500" y="19050"/>
                </a:cubicBezTo>
                <a:lnTo>
                  <a:pt x="952500" y="19050"/>
                </a:lnTo>
                <a:cubicBezTo>
                  <a:pt x="952500" y="29571"/>
                  <a:pt x="943971" y="38100"/>
                  <a:pt x="933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16000"/>
            </a:srgbClr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10096500" y="28575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9A962">
              <a:alpha val="10000"/>
            </a:srgb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9906000" y="4191000"/>
            <a:ext cx="1905000" cy="1905000"/>
          </a:xfrm>
          <a:prstGeom prst="ellipse">
            <a:avLst/>
          </a:prstGeom>
          <a:noFill/>
          <a:ln w="4762">
            <a:solidFill>
              <a:srgbClr val="C9A962">
                <a:alpha val="6000"/>
              </a:srgbClr>
            </a:solidFill>
          </a:ln>
        </p:spPr>
      </p:sp>
      <p:sp>
        <p:nvSpPr>
          <p:cNvPr id="20" name="Ellipse 20"/>
          <p:cNvSpPr/>
          <p:nvPr/>
        </p:nvSpPr>
        <p:spPr>
          <a:xfrm>
            <a:off x="10096500" y="4381500"/>
            <a:ext cx="1524000" cy="1524000"/>
          </a:xfrm>
          <a:prstGeom prst="ellipse">
            <a:avLst/>
          </a:prstGeom>
          <a:noFill/>
          <a:ln w="9525">
            <a:solidFill>
              <a:srgbClr val="C9A962">
                <a:alpha val="10000"/>
              </a:srgbClr>
            </a:solidFill>
          </a:ln>
        </p:spPr>
      </p:sp>
      <p:sp>
        <p:nvSpPr>
          <p:cNvPr id="21" name="Ellipse 21"/>
          <p:cNvSpPr/>
          <p:nvPr/>
        </p:nvSpPr>
        <p:spPr>
          <a:xfrm>
            <a:off x="10287000" y="4572000"/>
            <a:ext cx="1143000" cy="1143000"/>
          </a:xfrm>
          <a:prstGeom prst="ellipse">
            <a:avLst/>
          </a:prstGeom>
          <a:noFill/>
          <a:ln w="14288">
            <a:solidFill>
              <a:srgbClr val="C9A962">
                <a:alpha val="15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10477500" y="4762500"/>
            <a:ext cx="762000" cy="762000"/>
          </a:xfrm>
          <a:prstGeom prst="ellipse">
            <a:avLst/>
          </a:prstGeom>
          <a:noFill/>
          <a:ln w="9525">
            <a:solidFill>
              <a:srgbClr val="C9A962">
                <a:alpha val="12000"/>
              </a:srgbClr>
            </a:solidFill>
          </a:ln>
        </p:spPr>
      </p:sp>
      <p:sp>
        <p:nvSpPr>
          <p:cNvPr id="23" name="Ellipse 23"/>
          <p:cNvSpPr/>
          <p:nvPr/>
        </p:nvSpPr>
        <p:spPr>
          <a:xfrm>
            <a:off x="10668000" y="4953000"/>
            <a:ext cx="381000" cy="381000"/>
          </a:xfrm>
          <a:prstGeom prst="ellipse">
            <a:avLst/>
          </a:prstGeom>
          <a:solidFill>
            <a:srgbClr val="C9A962">
              <a:alpha val="8000"/>
            </a:srgbClr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10782300" y="5067300"/>
            <a:ext cx="152400" cy="152400"/>
          </a:xfrm>
          <a:prstGeom prst="ellipse">
            <a:avLst/>
          </a:pr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57200" y="2362200"/>
            <a:ext cx="4658106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 val="6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6" name="Line 26"/>
          <p:cNvSpPr/>
          <p:nvPr/>
        </p:nvSpPr>
        <p:spPr>
          <a:xfrm>
            <a:off x="3238500" y="266700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28575">
            <a:solidFill>
              <a:srgbClr val="C9A962"/>
            </a:solidFill>
          </a:ln>
        </p:spPr>
      </p:sp>
      <p:sp>
        <p:nvSpPr>
          <p:cNvPr id="27" name="Line 27"/>
          <p:cNvSpPr/>
          <p:nvPr/>
        </p:nvSpPr>
        <p:spPr>
          <a:xfrm>
            <a:off x="3238500" y="2733675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9525">
            <a:solidFill>
              <a:srgbClr val="C9A962">
                <a:alpha val="50000"/>
              </a:srgbClr>
            </a:solidFill>
          </a:ln>
        </p:spPr>
      </p:sp>
      <p:sp>
        <p:nvSpPr>
          <p:cNvPr id="28" name="Ellipse 28"/>
          <p:cNvSpPr/>
          <p:nvPr/>
        </p:nvSpPr>
        <p:spPr>
          <a:xfrm>
            <a:off x="4810125" y="2619375"/>
            <a:ext cx="95250" cy="9525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4838700" y="2647950"/>
            <a:ext cx="38100" cy="38100"/>
          </a:xfrm>
          <a:prstGeom prst="ellipse">
            <a:avLst/>
          </a:prstGeom>
          <a:solidFill>
            <a:srgbClr val="D4B87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188970" y="310324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总结展望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19450" y="39338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5F0EB">
                    <a:alpha val="90000"/>
                  </a:srgbClr>
                </a:solidFill>
                <a:latin typeface="Arial"/>
                <a:ea typeface="Microsoft YaHei"/>
                <a:cs typeface="Arial"/>
              </a:rPr>
              <a:t>联盟持续开放共享，共建标准化运营体系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238500" y="4333875"/>
            <a:ext cx="1905000" cy="9525"/>
          </a:xfrm>
          <a:prstGeom prst="rect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FFFFFF">
                <a:alpha val="10000"/>
              </a:srgbClr>
            </a:solidFill>
          </a:ln>
        </p:spPr>
      </p:sp>
      <p:sp>
        <p:nvSpPr>
          <p:cNvPr id="34" name="Ellipse 34"/>
          <p:cNvSpPr/>
          <p:nvPr/>
        </p:nvSpPr>
        <p:spPr>
          <a:xfrm>
            <a:off x="361950" y="6315075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11791950" y="6315075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831544" y="650652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8F6F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1009650"/>
            <a:ext cx="12192000" cy="952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1038225"/>
            <a:ext cx="12192000" cy="28575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457200" y="123825"/>
            <a:ext cx="800100" cy="800100"/>
          </a:xfrm>
          <a:prstGeom prst="ellipse">
            <a:avLst/>
          </a:prstGeom>
          <a:noFill/>
          <a:ln w="4762">
            <a:solidFill>
              <a:srgbClr val="C9A962">
                <a:alpha val="2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552450" y="219075"/>
            <a:ext cx="609600" cy="609600"/>
          </a:xfrm>
          <a:prstGeom prst="ellipse">
            <a:avLst/>
          </a:prstGeom>
          <a:noFill/>
          <a:ln w="14288">
            <a:solidFill>
              <a:srgbClr val="C9A962">
                <a:alpha val="4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647700" y="314325"/>
            <a:ext cx="419100" cy="419100"/>
          </a:xfrm>
          <a:prstGeom prst="ellipse">
            <a:avLst/>
          </a:prstGeom>
          <a:noFill/>
          <a:ln w="7620">
            <a:solidFill>
              <a:srgbClr val="C9A962">
                <a:alpha val="30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762000" y="428625"/>
            <a:ext cx="190500" cy="190500"/>
          </a:xfrm>
          <a:prstGeom prst="ellipse">
            <a:avLst/>
          </a:prstGeom>
          <a:solidFill>
            <a:srgbClr val="C9A962">
              <a:alpha val="25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819150" y="485775"/>
            <a:ext cx="76200" cy="76200"/>
          </a:xfrm>
          <a:prstGeom prst="ellipse">
            <a:avLst/>
          </a:prstGeom>
          <a:solidFill>
            <a:srgbClr val="C9A962">
              <a:alpha val="5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362075" y="266700"/>
            <a:ext cx="38100" cy="3810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462088" y="414338"/>
            <a:ext cx="28575" cy="28575"/>
          </a:xfrm>
          <a:prstGeom prst="ellipse">
            <a:avLst/>
          </a:prstGeom>
          <a:solidFill>
            <a:srgbClr val="C9A962">
              <a:alpha val="2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255415" y="441960"/>
            <a:ext cx="11898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15" name="Freeform 15"/>
          <p:cNvSpPr/>
          <p:nvPr/>
        </p:nvSpPr>
        <p:spPr>
          <a:xfrm>
            <a:off x="11334750" y="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857250" y="0"/>
                </a:moveTo>
                <a:lnTo>
                  <a:pt x="85725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9A0E26">
              <a:alpha val="30000"/>
            </a:srgbClr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11715750" y="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76250" y="0"/>
                </a:moveTo>
                <a:lnTo>
                  <a:pt x="47625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C9A962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754499" y="221361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C41230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05275" y="307657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联盟持续开放共享，共建标准化运营体系</a:t>
            </a:r>
          </a:p>
        </p:txBody>
      </p:sp>
      <p:sp>
        <p:nvSpPr>
          <p:cNvPr id="19" name="Line 19"/>
          <p:cNvSpPr/>
          <p:nvPr/>
        </p:nvSpPr>
        <p:spPr>
          <a:xfrm>
            <a:off x="3810000" y="366712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C9A962"/>
            </a:solidFill>
          </a:ln>
        </p:spPr>
      </p:sp>
      <p:sp>
        <p:nvSpPr>
          <p:cNvPr id="20" name="Line 20"/>
          <p:cNvSpPr/>
          <p:nvPr/>
        </p:nvSpPr>
        <p:spPr>
          <a:xfrm>
            <a:off x="6667500" y="366712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C9A962"/>
            </a:solidFill>
          </a:ln>
        </p:spPr>
      </p:sp>
      <p:sp>
        <p:nvSpPr>
          <p:cNvPr id="21" name="Rectangle 21"/>
          <p:cNvSpPr/>
          <p:nvPr/>
        </p:nvSpPr>
        <p:spPr>
          <a:xfrm rot="2700000">
            <a:off x="6000750" y="3571875"/>
            <a:ext cx="190500" cy="19050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 rot="2700000">
            <a:off x="6048375" y="3619500"/>
            <a:ext cx="95250" cy="95250"/>
          </a:xfrm>
          <a:prstGeom prst="rect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3771900" y="3629025"/>
            <a:ext cx="76200" cy="7620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3790950" y="3648075"/>
            <a:ext cx="38100" cy="381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343900" y="3629025"/>
            <a:ext cx="76200" cy="7620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8362950" y="3648075"/>
            <a:ext cx="38100" cy="381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3048000" y="4000500"/>
            <a:ext cx="6096000" cy="1524000"/>
          </a:xfrm>
          <a:custGeom>
            <a:avLst/>
            <a:gdLst/>
            <a:ahLst/>
            <a:cxnLst/>
            <a:rect l="l" t="t" r="r" b="b"/>
            <a:pathLst>
              <a:path w="6096000" h="1524000">
                <a:moveTo>
                  <a:pt x="76200" y="0"/>
                </a:moveTo>
                <a:lnTo>
                  <a:pt x="6019800" y="0"/>
                </a:lnTo>
                <a:cubicBezTo>
                  <a:pt x="6061884" y="0"/>
                  <a:pt x="6096000" y="34116"/>
                  <a:pt x="6096000" y="76200"/>
                </a:cubicBezTo>
                <a:lnTo>
                  <a:pt x="6096000" y="1447800"/>
                </a:lnTo>
                <a:cubicBezTo>
                  <a:pt x="6096000" y="1489884"/>
                  <a:pt x="6061884" y="1524000"/>
                  <a:pt x="6019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6F3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3048000" y="4000500"/>
            <a:ext cx="47625" cy="1524000"/>
          </a:xfrm>
          <a:custGeom>
            <a:avLst/>
            <a:gdLst/>
            <a:ahLst/>
            <a:cxnLst/>
            <a:rect l="l" t="t" r="r" b="b"/>
            <a:pathLst>
              <a:path w="47625" h="15240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504950"/>
                </a:lnTo>
                <a:cubicBezTo>
                  <a:pt x="47625" y="1515471"/>
                  <a:pt x="39096" y="1524000"/>
                  <a:pt x="28575" y="1524000"/>
                </a:cubicBezTo>
                <a:lnTo>
                  <a:pt x="19050" y="1524000"/>
                </a:lnTo>
                <a:cubicBezTo>
                  <a:pt x="8529" y="1524000"/>
                  <a:pt x="0" y="1515471"/>
                  <a:pt x="0" y="1504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41230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3048000" y="3976688"/>
            <a:ext cx="47625" cy="47625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3048000" y="5500688"/>
            <a:ext cx="47625" cy="47625"/>
          </a:xfrm>
          <a:prstGeom prst="ellipse">
            <a:avLst/>
          </a:prstGeom>
          <a:solidFill>
            <a:srgbClr val="C9A962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8763000" y="5476875"/>
            <a:ext cx="381000" cy="19050"/>
          </a:xfrm>
          <a:custGeom>
            <a:avLst/>
            <a:gdLst/>
            <a:ahLst/>
            <a:cxnLst/>
            <a:rect l="l" t="t" r="r" b="b"/>
            <a:pathLst>
              <a:path w="381000" h="19050">
                <a:moveTo>
                  <a:pt x="9525" y="0"/>
                </a:moveTo>
                <a:lnTo>
                  <a:pt x="371475" y="0"/>
                </a:lnTo>
                <a:cubicBezTo>
                  <a:pt x="376736" y="0"/>
                  <a:pt x="381000" y="4264"/>
                  <a:pt x="381000" y="9525"/>
                </a:cubicBezTo>
                <a:lnTo>
                  <a:pt x="381000" y="9525"/>
                </a:lnTo>
                <a:cubicBezTo>
                  <a:pt x="381000" y="14786"/>
                  <a:pt x="376736" y="19050"/>
                  <a:pt x="371475" y="19050"/>
                </a:cubicBezTo>
                <a:lnTo>
                  <a:pt x="9525" y="19050"/>
                </a:lnTo>
                <a:cubicBezTo>
                  <a:pt x="4264" y="19050"/>
                  <a:pt x="0" y="14786"/>
                  <a:pt x="0" y="9525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9096375" y="5191125"/>
            <a:ext cx="19050" cy="304800"/>
          </a:xfrm>
          <a:custGeom>
            <a:avLst/>
            <a:gdLst/>
            <a:ahLst/>
            <a:cxnLst/>
            <a:rect l="l" t="t" r="r" b="b"/>
            <a:pathLst>
              <a:path w="19050" h="304800">
                <a:moveTo>
                  <a:pt x="9525" y="0"/>
                </a:moveTo>
                <a:lnTo>
                  <a:pt x="9525" y="0"/>
                </a:lnTo>
                <a:cubicBezTo>
                  <a:pt x="14786" y="0"/>
                  <a:pt x="19050" y="4264"/>
                  <a:pt x="19050" y="9525"/>
                </a:cubicBezTo>
                <a:lnTo>
                  <a:pt x="19050" y="295275"/>
                </a:lnTo>
                <a:cubicBezTo>
                  <a:pt x="19050" y="300536"/>
                  <a:pt x="14786" y="304800"/>
                  <a:pt x="9525" y="304800"/>
                </a:cubicBezTo>
                <a:lnTo>
                  <a:pt x="9525" y="304800"/>
                </a:lnTo>
                <a:cubicBezTo>
                  <a:pt x="4264" y="304800"/>
                  <a:pt x="0" y="300536"/>
                  <a:pt x="0" y="295275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170457" y="4298632"/>
            <a:ext cx="18510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41230"/>
                </a:solidFill>
                <a:latin typeface="Arial"/>
                <a:ea typeface="Microsoft YaHei"/>
                <a:cs typeface="Arial"/>
              </a:rPr>
              <a:t>BPO 供应商联盟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83836" y="4728210"/>
            <a:ext cx="26243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标准化运营 | 共建共享 | 持续迭代</a:t>
            </a:r>
          </a:p>
        </p:txBody>
      </p:sp>
      <p:sp>
        <p:nvSpPr>
          <p:cNvPr id="35" name="Line 35"/>
          <p:cNvSpPr/>
          <p:nvPr/>
        </p:nvSpPr>
        <p:spPr>
          <a:xfrm>
            <a:off x="4000500" y="5095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9525">
            <a:solidFill>
              <a:srgbClr val="E0D5C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402931" y="52682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数据科技业务部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30461" y="5268278"/>
            <a:ext cx="617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2026.04</a:t>
            </a:r>
          </a:p>
        </p:txBody>
      </p:sp>
      <p:sp>
        <p:nvSpPr>
          <p:cNvPr id="38" name="Ellipse 38"/>
          <p:cNvSpPr/>
          <p:nvPr/>
        </p:nvSpPr>
        <p:spPr>
          <a:xfrm>
            <a:off x="762000" y="3048000"/>
            <a:ext cx="1524000" cy="1524000"/>
          </a:xfrm>
          <a:prstGeom prst="ellipse">
            <a:avLst/>
          </a:prstGeom>
          <a:noFill/>
          <a:ln w="4762">
            <a:solidFill>
              <a:srgbClr val="C9A962">
                <a:alpha val="10000"/>
              </a:srgbClr>
            </a:solidFill>
          </a:ln>
        </p:spPr>
      </p:sp>
      <p:sp>
        <p:nvSpPr>
          <p:cNvPr id="39" name="Ellipse 39"/>
          <p:cNvSpPr/>
          <p:nvPr/>
        </p:nvSpPr>
        <p:spPr>
          <a:xfrm>
            <a:off x="952500" y="3238500"/>
            <a:ext cx="1143000" cy="1143000"/>
          </a:xfrm>
          <a:prstGeom prst="ellipse">
            <a:avLst/>
          </a:prstGeom>
          <a:noFill/>
          <a:ln w="9525">
            <a:solidFill>
              <a:srgbClr val="C9A962">
                <a:alpha val="18000"/>
              </a:srgbClr>
            </a:solidFill>
          </a:ln>
        </p:spPr>
      </p:sp>
      <p:sp>
        <p:nvSpPr>
          <p:cNvPr id="40" name="Ellipse 40"/>
          <p:cNvSpPr/>
          <p:nvPr/>
        </p:nvSpPr>
        <p:spPr>
          <a:xfrm>
            <a:off x="1143000" y="3429000"/>
            <a:ext cx="762000" cy="762000"/>
          </a:xfrm>
          <a:prstGeom prst="ellipse">
            <a:avLst/>
          </a:prstGeom>
          <a:noFill/>
          <a:ln w="7620">
            <a:solidFill>
              <a:srgbClr val="C9A962">
                <a:alpha val="15000"/>
              </a:srgbClr>
            </a:solidFill>
          </a:ln>
        </p:spPr>
      </p:sp>
      <p:sp>
        <p:nvSpPr>
          <p:cNvPr id="41" name="Ellipse 41"/>
          <p:cNvSpPr/>
          <p:nvPr/>
        </p:nvSpPr>
        <p:spPr>
          <a:xfrm>
            <a:off x="1333500" y="3619500"/>
            <a:ext cx="381000" cy="381000"/>
          </a:xfrm>
          <a:prstGeom prst="ellipse">
            <a:avLst/>
          </a:prstGeom>
          <a:noFill/>
          <a:ln w="4762">
            <a:solidFill>
              <a:srgbClr val="C9A962">
                <a:alpha val="12000"/>
              </a:srgbClr>
            </a:solidFill>
          </a:ln>
        </p:spPr>
      </p:sp>
      <p:sp>
        <p:nvSpPr>
          <p:cNvPr id="42" name="Ellipse 42"/>
          <p:cNvSpPr/>
          <p:nvPr/>
        </p:nvSpPr>
        <p:spPr>
          <a:xfrm>
            <a:off x="1447800" y="3733800"/>
            <a:ext cx="152400" cy="152400"/>
          </a:xfrm>
          <a:prstGeom prst="ellipse">
            <a:avLst/>
          </a:prstGeom>
          <a:solidFill>
            <a:srgbClr val="C9A962">
              <a:alpha val="10000"/>
            </a:srgbClr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9906000" y="3048000"/>
            <a:ext cx="1524000" cy="1524000"/>
          </a:xfrm>
          <a:prstGeom prst="ellipse">
            <a:avLst/>
          </a:prstGeom>
          <a:noFill/>
          <a:ln w="4762">
            <a:solidFill>
              <a:srgbClr val="C9A962">
                <a:alpha val="10000"/>
              </a:srgbClr>
            </a:solidFill>
          </a:ln>
        </p:spPr>
      </p:sp>
      <p:sp>
        <p:nvSpPr>
          <p:cNvPr id="44" name="Ellipse 44"/>
          <p:cNvSpPr/>
          <p:nvPr/>
        </p:nvSpPr>
        <p:spPr>
          <a:xfrm>
            <a:off x="10096500" y="3238500"/>
            <a:ext cx="1143000" cy="1143000"/>
          </a:xfrm>
          <a:prstGeom prst="ellipse">
            <a:avLst/>
          </a:prstGeom>
          <a:noFill/>
          <a:ln w="9525">
            <a:solidFill>
              <a:srgbClr val="C9A962">
                <a:alpha val="18000"/>
              </a:srgbClr>
            </a:solidFill>
          </a:ln>
        </p:spPr>
      </p:sp>
      <p:sp>
        <p:nvSpPr>
          <p:cNvPr id="45" name="Ellipse 45"/>
          <p:cNvSpPr/>
          <p:nvPr/>
        </p:nvSpPr>
        <p:spPr>
          <a:xfrm>
            <a:off x="10287000" y="3429000"/>
            <a:ext cx="762000" cy="762000"/>
          </a:xfrm>
          <a:prstGeom prst="ellipse">
            <a:avLst/>
          </a:prstGeom>
          <a:noFill/>
          <a:ln w="7620">
            <a:solidFill>
              <a:srgbClr val="C9A962">
                <a:alpha val="15000"/>
              </a:srgbClr>
            </a:solidFill>
          </a:ln>
        </p:spPr>
      </p:sp>
      <p:sp>
        <p:nvSpPr>
          <p:cNvPr id="46" name="Ellipse 46"/>
          <p:cNvSpPr/>
          <p:nvPr/>
        </p:nvSpPr>
        <p:spPr>
          <a:xfrm>
            <a:off x="10477500" y="3619500"/>
            <a:ext cx="381000" cy="381000"/>
          </a:xfrm>
          <a:prstGeom prst="ellipse">
            <a:avLst/>
          </a:prstGeom>
          <a:noFill/>
          <a:ln w="4762">
            <a:solidFill>
              <a:srgbClr val="C9A962">
                <a:alpha val="12000"/>
              </a:srgbClr>
            </a:solidFill>
          </a:ln>
        </p:spPr>
      </p:sp>
      <p:sp>
        <p:nvSpPr>
          <p:cNvPr id="47" name="Ellipse 47"/>
          <p:cNvSpPr/>
          <p:nvPr/>
        </p:nvSpPr>
        <p:spPr>
          <a:xfrm>
            <a:off x="10591800" y="3733800"/>
            <a:ext cx="152400" cy="152400"/>
          </a:xfrm>
          <a:prstGeom prst="ellipse">
            <a:avLst/>
          </a:prstGeom>
          <a:solidFill>
            <a:srgbClr val="C9A962">
              <a:alpha val="10000"/>
            </a:srgbClr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0" y="5905500"/>
            <a:ext cx="12192000" cy="19050"/>
          </a:xfrm>
          <a:prstGeom prst="rect">
            <a:avLst/>
          </a:prstGeom>
          <a:solidFill>
            <a:srgbClr val="C41230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0" y="5934075"/>
            <a:ext cx="12192000" cy="9525"/>
          </a:xfrm>
          <a:prstGeom prst="rect">
            <a:avLst/>
          </a:prstGeom>
          <a:solidFill>
            <a:srgbClr val="C9A962">
              <a:alpha val="50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745069" y="6181249"/>
            <a:ext cx="2701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数据驱动决策 | 标准化运营 | 联盟共建共享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487079" y="6514624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52" name="Freeform 52"/>
          <p:cNvSpPr/>
          <p:nvPr/>
        </p:nvSpPr>
        <p:spPr>
          <a:xfrm>
            <a:off x="0" y="647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0" y="0"/>
                </a:lnTo>
                <a:lnTo>
                  <a:pt x="381000" y="381000"/>
                </a:lnTo>
                <a:close/>
              </a:path>
            </a:pathLst>
          </a:custGeom>
          <a:solidFill>
            <a:srgbClr val="C41230">
              <a:alpha val="10000"/>
            </a:srgbClr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209550" y="6591300"/>
            <a:ext cx="57150" cy="57150"/>
          </a:xfrm>
          <a:prstGeom prst="ellipse">
            <a:avLst/>
          </a:prstGeom>
          <a:solidFill>
            <a:srgbClr val="C9A962">
              <a:alpha val="30000"/>
            </a:srgbClr>
          </a:solidFill>
          <a:ln>
            <a:noFill/>
          </a:ln>
        </p:spPr>
      </p:sp>
      <p:sp>
        <p:nvSpPr>
          <p:cNvPr id="54" name="Freeform 54"/>
          <p:cNvSpPr/>
          <p:nvPr/>
        </p:nvSpPr>
        <p:spPr>
          <a:xfrm>
            <a:off x="11811000" y="647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381000"/>
                </a:moveTo>
                <a:lnTo>
                  <a:pt x="38100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C41230">
              <a:alpha val="10000"/>
            </a:srgbClr>
          </a:solidFill>
          <a:ln>
            <a:noFill/>
          </a:ln>
        </p:spPr>
      </p:sp>
      <p:sp>
        <p:nvSpPr>
          <p:cNvPr id="55" name="Freeform 55"/>
          <p:cNvSpPr/>
          <p:nvPr/>
        </p:nvSpPr>
        <p:spPr>
          <a:xfrm>
            <a:off x="12001500" y="6667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90500"/>
                </a:moveTo>
                <a:lnTo>
                  <a:pt x="19050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C9A962">
              <a:alpha val="20000"/>
            </a:srgbClr>
          </a:solidFill>
          <a:ln>
            <a:noFill/>
          </a:ln>
        </p:spPr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
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54864" cy="164592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主贷大额人力调整方案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增信减量 20 人 → 拉新增量 40 人 → 采购融资新增 30 人 | 净增 50 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840480"/>
            <a:ext cx="27432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汇报人：年老师  |  数据科技业务部  |  2026年4月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1920240" cy="502920"/>
          </a:xfrm>
          <a:prstGeom prst="rect">
            <a:avLst>
              <a:gd name="adj" fmla="val 5455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305→355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总人力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480560"/>
            <a:ext cx="1920240" cy="502920"/>
          </a:xfrm>
          <a:prstGeom prst="rect">
            <a:avLst>
              <a:gd name="adj" fmla="val 5455"/>
            </a:avLst>
          </a:prstGeom>
          <a:solidFill>
            <a:srgbClr val="B8545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4480560"/>
            <a:ext cx="1920240" cy="502920"/>
          </a:xfrm>
          <a:prstGeom prst="rect">
            <a:avLst>
              <a:gd name="adj" fmla="val 5455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3大板块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调整范围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4480560"/>
            <a:ext cx="1920240" cy="502920"/>
          </a:xfrm>
          <a:prstGeom prst="rect">
            <a:avLst>
              <a:gd name="adj" fmla="val 5455"/>
            </a:avLst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赛马机制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分配逻辑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>
              <a:gd name="adj" fmla="val 6667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11480" cy="41148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调整总览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三板块联动，净增 50 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40280"/>
            <a:ext cx="411480" cy="41148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增信老客 — 赛马减量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排名靠前多减，60→40 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63040" y="288036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154680"/>
            <a:ext cx="411480" cy="41148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 — 增信转入 + 排名新增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235→275 人，按赛马排名分配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63040" y="379476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69080"/>
            <a:ext cx="411480" cy="41148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采购融资 — 宽进严出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金企融合测试，3 留 2 淘汰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三大板块联动调整，总人力从 305 增至 355，净增 50 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651760" cy="1828800"/>
          </a:xfrm>
          <a:prstGeom prst="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033272"/>
            <a:ext cx="2651760" cy="54864"/>
          </a:xfrm>
          <a:prstGeom prst="rect">
            <a:avLst>
              <a:gd name="adj" fmla="val 33333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05840"/>
            <a:ext cx="54864" cy="1828800"/>
          </a:xfrm>
          <a:prstGeom prst="rect">
            <a:avLst>
              <a:gd name="adj" fmla="val 33333"/>
            </a:avLst>
          </a:prstGeom>
          <a:solidFill>
            <a:srgbClr val="B854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增信老客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371600" y="2011680"/>
            <a:ext cx="914400" cy="274320"/>
          </a:xfrm>
          <a:prstGeom prst="rect">
            <a:avLst>
              <a:gd name="adj" fmla="val 16667"/>
            </a:avLst>
          </a:prstGeom>
          <a:solidFill>
            <a:srgbClr val="B8545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赛马减量，排名靠前多减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005840"/>
            <a:ext cx="2651760" cy="1828800"/>
          </a:xfrm>
          <a:prstGeom prst="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3592" y="1033272"/>
            <a:ext cx="2651760" cy="54864"/>
          </a:xfrm>
          <a:prstGeom prst="rect">
            <a:avLst>
              <a:gd name="adj" fmla="val 33333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1005840"/>
            <a:ext cx="54864" cy="1828800"/>
          </a:xfrm>
          <a:prstGeom prst="rect">
            <a:avLst>
              <a:gd name="adj" fmla="val 33333"/>
            </a:avLst>
          </a:prstGeom>
          <a:solidFill>
            <a:srgbClr val="B85450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3484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206240" y="2011680"/>
            <a:ext cx="914400" cy="274320"/>
          </a:xfrm>
          <a:prstGeom prst="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增信转入 20 + 新增 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005840"/>
            <a:ext cx="2651760" cy="1828800"/>
          </a:xfrm>
          <a:prstGeom prst="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1033272"/>
            <a:ext cx="2651760" cy="54864"/>
          </a:xfrm>
          <a:prstGeom prst="rect">
            <a:avLst>
              <a:gd name="adj" fmla="val 33333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1005840"/>
            <a:ext cx="54864" cy="1828800"/>
          </a:xfrm>
          <a:prstGeom prst="rect">
            <a:avLst>
              <a:gd name="adj" fmla="val 33333"/>
            </a:avLst>
          </a:prstGeom>
          <a:solidFill>
            <a:srgbClr val="B8545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采购融资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6948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58952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7040880" y="2011680"/>
            <a:ext cx="914400" cy="274320"/>
          </a:xfrm>
          <a:prstGeom prst="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扩量 + 新准入测试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3108960"/>
            <a:ext cx="7680960" cy="164592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108960"/>
            <a:ext cx="54864" cy="164592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人力流向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3566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增信老客 60人  -20（赛马排名靠前减量）→  调整后 40人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3886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20人全部转入拉新板块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" y="4206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 235人  +20增信转入 +20新增排名分配  →  调整后 275人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5840" y="4526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采购融资 10人  +30新增（扩量+新准入）  →  调整后 40人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4800600"/>
            <a:ext cx="7680960" cy="320040"/>
          </a:xfrm>
          <a:prstGeom prst="rect">
            <a:avLst>
              <a:gd name="adj" fmla="val 8571"/>
            </a:avLst>
          </a:prstGeom>
          <a:solidFill>
            <a:srgbClr val="B85450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800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净增 +50 人  |  增信优化结构 → 拉新承接产能 → 采购融资开拓新业务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赛马排名靠前的供应商承担更多减量，排名 1-2 分别减 12/8 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注：广达仅 5 人且拉新排名靠后，不做调整；中乾、小蜜蜂各 5 人，暂不调整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132320" cy="320040"/>
          </a:xfrm>
          <a:prstGeom prst="rect">
            <a:avLst>
              <a:gd name="adj" fmla="val 5714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赛马排名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转入拉新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新动力职场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1920240"/>
            <a:ext cx="71323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1920240"/>
            <a:ext cx="7132320" cy="5029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汇讯职场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1920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920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19202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2423160"/>
            <a:ext cx="71323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广达职场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2423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2423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2423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2926080"/>
            <a:ext cx="71323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2926080"/>
            <a:ext cx="7132320" cy="5029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中乾职场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2926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2926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2926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2926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2926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3429000"/>
            <a:ext cx="71323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小蜜蜂职场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0" y="3429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54880" y="3429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0" y="3429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66560" y="3429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1520" y="3931920"/>
            <a:ext cx="71323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" y="3931920"/>
            <a:ext cx="7132320" cy="411480"/>
          </a:xfrm>
          <a:prstGeom prst="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3931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54880" y="3931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69280" y="3931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66560" y="3931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31520" y="4434840"/>
            <a:ext cx="7132320" cy="822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4507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关键逻辑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4400" y="473659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赛马排名 1-2 的供应商承担 100% 减量（新动力 -12、汇讯 -8），减下的人员全部转入拉新板块，保留团队编制但转换业务方向。排名 3 及以后的供应商因基数小（5人）不做调整。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拉新按赛马排名分配新增，排名 1 汇讯获 8 个新增名额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增信转入 20 人 + 新增需求 20 人 = 总计新增 40 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6766560" cy="320040"/>
          </a:xfrm>
          <a:prstGeom prst="rect">
            <a:avLst>
              <a:gd name="adj" fmla="val 5714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51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当前人力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51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赛马排名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增信转入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051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新增需求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051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汇讯职场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3716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3716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3716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37160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1810512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1810512"/>
            <a:ext cx="6766560" cy="43891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18105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新动力职场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181051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181051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181051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81051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8105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2249424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2494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锦瑞职场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224942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224942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224942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24942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224942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2688336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2688336"/>
            <a:ext cx="6766560" cy="43891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26883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德辰职场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268833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268833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0" y="268833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268833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26883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3127248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31272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广达职场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0" y="3127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0" y="3127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0" y="3127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0" y="31272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0" y="312724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1520" y="3566160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9" name="Shape 47"/>
          <p:cNvSpPr/>
          <p:nvPr/>
        </p:nvSpPr>
        <p:spPr>
          <a:xfrm>
            <a:off x="731520" y="3566160"/>
            <a:ext cx="6766560" cy="43891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中乾职场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0" y="3566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0" y="3566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0" y="3566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0" y="35661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0" y="35661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31520" y="4005072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40050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速腾职场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743200" y="4005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657600" y="4005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0" y="4005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6400" y="40050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00800" y="400507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31520" y="4443984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4" name="Shape 62"/>
          <p:cNvSpPr/>
          <p:nvPr/>
        </p:nvSpPr>
        <p:spPr>
          <a:xfrm>
            <a:off x="731520" y="4443984"/>
            <a:ext cx="6766560" cy="411480"/>
          </a:xfrm>
          <a:prstGeom prst="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65" name="Text 63"/>
          <p:cNvSpPr/>
          <p:nvPr/>
        </p:nvSpPr>
        <p:spPr>
          <a:xfrm>
            <a:off x="731520" y="444398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743200" y="444398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0" y="444398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486400" y="444398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400800" y="444398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31520" y="4946904"/>
            <a:ext cx="6766560" cy="822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4400" y="5020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关键逻辑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14400" y="52486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20 人严格按赛马排名分配：排名 1 汇讯 +8、排名 2 锦瑞 +6、排名 3 德辰 +4、排名 4 新动力 +2。新动力虽排名靠后但承接了 12 名增信转入人员，实际净增 14 人，为拉新板块最大接收方。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采购融资采用"宽进严出"策略，3 家供应商 3 个月测试后淘汰至 3 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645920" cy="274320"/>
          </a:xfrm>
          <a:prstGeom prst="rect">
            <a:avLst>
              <a:gd name="adj" fmla="val 16667"/>
            </a:avLst>
          </a:prstGeom>
          <a:solidFill>
            <a:srgbClr val="B854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宽进严出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从金企融合渠道筛选供应商测试，5 家最终保留 3 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6766560" cy="320040"/>
          </a:xfrm>
          <a:prstGeom prst="rect">
            <a:avLst>
              <a:gd name="adj" fmla="val 5714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当前人力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087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德辰职场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15087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150876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66360" y="1600200"/>
            <a:ext cx="1097280" cy="228600"/>
          </a:xfrm>
          <a:prstGeom prst="rect">
            <a:avLst>
              <a:gd name="adj" fmla="val 20000"/>
            </a:avLst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5087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存量扩量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5087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1947672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1947672"/>
            <a:ext cx="6766560" cy="43891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1947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速腾职场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194767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194767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2039112"/>
            <a:ext cx="1097280" cy="228600"/>
          </a:xfrm>
          <a:prstGeom prst="rect">
            <a:avLst>
              <a:gd name="adj" fmla="val 20000"/>
            </a:avLst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9476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存量扩量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94767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2386584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38658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新增职场 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23865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238658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6360" y="2478024"/>
            <a:ext cx="1097280" cy="228600"/>
          </a:xfrm>
          <a:prstGeom prst="rect">
            <a:avLst>
              <a:gd name="adj" fmla="val 20000"/>
            </a:avLst>
          </a:prstGeom>
          <a:solidFill>
            <a:srgbClr val="B8545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3865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新准入测试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38658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2825496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2825496"/>
            <a:ext cx="6766560" cy="43891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28254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新增职场 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17520" y="282549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0" y="282549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66360" y="2916936"/>
            <a:ext cx="1097280" cy="228600"/>
          </a:xfrm>
          <a:prstGeom prst="rect">
            <a:avLst>
              <a:gd name="adj" fmla="val 20000"/>
            </a:avLst>
          </a:prstGeom>
          <a:solidFill>
            <a:srgbClr val="B8545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8254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新准入测试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282549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" y="3264408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32644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新增职场 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017520" y="326440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0" y="326440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66360" y="3355848"/>
            <a:ext cx="1097280" cy="228600"/>
          </a:xfrm>
          <a:prstGeom prst="rect">
            <a:avLst>
              <a:gd name="adj" fmla="val 20000"/>
            </a:avLst>
          </a:prstGeom>
          <a:solidFill>
            <a:srgbClr val="B85450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2644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新准入测试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326440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1520" y="3703320"/>
            <a:ext cx="676656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0" name="Shape 48"/>
          <p:cNvSpPr/>
          <p:nvPr/>
        </p:nvSpPr>
        <p:spPr>
          <a:xfrm>
            <a:off x="731520" y="3703320"/>
            <a:ext cx="6766560" cy="411480"/>
          </a:xfrm>
          <a:prstGeom prst="rect">
            <a:avLst>
              <a:gd name="adj" fmla="val 4444"/>
            </a:avLst>
          </a:prstGeom>
          <a:solidFill>
            <a:srgbClr val="EDF2F4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017520" y="3703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114800" y="3703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3703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31520" y="4206240"/>
            <a:ext cx="6766560" cy="118872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4279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淘汰机制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14400" y="4544568"/>
            <a:ext cx="685800" cy="201168"/>
          </a:xfrm>
          <a:prstGeom prst="rect">
            <a:avLst>
              <a:gd name="adj" fmla="val 13636"/>
            </a:avLst>
          </a:prstGeom>
          <a:solidFill>
            <a:srgbClr val="2B2D42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0" y="45262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4-6月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69164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家新准入供应商进入测试期，各配置 8 人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14400" y="4818888"/>
            <a:ext cx="685800" cy="201168"/>
          </a:xfrm>
          <a:prstGeom prst="rect">
            <a:avLst>
              <a:gd name="adj" fmla="val 13636"/>
            </a:avLst>
          </a:prstGeom>
          <a:solidFill>
            <a:srgbClr val="2B2D42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" y="48006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7月起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69164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启动末尾淘汰机制，5 家中保留 3 家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14400" y="5093208"/>
            <a:ext cx="685800" cy="201168"/>
          </a:xfrm>
          <a:prstGeom prst="rect">
            <a:avLst>
              <a:gd name="adj" fmla="val 13636"/>
            </a:avLst>
          </a:prstGeom>
          <a:solidFill>
            <a:srgbClr val="2B2D42"/>
          </a:solidFill>
          <a:ln/>
        </p:spPr>
      </p:sp>
      <p:sp>
        <p:nvSpPr>
          <p:cNvPr id="64" name="Text 62"/>
          <p:cNvSpPr/>
          <p:nvPr/>
        </p:nvSpPr>
        <p:spPr>
          <a:xfrm>
            <a:off x="914400" y="50749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69164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通过赛马筛选优质供应商，建立采购融资产能基础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920240" cy="731520"/>
          </a:xfrm>
          <a:prstGeom prst="rect">
            <a:avLst>
              <a:gd name="adj" fmla="val 3750"/>
            </a:avLst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总人力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914400"/>
            <a:ext cx="1920240" cy="73152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增信老客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1920240" cy="73152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1920240" cy="731520"/>
          </a:xfrm>
          <a:prstGeom prst="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EDF2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采购融资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1947672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1874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确认人力调整方案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1901952"/>
            <a:ext cx="548640" cy="201168"/>
          </a:xfrm>
          <a:prstGeom prst="rect">
            <a:avLst>
              <a:gd name="adj" fmla="val 13636"/>
            </a:avLst>
          </a:prstGeom>
          <a:solidFill>
            <a:srgbClr val="B854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874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21488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与军哥确认三板块人力调整方案，批复后启动执行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487168"/>
            <a:ext cx="658368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2487168"/>
            <a:ext cx="7680960" cy="65836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2532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新动力/汇讯增信→拉新转岗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2560320"/>
            <a:ext cx="548640" cy="201168"/>
          </a:xfrm>
          <a:prstGeom prst="rect">
            <a:avLst>
              <a:gd name="adj" fmla="val 13636"/>
            </a:avLst>
          </a:prstGeom>
          <a:solidFill>
            <a:srgbClr val="B8545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532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28072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 20 名人员从增信老客转入拉新板块，完成业务切换和培训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3145536"/>
            <a:ext cx="658368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3264408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71600" y="3191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 20 人新增落地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218688"/>
            <a:ext cx="548640" cy="201168"/>
          </a:xfrm>
          <a:prstGeom prst="rect">
            <a:avLst>
              <a:gd name="adj" fmla="val 13636"/>
            </a:avLst>
          </a:pr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19125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0" y="34655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按赛马排名向汇讯(+8)、锦瑞(+6)、德辰(+4)、新动力(+2)分配新增编制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71600" y="3803904"/>
            <a:ext cx="658368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3803904"/>
            <a:ext cx="7680960" cy="65836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3922776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71600" y="3849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采购融资新准入启动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83680" y="3877056"/>
            <a:ext cx="548640" cy="201168"/>
          </a:xfrm>
          <a:prstGeom prst="rect">
            <a:avLst>
              <a:gd name="adj" fmla="val 13636"/>
            </a:avLst>
          </a:pr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384962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71600" y="412394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从金企融合渠道筛选 3 家新供应商，每配置 8 人进入测试，7 月启动淘汰机制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0" y="4462272"/>
            <a:ext cx="658368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" y="4581144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371600" y="4507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赛马机制跟踪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583680" y="4535424"/>
            <a:ext cx="548640" cy="201168"/>
          </a:xfrm>
          <a:prstGeom prst="rect">
            <a:avLst>
              <a:gd name="adj" fmla="val 13636"/>
            </a:avLst>
          </a:prstGeom>
          <a:solidFill>
            <a:srgbClr val="8D99AE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5079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371600" y="47823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建立拉新板块赛马排名监控，确保新增人员按排名动态分配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注：本方案基于赛马排名数据制定，后续将根据实际业绩动态调整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2026-04-10T10:05:58Z</dcterms:created>
  <dcterms:modified xsi:type="dcterms:W3CDTF">2026-04-10T10:05:58Z</dcterms:modified>
</cp:coreProperties>
</file>
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EC4B6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8191500" y="571500"/>
            <a:ext cx="3048000" cy="3048000"/>
          </a:xfrm>
          <a:prstGeom prst="ellipse">
            <a:avLst/>
          </a:prstGeom>
          <a:solidFill>
            <a:srgbClr val="F0FAF9">
              <a:alpha val="50000"/>
            </a:srgbClr>
          </a:solidFill>
          <a:ln w="28575">
            <a:solidFill>
              <a:srgbClr val="2EC4B6"/>
            </a:solidFill>
          </a:ln>
        </p:spPr>
      </p:sp>
      <p:sp>
        <p:nvSpPr>
          <p:cNvPr id="5" name="Ellipse 5"/>
          <p:cNvSpPr/>
          <p:nvPr/>
        </p:nvSpPr>
        <p:spPr>
          <a:xfrm>
            <a:off x="1047750" y="4286250"/>
            <a:ext cx="952500" cy="952500"/>
          </a:xfrm>
          <a:prstGeom prst="ellipse">
            <a:avLst/>
          </a:prstGeom>
          <a:solidFill>
            <a:srgbClr val="FF9F1C">
              <a:alpha val="35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2552700" y="1028700"/>
            <a:ext cx="228600" cy="2286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1638300" y="1828800"/>
            <a:ext cx="152400" cy="152400"/>
          </a:xfrm>
          <a:prstGeom prst="ellipse">
            <a:avLst/>
          </a:prstGeom>
          <a:solidFill>
            <a:srgbClr val="FFBF69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8953500" y="4857750"/>
            <a:ext cx="190500" cy="1905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</p:sp>
      <p:sp>
        <p:nvSpPr>
          <p:cNvPr id="9" name="Polygon 9"/>
          <p:cNvSpPr/>
          <p:nvPr/>
        </p:nvSpPr>
        <p:spPr>
          <a:xfrm>
            <a:off x="10001250" y="4476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lnTo>
                  <a:pt x="95250" y="0"/>
                </a:lnTo>
                <a:lnTo>
                  <a:pt x="190500" y="95250"/>
                </a:lnTo>
                <a:lnTo>
                  <a:pt x="95250" y="190500"/>
                </a:lnTo>
                <a:close/>
              </a:path>
            </a:pathLst>
          </a:custGeom>
          <a:solidFill>
            <a:srgbClr val="FF9F1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157335" y="1733550"/>
            <a:ext cx="1116330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🏝️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76300" y="2019300"/>
            <a:ext cx="2912745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000" b="1" dirty="0">
                <a:solidFill>
                  <a:srgbClr val="2EC4B6"/>
                </a:solidFill>
                <a:latin typeface="Microsoft YaHei"/>
                <a:ea typeface="Microsoft YaHei"/>
                <a:cs typeface="Microsoft YaHei"/>
              </a:rPr>
              <a:t>神秘岛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27735" y="3027998"/>
            <a:ext cx="3467100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FF9F1C"/>
                </a:solidFill>
                <a:latin typeface="Microsoft YaHei"/>
                <a:ea typeface="Microsoft YaHei"/>
                <a:cs typeface="Microsoft YaHei"/>
              </a:rPr>
              <a:t>一本让你不想放下的冒险书</a:t>
            </a:r>
          </a:p>
        </p:txBody>
      </p:sp>
      <p:sp>
        <p:nvSpPr>
          <p:cNvPr id="13" name="Rectangle 13"/>
          <p:cNvSpPr/>
          <p:nvPr/>
        </p:nvSpPr>
        <p:spPr>
          <a:xfrm>
            <a:off x="952500" y="3476625"/>
            <a:ext cx="1143000" cy="28575"/>
          </a:xfrm>
          <a:prstGeom prst="rect">
            <a:avLst/>
          </a:prstGeom>
          <a:solidFill>
            <a:srgbClr val="FFBF69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35355" y="3759518"/>
            <a:ext cx="172155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EC4B6"/>
                </a:solidFill>
                <a:latin typeface="Microsoft YaHei"/>
                <a:ea typeface="Microsoft YaHei"/>
                <a:cs typeface="Microsoft YaHei"/>
              </a:rPr>
              <a:t>六年级12班 梁峻睿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9165" y="4077652"/>
            <a:ext cx="18669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rPr>
              <a:t>给二年级小朋友的好书分享</a:t>
            </a:r>
          </a:p>
        </p:txBody>
      </p:sp>
      <p:sp>
        <p:nvSpPr>
          <p:cNvPr id="16" name="Freeform 16"/>
          <p:cNvSpPr/>
          <p:nvPr/>
        </p:nvSpPr>
        <p:spPr>
          <a:xfrm>
            <a:off x="11239500" y="6286500"/>
            <a:ext cx="342900" cy="266700"/>
          </a:xfrm>
          <a:custGeom>
            <a:avLst/>
            <a:gdLst/>
            <a:ahLst/>
            <a:cxnLst/>
            <a:rect l="l" t="t" r="r" b="b"/>
            <a:pathLst>
              <a:path w="342900" h="266700">
                <a:moveTo>
                  <a:pt x="57150" y="0"/>
                </a:moveTo>
                <a:lnTo>
                  <a:pt x="285750" y="0"/>
                </a:lnTo>
                <a:cubicBezTo>
                  <a:pt x="317313" y="0"/>
                  <a:pt x="342900" y="25587"/>
                  <a:pt x="342900" y="57150"/>
                </a:cubicBezTo>
                <a:lnTo>
                  <a:pt x="342900" y="209550"/>
                </a:lnTo>
                <a:cubicBezTo>
                  <a:pt x="342900" y="241113"/>
                  <a:pt x="317313" y="266700"/>
                  <a:pt x="285750" y="266700"/>
                </a:cubicBezTo>
                <a:lnTo>
                  <a:pt x="57150" y="266700"/>
                </a:lnTo>
                <a:cubicBezTo>
                  <a:pt x="25587" y="266700"/>
                  <a:pt x="0" y="241113"/>
                  <a:pt x="0" y="2095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2EC4B6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1376140" y="6362224"/>
            <a:ext cx="696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EC4B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3900" y="438150"/>
            <a:ext cx="2767536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EC4B6"/>
                </a:solidFill>
                <a:latin typeface="Microsoft YaHei"/>
                <a:ea typeface="Microsoft YaHei"/>
                <a:cs typeface="Microsoft YaHei"/>
              </a:rPr>
              <a:t>关于这本书 📖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952500"/>
            <a:ext cx="952500" cy="38100"/>
          </a:xfrm>
          <a:prstGeom prst="rect">
            <a:avLst/>
          </a:prstGeom>
          <a:solidFill>
            <a:srgbClr val="FF9F1C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762000" y="1333500"/>
            <a:ext cx="5238750" cy="952500"/>
          </a:xfrm>
          <a:custGeom>
            <a:avLst/>
            <a:gdLst/>
            <a:ahLst/>
            <a:cxnLst/>
            <a:rect l="l" t="t" r="r" b="b"/>
            <a:pathLst>
              <a:path w="5238750" h="952500">
                <a:moveTo>
                  <a:pt x="152400" y="0"/>
                </a:moveTo>
                <a:lnTo>
                  <a:pt x="5086350" y="0"/>
                </a:lnTo>
                <a:cubicBezTo>
                  <a:pt x="5170518" y="0"/>
                  <a:pt x="5238750" y="68232"/>
                  <a:pt x="5238750" y="152400"/>
                </a:cubicBezTo>
                <a:lnTo>
                  <a:pt x="5238750" y="800100"/>
                </a:lnTo>
                <a:cubicBezTo>
                  <a:pt x="5238750" y="884268"/>
                  <a:pt x="5170518" y="952500"/>
                  <a:pt x="5086350" y="952500"/>
                </a:cubicBezTo>
                <a:lnTo>
                  <a:pt x="152400" y="952500"/>
                </a:lnTo>
                <a:cubicBezTo>
                  <a:pt x="68232" y="952500"/>
                  <a:pt x="0" y="884268"/>
                  <a:pt x="0" y="8001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0FAF9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762000" y="1333500"/>
            <a:ext cx="57150" cy="952500"/>
          </a:xfrm>
          <a:custGeom>
            <a:avLst/>
            <a:gdLst/>
            <a:ahLst/>
            <a:cxnLst/>
            <a:rect l="l" t="t" r="r" b="b"/>
            <a:pathLst>
              <a:path w="57150" h="9525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923925"/>
                </a:lnTo>
                <a:cubicBezTo>
                  <a:pt x="57150" y="939707"/>
                  <a:pt x="44357" y="952500"/>
                  <a:pt x="28575" y="952500"/>
                </a:cubicBezTo>
                <a:lnTo>
                  <a:pt x="28575" y="952500"/>
                </a:lnTo>
                <a:cubicBezTo>
                  <a:pt x="12793" y="952500"/>
                  <a:pt x="0" y="939707"/>
                  <a:pt x="0" y="923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2EC4B6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122045" y="1536382"/>
            <a:ext cx="321745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作者：儒勒·凡尔纳（法国）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7760" y="1870710"/>
            <a:ext cx="28872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1828 - 1905 · 被称为"科幻小说之父"</a:t>
            </a:r>
          </a:p>
        </p:txBody>
      </p:sp>
      <p:sp>
        <p:nvSpPr>
          <p:cNvPr id="10" name="Freeform 10"/>
          <p:cNvSpPr/>
          <p:nvPr/>
        </p:nvSpPr>
        <p:spPr>
          <a:xfrm>
            <a:off x="762000" y="2524125"/>
            <a:ext cx="5238750" cy="1333500"/>
          </a:xfrm>
          <a:custGeom>
            <a:avLst/>
            <a:gdLst/>
            <a:ahLst/>
            <a:cxnLst/>
            <a:rect l="l" t="t" r="r" b="b"/>
            <a:pathLst>
              <a:path w="5238750" h="1333500">
                <a:moveTo>
                  <a:pt x="152400" y="0"/>
                </a:moveTo>
                <a:lnTo>
                  <a:pt x="5086350" y="0"/>
                </a:lnTo>
                <a:cubicBezTo>
                  <a:pt x="5170518" y="0"/>
                  <a:pt x="5238750" y="68232"/>
                  <a:pt x="5238750" y="152400"/>
                </a:cubicBezTo>
                <a:lnTo>
                  <a:pt x="5238750" y="1181100"/>
                </a:lnTo>
                <a:cubicBezTo>
                  <a:pt x="5238750" y="1265268"/>
                  <a:pt x="5170518" y="1333500"/>
                  <a:pt x="5086350" y="1333500"/>
                </a:cubicBezTo>
                <a:lnTo>
                  <a:pt x="152400" y="1333500"/>
                </a:lnTo>
                <a:cubicBezTo>
                  <a:pt x="68232" y="1333500"/>
                  <a:pt x="0" y="1265268"/>
                  <a:pt x="0" y="11811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11" name="Freeform 11"/>
          <p:cNvSpPr/>
          <p:nvPr/>
        </p:nvSpPr>
        <p:spPr>
          <a:xfrm>
            <a:off x="762000" y="2524125"/>
            <a:ext cx="57150" cy="1333500"/>
          </a:xfrm>
          <a:custGeom>
            <a:avLst/>
            <a:gdLst/>
            <a:ahLst/>
            <a:cxnLst/>
            <a:rect l="l" t="t" r="r" b="b"/>
            <a:pathLst>
              <a:path w="57150" h="13335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304925"/>
                </a:lnTo>
                <a:cubicBezTo>
                  <a:pt x="57150" y="1320707"/>
                  <a:pt x="44357" y="1333500"/>
                  <a:pt x="28575" y="1333500"/>
                </a:cubicBezTo>
                <a:lnTo>
                  <a:pt x="28575" y="1333500"/>
                </a:lnTo>
                <a:cubicBezTo>
                  <a:pt x="12793" y="1333500"/>
                  <a:pt x="0" y="1320707"/>
                  <a:pt x="0" y="1304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9F1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123950" y="2743200"/>
            <a:ext cx="118824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科幻三部曲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27760" y="3061335"/>
            <a:ext cx="18794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①《格兰特船长的儿女》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27760" y="3299460"/>
            <a:ext cx="13536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②《海底两万里》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27760" y="3537585"/>
            <a:ext cx="21835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9F1C"/>
                </a:solidFill>
                <a:latin typeface="Microsoft YaHei"/>
                <a:ea typeface="Microsoft YaHei"/>
                <a:cs typeface="Microsoft YaHei"/>
              </a:rPr>
              <a:t>③《神秘岛》 ← 就是这本！</a:t>
            </a:r>
          </a:p>
        </p:txBody>
      </p:sp>
      <p:sp>
        <p:nvSpPr>
          <p:cNvPr id="16" name="Freeform 16"/>
          <p:cNvSpPr/>
          <p:nvPr/>
        </p:nvSpPr>
        <p:spPr>
          <a:xfrm>
            <a:off x="762000" y="4095750"/>
            <a:ext cx="5238750" cy="666750"/>
          </a:xfrm>
          <a:custGeom>
            <a:avLst/>
            <a:gdLst/>
            <a:ahLst/>
            <a:cxnLst/>
            <a:rect l="l" t="t" r="r" b="b"/>
            <a:pathLst>
              <a:path w="5238750" h="666750">
                <a:moveTo>
                  <a:pt x="152400" y="0"/>
                </a:moveTo>
                <a:lnTo>
                  <a:pt x="5086350" y="0"/>
                </a:lnTo>
                <a:cubicBezTo>
                  <a:pt x="5170518" y="0"/>
                  <a:pt x="5238750" y="68232"/>
                  <a:pt x="5238750" y="152400"/>
                </a:cubicBezTo>
                <a:lnTo>
                  <a:pt x="5238750" y="514350"/>
                </a:lnTo>
                <a:cubicBezTo>
                  <a:pt x="5238750" y="598518"/>
                  <a:pt x="5170518" y="666750"/>
                  <a:pt x="5086350" y="666750"/>
                </a:cubicBezTo>
                <a:lnTo>
                  <a:pt x="152400" y="666750"/>
                </a:lnTo>
                <a:cubicBezTo>
                  <a:pt x="68232" y="666750"/>
                  <a:pt x="0" y="598518"/>
                  <a:pt x="0" y="5143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8E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125855" y="4235768"/>
            <a:ext cx="30115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📅 1874 年出版，已经 150 多年了！</a:t>
            </a:r>
          </a:p>
        </p:txBody>
      </p:sp>
      <p:sp>
        <p:nvSpPr>
          <p:cNvPr id="18" name="Freeform 18"/>
          <p:cNvSpPr/>
          <p:nvPr/>
        </p:nvSpPr>
        <p:spPr>
          <a:xfrm>
            <a:off x="6286500" y="1333500"/>
            <a:ext cx="5143500" cy="3619500"/>
          </a:xfrm>
          <a:custGeom>
            <a:avLst/>
            <a:gdLst/>
            <a:ahLst/>
            <a:cxnLst/>
            <a:rect l="l" t="t" r="r" b="b"/>
            <a:pathLst>
              <a:path w="5143500" h="3619500">
                <a:moveTo>
                  <a:pt x="152400" y="0"/>
                </a:moveTo>
                <a:lnTo>
                  <a:pt x="4991100" y="0"/>
                </a:lnTo>
                <a:cubicBezTo>
                  <a:pt x="5075268" y="0"/>
                  <a:pt x="5143500" y="68232"/>
                  <a:pt x="5143500" y="152400"/>
                </a:cubicBezTo>
                <a:lnTo>
                  <a:pt x="5143500" y="3467100"/>
                </a:lnTo>
                <a:cubicBezTo>
                  <a:pt x="5143500" y="3551268"/>
                  <a:pt x="5075268" y="3619500"/>
                  <a:pt x="4991100" y="3619500"/>
                </a:cubicBezTo>
                <a:lnTo>
                  <a:pt x="152400" y="3619500"/>
                </a:lnTo>
                <a:cubicBezTo>
                  <a:pt x="68232" y="3619500"/>
                  <a:pt x="0" y="3551268"/>
                  <a:pt x="0" y="34671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2EC4B6"/>
            </a:solidFill>
          </a:ln>
        </p:spPr>
      </p:sp>
      <p:sp>
        <p:nvSpPr>
          <p:cNvPr id="19" name="Freeform 19"/>
          <p:cNvSpPr/>
          <p:nvPr/>
        </p:nvSpPr>
        <p:spPr>
          <a:xfrm>
            <a:off x="6286500" y="1333500"/>
            <a:ext cx="5143500" cy="57150"/>
          </a:xfrm>
          <a:custGeom>
            <a:avLst/>
            <a:gdLst/>
            <a:ahLst/>
            <a:cxnLst/>
            <a:rect l="l" t="t" r="r" b="b"/>
            <a:pathLst>
              <a:path w="5143500" h="57150">
                <a:moveTo>
                  <a:pt x="28575" y="0"/>
                </a:moveTo>
                <a:lnTo>
                  <a:pt x="5114925" y="0"/>
                </a:lnTo>
                <a:cubicBezTo>
                  <a:pt x="5130707" y="0"/>
                  <a:pt x="5143500" y="12793"/>
                  <a:pt x="5143500" y="28575"/>
                </a:cubicBezTo>
                <a:lnTo>
                  <a:pt x="5143500" y="28575"/>
                </a:lnTo>
                <a:cubicBezTo>
                  <a:pt x="5143500" y="44357"/>
                  <a:pt x="5130707" y="57150"/>
                  <a:pt x="51149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2EC4B6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800850" y="1704975"/>
            <a:ext cx="475774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50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📖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97140" y="1805940"/>
            <a:ext cx="142589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EC4B6"/>
                </a:solidFill>
                <a:latin typeface="Microsoft YaHei"/>
                <a:ea typeface="Microsoft YaHei"/>
                <a:cs typeface="Microsoft YaHei"/>
              </a:rPr>
              <a:t>一句话介绍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46545" y="2393632"/>
            <a:ext cx="317468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五个遇难的人，飘到荒岛上。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46545" y="2774632"/>
            <a:ext cx="175288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他们什么都有——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46545" y="3155632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9F1C"/>
                </a:solidFill>
                <a:latin typeface="Microsoft YaHei"/>
                <a:ea typeface="Microsoft YaHei"/>
                <a:cs typeface="Microsoft YaHei"/>
              </a:rPr>
              <a:t>智慧和双手，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46545" y="3536632"/>
            <a:ext cx="29337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把荒岛变成了美丽的家园！</a:t>
            </a:r>
          </a:p>
        </p:txBody>
      </p:sp>
      <p:sp>
        <p:nvSpPr>
          <p:cNvPr id="26" name="Ellipse 26"/>
          <p:cNvSpPr/>
          <p:nvPr/>
        </p:nvSpPr>
        <p:spPr>
          <a:xfrm>
            <a:off x="10401300" y="781050"/>
            <a:ext cx="152400" cy="152400"/>
          </a:xfrm>
          <a:prstGeom prst="ellipse">
            <a:avLst/>
          </a:prstGeom>
          <a:solidFill>
            <a:srgbClr val="FFBF69">
              <a:alpha val="50000"/>
            </a:srgbClr>
          </a:solidFill>
          <a:ln>
            <a:noFill/>
          </a:ln>
        </p:spPr>
      </p:sp>
      <p:sp>
        <p:nvSpPr>
          <p:cNvPr id="27" name="Ellipse 27"/>
          <p:cNvSpPr/>
          <p:nvPr/>
        </p:nvSpPr>
        <p:spPr>
          <a:xfrm>
            <a:off x="10906125" y="1190625"/>
            <a:ext cx="95250" cy="95250"/>
          </a:xfrm>
          <a:prstGeom prst="ellipse">
            <a:avLst/>
          </a:prstGeom>
          <a:solidFill>
            <a:srgbClr val="2EC4B6">
              <a:alpha val="30000"/>
            </a:srgbClr>
          </a:solidFill>
          <a:ln>
            <a:noFill/>
          </a:ln>
        </p:spPr>
      </p:sp>
      <p:sp>
        <p:nvSpPr>
          <p:cNvPr id="28" name="Freeform 28"/>
          <p:cNvSpPr/>
          <p:nvPr/>
        </p:nvSpPr>
        <p:spPr>
          <a:xfrm>
            <a:off x="11239500" y="6286500"/>
            <a:ext cx="342900" cy="266700"/>
          </a:xfrm>
          <a:custGeom>
            <a:avLst/>
            <a:gdLst/>
            <a:ahLst/>
            <a:cxnLst/>
            <a:rect l="l" t="t" r="r" b="b"/>
            <a:pathLst>
              <a:path w="342900" h="266700">
                <a:moveTo>
                  <a:pt x="57150" y="0"/>
                </a:moveTo>
                <a:lnTo>
                  <a:pt x="285750" y="0"/>
                </a:lnTo>
                <a:cubicBezTo>
                  <a:pt x="317313" y="0"/>
                  <a:pt x="342900" y="25587"/>
                  <a:pt x="342900" y="57150"/>
                </a:cubicBezTo>
                <a:lnTo>
                  <a:pt x="342900" y="209550"/>
                </a:lnTo>
                <a:cubicBezTo>
                  <a:pt x="342900" y="241113"/>
                  <a:pt x="317313" y="266700"/>
                  <a:pt x="285750" y="266700"/>
                </a:cubicBezTo>
                <a:lnTo>
                  <a:pt x="57150" y="266700"/>
                </a:lnTo>
                <a:cubicBezTo>
                  <a:pt x="25587" y="266700"/>
                  <a:pt x="0" y="241113"/>
                  <a:pt x="0" y="2095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2EC4B6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1357450" y="6362224"/>
            <a:ext cx="1070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EC4B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3900" y="438150"/>
            <a:ext cx="421671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EC4B6"/>
                </a:solidFill>
                <a:latin typeface="Microsoft YaHei"/>
                <a:ea typeface="Microsoft YaHei"/>
                <a:cs typeface="Microsoft YaHei"/>
              </a:rPr>
              <a:t>故事是怎么开始的？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952500"/>
            <a:ext cx="952500" cy="38100"/>
          </a:xfrm>
          <a:prstGeom prst="rect">
            <a:avLst/>
          </a:prstGeom>
          <a:solidFill>
            <a:srgbClr val="FF9F1C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762000" y="1333500"/>
            <a:ext cx="10668000" cy="857250"/>
          </a:xfrm>
          <a:custGeom>
            <a:avLst/>
            <a:gdLst/>
            <a:ahLst/>
            <a:cxnLst/>
            <a:rect l="l" t="t" r="r" b="b"/>
            <a:pathLst>
              <a:path w="10668000" h="857250">
                <a:moveTo>
                  <a:pt x="152400" y="0"/>
                </a:moveTo>
                <a:lnTo>
                  <a:pt x="10515600" y="0"/>
                </a:lnTo>
                <a:cubicBezTo>
                  <a:pt x="10599768" y="0"/>
                  <a:pt x="10668000" y="68232"/>
                  <a:pt x="10668000" y="152400"/>
                </a:cubicBezTo>
                <a:lnTo>
                  <a:pt x="10668000" y="704850"/>
                </a:lnTo>
                <a:cubicBezTo>
                  <a:pt x="10668000" y="789018"/>
                  <a:pt x="10599768" y="857250"/>
                  <a:pt x="10515600" y="857250"/>
                </a:cubicBezTo>
                <a:lnTo>
                  <a:pt x="152400" y="857250"/>
                </a:lnTo>
                <a:cubicBezTo>
                  <a:pt x="68232" y="857250"/>
                  <a:pt x="0" y="789018"/>
                  <a:pt x="0" y="7048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1047750" y="1476375"/>
            <a:ext cx="571500" cy="571500"/>
          </a:xfrm>
          <a:prstGeom prst="ellipse">
            <a:avLst/>
          </a:prstGeom>
          <a:solidFill>
            <a:srgbClr val="FF9F1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166050" y="1653540"/>
            <a:ext cx="33489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⚔️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88795" y="1536382"/>
            <a:ext cx="263548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1865 年，美国南北战争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94510" y="1870710"/>
            <a:ext cx="30099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五个北方俘虏被困在南方的城市里士满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77288" y="2281238"/>
            <a:ext cx="246924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FF9F1C"/>
                </a:solidFill>
                <a:latin typeface="Arial"/>
                <a:ea typeface="Microsoft YaHei"/>
                <a:cs typeface="Arial"/>
              </a:rPr>
              <a:t>↓</a:t>
            </a:r>
          </a:p>
        </p:txBody>
      </p:sp>
      <p:sp>
        <p:nvSpPr>
          <p:cNvPr id="12" name="Freeform 12"/>
          <p:cNvSpPr/>
          <p:nvPr/>
        </p:nvSpPr>
        <p:spPr>
          <a:xfrm>
            <a:off x="762000" y="2667000"/>
            <a:ext cx="10668000" cy="857250"/>
          </a:xfrm>
          <a:custGeom>
            <a:avLst/>
            <a:gdLst/>
            <a:ahLst/>
            <a:cxnLst/>
            <a:rect l="l" t="t" r="r" b="b"/>
            <a:pathLst>
              <a:path w="10668000" h="857250">
                <a:moveTo>
                  <a:pt x="152400" y="0"/>
                </a:moveTo>
                <a:lnTo>
                  <a:pt x="10515600" y="0"/>
                </a:lnTo>
                <a:cubicBezTo>
                  <a:pt x="10599768" y="0"/>
                  <a:pt x="10668000" y="68232"/>
                  <a:pt x="10668000" y="152400"/>
                </a:cubicBezTo>
                <a:lnTo>
                  <a:pt x="10668000" y="704850"/>
                </a:lnTo>
                <a:cubicBezTo>
                  <a:pt x="10668000" y="789018"/>
                  <a:pt x="10599768" y="857250"/>
                  <a:pt x="10515600" y="857250"/>
                </a:cubicBezTo>
                <a:lnTo>
                  <a:pt x="152400" y="857250"/>
                </a:lnTo>
                <a:cubicBezTo>
                  <a:pt x="68232" y="857250"/>
                  <a:pt x="0" y="789018"/>
                  <a:pt x="0" y="7048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0FAF9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1047750" y="2809875"/>
            <a:ext cx="571500" cy="5715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238345" y="2987040"/>
            <a:ext cx="1903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🎈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88795" y="2869882"/>
            <a:ext cx="383738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趁乱偷了一个热气球，想飞回北方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94510" y="3204210"/>
            <a:ext cx="35356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结果遇到了可怕的大风暴，被吹到了太平洋上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877288" y="3614738"/>
            <a:ext cx="246924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FF9F1C"/>
                </a:solidFill>
                <a:latin typeface="Arial"/>
                <a:ea typeface="Microsoft YaHei"/>
                <a:cs typeface="Arial"/>
              </a:rPr>
              <a:t>↓</a:t>
            </a:r>
          </a:p>
        </p:txBody>
      </p:sp>
      <p:sp>
        <p:nvSpPr>
          <p:cNvPr id="18" name="Freeform 18"/>
          <p:cNvSpPr/>
          <p:nvPr/>
        </p:nvSpPr>
        <p:spPr>
          <a:xfrm>
            <a:off x="762000" y="4048125"/>
            <a:ext cx="10668000" cy="857250"/>
          </a:xfrm>
          <a:custGeom>
            <a:avLst/>
            <a:gdLst/>
            <a:ahLst/>
            <a:cxnLst/>
            <a:rect l="l" t="t" r="r" b="b"/>
            <a:pathLst>
              <a:path w="10668000" h="857250">
                <a:moveTo>
                  <a:pt x="152400" y="0"/>
                </a:moveTo>
                <a:lnTo>
                  <a:pt x="10515600" y="0"/>
                </a:lnTo>
                <a:cubicBezTo>
                  <a:pt x="10599768" y="0"/>
                  <a:pt x="10668000" y="68232"/>
                  <a:pt x="10668000" y="152400"/>
                </a:cubicBezTo>
                <a:lnTo>
                  <a:pt x="10668000" y="704850"/>
                </a:lnTo>
                <a:cubicBezTo>
                  <a:pt x="10668000" y="789018"/>
                  <a:pt x="10599768" y="857250"/>
                  <a:pt x="10515600" y="857250"/>
                </a:cubicBezTo>
                <a:lnTo>
                  <a:pt x="152400" y="857250"/>
                </a:lnTo>
                <a:cubicBezTo>
                  <a:pt x="68232" y="857250"/>
                  <a:pt x="0" y="789018"/>
                  <a:pt x="0" y="7048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8E1"/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1047750" y="4191000"/>
            <a:ext cx="571500" cy="571500"/>
          </a:xfrm>
          <a:prstGeom prst="ellipse">
            <a:avLst/>
          </a:prstGeom>
          <a:solidFill>
            <a:srgbClr val="FFBF69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166050" y="4368165"/>
            <a:ext cx="33489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🏝️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88795" y="4251008"/>
            <a:ext cx="358435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落在了一个谁也没去过的荒岛上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94510" y="4585335"/>
            <a:ext cx="33779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他们给这座岛取名"林肯岛"，纪念林肯总统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877288" y="4995862"/>
            <a:ext cx="246924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2EC4B6"/>
                </a:solidFill>
                <a:latin typeface="Arial"/>
                <a:ea typeface="Microsoft YaHei"/>
                <a:cs typeface="Arial"/>
              </a:rPr>
              <a:t>↓</a:t>
            </a:r>
          </a:p>
        </p:txBody>
      </p:sp>
      <p:sp>
        <p:nvSpPr>
          <p:cNvPr id="24" name="Freeform 24"/>
          <p:cNvSpPr/>
          <p:nvPr/>
        </p:nvSpPr>
        <p:spPr>
          <a:xfrm>
            <a:off x="762000" y="5381625"/>
            <a:ext cx="10668000" cy="762000"/>
          </a:xfrm>
          <a:custGeom>
            <a:avLst/>
            <a:gdLst/>
            <a:ahLst/>
            <a:cxnLst/>
            <a:rect l="l" t="t" r="r" b="b"/>
            <a:pathLst>
              <a:path w="10668000" h="762000">
                <a:moveTo>
                  <a:pt x="152400" y="0"/>
                </a:moveTo>
                <a:lnTo>
                  <a:pt x="10515600" y="0"/>
                </a:lnTo>
                <a:cubicBezTo>
                  <a:pt x="10599768" y="0"/>
                  <a:pt x="10668000" y="68232"/>
                  <a:pt x="10668000" y="152400"/>
                </a:cubicBezTo>
                <a:lnTo>
                  <a:pt x="10668000" y="609600"/>
                </a:lnTo>
                <a:cubicBezTo>
                  <a:pt x="10668000" y="693768"/>
                  <a:pt x="10599768" y="762000"/>
                  <a:pt x="10515600" y="762000"/>
                </a:cubicBezTo>
                <a:lnTo>
                  <a:pt x="152400" y="762000"/>
                </a:lnTo>
                <a:cubicBezTo>
                  <a:pt x="68232" y="762000"/>
                  <a:pt x="0" y="693768"/>
                  <a:pt x="0" y="609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2EC4B6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762000" y="5381625"/>
            <a:ext cx="10668000" cy="47625"/>
          </a:xfrm>
          <a:custGeom>
            <a:avLst/>
            <a:gdLst/>
            <a:ahLst/>
            <a:cxnLst/>
            <a:rect l="l" t="t" r="r" b="b"/>
            <a:pathLst>
              <a:path w="10668000" h="47625">
                <a:moveTo>
                  <a:pt x="28575" y="0"/>
                </a:moveTo>
                <a:lnTo>
                  <a:pt x="10639425" y="0"/>
                </a:lnTo>
                <a:cubicBezTo>
                  <a:pt x="10655207" y="0"/>
                  <a:pt x="10668000" y="10661"/>
                  <a:pt x="10668000" y="23812"/>
                </a:cubicBezTo>
                <a:lnTo>
                  <a:pt x="10668000" y="23812"/>
                </a:lnTo>
                <a:cubicBezTo>
                  <a:pt x="10668000" y="36964"/>
                  <a:pt x="10655207" y="47625"/>
                  <a:pt x="10639425" y="47625"/>
                </a:cubicBezTo>
                <a:lnTo>
                  <a:pt x="28575" y="47625"/>
                </a:lnTo>
                <a:cubicBezTo>
                  <a:pt x="12793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2793" y="0"/>
                  <a:pt x="28575" y="0"/>
                </a:cubicBezTo>
                <a:close/>
              </a:path>
            </a:pathLst>
          </a:custGeom>
          <a:solidFill>
            <a:srgbClr val="2EC4B6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314450" y="5600700"/>
            <a:ext cx="416711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EC4B6"/>
                </a:solidFill>
                <a:latin typeface="Microsoft YaHei"/>
                <a:ea typeface="Microsoft YaHei"/>
                <a:cs typeface="Microsoft YaHei"/>
              </a:rPr>
              <a:t>💪 他们没有害怕，说："我们一起努力！"</a:t>
            </a:r>
          </a:p>
        </p:txBody>
      </p:sp>
      <p:sp>
        <p:nvSpPr>
          <p:cNvPr id="27" name="Ellipse 27"/>
          <p:cNvSpPr/>
          <p:nvPr/>
        </p:nvSpPr>
        <p:spPr>
          <a:xfrm>
            <a:off x="10401300" y="781050"/>
            <a:ext cx="152400" cy="152400"/>
          </a:xfrm>
          <a:prstGeom prst="ellipse">
            <a:avLst/>
          </a:prstGeom>
          <a:solidFill>
            <a:srgbClr val="2EC4B6">
              <a:alpha val="30000"/>
            </a:srgbClr>
          </a:solidFill>
          <a:ln>
            <a:noFill/>
          </a:ln>
        </p:spPr>
      </p:sp>
      <p:sp>
        <p:nvSpPr>
          <p:cNvPr id="28" name="Freeform 28"/>
          <p:cNvSpPr/>
          <p:nvPr/>
        </p:nvSpPr>
        <p:spPr>
          <a:xfrm>
            <a:off x="11239500" y="6286500"/>
            <a:ext cx="342900" cy="266700"/>
          </a:xfrm>
          <a:custGeom>
            <a:avLst/>
            <a:gdLst/>
            <a:ahLst/>
            <a:cxnLst/>
            <a:rect l="l" t="t" r="r" b="b"/>
            <a:pathLst>
              <a:path w="342900" h="266700">
                <a:moveTo>
                  <a:pt x="57150" y="0"/>
                </a:moveTo>
                <a:lnTo>
                  <a:pt x="285750" y="0"/>
                </a:lnTo>
                <a:cubicBezTo>
                  <a:pt x="317313" y="0"/>
                  <a:pt x="342900" y="25587"/>
                  <a:pt x="342900" y="57150"/>
                </a:cubicBezTo>
                <a:lnTo>
                  <a:pt x="342900" y="209550"/>
                </a:lnTo>
                <a:cubicBezTo>
                  <a:pt x="342900" y="241113"/>
                  <a:pt x="317313" y="266700"/>
                  <a:pt x="285750" y="266700"/>
                </a:cubicBezTo>
                <a:lnTo>
                  <a:pt x="57150" y="266700"/>
                </a:lnTo>
                <a:cubicBezTo>
                  <a:pt x="25587" y="266700"/>
                  <a:pt x="0" y="241113"/>
                  <a:pt x="0" y="2095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2EC4B6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1357450" y="6362224"/>
            <a:ext cx="1070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EC4B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3900" y="438150"/>
            <a:ext cx="4147709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EC4B6"/>
                </a:solidFill>
                <a:latin typeface="Microsoft YaHei"/>
                <a:ea typeface="Microsoft YaHei"/>
                <a:cs typeface="Microsoft YaHei"/>
              </a:rPr>
              <a:t>认识岛上的英雄们 ⭐</a:t>
            </a:r>
          </a:p>
        </p:txBody>
      </p:sp>
      <p:sp>
        <p:nvSpPr>
          <p:cNvPr id="5" name="Freeform 5"/>
          <p:cNvSpPr/>
          <p:nvPr/>
        </p:nvSpPr>
        <p:spPr>
          <a:xfrm>
            <a:off x="571500" y="1143000"/>
            <a:ext cx="3619500" cy="1143000"/>
          </a:xfrm>
          <a:custGeom>
            <a:avLst/>
            <a:gdLst/>
            <a:ahLst/>
            <a:cxnLst/>
            <a:rect l="l" t="t" r="r" b="b"/>
            <a:pathLst>
              <a:path w="3619500" h="1143000">
                <a:moveTo>
                  <a:pt x="152400" y="0"/>
                </a:moveTo>
                <a:lnTo>
                  <a:pt x="3467100" y="0"/>
                </a:lnTo>
                <a:cubicBezTo>
                  <a:pt x="3551268" y="0"/>
                  <a:pt x="3619500" y="68232"/>
                  <a:pt x="3619500" y="152400"/>
                </a:cubicBezTo>
                <a:lnTo>
                  <a:pt x="3619500" y="990600"/>
                </a:lnTo>
                <a:cubicBezTo>
                  <a:pt x="3619500" y="1074768"/>
                  <a:pt x="3551268" y="1143000"/>
                  <a:pt x="3467100" y="1143000"/>
                </a:cubicBezTo>
                <a:lnTo>
                  <a:pt x="152400" y="1143000"/>
                </a:lnTo>
                <a:cubicBezTo>
                  <a:pt x="68232" y="1143000"/>
                  <a:pt x="0" y="1074768"/>
                  <a:pt x="0" y="990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0FAF9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571500" y="1143000"/>
            <a:ext cx="57150" cy="1143000"/>
          </a:xfrm>
          <a:custGeom>
            <a:avLst/>
            <a:gdLst/>
            <a:ahLst/>
            <a:cxnLst/>
            <a:rect l="l" t="t" r="r" b="b"/>
            <a:pathLst>
              <a:path w="57150" h="11430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114425"/>
                </a:lnTo>
                <a:cubicBezTo>
                  <a:pt x="57150" y="1130207"/>
                  <a:pt x="44357" y="1143000"/>
                  <a:pt x="28575" y="1143000"/>
                </a:cubicBezTo>
                <a:lnTo>
                  <a:pt x="28575" y="1143000"/>
                </a:lnTo>
                <a:cubicBezTo>
                  <a:pt x="12793" y="1143000"/>
                  <a:pt x="0" y="1130207"/>
                  <a:pt x="0" y="11144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2EC4B6"/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828675" y="1304925"/>
            <a:ext cx="533400" cy="533400"/>
          </a:xfrm>
          <a:prstGeom prst="ellipse">
            <a:avLst/>
          </a:prstGeom>
          <a:solidFill>
            <a:srgbClr val="2EC4B6">
              <a:alpha val="15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84361" y="1430655"/>
            <a:ext cx="22202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🧠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04950" y="1362075"/>
            <a:ext cx="154478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赛勒斯·史密斯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10665" y="1648778"/>
            <a:ext cx="24803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铁路工程师，知识渊博，团队的大脑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12570" y="1903095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EC4B6"/>
                </a:solidFill>
                <a:latin typeface="Microsoft YaHei"/>
                <a:ea typeface="Microsoft YaHei"/>
                <a:cs typeface="Microsoft YaHei"/>
              </a:rPr>
              <a:t>团队领导者</a:t>
            </a:r>
          </a:p>
        </p:txBody>
      </p:sp>
      <p:sp>
        <p:nvSpPr>
          <p:cNvPr id="12" name="Freeform 12"/>
          <p:cNvSpPr/>
          <p:nvPr/>
        </p:nvSpPr>
        <p:spPr>
          <a:xfrm>
            <a:off x="4381500" y="1143000"/>
            <a:ext cx="3619500" cy="1143000"/>
          </a:xfrm>
          <a:custGeom>
            <a:avLst/>
            <a:gdLst/>
            <a:ahLst/>
            <a:cxnLst/>
            <a:rect l="l" t="t" r="r" b="b"/>
            <a:pathLst>
              <a:path w="3619500" h="1143000">
                <a:moveTo>
                  <a:pt x="152400" y="0"/>
                </a:moveTo>
                <a:lnTo>
                  <a:pt x="3467100" y="0"/>
                </a:lnTo>
                <a:cubicBezTo>
                  <a:pt x="3551268" y="0"/>
                  <a:pt x="3619500" y="68232"/>
                  <a:pt x="3619500" y="152400"/>
                </a:cubicBezTo>
                <a:lnTo>
                  <a:pt x="3619500" y="990600"/>
                </a:lnTo>
                <a:cubicBezTo>
                  <a:pt x="3619500" y="1074768"/>
                  <a:pt x="3551268" y="1143000"/>
                  <a:pt x="3467100" y="1143000"/>
                </a:cubicBezTo>
                <a:lnTo>
                  <a:pt x="152400" y="1143000"/>
                </a:lnTo>
                <a:cubicBezTo>
                  <a:pt x="68232" y="1143000"/>
                  <a:pt x="0" y="1074768"/>
                  <a:pt x="0" y="990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13" name="Freeform 13"/>
          <p:cNvSpPr/>
          <p:nvPr/>
        </p:nvSpPr>
        <p:spPr>
          <a:xfrm>
            <a:off x="4381500" y="1143000"/>
            <a:ext cx="57150" cy="1143000"/>
          </a:xfrm>
          <a:custGeom>
            <a:avLst/>
            <a:gdLst/>
            <a:ahLst/>
            <a:cxnLst/>
            <a:rect l="l" t="t" r="r" b="b"/>
            <a:pathLst>
              <a:path w="57150" h="11430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114425"/>
                </a:lnTo>
                <a:cubicBezTo>
                  <a:pt x="57150" y="1130207"/>
                  <a:pt x="44357" y="1143000"/>
                  <a:pt x="28575" y="1143000"/>
                </a:cubicBezTo>
                <a:lnTo>
                  <a:pt x="28575" y="1143000"/>
                </a:lnTo>
                <a:cubicBezTo>
                  <a:pt x="12793" y="1143000"/>
                  <a:pt x="0" y="1130207"/>
                  <a:pt x="0" y="11144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9F1C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4638675" y="1304925"/>
            <a:ext cx="533400" cy="533400"/>
          </a:xfrm>
          <a:prstGeom prst="ellipse">
            <a:avLst/>
          </a:prstGeom>
          <a:solidFill>
            <a:srgbClr val="FF9F1C">
              <a:alpha val="15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794361" y="1430655"/>
            <a:ext cx="22202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📝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314950" y="1362075"/>
            <a:ext cx="131476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吉丁·史佩莱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320665" y="1648778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通讯记者，什么都写下来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322570" y="1903095"/>
            <a:ext cx="43691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9F1C"/>
                </a:solidFill>
                <a:latin typeface="Microsoft YaHei"/>
                <a:ea typeface="Microsoft YaHei"/>
                <a:cs typeface="Microsoft YaHei"/>
              </a:rPr>
              <a:t>记录者</a:t>
            </a:r>
          </a:p>
        </p:txBody>
      </p:sp>
      <p:sp>
        <p:nvSpPr>
          <p:cNvPr id="19" name="Freeform 19"/>
          <p:cNvSpPr/>
          <p:nvPr/>
        </p:nvSpPr>
        <p:spPr>
          <a:xfrm>
            <a:off x="8191500" y="1143000"/>
            <a:ext cx="3429000" cy="1143000"/>
          </a:xfrm>
          <a:custGeom>
            <a:avLst/>
            <a:gdLst/>
            <a:ahLst/>
            <a:cxnLst/>
            <a:rect l="l" t="t" r="r" b="b"/>
            <a:pathLst>
              <a:path w="3429000" h="1143000">
                <a:moveTo>
                  <a:pt x="152400" y="0"/>
                </a:moveTo>
                <a:lnTo>
                  <a:pt x="3276600" y="0"/>
                </a:lnTo>
                <a:cubicBezTo>
                  <a:pt x="3360768" y="0"/>
                  <a:pt x="3429000" y="68232"/>
                  <a:pt x="3429000" y="152400"/>
                </a:cubicBezTo>
                <a:lnTo>
                  <a:pt x="3429000" y="990600"/>
                </a:lnTo>
                <a:cubicBezTo>
                  <a:pt x="3429000" y="1074768"/>
                  <a:pt x="3360768" y="1143000"/>
                  <a:pt x="3276600" y="1143000"/>
                </a:cubicBezTo>
                <a:lnTo>
                  <a:pt x="152400" y="1143000"/>
                </a:lnTo>
                <a:cubicBezTo>
                  <a:pt x="68232" y="1143000"/>
                  <a:pt x="0" y="1074768"/>
                  <a:pt x="0" y="990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8E1"/>
          </a:solidFill>
          <a:ln>
            <a:noFill/>
          </a:ln>
        </p:spPr>
      </p:sp>
      <p:sp>
        <p:nvSpPr>
          <p:cNvPr id="20" name="Freeform 20"/>
          <p:cNvSpPr/>
          <p:nvPr/>
        </p:nvSpPr>
        <p:spPr>
          <a:xfrm>
            <a:off x="8191500" y="1143000"/>
            <a:ext cx="57150" cy="1143000"/>
          </a:xfrm>
          <a:custGeom>
            <a:avLst/>
            <a:gdLst/>
            <a:ahLst/>
            <a:cxnLst/>
            <a:rect l="l" t="t" r="r" b="b"/>
            <a:pathLst>
              <a:path w="57150" h="11430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114425"/>
                </a:lnTo>
                <a:cubicBezTo>
                  <a:pt x="57150" y="1130207"/>
                  <a:pt x="44357" y="1143000"/>
                  <a:pt x="28575" y="1143000"/>
                </a:cubicBezTo>
                <a:lnTo>
                  <a:pt x="28575" y="1143000"/>
                </a:lnTo>
                <a:cubicBezTo>
                  <a:pt x="12793" y="1143000"/>
                  <a:pt x="0" y="1130207"/>
                  <a:pt x="0" y="11144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BF69"/>
          </a:solidFill>
          <a:ln>
            <a:noFill/>
          </a:ln>
        </p:spPr>
      </p:sp>
      <p:sp>
        <p:nvSpPr>
          <p:cNvPr id="21" name="Ellipse 21"/>
          <p:cNvSpPr/>
          <p:nvPr/>
        </p:nvSpPr>
        <p:spPr>
          <a:xfrm>
            <a:off x="8448675" y="1304925"/>
            <a:ext cx="533400" cy="533400"/>
          </a:xfrm>
          <a:prstGeom prst="ellipse">
            <a:avLst/>
          </a:prstGeom>
          <a:solidFill>
            <a:srgbClr val="FFBF69">
              <a:alpha val="15000"/>
            </a:srgbClr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604361" y="1430655"/>
            <a:ext cx="22202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🍳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124950" y="1362075"/>
            <a:ext cx="4981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纳布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130665" y="1648778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史密斯的仆人，忠心耿耿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132570" y="1903095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BF69"/>
                </a:solidFill>
                <a:latin typeface="Microsoft YaHei"/>
                <a:ea typeface="Microsoft YaHei"/>
                <a:cs typeface="Microsoft YaHei"/>
              </a:rPr>
              <a:t>温暖守护</a:t>
            </a:r>
          </a:p>
        </p:txBody>
      </p:sp>
      <p:sp>
        <p:nvSpPr>
          <p:cNvPr id="26" name="Freeform 26"/>
          <p:cNvSpPr/>
          <p:nvPr/>
        </p:nvSpPr>
        <p:spPr>
          <a:xfrm>
            <a:off x="571500" y="2571750"/>
            <a:ext cx="3619500" cy="1143000"/>
          </a:xfrm>
          <a:custGeom>
            <a:avLst/>
            <a:gdLst/>
            <a:ahLst/>
            <a:cxnLst/>
            <a:rect l="l" t="t" r="r" b="b"/>
            <a:pathLst>
              <a:path w="3619500" h="1143000">
                <a:moveTo>
                  <a:pt x="152400" y="0"/>
                </a:moveTo>
                <a:lnTo>
                  <a:pt x="3467100" y="0"/>
                </a:lnTo>
                <a:cubicBezTo>
                  <a:pt x="3551268" y="0"/>
                  <a:pt x="3619500" y="68232"/>
                  <a:pt x="3619500" y="152400"/>
                </a:cubicBezTo>
                <a:lnTo>
                  <a:pt x="3619500" y="990600"/>
                </a:lnTo>
                <a:cubicBezTo>
                  <a:pt x="3619500" y="1074768"/>
                  <a:pt x="3551268" y="1143000"/>
                  <a:pt x="3467100" y="1143000"/>
                </a:cubicBezTo>
                <a:lnTo>
                  <a:pt x="152400" y="1143000"/>
                </a:lnTo>
                <a:cubicBezTo>
                  <a:pt x="68232" y="1143000"/>
                  <a:pt x="0" y="1074768"/>
                  <a:pt x="0" y="990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0FAF9"/>
          </a:solidFill>
          <a:ln>
            <a:noFill/>
          </a:ln>
        </p:spPr>
      </p:sp>
      <p:sp>
        <p:nvSpPr>
          <p:cNvPr id="27" name="Freeform 27"/>
          <p:cNvSpPr/>
          <p:nvPr/>
        </p:nvSpPr>
        <p:spPr>
          <a:xfrm>
            <a:off x="571500" y="2571750"/>
            <a:ext cx="57150" cy="1143000"/>
          </a:xfrm>
          <a:custGeom>
            <a:avLst/>
            <a:gdLst/>
            <a:ahLst/>
            <a:cxnLst/>
            <a:rect l="l" t="t" r="r" b="b"/>
            <a:pathLst>
              <a:path w="57150" h="11430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114425"/>
                </a:lnTo>
                <a:cubicBezTo>
                  <a:pt x="57150" y="1130207"/>
                  <a:pt x="44357" y="1143000"/>
                  <a:pt x="28575" y="1143000"/>
                </a:cubicBezTo>
                <a:lnTo>
                  <a:pt x="28575" y="1143000"/>
                </a:lnTo>
                <a:cubicBezTo>
                  <a:pt x="12793" y="1143000"/>
                  <a:pt x="0" y="1130207"/>
                  <a:pt x="0" y="11144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2EC4B6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828675" y="2733675"/>
            <a:ext cx="533400" cy="533400"/>
          </a:xfrm>
          <a:prstGeom prst="ellipse">
            <a:avLst/>
          </a:prstGeom>
          <a:solidFill>
            <a:srgbClr val="2EC4B6">
              <a:alpha val="15000"/>
            </a:srgbClr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84361" y="2859405"/>
            <a:ext cx="22202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⚓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504950" y="27908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潘克洛夫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510665" y="3077528"/>
            <a:ext cx="18669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水手，意志坚定，造船高手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12570" y="3331845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EC4B6"/>
                </a:solidFill>
                <a:latin typeface="Microsoft YaHei"/>
                <a:ea typeface="Microsoft YaHei"/>
                <a:cs typeface="Microsoft YaHei"/>
              </a:rPr>
              <a:t>动手达人</a:t>
            </a:r>
          </a:p>
        </p:txBody>
      </p:sp>
      <p:sp>
        <p:nvSpPr>
          <p:cNvPr id="33" name="Freeform 33"/>
          <p:cNvSpPr/>
          <p:nvPr/>
        </p:nvSpPr>
        <p:spPr>
          <a:xfrm>
            <a:off x="4381500" y="2571750"/>
            <a:ext cx="3619500" cy="1143000"/>
          </a:xfrm>
          <a:custGeom>
            <a:avLst/>
            <a:gdLst/>
            <a:ahLst/>
            <a:cxnLst/>
            <a:rect l="l" t="t" r="r" b="b"/>
            <a:pathLst>
              <a:path w="3619500" h="1143000">
                <a:moveTo>
                  <a:pt x="152400" y="0"/>
                </a:moveTo>
                <a:lnTo>
                  <a:pt x="3467100" y="0"/>
                </a:lnTo>
                <a:cubicBezTo>
                  <a:pt x="3551268" y="0"/>
                  <a:pt x="3619500" y="68232"/>
                  <a:pt x="3619500" y="152400"/>
                </a:cubicBezTo>
                <a:lnTo>
                  <a:pt x="3619500" y="990600"/>
                </a:lnTo>
                <a:cubicBezTo>
                  <a:pt x="3619500" y="1074768"/>
                  <a:pt x="3551268" y="1143000"/>
                  <a:pt x="3467100" y="1143000"/>
                </a:cubicBezTo>
                <a:lnTo>
                  <a:pt x="152400" y="1143000"/>
                </a:lnTo>
                <a:cubicBezTo>
                  <a:pt x="68232" y="1143000"/>
                  <a:pt x="0" y="1074768"/>
                  <a:pt x="0" y="990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34" name="Freeform 34"/>
          <p:cNvSpPr/>
          <p:nvPr/>
        </p:nvSpPr>
        <p:spPr>
          <a:xfrm>
            <a:off x="4381500" y="2571750"/>
            <a:ext cx="57150" cy="1143000"/>
          </a:xfrm>
          <a:custGeom>
            <a:avLst/>
            <a:gdLst/>
            <a:ahLst/>
            <a:cxnLst/>
            <a:rect l="l" t="t" r="r" b="b"/>
            <a:pathLst>
              <a:path w="57150" h="11430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114425"/>
                </a:lnTo>
                <a:cubicBezTo>
                  <a:pt x="57150" y="1130207"/>
                  <a:pt x="44357" y="1143000"/>
                  <a:pt x="28575" y="1143000"/>
                </a:cubicBezTo>
                <a:lnTo>
                  <a:pt x="28575" y="1143000"/>
                </a:lnTo>
                <a:cubicBezTo>
                  <a:pt x="12793" y="1143000"/>
                  <a:pt x="0" y="1130207"/>
                  <a:pt x="0" y="11144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9F1C"/>
          </a:solidFill>
          <a:ln>
            <a:noFill/>
          </a:ln>
        </p:spPr>
      </p:sp>
      <p:sp>
        <p:nvSpPr>
          <p:cNvPr id="35" name="Ellipse 35"/>
          <p:cNvSpPr/>
          <p:nvPr/>
        </p:nvSpPr>
        <p:spPr>
          <a:xfrm>
            <a:off x="4638675" y="2733675"/>
            <a:ext cx="533400" cy="533400"/>
          </a:xfrm>
          <a:prstGeom prst="ellipse">
            <a:avLst/>
          </a:prstGeom>
          <a:solidFill>
            <a:srgbClr val="FF9F1C">
              <a:alpha val="15000"/>
            </a:srgbClr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4794361" y="2859405"/>
            <a:ext cx="22202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🧒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314950" y="2790825"/>
            <a:ext cx="7281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赫伯特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320665" y="3077528"/>
            <a:ext cx="14298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15 岁少年，勇敢好学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322570" y="3331845"/>
            <a:ext cx="9889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9F1C"/>
                </a:solidFill>
                <a:latin typeface="Microsoft YaHei"/>
                <a:ea typeface="Microsoft YaHei"/>
                <a:cs typeface="Microsoft YaHei"/>
              </a:rPr>
              <a:t>和你差不多大！</a:t>
            </a:r>
          </a:p>
        </p:txBody>
      </p:sp>
      <p:sp>
        <p:nvSpPr>
          <p:cNvPr id="40" name="Freeform 40"/>
          <p:cNvSpPr/>
          <p:nvPr/>
        </p:nvSpPr>
        <p:spPr>
          <a:xfrm>
            <a:off x="8191500" y="2571750"/>
            <a:ext cx="3429000" cy="1143000"/>
          </a:xfrm>
          <a:custGeom>
            <a:avLst/>
            <a:gdLst/>
            <a:ahLst/>
            <a:cxnLst/>
            <a:rect l="l" t="t" r="r" b="b"/>
            <a:pathLst>
              <a:path w="3429000" h="1143000">
                <a:moveTo>
                  <a:pt x="152400" y="0"/>
                </a:moveTo>
                <a:lnTo>
                  <a:pt x="3276600" y="0"/>
                </a:lnTo>
                <a:cubicBezTo>
                  <a:pt x="3360768" y="0"/>
                  <a:pt x="3429000" y="68232"/>
                  <a:pt x="3429000" y="152400"/>
                </a:cubicBezTo>
                <a:lnTo>
                  <a:pt x="3429000" y="990600"/>
                </a:lnTo>
                <a:cubicBezTo>
                  <a:pt x="3429000" y="1074768"/>
                  <a:pt x="3360768" y="1143000"/>
                  <a:pt x="3276600" y="1143000"/>
                </a:cubicBezTo>
                <a:lnTo>
                  <a:pt x="152400" y="1143000"/>
                </a:lnTo>
                <a:cubicBezTo>
                  <a:pt x="68232" y="1143000"/>
                  <a:pt x="0" y="1074768"/>
                  <a:pt x="0" y="990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8E1"/>
          </a:solidFill>
          <a:ln>
            <a:noFill/>
          </a:ln>
        </p:spPr>
      </p:sp>
      <p:sp>
        <p:nvSpPr>
          <p:cNvPr id="41" name="Freeform 41"/>
          <p:cNvSpPr/>
          <p:nvPr/>
        </p:nvSpPr>
        <p:spPr>
          <a:xfrm>
            <a:off x="8191500" y="2571750"/>
            <a:ext cx="57150" cy="1143000"/>
          </a:xfrm>
          <a:custGeom>
            <a:avLst/>
            <a:gdLst/>
            <a:ahLst/>
            <a:cxnLst/>
            <a:rect l="l" t="t" r="r" b="b"/>
            <a:pathLst>
              <a:path w="57150" h="11430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114425"/>
                </a:lnTo>
                <a:cubicBezTo>
                  <a:pt x="57150" y="1130207"/>
                  <a:pt x="44357" y="1143000"/>
                  <a:pt x="28575" y="1143000"/>
                </a:cubicBezTo>
                <a:lnTo>
                  <a:pt x="28575" y="1143000"/>
                </a:lnTo>
                <a:cubicBezTo>
                  <a:pt x="12793" y="1143000"/>
                  <a:pt x="0" y="1130207"/>
                  <a:pt x="0" y="11144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BF69"/>
          </a:solidFill>
          <a:ln>
            <a:noFill/>
          </a:ln>
        </p:spPr>
      </p:sp>
      <p:sp>
        <p:nvSpPr>
          <p:cNvPr id="42" name="Ellipse 42"/>
          <p:cNvSpPr/>
          <p:nvPr/>
        </p:nvSpPr>
        <p:spPr>
          <a:xfrm>
            <a:off x="8448675" y="2733675"/>
            <a:ext cx="533400" cy="533400"/>
          </a:xfrm>
          <a:prstGeom prst="ellipse">
            <a:avLst/>
          </a:prstGeom>
          <a:solidFill>
            <a:srgbClr val="FFBF69">
              <a:alpha val="15000"/>
            </a:srgbClr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8604361" y="2859405"/>
            <a:ext cx="22202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🤝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124950" y="2790825"/>
            <a:ext cx="7281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艾尔通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130665" y="3077528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后来加入，改过自新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132570" y="3331845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BF69"/>
                </a:solidFill>
                <a:latin typeface="Microsoft YaHei"/>
                <a:ea typeface="Microsoft YaHei"/>
                <a:cs typeface="Microsoft YaHei"/>
              </a:rPr>
              <a:t>迷途知返</a:t>
            </a:r>
          </a:p>
        </p:txBody>
      </p:sp>
      <p:sp>
        <p:nvSpPr>
          <p:cNvPr id="47" name="Freeform 47"/>
          <p:cNvSpPr/>
          <p:nvPr/>
        </p:nvSpPr>
        <p:spPr>
          <a:xfrm>
            <a:off x="571500" y="4000500"/>
            <a:ext cx="5334000" cy="762000"/>
          </a:xfrm>
          <a:custGeom>
            <a:avLst/>
            <a:gdLst/>
            <a:ahLst/>
            <a:cxnLst/>
            <a:rect l="l" t="t" r="r" b="b"/>
            <a:pathLst>
              <a:path w="5334000" h="762000">
                <a:moveTo>
                  <a:pt x="152400" y="0"/>
                </a:moveTo>
                <a:lnTo>
                  <a:pt x="5181600" y="0"/>
                </a:lnTo>
                <a:cubicBezTo>
                  <a:pt x="5265768" y="0"/>
                  <a:pt x="5334000" y="68232"/>
                  <a:pt x="5334000" y="152400"/>
                </a:cubicBezTo>
                <a:lnTo>
                  <a:pt x="5334000" y="609600"/>
                </a:lnTo>
                <a:cubicBezTo>
                  <a:pt x="5334000" y="693768"/>
                  <a:pt x="5265768" y="762000"/>
                  <a:pt x="5181600" y="762000"/>
                </a:cubicBezTo>
                <a:lnTo>
                  <a:pt x="152400" y="762000"/>
                </a:lnTo>
                <a:cubicBezTo>
                  <a:pt x="68232" y="762000"/>
                  <a:pt x="0" y="693768"/>
                  <a:pt x="0" y="609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0FAF9"/>
          </a:solidFill>
          <a:ln w="9525">
            <a:solidFill>
              <a:srgbClr val="2EC4B6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914400" y="4133850"/>
            <a:ext cx="31718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🐕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504950" y="4200525"/>
            <a:ext cx="4981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托普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509712" y="4498181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忠诚的狗，救了主人的命！</a:t>
            </a:r>
          </a:p>
        </p:txBody>
      </p:sp>
      <p:sp>
        <p:nvSpPr>
          <p:cNvPr id="51" name="Freeform 51"/>
          <p:cNvSpPr/>
          <p:nvPr/>
        </p:nvSpPr>
        <p:spPr>
          <a:xfrm>
            <a:off x="6191250" y="4000500"/>
            <a:ext cx="5429250" cy="762000"/>
          </a:xfrm>
          <a:custGeom>
            <a:avLst/>
            <a:gdLst/>
            <a:ahLst/>
            <a:cxnLst/>
            <a:rect l="l" t="t" r="r" b="b"/>
            <a:pathLst>
              <a:path w="5429250" h="762000">
                <a:moveTo>
                  <a:pt x="152400" y="0"/>
                </a:moveTo>
                <a:lnTo>
                  <a:pt x="5276850" y="0"/>
                </a:lnTo>
                <a:cubicBezTo>
                  <a:pt x="5361018" y="0"/>
                  <a:pt x="5429250" y="68232"/>
                  <a:pt x="5429250" y="152400"/>
                </a:cubicBezTo>
                <a:lnTo>
                  <a:pt x="5429250" y="609600"/>
                </a:lnTo>
                <a:cubicBezTo>
                  <a:pt x="5429250" y="693768"/>
                  <a:pt x="5361018" y="762000"/>
                  <a:pt x="5276850" y="762000"/>
                </a:cubicBezTo>
                <a:lnTo>
                  <a:pt x="152400" y="762000"/>
                </a:lnTo>
                <a:cubicBezTo>
                  <a:pt x="68232" y="762000"/>
                  <a:pt x="0" y="693768"/>
                  <a:pt x="0" y="609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3E0"/>
          </a:solidFill>
          <a:ln w="9525">
            <a:solidFill>
              <a:srgbClr val="FF9F1C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6534150" y="4133850"/>
            <a:ext cx="31718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🦧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124700" y="4200525"/>
            <a:ext cx="4981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朱普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129462" y="4498181"/>
            <a:ext cx="34790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被驯养的猩猩，会帮忙干活，像家里的小成员！</a:t>
            </a:r>
          </a:p>
        </p:txBody>
      </p:sp>
      <p:sp>
        <p:nvSpPr>
          <p:cNvPr id="55" name="Freeform 55"/>
          <p:cNvSpPr/>
          <p:nvPr/>
        </p:nvSpPr>
        <p:spPr>
          <a:xfrm>
            <a:off x="762000" y="5143500"/>
            <a:ext cx="10668000" cy="571500"/>
          </a:xfrm>
          <a:custGeom>
            <a:avLst/>
            <a:gdLst/>
            <a:ahLst/>
            <a:cxnLst/>
            <a:rect l="l" t="t" r="r" b="b"/>
            <a:pathLst>
              <a:path w="10668000" h="571500">
                <a:moveTo>
                  <a:pt x="152400" y="0"/>
                </a:moveTo>
                <a:lnTo>
                  <a:pt x="10515600" y="0"/>
                </a:lnTo>
                <a:cubicBezTo>
                  <a:pt x="10599768" y="0"/>
                  <a:pt x="10668000" y="68232"/>
                  <a:pt x="10668000" y="152400"/>
                </a:cubicBezTo>
                <a:lnTo>
                  <a:pt x="10668000" y="419100"/>
                </a:lnTo>
                <a:cubicBezTo>
                  <a:pt x="10668000" y="503268"/>
                  <a:pt x="10599768" y="571500"/>
                  <a:pt x="10515600" y="571500"/>
                </a:cubicBezTo>
                <a:lnTo>
                  <a:pt x="152400" y="571500"/>
                </a:lnTo>
                <a:cubicBezTo>
                  <a:pt x="68232" y="571500"/>
                  <a:pt x="0" y="503268"/>
                  <a:pt x="0" y="4191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8E1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1317308" y="5339239"/>
            <a:ext cx="492980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💡 赫伯特 15 岁，比二年级的哥哥姐姐大一些，他可勇敢了！</a:t>
            </a:r>
          </a:p>
        </p:txBody>
      </p:sp>
      <p:sp>
        <p:nvSpPr>
          <p:cNvPr id="57" name="Ellipse 57"/>
          <p:cNvSpPr/>
          <p:nvPr/>
        </p:nvSpPr>
        <p:spPr>
          <a:xfrm>
            <a:off x="10401300" y="781050"/>
            <a:ext cx="152400" cy="152400"/>
          </a:xfrm>
          <a:prstGeom prst="ellipse">
            <a:avLst/>
          </a:prstGeom>
          <a:solidFill>
            <a:srgbClr val="FFBF69">
              <a:alpha val="50000"/>
            </a:srgbClr>
          </a:solidFill>
          <a:ln>
            <a:noFill/>
          </a:ln>
        </p:spPr>
      </p:sp>
      <p:sp>
        <p:nvSpPr>
          <p:cNvPr id="58" name="Freeform 58"/>
          <p:cNvSpPr/>
          <p:nvPr/>
        </p:nvSpPr>
        <p:spPr>
          <a:xfrm>
            <a:off x="11239500" y="6286500"/>
            <a:ext cx="342900" cy="266700"/>
          </a:xfrm>
          <a:custGeom>
            <a:avLst/>
            <a:gdLst/>
            <a:ahLst/>
            <a:cxnLst/>
            <a:rect l="l" t="t" r="r" b="b"/>
            <a:pathLst>
              <a:path w="342900" h="266700">
                <a:moveTo>
                  <a:pt x="57150" y="0"/>
                </a:moveTo>
                <a:lnTo>
                  <a:pt x="285750" y="0"/>
                </a:lnTo>
                <a:cubicBezTo>
                  <a:pt x="317313" y="0"/>
                  <a:pt x="342900" y="25587"/>
                  <a:pt x="342900" y="57150"/>
                </a:cubicBezTo>
                <a:lnTo>
                  <a:pt x="342900" y="209550"/>
                </a:lnTo>
                <a:cubicBezTo>
                  <a:pt x="342900" y="241113"/>
                  <a:pt x="317313" y="266700"/>
                  <a:pt x="285750" y="266700"/>
                </a:cubicBezTo>
                <a:lnTo>
                  <a:pt x="57150" y="266700"/>
                </a:lnTo>
                <a:cubicBezTo>
                  <a:pt x="25587" y="266700"/>
                  <a:pt x="0" y="241113"/>
                  <a:pt x="0" y="2095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2EC4B6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11357450" y="6362224"/>
            <a:ext cx="1070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EC4B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3900" y="438150"/>
            <a:ext cx="5067824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EC4B6"/>
                </a:solidFill>
                <a:latin typeface="Microsoft YaHei"/>
                <a:ea typeface="Microsoft YaHei"/>
                <a:cs typeface="Microsoft YaHei"/>
              </a:rPr>
              <a:t>他们用科学改变了荒岛 🔬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952500"/>
            <a:ext cx="952500" cy="38100"/>
          </a:xfrm>
          <a:prstGeom prst="rect">
            <a:avLst/>
          </a:prstGeom>
          <a:solidFill>
            <a:srgbClr val="FF9F1C"/>
          </a:solidFill>
          <a:ln>
            <a:noFill/>
          </a:ln>
        </p:spPr>
      </p:sp>
      <p:sp>
        <p:nvSpPr>
          <p:cNvPr id="6" name="Line 6"/>
          <p:cNvSpPr/>
          <p:nvPr/>
        </p:nvSpPr>
        <p:spPr>
          <a:xfrm>
            <a:off x="952500" y="2000250"/>
            <a:ext cx="10287000" cy="9525"/>
          </a:xfrm>
          <a:custGeom>
            <a:avLst/>
            <a:gdLst/>
            <a:ahLst/>
            <a:cxnLst/>
            <a:rect l="l" t="t" r="r" b="b"/>
            <a:pathLst>
              <a:path w="10287000" h="9525">
                <a:moveTo>
                  <a:pt x="0" y="0"/>
                </a:moveTo>
                <a:lnTo>
                  <a:pt x="10287000" y="0"/>
                </a:lnTo>
              </a:path>
            </a:pathLst>
          </a:custGeom>
          <a:noFill/>
          <a:ln w="38100" cap="rnd">
            <a:solidFill>
              <a:srgbClr val="FFBF69"/>
            </a:solidFill>
          </a:ln>
        </p:spPr>
      </p:sp>
      <p:sp>
        <p:nvSpPr>
          <p:cNvPr id="7" name="Ellipse 7"/>
          <p:cNvSpPr/>
          <p:nvPr/>
        </p:nvSpPr>
        <p:spPr>
          <a:xfrm>
            <a:off x="1085850" y="1752600"/>
            <a:ext cx="495300" cy="4953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254204" y="1914525"/>
            <a:ext cx="1585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🔥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2476500"/>
            <a:ext cx="1619250" cy="3048000"/>
          </a:xfrm>
          <a:custGeom>
            <a:avLst/>
            <a:gdLst/>
            <a:ahLst/>
            <a:cxnLst/>
            <a:rect l="l" t="t" r="r" b="b"/>
            <a:pathLst>
              <a:path w="1619250" h="3048000">
                <a:moveTo>
                  <a:pt x="152400" y="0"/>
                </a:moveTo>
                <a:lnTo>
                  <a:pt x="1466850" y="0"/>
                </a:lnTo>
                <a:cubicBezTo>
                  <a:pt x="1551018" y="0"/>
                  <a:pt x="1619250" y="68232"/>
                  <a:pt x="1619250" y="152400"/>
                </a:cubicBezTo>
                <a:lnTo>
                  <a:pt x="1619250" y="2895600"/>
                </a:lnTo>
                <a:cubicBezTo>
                  <a:pt x="1619250" y="2979768"/>
                  <a:pt x="1551018" y="3048000"/>
                  <a:pt x="1466850" y="3048000"/>
                </a:cubicBezTo>
                <a:lnTo>
                  <a:pt x="152400" y="3048000"/>
                </a:lnTo>
                <a:cubicBezTo>
                  <a:pt x="68232" y="3048000"/>
                  <a:pt x="0" y="2979768"/>
                  <a:pt x="0" y="2895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0FAF9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07138" y="2679382"/>
            <a:ext cx="54797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EC4B6"/>
                </a:solidFill>
                <a:latin typeface="Microsoft YaHei"/>
                <a:ea typeface="Microsoft YaHei"/>
                <a:cs typeface="Microsoft YaHei"/>
              </a:rPr>
              <a:t>生火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8665" y="312515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用两块玻璃做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8665" y="3315652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凸透镜，聚焦阳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8665" y="350615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光点燃干草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9768" y="3804285"/>
            <a:ext cx="2854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🔍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83945" y="465724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rPr>
              <a:t>没有火柴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12746" y="4847749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rPr>
              <a:t>也能生火！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26260" y="5173028"/>
            <a:ext cx="5097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2EC4B6"/>
                </a:solidFill>
                <a:latin typeface="Microsoft YaHei"/>
                <a:ea typeface="Microsoft YaHei"/>
                <a:cs typeface="Microsoft YaHei"/>
              </a:rPr>
              <a:t>第一步</a:t>
            </a:r>
          </a:p>
        </p:txBody>
      </p:sp>
      <p:sp>
        <p:nvSpPr>
          <p:cNvPr id="18" name="Polygon 18"/>
          <p:cNvSpPr/>
          <p:nvPr/>
        </p:nvSpPr>
        <p:spPr>
          <a:xfrm>
            <a:off x="2381250" y="1952625"/>
            <a:ext cx="285750" cy="95250"/>
          </a:xfrm>
          <a:custGeom>
            <a:avLst/>
            <a:gdLst/>
            <a:ahLst/>
            <a:cxnLst/>
            <a:rect l="l" t="t" r="r" b="b"/>
            <a:pathLst>
              <a:path w="285750" h="95250">
                <a:moveTo>
                  <a:pt x="0" y="0"/>
                </a:moveTo>
                <a:lnTo>
                  <a:pt x="28575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FF9F1C"/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2800350" y="1752600"/>
            <a:ext cx="495300" cy="495300"/>
          </a:xfrm>
          <a:prstGeom prst="ellipse">
            <a:avLst/>
          </a:prstGeom>
          <a:solidFill>
            <a:srgbClr val="FF9F1C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2968704" y="1914525"/>
            <a:ext cx="1585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🏺</a:t>
            </a:r>
          </a:p>
        </p:txBody>
      </p:sp>
      <p:sp>
        <p:nvSpPr>
          <p:cNvPr id="21" name="Freeform 21"/>
          <p:cNvSpPr/>
          <p:nvPr/>
        </p:nvSpPr>
        <p:spPr>
          <a:xfrm>
            <a:off x="2381250" y="2476500"/>
            <a:ext cx="1619250" cy="3048000"/>
          </a:xfrm>
          <a:custGeom>
            <a:avLst/>
            <a:gdLst/>
            <a:ahLst/>
            <a:cxnLst/>
            <a:rect l="l" t="t" r="r" b="b"/>
            <a:pathLst>
              <a:path w="1619250" h="3048000">
                <a:moveTo>
                  <a:pt x="152400" y="0"/>
                </a:moveTo>
                <a:lnTo>
                  <a:pt x="1466850" y="0"/>
                </a:lnTo>
                <a:cubicBezTo>
                  <a:pt x="1551018" y="0"/>
                  <a:pt x="1619250" y="68232"/>
                  <a:pt x="1619250" y="152400"/>
                </a:cubicBezTo>
                <a:lnTo>
                  <a:pt x="1619250" y="2895600"/>
                </a:lnTo>
                <a:cubicBezTo>
                  <a:pt x="1619250" y="2979768"/>
                  <a:pt x="1551018" y="3048000"/>
                  <a:pt x="1466850" y="3048000"/>
                </a:cubicBezTo>
                <a:lnTo>
                  <a:pt x="152400" y="3048000"/>
                </a:lnTo>
                <a:cubicBezTo>
                  <a:pt x="68232" y="3048000"/>
                  <a:pt x="0" y="2979768"/>
                  <a:pt x="0" y="2895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2916888" y="2679382"/>
            <a:ext cx="54797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9F1C"/>
                </a:solidFill>
                <a:latin typeface="Microsoft YaHei"/>
                <a:ea typeface="Microsoft YaHei"/>
                <a:cs typeface="Microsoft YaHei"/>
              </a:rPr>
              <a:t>陶器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558415" y="312515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用黏土做锅碗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558415" y="331565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瓢盆，烧制出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558415" y="3506152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可以煮饭的容器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619518" y="3804285"/>
            <a:ext cx="2854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🥣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893695" y="465724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rPr>
              <a:t>能做饭了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751296" y="484774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rPr>
              <a:t>不再吃生的！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936010" y="5173028"/>
            <a:ext cx="5097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9F1C"/>
                </a:solidFill>
                <a:latin typeface="Microsoft YaHei"/>
                <a:ea typeface="Microsoft YaHei"/>
                <a:cs typeface="Microsoft YaHei"/>
              </a:rPr>
              <a:t>第二步</a:t>
            </a:r>
          </a:p>
        </p:txBody>
      </p:sp>
      <p:sp>
        <p:nvSpPr>
          <p:cNvPr id="30" name="Polygon 30"/>
          <p:cNvSpPr/>
          <p:nvPr/>
        </p:nvSpPr>
        <p:spPr>
          <a:xfrm>
            <a:off x="4191000" y="1952625"/>
            <a:ext cx="285750" cy="95250"/>
          </a:xfrm>
          <a:custGeom>
            <a:avLst/>
            <a:gdLst/>
            <a:ahLst/>
            <a:cxnLst/>
            <a:rect l="l" t="t" r="r" b="b"/>
            <a:pathLst>
              <a:path w="285750" h="95250">
                <a:moveTo>
                  <a:pt x="0" y="0"/>
                </a:moveTo>
                <a:lnTo>
                  <a:pt x="28575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FF9F1C"/>
          </a:solidFill>
          <a:ln>
            <a:noFill/>
          </a:ln>
        </p:spPr>
      </p:sp>
      <p:sp>
        <p:nvSpPr>
          <p:cNvPr id="31" name="Ellipse 31"/>
          <p:cNvSpPr/>
          <p:nvPr/>
        </p:nvSpPr>
        <p:spPr>
          <a:xfrm>
            <a:off x="4610100" y="1752600"/>
            <a:ext cx="495300" cy="495300"/>
          </a:xfrm>
          <a:prstGeom prst="ellipse">
            <a:avLst/>
          </a:prstGeom>
          <a:solidFill>
            <a:srgbClr val="FFBF69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4778454" y="1914525"/>
            <a:ext cx="1585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🧱</a:t>
            </a:r>
          </a:p>
        </p:txBody>
      </p:sp>
      <p:sp>
        <p:nvSpPr>
          <p:cNvPr id="33" name="Freeform 33"/>
          <p:cNvSpPr/>
          <p:nvPr/>
        </p:nvSpPr>
        <p:spPr>
          <a:xfrm>
            <a:off x="4191000" y="2476500"/>
            <a:ext cx="1619250" cy="3048000"/>
          </a:xfrm>
          <a:custGeom>
            <a:avLst/>
            <a:gdLst/>
            <a:ahLst/>
            <a:cxnLst/>
            <a:rect l="l" t="t" r="r" b="b"/>
            <a:pathLst>
              <a:path w="1619250" h="3048000">
                <a:moveTo>
                  <a:pt x="152400" y="0"/>
                </a:moveTo>
                <a:lnTo>
                  <a:pt x="1466850" y="0"/>
                </a:lnTo>
                <a:cubicBezTo>
                  <a:pt x="1551018" y="0"/>
                  <a:pt x="1619250" y="68232"/>
                  <a:pt x="1619250" y="152400"/>
                </a:cubicBezTo>
                <a:lnTo>
                  <a:pt x="1619250" y="2895600"/>
                </a:lnTo>
                <a:cubicBezTo>
                  <a:pt x="1619250" y="2979768"/>
                  <a:pt x="1551018" y="3048000"/>
                  <a:pt x="1466850" y="3048000"/>
                </a:cubicBezTo>
                <a:lnTo>
                  <a:pt x="152400" y="3048000"/>
                </a:lnTo>
                <a:cubicBezTo>
                  <a:pt x="68232" y="3048000"/>
                  <a:pt x="0" y="2979768"/>
                  <a:pt x="0" y="2895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8E1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4726638" y="2679382"/>
            <a:ext cx="54797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BF69"/>
                </a:solidFill>
                <a:latin typeface="Microsoft YaHei"/>
                <a:ea typeface="Microsoft YaHei"/>
                <a:cs typeface="Microsoft YaHei"/>
              </a:rPr>
              <a:t>砖块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368165" y="312515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找到黏土和沙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368165" y="3315652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子，烧制出结实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368165" y="3506152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的砖头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320826" y="3804285"/>
            <a:ext cx="50234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🏗️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703445" y="465724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rPr>
              <a:t>能盖房子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632246" y="4847749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rPr>
              <a:t>不怕风雨了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745760" y="5173028"/>
            <a:ext cx="5097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BF69"/>
                </a:solidFill>
                <a:latin typeface="Microsoft YaHei"/>
                <a:ea typeface="Microsoft YaHei"/>
                <a:cs typeface="Microsoft YaHei"/>
              </a:rPr>
              <a:t>第三步</a:t>
            </a:r>
          </a:p>
        </p:txBody>
      </p:sp>
      <p:sp>
        <p:nvSpPr>
          <p:cNvPr id="42" name="Polygon 42"/>
          <p:cNvSpPr/>
          <p:nvPr/>
        </p:nvSpPr>
        <p:spPr>
          <a:xfrm>
            <a:off x="6000750" y="1952625"/>
            <a:ext cx="285750" cy="95250"/>
          </a:xfrm>
          <a:custGeom>
            <a:avLst/>
            <a:gdLst/>
            <a:ahLst/>
            <a:cxnLst/>
            <a:rect l="l" t="t" r="r" b="b"/>
            <a:pathLst>
              <a:path w="285750" h="95250">
                <a:moveTo>
                  <a:pt x="0" y="0"/>
                </a:moveTo>
                <a:lnTo>
                  <a:pt x="28575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FF9F1C"/>
          </a:solidFill>
          <a:ln>
            <a:noFill/>
          </a:ln>
        </p:spPr>
      </p:sp>
      <p:sp>
        <p:nvSpPr>
          <p:cNvPr id="43" name="Ellipse 43"/>
          <p:cNvSpPr/>
          <p:nvPr/>
        </p:nvSpPr>
        <p:spPr>
          <a:xfrm>
            <a:off x="6419850" y="1752600"/>
            <a:ext cx="495300" cy="4953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527959" y="1914525"/>
            <a:ext cx="27908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⚙️</a:t>
            </a:r>
          </a:p>
        </p:txBody>
      </p:sp>
      <p:sp>
        <p:nvSpPr>
          <p:cNvPr id="45" name="Freeform 45"/>
          <p:cNvSpPr/>
          <p:nvPr/>
        </p:nvSpPr>
        <p:spPr>
          <a:xfrm>
            <a:off x="6000750" y="2476500"/>
            <a:ext cx="1619250" cy="3048000"/>
          </a:xfrm>
          <a:custGeom>
            <a:avLst/>
            <a:gdLst/>
            <a:ahLst/>
            <a:cxnLst/>
            <a:rect l="l" t="t" r="r" b="b"/>
            <a:pathLst>
              <a:path w="1619250" h="3048000">
                <a:moveTo>
                  <a:pt x="152400" y="0"/>
                </a:moveTo>
                <a:lnTo>
                  <a:pt x="1466850" y="0"/>
                </a:lnTo>
                <a:cubicBezTo>
                  <a:pt x="1551018" y="0"/>
                  <a:pt x="1619250" y="68232"/>
                  <a:pt x="1619250" y="152400"/>
                </a:cubicBezTo>
                <a:lnTo>
                  <a:pt x="1619250" y="2895600"/>
                </a:lnTo>
                <a:cubicBezTo>
                  <a:pt x="1619250" y="2979768"/>
                  <a:pt x="1551018" y="3048000"/>
                  <a:pt x="1466850" y="3048000"/>
                </a:cubicBezTo>
                <a:lnTo>
                  <a:pt x="152400" y="3048000"/>
                </a:lnTo>
                <a:cubicBezTo>
                  <a:pt x="68232" y="3048000"/>
                  <a:pt x="0" y="2979768"/>
                  <a:pt x="0" y="2895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0FAF9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6536388" y="2679382"/>
            <a:ext cx="54797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EC4B6"/>
                </a:solidFill>
                <a:latin typeface="Microsoft YaHei"/>
                <a:ea typeface="Microsoft YaHei"/>
                <a:cs typeface="Microsoft YaHei"/>
              </a:rPr>
              <a:t>铁器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177915" y="3125152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找到铁矿石，用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177915" y="3315652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高温炼出了铁工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177915" y="35061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具和武器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239018" y="3804285"/>
            <a:ext cx="2854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🔧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513195" y="465724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rPr>
              <a:t>工具升级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441996" y="4847749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rPr>
              <a:t>效率翻倍！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555510" y="5173028"/>
            <a:ext cx="5097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2EC4B6"/>
                </a:solidFill>
                <a:latin typeface="Microsoft YaHei"/>
                <a:ea typeface="Microsoft YaHei"/>
                <a:cs typeface="Microsoft YaHei"/>
              </a:rPr>
              <a:t>第四步</a:t>
            </a:r>
          </a:p>
        </p:txBody>
      </p:sp>
      <p:sp>
        <p:nvSpPr>
          <p:cNvPr id="54" name="Polygon 54"/>
          <p:cNvSpPr/>
          <p:nvPr/>
        </p:nvSpPr>
        <p:spPr>
          <a:xfrm>
            <a:off x="7810500" y="1952625"/>
            <a:ext cx="285750" cy="95250"/>
          </a:xfrm>
          <a:custGeom>
            <a:avLst/>
            <a:gdLst/>
            <a:ahLst/>
            <a:cxnLst/>
            <a:rect l="l" t="t" r="r" b="b"/>
            <a:pathLst>
              <a:path w="285750" h="95250">
                <a:moveTo>
                  <a:pt x="0" y="0"/>
                </a:moveTo>
                <a:lnTo>
                  <a:pt x="28575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FF9F1C"/>
          </a:solidFill>
          <a:ln>
            <a:noFill/>
          </a:ln>
        </p:spPr>
      </p:sp>
      <p:sp>
        <p:nvSpPr>
          <p:cNvPr id="55" name="Ellipse 55"/>
          <p:cNvSpPr/>
          <p:nvPr/>
        </p:nvSpPr>
        <p:spPr>
          <a:xfrm>
            <a:off x="8229600" y="1752600"/>
            <a:ext cx="495300" cy="495300"/>
          </a:xfrm>
          <a:prstGeom prst="ellipse">
            <a:avLst/>
          </a:prstGeom>
          <a:solidFill>
            <a:srgbClr val="FF9F1C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8397954" y="1914525"/>
            <a:ext cx="1585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📡</a:t>
            </a:r>
          </a:p>
        </p:txBody>
      </p:sp>
      <p:sp>
        <p:nvSpPr>
          <p:cNvPr id="57" name="Freeform 57"/>
          <p:cNvSpPr/>
          <p:nvPr/>
        </p:nvSpPr>
        <p:spPr>
          <a:xfrm>
            <a:off x="7810500" y="2476500"/>
            <a:ext cx="1619250" cy="3048000"/>
          </a:xfrm>
          <a:custGeom>
            <a:avLst/>
            <a:gdLst/>
            <a:ahLst/>
            <a:cxnLst/>
            <a:rect l="l" t="t" r="r" b="b"/>
            <a:pathLst>
              <a:path w="1619250" h="3048000">
                <a:moveTo>
                  <a:pt x="152400" y="0"/>
                </a:moveTo>
                <a:lnTo>
                  <a:pt x="1466850" y="0"/>
                </a:lnTo>
                <a:cubicBezTo>
                  <a:pt x="1551018" y="0"/>
                  <a:pt x="1619250" y="68232"/>
                  <a:pt x="1619250" y="152400"/>
                </a:cubicBezTo>
                <a:lnTo>
                  <a:pt x="1619250" y="2895600"/>
                </a:lnTo>
                <a:cubicBezTo>
                  <a:pt x="1619250" y="2979768"/>
                  <a:pt x="1551018" y="3048000"/>
                  <a:pt x="1466850" y="3048000"/>
                </a:cubicBezTo>
                <a:lnTo>
                  <a:pt x="152400" y="3048000"/>
                </a:lnTo>
                <a:cubicBezTo>
                  <a:pt x="68232" y="3048000"/>
                  <a:pt x="0" y="2979768"/>
                  <a:pt x="0" y="2895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8346138" y="2679382"/>
            <a:ext cx="54797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9F1C"/>
                </a:solidFill>
                <a:latin typeface="Microsoft YaHei"/>
                <a:ea typeface="Microsoft YaHei"/>
                <a:cs typeface="Microsoft YaHei"/>
              </a:rPr>
              <a:t>电报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7987665" y="312515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用电池和电线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987665" y="3315652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建了简易电报机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987665" y="3506152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可以远距离通讯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8048768" y="3804285"/>
            <a:ext cx="2854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⚡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8322945" y="465724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rPr>
              <a:t>在荒岛上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8180546" y="484774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rPr>
              <a:t>有了高科技！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365260" y="5173028"/>
            <a:ext cx="5097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9F1C"/>
                </a:solidFill>
                <a:latin typeface="Microsoft YaHei"/>
                <a:ea typeface="Microsoft YaHei"/>
                <a:cs typeface="Microsoft YaHei"/>
              </a:rPr>
              <a:t>第五步</a:t>
            </a:r>
          </a:p>
        </p:txBody>
      </p:sp>
      <p:sp>
        <p:nvSpPr>
          <p:cNvPr id="66" name="Polygon 66"/>
          <p:cNvSpPr/>
          <p:nvPr/>
        </p:nvSpPr>
        <p:spPr>
          <a:xfrm>
            <a:off x="9620250" y="1952625"/>
            <a:ext cx="285750" cy="95250"/>
          </a:xfrm>
          <a:custGeom>
            <a:avLst/>
            <a:gdLst/>
            <a:ahLst/>
            <a:cxnLst/>
            <a:rect l="l" t="t" r="r" b="b"/>
            <a:pathLst>
              <a:path w="285750" h="95250">
                <a:moveTo>
                  <a:pt x="0" y="0"/>
                </a:moveTo>
                <a:lnTo>
                  <a:pt x="28575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FF9F1C"/>
          </a:solidFill>
          <a:ln>
            <a:noFill/>
          </a:ln>
        </p:spPr>
      </p:sp>
      <p:sp>
        <p:nvSpPr>
          <p:cNvPr id="67" name="Ellipse 67"/>
          <p:cNvSpPr/>
          <p:nvPr/>
        </p:nvSpPr>
        <p:spPr>
          <a:xfrm>
            <a:off x="10039350" y="1752600"/>
            <a:ext cx="495300" cy="4953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10207704" y="1914525"/>
            <a:ext cx="1585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🚢</a:t>
            </a:r>
          </a:p>
        </p:txBody>
      </p:sp>
      <p:sp>
        <p:nvSpPr>
          <p:cNvPr id="69" name="Freeform 69"/>
          <p:cNvSpPr/>
          <p:nvPr/>
        </p:nvSpPr>
        <p:spPr>
          <a:xfrm>
            <a:off x="9620250" y="2476500"/>
            <a:ext cx="1905000" cy="3048000"/>
          </a:xfrm>
          <a:custGeom>
            <a:avLst/>
            <a:gdLst/>
            <a:ahLst/>
            <a:cxnLst/>
            <a:rect l="l" t="t" r="r" b="b"/>
            <a:pathLst>
              <a:path w="1905000" h="3048000">
                <a:moveTo>
                  <a:pt x="152400" y="0"/>
                </a:moveTo>
                <a:lnTo>
                  <a:pt x="1752600" y="0"/>
                </a:lnTo>
                <a:cubicBezTo>
                  <a:pt x="1836768" y="0"/>
                  <a:pt x="1905000" y="68232"/>
                  <a:pt x="1905000" y="152400"/>
                </a:cubicBezTo>
                <a:lnTo>
                  <a:pt x="1905000" y="2895600"/>
                </a:lnTo>
                <a:cubicBezTo>
                  <a:pt x="1905000" y="2979768"/>
                  <a:pt x="1836768" y="3048000"/>
                  <a:pt x="1752600" y="3048000"/>
                </a:cubicBezTo>
                <a:lnTo>
                  <a:pt x="152400" y="3048000"/>
                </a:lnTo>
                <a:cubicBezTo>
                  <a:pt x="68232" y="3048000"/>
                  <a:pt x="0" y="2979768"/>
                  <a:pt x="0" y="2895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0FAF9"/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10298763" y="2679382"/>
            <a:ext cx="54797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EC4B6"/>
                </a:solidFill>
                <a:latin typeface="Microsoft YaHei"/>
                <a:ea typeface="Microsoft YaHei"/>
                <a:cs typeface="Microsoft YaHei"/>
              </a:rPr>
              <a:t>造船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9797415" y="3125152"/>
            <a:ext cx="8777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造了"乘风破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9797415" y="3315652"/>
            <a:ext cx="10311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浪号"，绕岛航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9797415" y="350615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行，探索大海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9858518" y="3804285"/>
            <a:ext cx="2854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⛵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0275570" y="465724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rPr>
              <a:t>能出海了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0204371" y="4847749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rPr>
              <a:t>太厉害了！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0317885" y="5173028"/>
            <a:ext cx="5097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2EC4B6"/>
                </a:solidFill>
                <a:latin typeface="Microsoft YaHei"/>
                <a:ea typeface="Microsoft YaHei"/>
                <a:cs typeface="Microsoft YaHei"/>
              </a:rPr>
              <a:t>第六步</a:t>
            </a:r>
          </a:p>
        </p:txBody>
      </p:sp>
      <p:sp>
        <p:nvSpPr>
          <p:cNvPr id="78" name="Ellipse 78"/>
          <p:cNvSpPr/>
          <p:nvPr/>
        </p:nvSpPr>
        <p:spPr>
          <a:xfrm>
            <a:off x="10401300" y="781050"/>
            <a:ext cx="152400" cy="152400"/>
          </a:xfrm>
          <a:prstGeom prst="ellipse">
            <a:avLst/>
          </a:prstGeom>
          <a:solidFill>
            <a:srgbClr val="2EC4B6">
              <a:alpha val="30000"/>
            </a:srgbClr>
          </a:solidFill>
          <a:ln>
            <a:noFill/>
          </a:ln>
        </p:spPr>
      </p:sp>
      <p:sp>
        <p:nvSpPr>
          <p:cNvPr id="79" name="Ellipse 79"/>
          <p:cNvSpPr/>
          <p:nvPr/>
        </p:nvSpPr>
        <p:spPr>
          <a:xfrm>
            <a:off x="10906125" y="1190625"/>
            <a:ext cx="95250" cy="95250"/>
          </a:xfrm>
          <a:prstGeom prst="ellipse">
            <a:avLst/>
          </a:prstGeom>
          <a:solidFill>
            <a:srgbClr val="FFBF69">
              <a:alpha val="50000"/>
            </a:srgbClr>
          </a:solidFill>
          <a:ln>
            <a:noFill/>
          </a:ln>
        </p:spPr>
      </p:sp>
      <p:sp>
        <p:nvSpPr>
          <p:cNvPr id="80" name="Freeform 80"/>
          <p:cNvSpPr/>
          <p:nvPr/>
        </p:nvSpPr>
        <p:spPr>
          <a:xfrm>
            <a:off x="11239500" y="6286500"/>
            <a:ext cx="342900" cy="266700"/>
          </a:xfrm>
          <a:custGeom>
            <a:avLst/>
            <a:gdLst/>
            <a:ahLst/>
            <a:cxnLst/>
            <a:rect l="l" t="t" r="r" b="b"/>
            <a:pathLst>
              <a:path w="342900" h="266700">
                <a:moveTo>
                  <a:pt x="57150" y="0"/>
                </a:moveTo>
                <a:lnTo>
                  <a:pt x="285750" y="0"/>
                </a:lnTo>
                <a:cubicBezTo>
                  <a:pt x="317313" y="0"/>
                  <a:pt x="342900" y="25587"/>
                  <a:pt x="342900" y="57150"/>
                </a:cubicBezTo>
                <a:lnTo>
                  <a:pt x="342900" y="209550"/>
                </a:lnTo>
                <a:cubicBezTo>
                  <a:pt x="342900" y="241113"/>
                  <a:pt x="317313" y="266700"/>
                  <a:pt x="285750" y="266700"/>
                </a:cubicBezTo>
                <a:lnTo>
                  <a:pt x="57150" y="266700"/>
                </a:lnTo>
                <a:cubicBezTo>
                  <a:pt x="25587" y="266700"/>
                  <a:pt x="0" y="241113"/>
                  <a:pt x="0" y="2095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2EC4B6"/>
          </a:solidFill>
          <a:ln>
            <a:noFill/>
          </a:ln>
        </p:spPr>
      </p:sp>
      <p:sp>
        <p:nvSpPr>
          <p:cNvPr id="81" name="TextBox 81"/>
          <p:cNvSpPr txBox="1"/>
          <p:nvPr/>
        </p:nvSpPr>
        <p:spPr>
          <a:xfrm>
            <a:off x="11357450" y="6362224"/>
            <a:ext cx="1070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EC4B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3900" y="438150"/>
            <a:ext cx="3089577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EC4B6"/>
                </a:solidFill>
                <a:latin typeface="Microsoft YaHei"/>
                <a:ea typeface="Microsoft YaHei"/>
                <a:cs typeface="Microsoft YaHei"/>
              </a:rPr>
              <a:t>他们住在哪？🏠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952500"/>
            <a:ext cx="952500" cy="38100"/>
          </a:xfrm>
          <a:prstGeom prst="rect">
            <a:avLst/>
          </a:prstGeom>
          <a:solidFill>
            <a:srgbClr val="FF9F1C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762000" y="1428750"/>
            <a:ext cx="5048250" cy="2476500"/>
          </a:xfrm>
          <a:custGeom>
            <a:avLst/>
            <a:gdLst/>
            <a:ahLst/>
            <a:cxnLst/>
            <a:rect l="l" t="t" r="r" b="b"/>
            <a:pathLst>
              <a:path w="5048250" h="2476500">
                <a:moveTo>
                  <a:pt x="152400" y="0"/>
                </a:moveTo>
                <a:lnTo>
                  <a:pt x="4895850" y="0"/>
                </a:lnTo>
                <a:cubicBezTo>
                  <a:pt x="4980018" y="0"/>
                  <a:pt x="5048250" y="68232"/>
                  <a:pt x="5048250" y="152400"/>
                </a:cubicBezTo>
                <a:lnTo>
                  <a:pt x="5048250" y="2324100"/>
                </a:lnTo>
                <a:cubicBezTo>
                  <a:pt x="5048250" y="2408268"/>
                  <a:pt x="4980018" y="2476500"/>
                  <a:pt x="4895850" y="2476500"/>
                </a:cubicBezTo>
                <a:lnTo>
                  <a:pt x="152400" y="2476500"/>
                </a:lnTo>
                <a:cubicBezTo>
                  <a:pt x="68232" y="2476500"/>
                  <a:pt x="0" y="2408268"/>
                  <a:pt x="0" y="23241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0FAF9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762000" y="1428750"/>
            <a:ext cx="57150" cy="2476500"/>
          </a:xfrm>
          <a:custGeom>
            <a:avLst/>
            <a:gdLst/>
            <a:ahLst/>
            <a:cxnLst/>
            <a:rect l="l" t="t" r="r" b="b"/>
            <a:pathLst>
              <a:path w="57150" h="24765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2447925"/>
                </a:lnTo>
                <a:cubicBezTo>
                  <a:pt x="57150" y="2463707"/>
                  <a:pt x="44357" y="2476500"/>
                  <a:pt x="28575" y="2476500"/>
                </a:cubicBezTo>
                <a:lnTo>
                  <a:pt x="28575" y="2476500"/>
                </a:lnTo>
                <a:cubicBezTo>
                  <a:pt x="12793" y="2476500"/>
                  <a:pt x="0" y="2463707"/>
                  <a:pt x="0" y="2447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2EC4B6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125855" y="1711642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EC4B6"/>
                </a:solidFill>
                <a:latin typeface="Microsoft YaHei"/>
                <a:ea typeface="Microsoft YaHei"/>
                <a:cs typeface="Microsoft YaHei"/>
              </a:rPr>
              <a:t>一开始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921318" y="2114550"/>
            <a:ext cx="634365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⛺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7760" y="2537460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用树枝和帆布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7760" y="2775585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搭了临时帐篷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27760" y="3013710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只能遮风挡雨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931384" y="2533650"/>
            <a:ext cx="32923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FF9F1C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14" name="Freeform 14"/>
          <p:cNvSpPr/>
          <p:nvPr/>
        </p:nvSpPr>
        <p:spPr>
          <a:xfrm>
            <a:off x="6477000" y="1428750"/>
            <a:ext cx="4953000" cy="2476500"/>
          </a:xfrm>
          <a:custGeom>
            <a:avLst/>
            <a:gdLst/>
            <a:ahLst/>
            <a:cxnLst/>
            <a:rect l="l" t="t" r="r" b="b"/>
            <a:pathLst>
              <a:path w="4953000" h="2476500">
                <a:moveTo>
                  <a:pt x="152400" y="0"/>
                </a:moveTo>
                <a:lnTo>
                  <a:pt x="4800600" y="0"/>
                </a:lnTo>
                <a:cubicBezTo>
                  <a:pt x="4884768" y="0"/>
                  <a:pt x="4953000" y="68232"/>
                  <a:pt x="4953000" y="152400"/>
                </a:cubicBezTo>
                <a:lnTo>
                  <a:pt x="4953000" y="2324100"/>
                </a:lnTo>
                <a:cubicBezTo>
                  <a:pt x="4953000" y="2408268"/>
                  <a:pt x="4884768" y="2476500"/>
                  <a:pt x="4800600" y="2476500"/>
                </a:cubicBezTo>
                <a:lnTo>
                  <a:pt x="152400" y="2476500"/>
                </a:lnTo>
                <a:cubicBezTo>
                  <a:pt x="68232" y="2476500"/>
                  <a:pt x="0" y="2408268"/>
                  <a:pt x="0" y="23241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15" name="Freeform 15"/>
          <p:cNvSpPr/>
          <p:nvPr/>
        </p:nvSpPr>
        <p:spPr>
          <a:xfrm>
            <a:off x="6477000" y="1428750"/>
            <a:ext cx="57150" cy="2476500"/>
          </a:xfrm>
          <a:custGeom>
            <a:avLst/>
            <a:gdLst/>
            <a:ahLst/>
            <a:cxnLst/>
            <a:rect l="l" t="t" r="r" b="b"/>
            <a:pathLst>
              <a:path w="57150" h="24765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2447925"/>
                </a:lnTo>
                <a:cubicBezTo>
                  <a:pt x="57150" y="2463707"/>
                  <a:pt x="44357" y="2476500"/>
                  <a:pt x="28575" y="2476500"/>
                </a:cubicBezTo>
                <a:lnTo>
                  <a:pt x="28575" y="2476500"/>
                </a:lnTo>
                <a:cubicBezTo>
                  <a:pt x="12793" y="2476500"/>
                  <a:pt x="0" y="2463707"/>
                  <a:pt x="0" y="2447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9F1C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840855" y="1711642"/>
            <a:ext cx="4483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9F1C"/>
                </a:solidFill>
                <a:latin typeface="Microsoft YaHei"/>
                <a:ea typeface="Microsoft YaHei"/>
                <a:cs typeface="Microsoft YaHei"/>
              </a:rPr>
              <a:t>后来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395335" y="2114550"/>
            <a:ext cx="1116330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🏛️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842760" y="2537460"/>
            <a:ext cx="16078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发现悬崖上的大洞穴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842760" y="2775585"/>
            <a:ext cx="16253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改造成了"花岗岩宫"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842760" y="3013710"/>
            <a:ext cx="17830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有客厅、卧室、仓库！</a:t>
            </a:r>
          </a:p>
        </p:txBody>
      </p:sp>
      <p:sp>
        <p:nvSpPr>
          <p:cNvPr id="21" name="Freeform 21"/>
          <p:cNvSpPr/>
          <p:nvPr/>
        </p:nvSpPr>
        <p:spPr>
          <a:xfrm>
            <a:off x="762000" y="4191000"/>
            <a:ext cx="5048250" cy="1143000"/>
          </a:xfrm>
          <a:custGeom>
            <a:avLst/>
            <a:gdLst/>
            <a:ahLst/>
            <a:cxnLst/>
            <a:rect l="l" t="t" r="r" b="b"/>
            <a:pathLst>
              <a:path w="5048250" h="1143000">
                <a:moveTo>
                  <a:pt x="152400" y="0"/>
                </a:moveTo>
                <a:lnTo>
                  <a:pt x="4895850" y="0"/>
                </a:lnTo>
                <a:cubicBezTo>
                  <a:pt x="4980018" y="0"/>
                  <a:pt x="5048250" y="68232"/>
                  <a:pt x="5048250" y="152400"/>
                </a:cubicBezTo>
                <a:lnTo>
                  <a:pt x="5048250" y="990600"/>
                </a:lnTo>
                <a:cubicBezTo>
                  <a:pt x="5048250" y="1074768"/>
                  <a:pt x="4980018" y="1143000"/>
                  <a:pt x="4895850" y="1143000"/>
                </a:cubicBezTo>
                <a:lnTo>
                  <a:pt x="152400" y="1143000"/>
                </a:lnTo>
                <a:cubicBezTo>
                  <a:pt x="68232" y="1143000"/>
                  <a:pt x="0" y="1074768"/>
                  <a:pt x="0" y="990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8E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123950" y="4410075"/>
            <a:ext cx="115373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🦧 朱普的家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27760" y="4728210"/>
            <a:ext cx="232638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他们驯养了一只猩猩叫"朱普"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27760" y="4966335"/>
            <a:ext cx="26593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朱普会帮忙干活，端盘子、擦桌子</a:t>
            </a:r>
          </a:p>
        </p:txBody>
      </p:sp>
      <p:sp>
        <p:nvSpPr>
          <p:cNvPr id="25" name="Freeform 25"/>
          <p:cNvSpPr/>
          <p:nvPr/>
        </p:nvSpPr>
        <p:spPr>
          <a:xfrm>
            <a:off x="6000750" y="4191000"/>
            <a:ext cx="5429250" cy="1143000"/>
          </a:xfrm>
          <a:custGeom>
            <a:avLst/>
            <a:gdLst/>
            <a:ahLst/>
            <a:cxnLst/>
            <a:rect l="l" t="t" r="r" b="b"/>
            <a:pathLst>
              <a:path w="5429250" h="1143000">
                <a:moveTo>
                  <a:pt x="152400" y="0"/>
                </a:moveTo>
                <a:lnTo>
                  <a:pt x="5276850" y="0"/>
                </a:lnTo>
                <a:cubicBezTo>
                  <a:pt x="5361018" y="0"/>
                  <a:pt x="5429250" y="68232"/>
                  <a:pt x="5429250" y="152400"/>
                </a:cubicBezTo>
                <a:lnTo>
                  <a:pt x="5429250" y="990600"/>
                </a:lnTo>
                <a:cubicBezTo>
                  <a:pt x="5429250" y="1074768"/>
                  <a:pt x="5361018" y="1143000"/>
                  <a:pt x="5276850" y="1143000"/>
                </a:cubicBezTo>
                <a:lnTo>
                  <a:pt x="152400" y="1143000"/>
                </a:lnTo>
                <a:cubicBezTo>
                  <a:pt x="68232" y="1143000"/>
                  <a:pt x="0" y="1074768"/>
                  <a:pt x="0" y="990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0FAF9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6362700" y="4410075"/>
            <a:ext cx="230388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🪟 花岗岩宫长什么样？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366510" y="4728210"/>
            <a:ext cx="26593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建在悬崖峭壁上，外面看不到里面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366510" y="4966335"/>
            <a:ext cx="19583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有绳梯进出，非常安全！</a:t>
            </a:r>
          </a:p>
        </p:txBody>
      </p:sp>
      <p:sp>
        <p:nvSpPr>
          <p:cNvPr id="29" name="Freeform 29"/>
          <p:cNvSpPr/>
          <p:nvPr/>
        </p:nvSpPr>
        <p:spPr>
          <a:xfrm>
            <a:off x="762000" y="5619750"/>
            <a:ext cx="10668000" cy="476250"/>
          </a:xfrm>
          <a:custGeom>
            <a:avLst/>
            <a:gdLst/>
            <a:ahLst/>
            <a:cxnLst/>
            <a:rect l="l" t="t" r="r" b="b"/>
            <a:pathLst>
              <a:path w="10668000" h="476250">
                <a:moveTo>
                  <a:pt x="152400" y="0"/>
                </a:moveTo>
                <a:lnTo>
                  <a:pt x="10515600" y="0"/>
                </a:lnTo>
                <a:cubicBezTo>
                  <a:pt x="10599768" y="0"/>
                  <a:pt x="10668000" y="68232"/>
                  <a:pt x="10668000" y="152400"/>
                </a:cubicBezTo>
                <a:lnTo>
                  <a:pt x="10668000" y="323850"/>
                </a:lnTo>
                <a:cubicBezTo>
                  <a:pt x="10668000" y="408018"/>
                  <a:pt x="10599768" y="476250"/>
                  <a:pt x="10515600" y="476250"/>
                </a:cubicBezTo>
                <a:lnTo>
                  <a:pt x="152400" y="476250"/>
                </a:lnTo>
                <a:cubicBezTo>
                  <a:pt x="68232" y="476250"/>
                  <a:pt x="0" y="408018"/>
                  <a:pt x="0" y="3238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EC4B6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3767731" y="5767864"/>
            <a:ext cx="465653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2EC4B6"/>
                </a:solidFill>
                <a:latin typeface="Microsoft YaHei"/>
                <a:ea typeface="Microsoft YaHei"/>
                <a:cs typeface="Microsoft YaHei"/>
              </a:rPr>
              <a:t>💡 花岗岩宫 = Granite House，是他们在岛上的大本营</a:t>
            </a:r>
          </a:p>
        </p:txBody>
      </p:sp>
      <p:sp>
        <p:nvSpPr>
          <p:cNvPr id="31" name="Ellipse 31"/>
          <p:cNvSpPr/>
          <p:nvPr/>
        </p:nvSpPr>
        <p:spPr>
          <a:xfrm>
            <a:off x="10401300" y="781050"/>
            <a:ext cx="152400" cy="152400"/>
          </a:xfrm>
          <a:prstGeom prst="ellipse">
            <a:avLst/>
          </a:prstGeom>
          <a:solidFill>
            <a:srgbClr val="2EC4B6">
              <a:alpha val="30000"/>
            </a:srgbClr>
          </a:solidFill>
          <a:ln>
            <a:noFill/>
          </a:ln>
        </p:spPr>
      </p:sp>
      <p:sp>
        <p:nvSpPr>
          <p:cNvPr id="32" name="Freeform 32"/>
          <p:cNvSpPr/>
          <p:nvPr/>
        </p:nvSpPr>
        <p:spPr>
          <a:xfrm>
            <a:off x="11239500" y="6286500"/>
            <a:ext cx="342900" cy="266700"/>
          </a:xfrm>
          <a:custGeom>
            <a:avLst/>
            <a:gdLst/>
            <a:ahLst/>
            <a:cxnLst/>
            <a:rect l="l" t="t" r="r" b="b"/>
            <a:pathLst>
              <a:path w="342900" h="266700">
                <a:moveTo>
                  <a:pt x="57150" y="0"/>
                </a:moveTo>
                <a:lnTo>
                  <a:pt x="285750" y="0"/>
                </a:lnTo>
                <a:cubicBezTo>
                  <a:pt x="317313" y="0"/>
                  <a:pt x="342900" y="25587"/>
                  <a:pt x="342900" y="57150"/>
                </a:cubicBezTo>
                <a:lnTo>
                  <a:pt x="342900" y="209550"/>
                </a:lnTo>
                <a:cubicBezTo>
                  <a:pt x="342900" y="241113"/>
                  <a:pt x="317313" y="266700"/>
                  <a:pt x="285750" y="266700"/>
                </a:cubicBezTo>
                <a:lnTo>
                  <a:pt x="57150" y="266700"/>
                </a:lnTo>
                <a:cubicBezTo>
                  <a:pt x="25587" y="266700"/>
                  <a:pt x="0" y="241113"/>
                  <a:pt x="0" y="2095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2EC4B6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1357450" y="6362224"/>
            <a:ext cx="1070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6</a:t>
            </a:r>
          </a:p>
        </p:txBody>
      </p: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EC4B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3900" y="438150"/>
            <a:ext cx="3687651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EC4B6"/>
                </a:solidFill>
                <a:latin typeface="Microsoft YaHei"/>
                <a:ea typeface="Microsoft YaHei"/>
                <a:cs typeface="Microsoft YaHei"/>
              </a:rPr>
              <a:t>岛上的神秘事件 🔍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952500"/>
            <a:ext cx="952500" cy="38100"/>
          </a:xfrm>
          <a:prstGeom prst="rect">
            <a:avLst/>
          </a:prstGeom>
          <a:solidFill>
            <a:srgbClr val="FF9F1C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762000" y="1238250"/>
            <a:ext cx="10668000" cy="666750"/>
          </a:xfrm>
          <a:custGeom>
            <a:avLst/>
            <a:gdLst/>
            <a:ahLst/>
            <a:cxnLst/>
            <a:rect l="l" t="t" r="r" b="b"/>
            <a:pathLst>
              <a:path w="10668000" h="666750">
                <a:moveTo>
                  <a:pt x="152400" y="0"/>
                </a:moveTo>
                <a:lnTo>
                  <a:pt x="10515600" y="0"/>
                </a:lnTo>
                <a:cubicBezTo>
                  <a:pt x="10599768" y="0"/>
                  <a:pt x="10668000" y="68232"/>
                  <a:pt x="10668000" y="152400"/>
                </a:cubicBezTo>
                <a:lnTo>
                  <a:pt x="10668000" y="514350"/>
                </a:lnTo>
                <a:cubicBezTo>
                  <a:pt x="10668000" y="598518"/>
                  <a:pt x="10599768" y="666750"/>
                  <a:pt x="10515600" y="666750"/>
                </a:cubicBezTo>
                <a:lnTo>
                  <a:pt x="152400" y="666750"/>
                </a:lnTo>
                <a:cubicBezTo>
                  <a:pt x="68232" y="666750"/>
                  <a:pt x="0" y="598518"/>
                  <a:pt x="0" y="5143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125855" y="1425892"/>
            <a:ext cx="559441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岛上发生了很多奇怪的事，总有一个"神秘人"在暗中帮助他们……</a:t>
            </a:r>
          </a:p>
        </p:txBody>
      </p:sp>
      <p:sp>
        <p:nvSpPr>
          <p:cNvPr id="8" name="Freeform 8"/>
          <p:cNvSpPr/>
          <p:nvPr/>
        </p:nvSpPr>
        <p:spPr>
          <a:xfrm>
            <a:off x="762000" y="2190750"/>
            <a:ext cx="3333750" cy="1905000"/>
          </a:xfrm>
          <a:custGeom>
            <a:avLst/>
            <a:gdLst/>
            <a:ahLst/>
            <a:cxnLst/>
            <a:rect l="l" t="t" r="r" b="b"/>
            <a:pathLst>
              <a:path w="3333750" h="1905000">
                <a:moveTo>
                  <a:pt x="152400" y="0"/>
                </a:moveTo>
                <a:lnTo>
                  <a:pt x="3181350" y="0"/>
                </a:lnTo>
                <a:cubicBezTo>
                  <a:pt x="3265518" y="0"/>
                  <a:pt x="3333750" y="68232"/>
                  <a:pt x="3333750" y="152400"/>
                </a:cubicBezTo>
                <a:lnTo>
                  <a:pt x="3333750" y="1752600"/>
                </a:lnTo>
                <a:cubicBezTo>
                  <a:pt x="3333750" y="1836768"/>
                  <a:pt x="3265518" y="1905000"/>
                  <a:pt x="3181350" y="1905000"/>
                </a:cubicBezTo>
                <a:lnTo>
                  <a:pt x="152400" y="1905000"/>
                </a:lnTo>
                <a:cubicBezTo>
                  <a:pt x="68232" y="1905000"/>
                  <a:pt x="0" y="1836768"/>
                  <a:pt x="0" y="1752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0FAF9"/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762000" y="2190750"/>
            <a:ext cx="57150" cy="1905000"/>
          </a:xfrm>
          <a:custGeom>
            <a:avLst/>
            <a:gdLst/>
            <a:ahLst/>
            <a:cxnLst/>
            <a:rect l="l" t="t" r="r" b="b"/>
            <a:pathLst>
              <a:path w="57150" h="19050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876425"/>
                </a:lnTo>
                <a:cubicBezTo>
                  <a:pt x="57150" y="1892207"/>
                  <a:pt x="44357" y="1905000"/>
                  <a:pt x="28575" y="1905000"/>
                </a:cubicBezTo>
                <a:lnTo>
                  <a:pt x="28575" y="1905000"/>
                </a:lnTo>
                <a:cubicBezTo>
                  <a:pt x="12793" y="1905000"/>
                  <a:pt x="0" y="1892207"/>
                  <a:pt x="0" y="18764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2EC4B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14400" y="2295525"/>
            <a:ext cx="31718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🔫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6808" y="2910364"/>
            <a:ext cx="159658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2EC4B6"/>
                </a:solidFill>
                <a:latin typeface="Microsoft YaHei"/>
                <a:ea typeface="Microsoft YaHei"/>
                <a:cs typeface="Microsoft YaHei"/>
              </a:rPr>
              <a:t>事件一：托普获救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8212" y="3259931"/>
            <a:ext cx="185237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狗"托普"掉进海里，被一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8212" y="3479006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个看不见的力量拉回了岸边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0118" y="3752374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rPr>
              <a:t>谁救了它？</a:t>
            </a:r>
          </a:p>
        </p:txBody>
      </p:sp>
      <p:sp>
        <p:nvSpPr>
          <p:cNvPr id="15" name="Freeform 15"/>
          <p:cNvSpPr/>
          <p:nvPr/>
        </p:nvSpPr>
        <p:spPr>
          <a:xfrm>
            <a:off x="4381500" y="2190750"/>
            <a:ext cx="3333750" cy="1905000"/>
          </a:xfrm>
          <a:custGeom>
            <a:avLst/>
            <a:gdLst/>
            <a:ahLst/>
            <a:cxnLst/>
            <a:rect l="l" t="t" r="r" b="b"/>
            <a:pathLst>
              <a:path w="3333750" h="1905000">
                <a:moveTo>
                  <a:pt x="152400" y="0"/>
                </a:moveTo>
                <a:lnTo>
                  <a:pt x="3181350" y="0"/>
                </a:lnTo>
                <a:cubicBezTo>
                  <a:pt x="3265518" y="0"/>
                  <a:pt x="3333750" y="68232"/>
                  <a:pt x="3333750" y="152400"/>
                </a:cubicBezTo>
                <a:lnTo>
                  <a:pt x="3333750" y="1752600"/>
                </a:lnTo>
                <a:cubicBezTo>
                  <a:pt x="3333750" y="1836768"/>
                  <a:pt x="3265518" y="1905000"/>
                  <a:pt x="3181350" y="1905000"/>
                </a:cubicBezTo>
                <a:lnTo>
                  <a:pt x="152400" y="1905000"/>
                </a:lnTo>
                <a:cubicBezTo>
                  <a:pt x="68232" y="1905000"/>
                  <a:pt x="0" y="1836768"/>
                  <a:pt x="0" y="1752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16" name="Freeform 16"/>
          <p:cNvSpPr/>
          <p:nvPr/>
        </p:nvSpPr>
        <p:spPr>
          <a:xfrm>
            <a:off x="4381500" y="2190750"/>
            <a:ext cx="57150" cy="1905000"/>
          </a:xfrm>
          <a:custGeom>
            <a:avLst/>
            <a:gdLst/>
            <a:ahLst/>
            <a:cxnLst/>
            <a:rect l="l" t="t" r="r" b="b"/>
            <a:pathLst>
              <a:path w="57150" h="19050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876425"/>
                </a:lnTo>
                <a:cubicBezTo>
                  <a:pt x="57150" y="1892207"/>
                  <a:pt x="44357" y="1905000"/>
                  <a:pt x="28575" y="1905000"/>
                </a:cubicBezTo>
                <a:lnTo>
                  <a:pt x="28575" y="1905000"/>
                </a:lnTo>
                <a:cubicBezTo>
                  <a:pt x="12793" y="1905000"/>
                  <a:pt x="0" y="1892207"/>
                  <a:pt x="0" y="18764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9F1C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533900" y="2295525"/>
            <a:ext cx="31718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📦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746308" y="2910364"/>
            <a:ext cx="159658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FF9F1C"/>
                </a:solidFill>
                <a:latin typeface="Microsoft YaHei"/>
                <a:ea typeface="Microsoft YaHei"/>
                <a:cs typeface="Microsoft YaHei"/>
              </a:rPr>
              <a:t>事件二：神秘箱子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57712" y="3259931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海滩上出现了一个装满工具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57712" y="3479006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和药品的箱子，正好是他们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57712" y="3698081"/>
            <a:ext cx="11787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最需要的东西！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750118" y="3752374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rPr>
              <a:t>谁送的？</a:t>
            </a:r>
          </a:p>
        </p:txBody>
      </p:sp>
      <p:sp>
        <p:nvSpPr>
          <p:cNvPr id="23" name="Freeform 23"/>
          <p:cNvSpPr/>
          <p:nvPr/>
        </p:nvSpPr>
        <p:spPr>
          <a:xfrm>
            <a:off x="8001000" y="2190750"/>
            <a:ext cx="3429000" cy="1905000"/>
          </a:xfrm>
          <a:custGeom>
            <a:avLst/>
            <a:gdLst/>
            <a:ahLst/>
            <a:cxnLst/>
            <a:rect l="l" t="t" r="r" b="b"/>
            <a:pathLst>
              <a:path w="3429000" h="1905000">
                <a:moveTo>
                  <a:pt x="152400" y="0"/>
                </a:moveTo>
                <a:lnTo>
                  <a:pt x="3276600" y="0"/>
                </a:lnTo>
                <a:cubicBezTo>
                  <a:pt x="3360768" y="0"/>
                  <a:pt x="3429000" y="68232"/>
                  <a:pt x="3429000" y="152400"/>
                </a:cubicBezTo>
                <a:lnTo>
                  <a:pt x="3429000" y="1752600"/>
                </a:lnTo>
                <a:cubicBezTo>
                  <a:pt x="3429000" y="1836768"/>
                  <a:pt x="3360768" y="1905000"/>
                  <a:pt x="3276600" y="1905000"/>
                </a:cubicBezTo>
                <a:lnTo>
                  <a:pt x="152400" y="1905000"/>
                </a:lnTo>
                <a:cubicBezTo>
                  <a:pt x="68232" y="1905000"/>
                  <a:pt x="0" y="1836768"/>
                  <a:pt x="0" y="1752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8E1"/>
          </a:solidFill>
          <a:ln>
            <a:noFill/>
          </a:ln>
        </p:spPr>
      </p:sp>
      <p:sp>
        <p:nvSpPr>
          <p:cNvPr id="24" name="Freeform 24"/>
          <p:cNvSpPr/>
          <p:nvPr/>
        </p:nvSpPr>
        <p:spPr>
          <a:xfrm>
            <a:off x="8001000" y="2190750"/>
            <a:ext cx="57150" cy="1905000"/>
          </a:xfrm>
          <a:custGeom>
            <a:avLst/>
            <a:gdLst/>
            <a:ahLst/>
            <a:cxnLst/>
            <a:rect l="l" t="t" r="r" b="b"/>
            <a:pathLst>
              <a:path w="57150" h="19050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876425"/>
                </a:lnTo>
                <a:cubicBezTo>
                  <a:pt x="57150" y="1892207"/>
                  <a:pt x="44357" y="1905000"/>
                  <a:pt x="28575" y="1905000"/>
                </a:cubicBezTo>
                <a:lnTo>
                  <a:pt x="28575" y="1905000"/>
                </a:lnTo>
                <a:cubicBezTo>
                  <a:pt x="12793" y="1905000"/>
                  <a:pt x="0" y="1892207"/>
                  <a:pt x="0" y="18764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BF69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153400" y="2295525"/>
            <a:ext cx="31718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💥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65808" y="2910364"/>
            <a:ext cx="159658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FFBF69"/>
                </a:solidFill>
                <a:latin typeface="Microsoft YaHei"/>
                <a:ea typeface="Microsoft YaHei"/>
                <a:cs typeface="Microsoft YaHei"/>
              </a:rPr>
              <a:t>事件三：炸死海盗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77212" y="3259931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海盗来进攻，他们的船突然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177212" y="3479006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被炸毁了！五个海盗瞬间被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177212" y="3698081"/>
            <a:ext cx="15073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消灭，救了大家的命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69618" y="3752374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rPr>
              <a:t>谁干的？！</a:t>
            </a:r>
          </a:p>
        </p:txBody>
      </p:sp>
      <p:sp>
        <p:nvSpPr>
          <p:cNvPr id="31" name="Freeform 31"/>
          <p:cNvSpPr/>
          <p:nvPr/>
        </p:nvSpPr>
        <p:spPr>
          <a:xfrm>
            <a:off x="762000" y="4476750"/>
            <a:ext cx="10668000" cy="1524000"/>
          </a:xfrm>
          <a:custGeom>
            <a:avLst/>
            <a:gdLst/>
            <a:ahLst/>
            <a:cxnLst/>
            <a:rect l="l" t="t" r="r" b="b"/>
            <a:pathLst>
              <a:path w="10668000" h="1524000">
                <a:moveTo>
                  <a:pt x="190500" y="0"/>
                </a:moveTo>
                <a:lnTo>
                  <a:pt x="10477500" y="0"/>
                </a:lnTo>
                <a:cubicBezTo>
                  <a:pt x="10582710" y="0"/>
                  <a:pt x="10668000" y="85290"/>
                  <a:pt x="10668000" y="190500"/>
                </a:cubicBezTo>
                <a:lnTo>
                  <a:pt x="10668000" y="1333500"/>
                </a:lnTo>
                <a:cubicBezTo>
                  <a:pt x="10668000" y="1438710"/>
                  <a:pt x="10582710" y="1524000"/>
                  <a:pt x="10477500" y="1524000"/>
                </a:cubicBezTo>
                <a:lnTo>
                  <a:pt x="190500" y="1524000"/>
                </a:lnTo>
                <a:cubicBezTo>
                  <a:pt x="85290" y="1524000"/>
                  <a:pt x="0" y="1438710"/>
                  <a:pt x="0" y="133350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>
            <a:srgbClr val="2EC4B6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4000221" y="4726305"/>
            <a:ext cx="419155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🌊 谜底揭晓：他是尼摩船长！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505819" y="5188268"/>
            <a:ext cx="51803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0F7F5"/>
                </a:solidFill>
                <a:latin typeface="Microsoft YaHei"/>
                <a:ea typeface="Microsoft YaHei"/>
                <a:cs typeface="Microsoft YaHei"/>
              </a:rPr>
              <a:t>《海底两万里》的主角！他住在岛附近的潜艇"鹦鹉螺号"里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205764" y="5521642"/>
            <a:ext cx="378047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0F7F5"/>
                </a:solidFill>
                <a:latin typeface="Microsoft YaHei"/>
                <a:ea typeface="Microsoft YaHei"/>
                <a:cs typeface="Microsoft YaHei"/>
              </a:rPr>
              <a:t>默默守护着这群落难者，帮了他们很多次！</a:t>
            </a:r>
          </a:p>
        </p:txBody>
      </p:sp>
      <p:sp>
        <p:nvSpPr>
          <p:cNvPr id="35" name="Ellipse 35"/>
          <p:cNvSpPr/>
          <p:nvPr/>
        </p:nvSpPr>
        <p:spPr>
          <a:xfrm>
            <a:off x="10401300" y="781050"/>
            <a:ext cx="152400" cy="152400"/>
          </a:xfrm>
          <a:prstGeom prst="ellipse">
            <a:avLst/>
          </a:prstGeom>
          <a:solidFill>
            <a:srgbClr val="FFBF69">
              <a:alpha val="50000"/>
            </a:srgbClr>
          </a:solidFill>
          <a:ln>
            <a:noFill/>
          </a:ln>
        </p:spPr>
      </p:sp>
      <p:sp>
        <p:nvSpPr>
          <p:cNvPr id="36" name="Freeform 36"/>
          <p:cNvSpPr/>
          <p:nvPr/>
        </p:nvSpPr>
        <p:spPr>
          <a:xfrm>
            <a:off x="11239500" y="6286500"/>
            <a:ext cx="342900" cy="266700"/>
          </a:xfrm>
          <a:custGeom>
            <a:avLst/>
            <a:gdLst/>
            <a:ahLst/>
            <a:cxnLst/>
            <a:rect l="l" t="t" r="r" b="b"/>
            <a:pathLst>
              <a:path w="342900" h="266700">
                <a:moveTo>
                  <a:pt x="57150" y="0"/>
                </a:moveTo>
                <a:lnTo>
                  <a:pt x="285750" y="0"/>
                </a:lnTo>
                <a:cubicBezTo>
                  <a:pt x="317313" y="0"/>
                  <a:pt x="342900" y="25587"/>
                  <a:pt x="342900" y="57150"/>
                </a:cubicBezTo>
                <a:lnTo>
                  <a:pt x="342900" y="209550"/>
                </a:lnTo>
                <a:cubicBezTo>
                  <a:pt x="342900" y="241113"/>
                  <a:pt x="317313" y="266700"/>
                  <a:pt x="285750" y="266700"/>
                </a:cubicBezTo>
                <a:lnTo>
                  <a:pt x="57150" y="266700"/>
                </a:lnTo>
                <a:cubicBezTo>
                  <a:pt x="25587" y="266700"/>
                  <a:pt x="0" y="241113"/>
                  <a:pt x="0" y="2095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2EC4B6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1357450" y="6362224"/>
            <a:ext cx="1070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7</a:t>
            </a:r>
          </a:p>
        </p:txBody>
      </p:sp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EC4B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3900" y="438150"/>
            <a:ext cx="3549634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F9F1C"/>
                </a:solidFill>
                <a:latin typeface="Microsoft YaHei"/>
                <a:ea typeface="Microsoft YaHei"/>
                <a:cs typeface="Microsoft YaHei"/>
              </a:rPr>
              <a:t>最惊险的时刻！😱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952500"/>
            <a:ext cx="952500" cy="38100"/>
          </a:xfrm>
          <a:prstGeom prst="rect">
            <a:avLst/>
          </a:prstGeom>
          <a:solidFill>
            <a:srgbClr val="FF9F1C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44855" y="1187768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两个大危机，每一个都让他们差点丢掉性命！</a:t>
            </a:r>
          </a:p>
        </p:txBody>
      </p:sp>
      <p:sp>
        <p:nvSpPr>
          <p:cNvPr id="7" name="Freeform 7"/>
          <p:cNvSpPr/>
          <p:nvPr/>
        </p:nvSpPr>
        <p:spPr>
          <a:xfrm>
            <a:off x="762000" y="1619250"/>
            <a:ext cx="10668000" cy="2190750"/>
          </a:xfrm>
          <a:custGeom>
            <a:avLst/>
            <a:gdLst/>
            <a:ahLst/>
            <a:cxnLst/>
            <a:rect l="l" t="t" r="r" b="b"/>
            <a:pathLst>
              <a:path w="10668000" h="2190750">
                <a:moveTo>
                  <a:pt x="190500" y="0"/>
                </a:moveTo>
                <a:lnTo>
                  <a:pt x="10477500" y="0"/>
                </a:lnTo>
                <a:cubicBezTo>
                  <a:pt x="10582710" y="0"/>
                  <a:pt x="10668000" y="85290"/>
                  <a:pt x="10668000" y="190500"/>
                </a:cubicBezTo>
                <a:lnTo>
                  <a:pt x="10668000" y="2000250"/>
                </a:lnTo>
                <a:cubicBezTo>
                  <a:pt x="10668000" y="2105460"/>
                  <a:pt x="10582710" y="2190750"/>
                  <a:pt x="10477500" y="2190750"/>
                </a:cubicBezTo>
                <a:lnTo>
                  <a:pt x="190500" y="2190750"/>
                </a:lnTo>
                <a:cubicBezTo>
                  <a:pt x="85290" y="2190750"/>
                  <a:pt x="0" y="2105460"/>
                  <a:pt x="0" y="200025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762000" y="1619250"/>
            <a:ext cx="76200" cy="2190750"/>
          </a:xfrm>
          <a:custGeom>
            <a:avLst/>
            <a:gdLst/>
            <a:ahLst/>
            <a:cxnLst/>
            <a:rect l="l" t="t" r="r" b="b"/>
            <a:pathLst>
              <a:path w="76200" h="219075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2152650"/>
                </a:lnTo>
                <a:cubicBezTo>
                  <a:pt x="76200" y="2173692"/>
                  <a:pt x="59142" y="2190750"/>
                  <a:pt x="38100" y="2190750"/>
                </a:cubicBezTo>
                <a:lnTo>
                  <a:pt x="38100" y="2190750"/>
                </a:lnTo>
                <a:cubicBezTo>
                  <a:pt x="17058" y="2190750"/>
                  <a:pt x="0" y="2173692"/>
                  <a:pt x="0" y="21526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9F1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118235" y="1884998"/>
            <a:ext cx="318942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9F1C"/>
                </a:solidFill>
                <a:latin typeface="Microsoft YaHei"/>
                <a:ea typeface="Microsoft YaHei"/>
                <a:cs typeface="Microsoft YaHei"/>
              </a:rPr>
              <a:t>🏴‍☠️ 危机一：海盗进攻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5855" y="2330768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一帮凶残的海盗发现了林肯岛，想要占领它！</a:t>
            </a:r>
          </a:p>
        </p:txBody>
      </p:sp>
      <p:sp>
        <p:nvSpPr>
          <p:cNvPr id="11" name="Freeform 11"/>
          <p:cNvSpPr/>
          <p:nvPr/>
        </p:nvSpPr>
        <p:spPr>
          <a:xfrm>
            <a:off x="1143000" y="2714625"/>
            <a:ext cx="9906000" cy="857250"/>
          </a:xfrm>
          <a:custGeom>
            <a:avLst/>
            <a:gdLst/>
            <a:ahLst/>
            <a:cxnLst/>
            <a:rect l="l" t="t" r="r" b="b"/>
            <a:pathLst>
              <a:path w="9906000" h="857250">
                <a:moveTo>
                  <a:pt x="114300" y="0"/>
                </a:moveTo>
                <a:lnTo>
                  <a:pt x="9791700" y="0"/>
                </a:lnTo>
                <a:cubicBezTo>
                  <a:pt x="9854826" y="0"/>
                  <a:pt x="9906000" y="51174"/>
                  <a:pt x="9906000" y="114300"/>
                </a:cubicBezTo>
                <a:lnTo>
                  <a:pt x="9906000" y="742950"/>
                </a:lnTo>
                <a:cubicBezTo>
                  <a:pt x="9906000" y="806076"/>
                  <a:pt x="9854826" y="857250"/>
                  <a:pt x="9791700" y="857250"/>
                </a:cubicBezTo>
                <a:lnTo>
                  <a:pt x="114300" y="857250"/>
                </a:lnTo>
                <a:cubicBezTo>
                  <a:pt x="51174" y="857250"/>
                  <a:pt x="0" y="806076"/>
                  <a:pt x="0" y="742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509712" y="2878931"/>
            <a:ext cx="519600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海盗登陆 → 烧杀抢掠 → 他们躲进花岗岩宫 → 尼摩船长用炸药炸沉海盗船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09712" y="3164681"/>
            <a:ext cx="329785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EC4B6"/>
                </a:solidFill>
                <a:latin typeface="Microsoft YaHei"/>
                <a:ea typeface="Microsoft YaHei"/>
                <a:cs typeface="Microsoft YaHei"/>
              </a:rPr>
              <a:t>💡 虽然击退了海盗，但岛上已经伤痕累累……</a:t>
            </a:r>
          </a:p>
        </p:txBody>
      </p:sp>
      <p:sp>
        <p:nvSpPr>
          <p:cNvPr id="14" name="Freeform 14"/>
          <p:cNvSpPr/>
          <p:nvPr/>
        </p:nvSpPr>
        <p:spPr>
          <a:xfrm>
            <a:off x="762000" y="4095750"/>
            <a:ext cx="10668000" cy="1905000"/>
          </a:xfrm>
          <a:custGeom>
            <a:avLst/>
            <a:gdLst/>
            <a:ahLst/>
            <a:cxnLst/>
            <a:rect l="l" t="t" r="r" b="b"/>
            <a:pathLst>
              <a:path w="10668000" h="1905000">
                <a:moveTo>
                  <a:pt x="190500" y="0"/>
                </a:moveTo>
                <a:lnTo>
                  <a:pt x="10477500" y="0"/>
                </a:lnTo>
                <a:cubicBezTo>
                  <a:pt x="10582710" y="0"/>
                  <a:pt x="10668000" y="85290"/>
                  <a:pt x="10668000" y="190500"/>
                </a:cubicBezTo>
                <a:lnTo>
                  <a:pt x="10668000" y="1714500"/>
                </a:lnTo>
                <a:cubicBezTo>
                  <a:pt x="10668000" y="1819710"/>
                  <a:pt x="10582710" y="1905000"/>
                  <a:pt x="10477500" y="1905000"/>
                </a:cubicBezTo>
                <a:lnTo>
                  <a:pt x="190500" y="1905000"/>
                </a:lnTo>
                <a:cubicBezTo>
                  <a:pt x="85290" y="1905000"/>
                  <a:pt x="0" y="1819710"/>
                  <a:pt x="0" y="171450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>
            <a:srgbClr val="F0FAF9"/>
          </a:solidFill>
          <a:ln>
            <a:noFill/>
          </a:ln>
        </p:spPr>
      </p:sp>
      <p:sp>
        <p:nvSpPr>
          <p:cNvPr id="15" name="Freeform 15"/>
          <p:cNvSpPr/>
          <p:nvPr/>
        </p:nvSpPr>
        <p:spPr>
          <a:xfrm>
            <a:off x="762000" y="4095750"/>
            <a:ext cx="76200" cy="1905000"/>
          </a:xfrm>
          <a:custGeom>
            <a:avLst/>
            <a:gdLst/>
            <a:ahLst/>
            <a:cxnLst/>
            <a:rect l="l" t="t" r="r" b="b"/>
            <a:pathLst>
              <a:path w="76200" h="19050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1866900"/>
                </a:lnTo>
                <a:cubicBezTo>
                  <a:pt x="76200" y="1887942"/>
                  <a:pt x="59142" y="1905000"/>
                  <a:pt x="38100" y="1905000"/>
                </a:cubicBezTo>
                <a:lnTo>
                  <a:pt x="38100" y="1905000"/>
                </a:lnTo>
                <a:cubicBezTo>
                  <a:pt x="17058" y="1905000"/>
                  <a:pt x="0" y="1887942"/>
                  <a:pt x="0" y="1866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2EC4B6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118235" y="4361498"/>
            <a:ext cx="2696011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EC4B6"/>
                </a:solidFill>
                <a:latin typeface="Microsoft YaHei"/>
                <a:ea typeface="Microsoft YaHei"/>
                <a:cs typeface="Microsoft YaHei"/>
              </a:rPr>
              <a:t>🌋 危机二：火山爆发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25855" y="4807268"/>
            <a:ext cx="55549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林肯岛上的火山突然爆发，岩浆四处流淌，整个岛即将被毁灭！</a:t>
            </a:r>
          </a:p>
        </p:txBody>
      </p:sp>
      <p:sp>
        <p:nvSpPr>
          <p:cNvPr id="18" name="Freeform 18"/>
          <p:cNvSpPr/>
          <p:nvPr/>
        </p:nvSpPr>
        <p:spPr>
          <a:xfrm>
            <a:off x="1143000" y="5191125"/>
            <a:ext cx="4762500" cy="666750"/>
          </a:xfrm>
          <a:custGeom>
            <a:avLst/>
            <a:gdLst/>
            <a:ahLst/>
            <a:cxnLst/>
            <a:rect l="l" t="t" r="r" b="b"/>
            <a:pathLst>
              <a:path w="4762500" h="666750">
                <a:moveTo>
                  <a:pt x="114300" y="0"/>
                </a:moveTo>
                <a:lnTo>
                  <a:pt x="4648200" y="0"/>
                </a:lnTo>
                <a:cubicBezTo>
                  <a:pt x="4711326" y="0"/>
                  <a:pt x="4762500" y="51174"/>
                  <a:pt x="4762500" y="114300"/>
                </a:cubicBezTo>
                <a:lnTo>
                  <a:pt x="4762500" y="552450"/>
                </a:lnTo>
                <a:cubicBezTo>
                  <a:pt x="4762500" y="615576"/>
                  <a:pt x="4711326" y="666750"/>
                  <a:pt x="4648200" y="666750"/>
                </a:cubicBezTo>
                <a:lnTo>
                  <a:pt x="114300" y="666750"/>
                </a:lnTo>
                <a:cubicBezTo>
                  <a:pt x="51174" y="666750"/>
                  <a:pt x="0" y="615576"/>
                  <a:pt x="0" y="552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8E1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414462" y="5355431"/>
            <a:ext cx="164699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🔥 花岗岩宫被岩浆吞没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14462" y="5593556"/>
            <a:ext cx="15730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🏔️ 整个岛屿开始下沉</a:t>
            </a:r>
          </a:p>
        </p:txBody>
      </p:sp>
      <p:sp>
        <p:nvSpPr>
          <p:cNvPr id="21" name="Freeform 21"/>
          <p:cNvSpPr/>
          <p:nvPr/>
        </p:nvSpPr>
        <p:spPr>
          <a:xfrm>
            <a:off x="6191250" y="5191125"/>
            <a:ext cx="4762500" cy="666750"/>
          </a:xfrm>
          <a:custGeom>
            <a:avLst/>
            <a:gdLst/>
            <a:ahLst/>
            <a:cxnLst/>
            <a:rect l="l" t="t" r="r" b="b"/>
            <a:pathLst>
              <a:path w="4762500" h="666750">
                <a:moveTo>
                  <a:pt x="114300" y="0"/>
                </a:moveTo>
                <a:lnTo>
                  <a:pt x="4648200" y="0"/>
                </a:lnTo>
                <a:cubicBezTo>
                  <a:pt x="4711326" y="0"/>
                  <a:pt x="4762500" y="51174"/>
                  <a:pt x="4762500" y="114300"/>
                </a:cubicBezTo>
                <a:lnTo>
                  <a:pt x="4762500" y="552450"/>
                </a:lnTo>
                <a:cubicBezTo>
                  <a:pt x="4762500" y="615576"/>
                  <a:pt x="4711326" y="666750"/>
                  <a:pt x="4648200" y="666750"/>
                </a:cubicBezTo>
                <a:lnTo>
                  <a:pt x="114300" y="666750"/>
                </a:lnTo>
                <a:cubicBezTo>
                  <a:pt x="51174" y="666750"/>
                  <a:pt x="0" y="615576"/>
                  <a:pt x="0" y="552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8E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62712" y="5355431"/>
            <a:ext cx="19756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🌊 他们被困在一块小岩石上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62712" y="5593556"/>
            <a:ext cx="181129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⏰ 随时可能被海水淹没！</a:t>
            </a:r>
          </a:p>
        </p:txBody>
      </p:sp>
      <p:sp>
        <p:nvSpPr>
          <p:cNvPr id="24" name="Ellipse 24"/>
          <p:cNvSpPr/>
          <p:nvPr/>
        </p:nvSpPr>
        <p:spPr>
          <a:xfrm>
            <a:off x="10401300" y="781050"/>
            <a:ext cx="152400" cy="152400"/>
          </a:xfrm>
          <a:prstGeom prst="ellipse">
            <a:avLst/>
          </a:prstGeom>
          <a:solidFill>
            <a:srgbClr val="FF9F1C">
              <a:alpha val="30000"/>
            </a:srgbClr>
          </a:solidFill>
          <a:ln>
            <a:noFill/>
          </a:ln>
        </p:spPr>
      </p:sp>
      <p:sp>
        <p:nvSpPr>
          <p:cNvPr id="25" name="Freeform 25"/>
          <p:cNvSpPr/>
          <p:nvPr/>
        </p:nvSpPr>
        <p:spPr>
          <a:xfrm>
            <a:off x="11239500" y="6286500"/>
            <a:ext cx="342900" cy="266700"/>
          </a:xfrm>
          <a:custGeom>
            <a:avLst/>
            <a:gdLst/>
            <a:ahLst/>
            <a:cxnLst/>
            <a:rect l="l" t="t" r="r" b="b"/>
            <a:pathLst>
              <a:path w="342900" h="266700">
                <a:moveTo>
                  <a:pt x="57150" y="0"/>
                </a:moveTo>
                <a:lnTo>
                  <a:pt x="285750" y="0"/>
                </a:lnTo>
                <a:cubicBezTo>
                  <a:pt x="317313" y="0"/>
                  <a:pt x="342900" y="25587"/>
                  <a:pt x="342900" y="57150"/>
                </a:cubicBezTo>
                <a:lnTo>
                  <a:pt x="342900" y="209550"/>
                </a:lnTo>
                <a:cubicBezTo>
                  <a:pt x="342900" y="241113"/>
                  <a:pt x="317313" y="266700"/>
                  <a:pt x="285750" y="266700"/>
                </a:cubicBezTo>
                <a:lnTo>
                  <a:pt x="57150" y="266700"/>
                </a:lnTo>
                <a:cubicBezTo>
                  <a:pt x="25587" y="266700"/>
                  <a:pt x="0" y="241113"/>
                  <a:pt x="0" y="2095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9F1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357450" y="6362224"/>
            <a:ext cx="1070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8</a:t>
            </a:r>
          </a:p>
        </p:txBody>
      </p:sp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EC4B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3900" y="438150"/>
            <a:ext cx="4469749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EC4B6"/>
                </a:solidFill>
                <a:latin typeface="Microsoft YaHei"/>
                <a:ea typeface="Microsoft YaHei"/>
                <a:cs typeface="Microsoft YaHei"/>
              </a:rPr>
              <a:t>最后他们怎么样了？🚢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952500"/>
            <a:ext cx="952500" cy="38100"/>
          </a:xfrm>
          <a:prstGeom prst="rect">
            <a:avLst/>
          </a:prstGeom>
          <a:solidFill>
            <a:srgbClr val="FF9F1C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762000" y="1333500"/>
            <a:ext cx="10668000" cy="1333500"/>
          </a:xfrm>
          <a:custGeom>
            <a:avLst/>
            <a:gdLst/>
            <a:ahLst/>
            <a:cxnLst/>
            <a:rect l="l" t="t" r="r" b="b"/>
            <a:pathLst>
              <a:path w="10668000" h="1333500">
                <a:moveTo>
                  <a:pt x="190500" y="0"/>
                </a:moveTo>
                <a:lnTo>
                  <a:pt x="10477500" y="0"/>
                </a:lnTo>
                <a:cubicBezTo>
                  <a:pt x="10582710" y="0"/>
                  <a:pt x="10668000" y="85290"/>
                  <a:pt x="10668000" y="190500"/>
                </a:cubicBezTo>
                <a:lnTo>
                  <a:pt x="10668000" y="1143000"/>
                </a:lnTo>
                <a:cubicBezTo>
                  <a:pt x="10668000" y="1248210"/>
                  <a:pt x="10582710" y="1333500"/>
                  <a:pt x="10477500" y="1333500"/>
                </a:cubicBezTo>
                <a:lnTo>
                  <a:pt x="190500" y="1333500"/>
                </a:lnTo>
                <a:cubicBezTo>
                  <a:pt x="85290" y="1333500"/>
                  <a:pt x="0" y="1248210"/>
                  <a:pt x="0" y="114300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>
            <a:srgbClr val="F0FAF9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762000" y="1333500"/>
            <a:ext cx="76200" cy="1333500"/>
          </a:xfrm>
          <a:custGeom>
            <a:avLst/>
            <a:gdLst/>
            <a:ahLst/>
            <a:cxnLst/>
            <a:rect l="l" t="t" r="r" b="b"/>
            <a:pathLst>
              <a:path w="76200" h="13335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1295400"/>
                </a:lnTo>
                <a:cubicBezTo>
                  <a:pt x="76200" y="1316442"/>
                  <a:pt x="59142" y="1333500"/>
                  <a:pt x="38100" y="1333500"/>
                </a:cubicBezTo>
                <a:lnTo>
                  <a:pt x="38100" y="1333500"/>
                </a:lnTo>
                <a:cubicBezTo>
                  <a:pt x="17058" y="1333500"/>
                  <a:pt x="0" y="1316442"/>
                  <a:pt x="0" y="1295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2EC4B6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120140" y="1567815"/>
            <a:ext cx="193655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EC4B6"/>
                </a:solidFill>
                <a:latin typeface="Microsoft YaHei"/>
                <a:ea typeface="Microsoft YaHei"/>
                <a:cs typeface="Microsoft YaHei"/>
              </a:rPr>
              <a:t>🆘 奇迹般的救援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5855" y="1949768"/>
            <a:ext cx="36030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在最绝望的时候，"邓肯号"轮船赶来了！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5855" y="2235518"/>
            <a:ext cx="41748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是尼摩船长之前发出的信号，指引他们来救援的</a:t>
            </a:r>
          </a:p>
        </p:txBody>
      </p:sp>
      <p:sp>
        <p:nvSpPr>
          <p:cNvPr id="11" name="Freeform 11"/>
          <p:cNvSpPr/>
          <p:nvPr/>
        </p:nvSpPr>
        <p:spPr>
          <a:xfrm>
            <a:off x="762000" y="2952750"/>
            <a:ext cx="3333750" cy="2667000"/>
          </a:xfrm>
          <a:custGeom>
            <a:avLst/>
            <a:gdLst/>
            <a:ahLst/>
            <a:cxnLst/>
            <a:rect l="l" t="t" r="r" b="b"/>
            <a:pathLst>
              <a:path w="3333750" h="2667000">
                <a:moveTo>
                  <a:pt x="152400" y="0"/>
                </a:moveTo>
                <a:lnTo>
                  <a:pt x="3181350" y="0"/>
                </a:lnTo>
                <a:cubicBezTo>
                  <a:pt x="3265518" y="0"/>
                  <a:pt x="3333750" y="68232"/>
                  <a:pt x="3333750" y="152400"/>
                </a:cubicBezTo>
                <a:lnTo>
                  <a:pt x="3333750" y="2514600"/>
                </a:lnTo>
                <a:cubicBezTo>
                  <a:pt x="3333750" y="2598768"/>
                  <a:pt x="3265518" y="2667000"/>
                  <a:pt x="3181350" y="2667000"/>
                </a:cubicBezTo>
                <a:lnTo>
                  <a:pt x="152400" y="2667000"/>
                </a:lnTo>
                <a:cubicBezTo>
                  <a:pt x="68232" y="2667000"/>
                  <a:pt x="0" y="2598768"/>
                  <a:pt x="0" y="2514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12" name="Freeform 12"/>
          <p:cNvSpPr/>
          <p:nvPr/>
        </p:nvSpPr>
        <p:spPr>
          <a:xfrm>
            <a:off x="762000" y="2952750"/>
            <a:ext cx="57150" cy="2667000"/>
          </a:xfrm>
          <a:custGeom>
            <a:avLst/>
            <a:gdLst/>
            <a:ahLst/>
            <a:cxnLst/>
            <a:rect l="l" t="t" r="r" b="b"/>
            <a:pathLst>
              <a:path w="57150" h="26670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2638425"/>
                </a:lnTo>
                <a:cubicBezTo>
                  <a:pt x="57150" y="2654207"/>
                  <a:pt x="44357" y="2667000"/>
                  <a:pt x="28575" y="2667000"/>
                </a:cubicBezTo>
                <a:lnTo>
                  <a:pt x="28575" y="2667000"/>
                </a:lnTo>
                <a:cubicBezTo>
                  <a:pt x="12793" y="2667000"/>
                  <a:pt x="0" y="2654207"/>
                  <a:pt x="0" y="26384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9F1C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230636" y="3071812"/>
            <a:ext cx="396478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75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💀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23950" y="383857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尼摩船长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8212" y="4212431"/>
            <a:ext cx="13430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在救援前去世了，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8212" y="4450556"/>
            <a:ext cx="13430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他是一个印度王子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8212" y="4688681"/>
            <a:ext cx="8501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叫达卡王子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30618" y="5181124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rPr>
              <a:t>真正的无名英雄</a:t>
            </a:r>
          </a:p>
        </p:txBody>
      </p:sp>
      <p:sp>
        <p:nvSpPr>
          <p:cNvPr id="19" name="Freeform 19"/>
          <p:cNvSpPr/>
          <p:nvPr/>
        </p:nvSpPr>
        <p:spPr>
          <a:xfrm>
            <a:off x="4381500" y="2952750"/>
            <a:ext cx="3333750" cy="2667000"/>
          </a:xfrm>
          <a:custGeom>
            <a:avLst/>
            <a:gdLst/>
            <a:ahLst/>
            <a:cxnLst/>
            <a:rect l="l" t="t" r="r" b="b"/>
            <a:pathLst>
              <a:path w="3333750" h="2667000">
                <a:moveTo>
                  <a:pt x="152400" y="0"/>
                </a:moveTo>
                <a:lnTo>
                  <a:pt x="3181350" y="0"/>
                </a:lnTo>
                <a:cubicBezTo>
                  <a:pt x="3265518" y="0"/>
                  <a:pt x="3333750" y="68232"/>
                  <a:pt x="3333750" y="152400"/>
                </a:cubicBezTo>
                <a:lnTo>
                  <a:pt x="3333750" y="2514600"/>
                </a:lnTo>
                <a:cubicBezTo>
                  <a:pt x="3333750" y="2598768"/>
                  <a:pt x="3265518" y="2667000"/>
                  <a:pt x="3181350" y="2667000"/>
                </a:cubicBezTo>
                <a:lnTo>
                  <a:pt x="152400" y="2667000"/>
                </a:lnTo>
                <a:cubicBezTo>
                  <a:pt x="68232" y="2667000"/>
                  <a:pt x="0" y="2598768"/>
                  <a:pt x="0" y="2514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0FAF9"/>
          </a:solidFill>
          <a:ln>
            <a:noFill/>
          </a:ln>
        </p:spPr>
      </p:sp>
      <p:sp>
        <p:nvSpPr>
          <p:cNvPr id="20" name="Freeform 20"/>
          <p:cNvSpPr/>
          <p:nvPr/>
        </p:nvSpPr>
        <p:spPr>
          <a:xfrm>
            <a:off x="4381500" y="2952750"/>
            <a:ext cx="57150" cy="2667000"/>
          </a:xfrm>
          <a:custGeom>
            <a:avLst/>
            <a:gdLst/>
            <a:ahLst/>
            <a:cxnLst/>
            <a:rect l="l" t="t" r="r" b="b"/>
            <a:pathLst>
              <a:path w="57150" h="26670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2638425"/>
                </a:lnTo>
                <a:cubicBezTo>
                  <a:pt x="57150" y="2654207"/>
                  <a:pt x="44357" y="2667000"/>
                  <a:pt x="28575" y="2667000"/>
                </a:cubicBezTo>
                <a:lnTo>
                  <a:pt x="28575" y="2667000"/>
                </a:lnTo>
                <a:cubicBezTo>
                  <a:pt x="12793" y="2667000"/>
                  <a:pt x="0" y="2654207"/>
                  <a:pt x="0" y="26384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2EC4B6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5850136" y="3071812"/>
            <a:ext cx="396478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75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🏡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743450" y="383857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回到美国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57712" y="4212431"/>
            <a:ext cx="13430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他们带着尼摩船长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57712" y="4450556"/>
            <a:ext cx="13430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留下的财宝回到了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557712" y="4688681"/>
            <a:ext cx="13430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美国，在爱荷华州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57712" y="4926806"/>
            <a:ext cx="10144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建立了新家园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750118" y="5181124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rPr>
              <a:t>重新开始生活！</a:t>
            </a:r>
          </a:p>
        </p:txBody>
      </p:sp>
      <p:sp>
        <p:nvSpPr>
          <p:cNvPr id="28" name="Freeform 28"/>
          <p:cNvSpPr/>
          <p:nvPr/>
        </p:nvSpPr>
        <p:spPr>
          <a:xfrm>
            <a:off x="8001000" y="2952750"/>
            <a:ext cx="3429000" cy="2667000"/>
          </a:xfrm>
          <a:custGeom>
            <a:avLst/>
            <a:gdLst/>
            <a:ahLst/>
            <a:cxnLst/>
            <a:rect l="l" t="t" r="r" b="b"/>
            <a:pathLst>
              <a:path w="3429000" h="2667000">
                <a:moveTo>
                  <a:pt x="152400" y="0"/>
                </a:moveTo>
                <a:lnTo>
                  <a:pt x="3276600" y="0"/>
                </a:lnTo>
                <a:cubicBezTo>
                  <a:pt x="3360768" y="0"/>
                  <a:pt x="3429000" y="68232"/>
                  <a:pt x="3429000" y="152400"/>
                </a:cubicBezTo>
                <a:lnTo>
                  <a:pt x="3429000" y="2514600"/>
                </a:lnTo>
                <a:cubicBezTo>
                  <a:pt x="3429000" y="2598768"/>
                  <a:pt x="3360768" y="2667000"/>
                  <a:pt x="3276600" y="2667000"/>
                </a:cubicBezTo>
                <a:lnTo>
                  <a:pt x="152400" y="2667000"/>
                </a:lnTo>
                <a:cubicBezTo>
                  <a:pt x="68232" y="2667000"/>
                  <a:pt x="0" y="2598768"/>
                  <a:pt x="0" y="2514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8E1"/>
          </a:solidFill>
          <a:ln>
            <a:noFill/>
          </a:ln>
        </p:spPr>
      </p:sp>
      <p:sp>
        <p:nvSpPr>
          <p:cNvPr id="29" name="Freeform 29"/>
          <p:cNvSpPr/>
          <p:nvPr/>
        </p:nvSpPr>
        <p:spPr>
          <a:xfrm>
            <a:off x="8001000" y="2952750"/>
            <a:ext cx="57150" cy="2667000"/>
          </a:xfrm>
          <a:custGeom>
            <a:avLst/>
            <a:gdLst/>
            <a:ahLst/>
            <a:cxnLst/>
            <a:rect l="l" t="t" r="r" b="b"/>
            <a:pathLst>
              <a:path w="57150" h="26670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2638425"/>
                </a:lnTo>
                <a:cubicBezTo>
                  <a:pt x="57150" y="2654207"/>
                  <a:pt x="44357" y="2667000"/>
                  <a:pt x="28575" y="2667000"/>
                </a:cubicBezTo>
                <a:lnTo>
                  <a:pt x="28575" y="2667000"/>
                </a:lnTo>
                <a:cubicBezTo>
                  <a:pt x="12793" y="2667000"/>
                  <a:pt x="0" y="2654207"/>
                  <a:pt x="0" y="26384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BF69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9517261" y="3071812"/>
            <a:ext cx="396478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75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🌍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362950" y="3838575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永远的林肯岛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177212" y="4212431"/>
            <a:ext cx="13430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虽然离开了荒岛，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177212" y="4450556"/>
            <a:ext cx="13430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但他们永远记得在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177212" y="4688681"/>
            <a:ext cx="11787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岛上奋斗的日子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69618" y="5181124"/>
            <a:ext cx="14487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rPr>
              <a:t>那是他们最骄傲的时光</a:t>
            </a:r>
          </a:p>
        </p:txBody>
      </p:sp>
      <p:sp>
        <p:nvSpPr>
          <p:cNvPr id="36" name="Freeform 36"/>
          <p:cNvSpPr/>
          <p:nvPr/>
        </p:nvSpPr>
        <p:spPr>
          <a:xfrm>
            <a:off x="762000" y="5905500"/>
            <a:ext cx="10668000" cy="476250"/>
          </a:xfrm>
          <a:custGeom>
            <a:avLst/>
            <a:gdLst/>
            <a:ahLst/>
            <a:cxnLst/>
            <a:rect l="l" t="t" r="r" b="b"/>
            <a:pathLst>
              <a:path w="10668000" h="476250">
                <a:moveTo>
                  <a:pt x="152400" y="0"/>
                </a:moveTo>
                <a:lnTo>
                  <a:pt x="10515600" y="0"/>
                </a:lnTo>
                <a:cubicBezTo>
                  <a:pt x="10599768" y="0"/>
                  <a:pt x="10668000" y="68232"/>
                  <a:pt x="10668000" y="152400"/>
                </a:cubicBezTo>
                <a:lnTo>
                  <a:pt x="10668000" y="323850"/>
                </a:lnTo>
                <a:cubicBezTo>
                  <a:pt x="10668000" y="408018"/>
                  <a:pt x="10599768" y="476250"/>
                  <a:pt x="10515600" y="476250"/>
                </a:cubicBezTo>
                <a:lnTo>
                  <a:pt x="152400" y="476250"/>
                </a:lnTo>
                <a:cubicBezTo>
                  <a:pt x="68232" y="476250"/>
                  <a:pt x="0" y="408018"/>
                  <a:pt x="0" y="3238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EC4B6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2672794" y="6053614"/>
            <a:ext cx="684641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2EC4B6"/>
                </a:solidFill>
                <a:latin typeface="Microsoft YaHei"/>
                <a:ea typeface="Microsoft YaHei"/>
                <a:cs typeface="Microsoft YaHei"/>
              </a:rPr>
              <a:t>📖 凡尔纳还写了《格兰特船长的儿女》和《海底两万里》，三部曲可以连着读！</a:t>
            </a:r>
          </a:p>
        </p:txBody>
      </p:sp>
      <p:sp>
        <p:nvSpPr>
          <p:cNvPr id="38" name="Ellipse 38"/>
          <p:cNvSpPr/>
          <p:nvPr/>
        </p:nvSpPr>
        <p:spPr>
          <a:xfrm>
            <a:off x="10401300" y="781050"/>
            <a:ext cx="152400" cy="152400"/>
          </a:xfrm>
          <a:prstGeom prst="ellipse">
            <a:avLst/>
          </a:prstGeom>
          <a:solidFill>
            <a:srgbClr val="2EC4B6">
              <a:alpha val="30000"/>
            </a:srgbClr>
          </a:solidFill>
          <a:ln>
            <a:noFill/>
          </a:ln>
        </p:spPr>
      </p:sp>
      <p:sp>
        <p:nvSpPr>
          <p:cNvPr id="39" name="Freeform 39"/>
          <p:cNvSpPr/>
          <p:nvPr/>
        </p:nvSpPr>
        <p:spPr>
          <a:xfrm>
            <a:off x="11239500" y="6286500"/>
            <a:ext cx="342900" cy="266700"/>
          </a:xfrm>
          <a:custGeom>
            <a:avLst/>
            <a:gdLst/>
            <a:ahLst/>
            <a:cxnLst/>
            <a:rect l="l" t="t" r="r" b="b"/>
            <a:pathLst>
              <a:path w="342900" h="266700">
                <a:moveTo>
                  <a:pt x="57150" y="0"/>
                </a:moveTo>
                <a:lnTo>
                  <a:pt x="285750" y="0"/>
                </a:lnTo>
                <a:cubicBezTo>
                  <a:pt x="317313" y="0"/>
                  <a:pt x="342900" y="25587"/>
                  <a:pt x="342900" y="57150"/>
                </a:cubicBezTo>
                <a:lnTo>
                  <a:pt x="342900" y="209550"/>
                </a:lnTo>
                <a:cubicBezTo>
                  <a:pt x="342900" y="241113"/>
                  <a:pt x="317313" y="266700"/>
                  <a:pt x="285750" y="266700"/>
                </a:cubicBezTo>
                <a:lnTo>
                  <a:pt x="57150" y="266700"/>
                </a:lnTo>
                <a:cubicBezTo>
                  <a:pt x="25587" y="266700"/>
                  <a:pt x="0" y="241113"/>
                  <a:pt x="0" y="2095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2EC4B6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11357450" y="6362224"/>
            <a:ext cx="1070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9</a:t>
            </a:r>
          </a:p>
        </p:txBody>
      </p:sp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EC4B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3900" y="438150"/>
            <a:ext cx="3227594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EC4B6"/>
                </a:solidFill>
                <a:latin typeface="Microsoft YaHei"/>
                <a:ea typeface="Microsoft YaHei"/>
                <a:cs typeface="Microsoft YaHei"/>
              </a:rPr>
              <a:t>我学到的道理 💡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952500"/>
            <a:ext cx="952500" cy="38100"/>
          </a:xfrm>
          <a:prstGeom prst="rect">
            <a:avLst/>
          </a:prstGeom>
          <a:solidFill>
            <a:srgbClr val="FF9F1C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762000" y="1333500"/>
            <a:ext cx="5143500" cy="1524000"/>
          </a:xfrm>
          <a:custGeom>
            <a:avLst/>
            <a:gdLst/>
            <a:ahLst/>
            <a:cxnLst/>
            <a:rect l="l" t="t" r="r" b="b"/>
            <a:pathLst>
              <a:path w="5143500" h="1524000">
                <a:moveTo>
                  <a:pt x="152400" y="0"/>
                </a:moveTo>
                <a:lnTo>
                  <a:pt x="4991100" y="0"/>
                </a:lnTo>
                <a:cubicBezTo>
                  <a:pt x="5075268" y="0"/>
                  <a:pt x="5143500" y="68232"/>
                  <a:pt x="5143500" y="152400"/>
                </a:cubicBezTo>
                <a:lnTo>
                  <a:pt x="5143500" y="1371600"/>
                </a:lnTo>
                <a:cubicBezTo>
                  <a:pt x="5143500" y="1455768"/>
                  <a:pt x="5075268" y="1524000"/>
                  <a:pt x="4991100" y="1524000"/>
                </a:cubicBezTo>
                <a:lnTo>
                  <a:pt x="152400" y="1524000"/>
                </a:lnTo>
                <a:cubicBezTo>
                  <a:pt x="68232" y="1524000"/>
                  <a:pt x="0" y="1455768"/>
                  <a:pt x="0" y="1371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0FAF9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762000" y="1333500"/>
            <a:ext cx="57150" cy="1524000"/>
          </a:xfrm>
          <a:custGeom>
            <a:avLst/>
            <a:gdLst/>
            <a:ahLst/>
            <a:cxnLst/>
            <a:rect l="l" t="t" r="r" b="b"/>
            <a:pathLst>
              <a:path w="57150" h="15240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495425"/>
                </a:lnTo>
                <a:cubicBezTo>
                  <a:pt x="57150" y="1511207"/>
                  <a:pt x="44357" y="1524000"/>
                  <a:pt x="28575" y="1524000"/>
                </a:cubicBezTo>
                <a:lnTo>
                  <a:pt x="28575" y="1524000"/>
                </a:lnTo>
                <a:cubicBezTo>
                  <a:pt x="12793" y="1524000"/>
                  <a:pt x="0" y="1511207"/>
                  <a:pt x="0" y="14954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2EC4B6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122045" y="1584008"/>
            <a:ext cx="185108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EC4B6"/>
                </a:solidFill>
                <a:latin typeface="Microsoft YaHei"/>
                <a:ea typeface="Microsoft YaHei"/>
                <a:cs typeface="Microsoft YaHei"/>
              </a:rPr>
              <a:t>1. 团结就是力量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7260" y="2013585"/>
            <a:ext cx="24841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六个人从一无所有到建立家园，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7260" y="2251710"/>
            <a:ext cx="2133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靠的不是一个人厉害，而是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7260" y="2489835"/>
            <a:ext cx="205473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EC4B6"/>
                </a:solidFill>
                <a:latin typeface="Microsoft YaHei"/>
                <a:ea typeface="Microsoft YaHei"/>
                <a:cs typeface="Microsoft YaHei"/>
              </a:rPr>
              <a:t>每个人发挥自己的特长！</a:t>
            </a:r>
          </a:p>
        </p:txBody>
      </p:sp>
      <p:sp>
        <p:nvSpPr>
          <p:cNvPr id="12" name="Freeform 12"/>
          <p:cNvSpPr/>
          <p:nvPr/>
        </p:nvSpPr>
        <p:spPr>
          <a:xfrm>
            <a:off x="6286500" y="1333500"/>
            <a:ext cx="5143500" cy="1524000"/>
          </a:xfrm>
          <a:custGeom>
            <a:avLst/>
            <a:gdLst/>
            <a:ahLst/>
            <a:cxnLst/>
            <a:rect l="l" t="t" r="r" b="b"/>
            <a:pathLst>
              <a:path w="5143500" h="1524000">
                <a:moveTo>
                  <a:pt x="152400" y="0"/>
                </a:moveTo>
                <a:lnTo>
                  <a:pt x="4991100" y="0"/>
                </a:lnTo>
                <a:cubicBezTo>
                  <a:pt x="5075268" y="0"/>
                  <a:pt x="5143500" y="68232"/>
                  <a:pt x="5143500" y="152400"/>
                </a:cubicBezTo>
                <a:lnTo>
                  <a:pt x="5143500" y="1371600"/>
                </a:lnTo>
                <a:cubicBezTo>
                  <a:pt x="5143500" y="1455768"/>
                  <a:pt x="5075268" y="1524000"/>
                  <a:pt x="4991100" y="1524000"/>
                </a:cubicBezTo>
                <a:lnTo>
                  <a:pt x="152400" y="1524000"/>
                </a:lnTo>
                <a:cubicBezTo>
                  <a:pt x="68232" y="1524000"/>
                  <a:pt x="0" y="1455768"/>
                  <a:pt x="0" y="1371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13" name="Freeform 13"/>
          <p:cNvSpPr/>
          <p:nvPr/>
        </p:nvSpPr>
        <p:spPr>
          <a:xfrm>
            <a:off x="6286500" y="1333500"/>
            <a:ext cx="57150" cy="1524000"/>
          </a:xfrm>
          <a:custGeom>
            <a:avLst/>
            <a:gdLst/>
            <a:ahLst/>
            <a:cxnLst/>
            <a:rect l="l" t="t" r="r" b="b"/>
            <a:pathLst>
              <a:path w="57150" h="15240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495425"/>
                </a:lnTo>
                <a:cubicBezTo>
                  <a:pt x="57150" y="1511207"/>
                  <a:pt x="44357" y="1524000"/>
                  <a:pt x="28575" y="1524000"/>
                </a:cubicBezTo>
                <a:lnTo>
                  <a:pt x="28575" y="1524000"/>
                </a:lnTo>
                <a:cubicBezTo>
                  <a:pt x="12793" y="1524000"/>
                  <a:pt x="0" y="1511207"/>
                  <a:pt x="0" y="14954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9F1C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646545" y="1584008"/>
            <a:ext cx="191434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9F1C"/>
                </a:solidFill>
                <a:latin typeface="Microsoft YaHei"/>
                <a:ea typeface="Microsoft YaHei"/>
                <a:cs typeface="Microsoft YaHei"/>
              </a:rPr>
              <a:t>2. 知识改变命运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61760" y="2013585"/>
            <a:ext cx="24841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工程师用科学方法生火、制陶、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461760" y="2251710"/>
            <a:ext cx="21511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炼铁、造船——知识是最强的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61760" y="2489835"/>
            <a:ext cx="9689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9F1C"/>
                </a:solidFill>
                <a:latin typeface="Microsoft YaHei"/>
                <a:ea typeface="Microsoft YaHei"/>
                <a:cs typeface="Microsoft YaHei"/>
              </a:rPr>
              <a:t>"超能力"！</a:t>
            </a:r>
          </a:p>
        </p:txBody>
      </p:sp>
      <p:sp>
        <p:nvSpPr>
          <p:cNvPr id="18" name="Freeform 18"/>
          <p:cNvSpPr/>
          <p:nvPr/>
        </p:nvSpPr>
        <p:spPr>
          <a:xfrm>
            <a:off x="762000" y="3143250"/>
            <a:ext cx="5143500" cy="1524000"/>
          </a:xfrm>
          <a:custGeom>
            <a:avLst/>
            <a:gdLst/>
            <a:ahLst/>
            <a:cxnLst/>
            <a:rect l="l" t="t" r="r" b="b"/>
            <a:pathLst>
              <a:path w="5143500" h="1524000">
                <a:moveTo>
                  <a:pt x="152400" y="0"/>
                </a:moveTo>
                <a:lnTo>
                  <a:pt x="4991100" y="0"/>
                </a:lnTo>
                <a:cubicBezTo>
                  <a:pt x="5075268" y="0"/>
                  <a:pt x="5143500" y="68232"/>
                  <a:pt x="5143500" y="152400"/>
                </a:cubicBezTo>
                <a:lnTo>
                  <a:pt x="5143500" y="1371600"/>
                </a:lnTo>
                <a:cubicBezTo>
                  <a:pt x="5143500" y="1455768"/>
                  <a:pt x="5075268" y="1524000"/>
                  <a:pt x="4991100" y="1524000"/>
                </a:cubicBezTo>
                <a:lnTo>
                  <a:pt x="152400" y="1524000"/>
                </a:lnTo>
                <a:cubicBezTo>
                  <a:pt x="68232" y="1524000"/>
                  <a:pt x="0" y="1455768"/>
                  <a:pt x="0" y="1371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8E1"/>
          </a:solidFill>
          <a:ln>
            <a:noFill/>
          </a:ln>
        </p:spPr>
      </p:sp>
      <p:sp>
        <p:nvSpPr>
          <p:cNvPr id="19" name="Freeform 19"/>
          <p:cNvSpPr/>
          <p:nvPr/>
        </p:nvSpPr>
        <p:spPr>
          <a:xfrm>
            <a:off x="762000" y="3143250"/>
            <a:ext cx="57150" cy="1524000"/>
          </a:xfrm>
          <a:custGeom>
            <a:avLst/>
            <a:gdLst/>
            <a:ahLst/>
            <a:cxnLst/>
            <a:rect l="l" t="t" r="r" b="b"/>
            <a:pathLst>
              <a:path w="57150" h="15240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495425"/>
                </a:lnTo>
                <a:cubicBezTo>
                  <a:pt x="57150" y="1511207"/>
                  <a:pt x="44357" y="1524000"/>
                  <a:pt x="28575" y="1524000"/>
                </a:cubicBezTo>
                <a:lnTo>
                  <a:pt x="28575" y="1524000"/>
                </a:lnTo>
                <a:cubicBezTo>
                  <a:pt x="12793" y="1524000"/>
                  <a:pt x="0" y="1511207"/>
                  <a:pt x="0" y="14954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BF69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122045" y="3393758"/>
            <a:ext cx="140828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BF69"/>
                </a:solidFill>
                <a:latin typeface="Microsoft YaHei"/>
                <a:ea typeface="Microsoft YaHei"/>
                <a:cs typeface="Microsoft YaHei"/>
              </a:rPr>
              <a:t>3. 永不放弃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37260" y="3823335"/>
            <a:ext cx="23088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荒岛上没有食物、没有房子、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37260" y="4061460"/>
            <a:ext cx="19758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还有海盗和火山……但他们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37260" y="4299585"/>
            <a:ext cx="188911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BF69"/>
                </a:solidFill>
                <a:latin typeface="Microsoft YaHei"/>
                <a:ea typeface="Microsoft YaHei"/>
                <a:cs typeface="Microsoft YaHei"/>
              </a:rPr>
              <a:t>从来没有说"算了吧"！</a:t>
            </a:r>
          </a:p>
        </p:txBody>
      </p:sp>
      <p:sp>
        <p:nvSpPr>
          <p:cNvPr id="24" name="Freeform 24"/>
          <p:cNvSpPr/>
          <p:nvPr/>
        </p:nvSpPr>
        <p:spPr>
          <a:xfrm>
            <a:off x="6286500" y="3143250"/>
            <a:ext cx="5143500" cy="1524000"/>
          </a:xfrm>
          <a:custGeom>
            <a:avLst/>
            <a:gdLst/>
            <a:ahLst/>
            <a:cxnLst/>
            <a:rect l="l" t="t" r="r" b="b"/>
            <a:pathLst>
              <a:path w="5143500" h="1524000">
                <a:moveTo>
                  <a:pt x="152400" y="0"/>
                </a:moveTo>
                <a:lnTo>
                  <a:pt x="4991100" y="0"/>
                </a:lnTo>
                <a:cubicBezTo>
                  <a:pt x="5075268" y="0"/>
                  <a:pt x="5143500" y="68232"/>
                  <a:pt x="5143500" y="152400"/>
                </a:cubicBezTo>
                <a:lnTo>
                  <a:pt x="5143500" y="1371600"/>
                </a:lnTo>
                <a:cubicBezTo>
                  <a:pt x="5143500" y="1455768"/>
                  <a:pt x="5075268" y="1524000"/>
                  <a:pt x="4991100" y="1524000"/>
                </a:cubicBezTo>
                <a:lnTo>
                  <a:pt x="152400" y="1524000"/>
                </a:lnTo>
                <a:cubicBezTo>
                  <a:pt x="68232" y="1524000"/>
                  <a:pt x="0" y="1455768"/>
                  <a:pt x="0" y="1371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0FAF9"/>
          </a:solidFill>
          <a:ln>
            <a:noFill/>
          </a:ln>
        </p:spPr>
      </p:sp>
      <p:sp>
        <p:nvSpPr>
          <p:cNvPr id="25" name="Freeform 25"/>
          <p:cNvSpPr/>
          <p:nvPr/>
        </p:nvSpPr>
        <p:spPr>
          <a:xfrm>
            <a:off x="6286500" y="3143250"/>
            <a:ext cx="57150" cy="1524000"/>
          </a:xfrm>
          <a:custGeom>
            <a:avLst/>
            <a:gdLst/>
            <a:ahLst/>
            <a:cxnLst/>
            <a:rect l="l" t="t" r="r" b="b"/>
            <a:pathLst>
              <a:path w="57150" h="15240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495425"/>
                </a:lnTo>
                <a:cubicBezTo>
                  <a:pt x="57150" y="1511207"/>
                  <a:pt x="44357" y="1524000"/>
                  <a:pt x="28575" y="1524000"/>
                </a:cubicBezTo>
                <a:lnTo>
                  <a:pt x="28575" y="1524000"/>
                </a:lnTo>
                <a:cubicBezTo>
                  <a:pt x="12793" y="1524000"/>
                  <a:pt x="0" y="1511207"/>
                  <a:pt x="0" y="14954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2EC4B6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6646545" y="3393758"/>
            <a:ext cx="191434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EC4B6"/>
                </a:solidFill>
                <a:latin typeface="Microsoft YaHei"/>
                <a:ea typeface="Microsoft YaHei"/>
                <a:cs typeface="Microsoft YaHei"/>
              </a:rPr>
              <a:t>4. 善意会有回报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461760" y="3823335"/>
            <a:ext cx="23088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他们救了艾尔通，后来艾尔通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461760" y="4061460"/>
            <a:ext cx="23088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成了最忠实的伙伴。尼摩船长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61760" y="4299585"/>
            <a:ext cx="223875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EC4B6"/>
                </a:solidFill>
                <a:latin typeface="Microsoft YaHei"/>
                <a:ea typeface="Microsoft YaHei"/>
                <a:cs typeface="Microsoft YaHei"/>
              </a:rPr>
              <a:t>默默帮助他们，因为值得！</a:t>
            </a:r>
          </a:p>
        </p:txBody>
      </p:sp>
      <p:sp>
        <p:nvSpPr>
          <p:cNvPr id="30" name="Freeform 30"/>
          <p:cNvSpPr/>
          <p:nvPr/>
        </p:nvSpPr>
        <p:spPr>
          <a:xfrm>
            <a:off x="762000" y="5048250"/>
            <a:ext cx="10668000" cy="1238250"/>
          </a:xfrm>
          <a:custGeom>
            <a:avLst/>
            <a:gdLst/>
            <a:ahLst/>
            <a:cxnLst/>
            <a:rect l="l" t="t" r="r" b="b"/>
            <a:pathLst>
              <a:path w="10668000" h="1238250">
                <a:moveTo>
                  <a:pt x="190500" y="0"/>
                </a:moveTo>
                <a:lnTo>
                  <a:pt x="10477500" y="0"/>
                </a:lnTo>
                <a:cubicBezTo>
                  <a:pt x="10582710" y="0"/>
                  <a:pt x="10668000" y="85290"/>
                  <a:pt x="10668000" y="190500"/>
                </a:cubicBezTo>
                <a:lnTo>
                  <a:pt x="10668000" y="1047750"/>
                </a:lnTo>
                <a:cubicBezTo>
                  <a:pt x="10668000" y="1152960"/>
                  <a:pt x="10582710" y="1238250"/>
                  <a:pt x="10477500" y="1238250"/>
                </a:cubicBezTo>
                <a:lnTo>
                  <a:pt x="190500" y="1238250"/>
                </a:lnTo>
                <a:cubicBezTo>
                  <a:pt x="85290" y="1238250"/>
                  <a:pt x="0" y="1152960"/>
                  <a:pt x="0" y="104775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>
            <a:srgbClr val="2EC4B6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5196551" y="5266372"/>
            <a:ext cx="1798899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🙋 互动时间！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776662" y="5695950"/>
            <a:ext cx="46386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E0F7F5"/>
                </a:solidFill>
                <a:latin typeface="Microsoft YaHei"/>
                <a:ea typeface="Microsoft YaHei"/>
                <a:cs typeface="Microsoft YaHei"/>
              </a:rPr>
              <a:t>如果你流落荒岛，你最想带什么东西？为什么？</a:t>
            </a:r>
          </a:p>
        </p:txBody>
      </p:sp>
      <p:sp>
        <p:nvSpPr>
          <p:cNvPr id="33" name="Ellipse 33"/>
          <p:cNvSpPr/>
          <p:nvPr/>
        </p:nvSpPr>
        <p:spPr>
          <a:xfrm>
            <a:off x="10401300" y="781050"/>
            <a:ext cx="152400" cy="152400"/>
          </a:xfrm>
          <a:prstGeom prst="ellipse">
            <a:avLst/>
          </a:prstGeom>
          <a:solidFill>
            <a:srgbClr val="2EC4B6">
              <a:alpha val="30000"/>
            </a:srgbClr>
          </a:solidFill>
          <a:ln>
            <a:noFill/>
          </a:ln>
        </p:spPr>
      </p:sp>
      <p:sp>
        <p:nvSpPr>
          <p:cNvPr id="34" name="Freeform 34"/>
          <p:cNvSpPr/>
          <p:nvPr/>
        </p:nvSpPr>
        <p:spPr>
          <a:xfrm>
            <a:off x="11239500" y="6286500"/>
            <a:ext cx="342900" cy="266700"/>
          </a:xfrm>
          <a:custGeom>
            <a:avLst/>
            <a:gdLst/>
            <a:ahLst/>
            <a:cxnLst/>
            <a:rect l="l" t="t" r="r" b="b"/>
            <a:pathLst>
              <a:path w="342900" h="266700">
                <a:moveTo>
                  <a:pt x="57150" y="0"/>
                </a:moveTo>
                <a:lnTo>
                  <a:pt x="285750" y="0"/>
                </a:lnTo>
                <a:cubicBezTo>
                  <a:pt x="317313" y="0"/>
                  <a:pt x="342900" y="25587"/>
                  <a:pt x="342900" y="57150"/>
                </a:cubicBezTo>
                <a:lnTo>
                  <a:pt x="342900" y="209550"/>
                </a:lnTo>
                <a:cubicBezTo>
                  <a:pt x="342900" y="241113"/>
                  <a:pt x="317313" y="266700"/>
                  <a:pt x="285750" y="266700"/>
                </a:cubicBezTo>
                <a:lnTo>
                  <a:pt x="57150" y="266700"/>
                </a:lnTo>
                <a:cubicBezTo>
                  <a:pt x="25587" y="266700"/>
                  <a:pt x="0" y="241113"/>
                  <a:pt x="0" y="2095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2EC4B6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1335022" y="6362224"/>
            <a:ext cx="1518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EC4B6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762000" y="2286000"/>
            <a:ext cx="2286000" cy="2286000"/>
          </a:xfrm>
          <a:prstGeom prst="ellipse">
            <a:avLst/>
          </a:prstGeom>
          <a:solidFill>
            <a:srgbClr val="F0FAF9">
              <a:alpha val="8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9525000" y="2667000"/>
            <a:ext cx="1524000" cy="1524000"/>
          </a:xfrm>
          <a:prstGeom prst="ellipse">
            <a:avLst/>
          </a:prstGeom>
          <a:solidFill>
            <a:srgbClr val="FFF3E0">
              <a:alpha val="80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5524500" y="1333500"/>
            <a:ext cx="1143000" cy="1143000"/>
          </a:xfrm>
          <a:prstGeom prst="ellipse">
            <a:avLst/>
          </a:prstGeom>
          <a:solidFill>
            <a:srgbClr val="FFF8E1">
              <a:alpha val="50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778818" y="1828800"/>
            <a:ext cx="634365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📚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51283" y="3007995"/>
            <a:ext cx="3089434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900" b="1" dirty="0">
                <a:solidFill>
                  <a:srgbClr val="2EC4B6"/>
                </a:solidFill>
                <a:latin typeface="Microsoft YaHei"/>
                <a:ea typeface="Microsoft YaHei"/>
                <a:cs typeface="Microsoft YaHei"/>
              </a:rPr>
              <a:t>谢谢大家！</a:t>
            </a:r>
          </a:p>
        </p:txBody>
      </p:sp>
      <p:sp>
        <p:nvSpPr>
          <p:cNvPr id="9" name="Freeform 9"/>
          <p:cNvSpPr/>
          <p:nvPr/>
        </p:nvSpPr>
        <p:spPr>
          <a:xfrm>
            <a:off x="3238500" y="3810000"/>
            <a:ext cx="5715000" cy="571500"/>
          </a:xfrm>
          <a:custGeom>
            <a:avLst/>
            <a:gdLst/>
            <a:ahLst/>
            <a:cxnLst/>
            <a:rect l="l" t="t" r="r" b="b"/>
            <a:pathLst>
              <a:path w="5715000" h="571500">
                <a:moveTo>
                  <a:pt x="285750" y="0"/>
                </a:moveTo>
                <a:lnTo>
                  <a:pt x="5429250" y="0"/>
                </a:lnTo>
                <a:cubicBezTo>
                  <a:pt x="5587065" y="0"/>
                  <a:pt x="5715000" y="127935"/>
                  <a:pt x="5715000" y="285750"/>
                </a:cubicBezTo>
                <a:lnTo>
                  <a:pt x="5715000" y="285750"/>
                </a:lnTo>
                <a:cubicBezTo>
                  <a:pt x="5715000" y="443565"/>
                  <a:pt x="5587065" y="571500"/>
                  <a:pt x="5429250" y="571500"/>
                </a:cubicBezTo>
                <a:lnTo>
                  <a:pt x="285750" y="571500"/>
                </a:lnTo>
                <a:cubicBezTo>
                  <a:pt x="127935" y="571500"/>
                  <a:pt x="0" y="443565"/>
                  <a:pt x="0" y="285750"/>
                </a:cubicBezTo>
                <a:lnTo>
                  <a:pt x="0" y="285750"/>
                </a:lnTo>
                <a:cubicBezTo>
                  <a:pt x="0" y="127935"/>
                  <a:pt x="127935" y="0"/>
                  <a:pt x="285750" y="0"/>
                </a:cubicBezTo>
                <a:close/>
              </a:path>
            </a:pathLst>
          </a:custGeom>
          <a:solidFill>
            <a:srgbClr val="F0FAF9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4388168" y="3993832"/>
            <a:ext cx="341566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希望大家也能读一读《神秘岛》</a:t>
            </a:r>
          </a:p>
        </p:txBody>
      </p:sp>
      <p:sp>
        <p:nvSpPr>
          <p:cNvPr id="11" name="Freeform 11"/>
          <p:cNvSpPr/>
          <p:nvPr/>
        </p:nvSpPr>
        <p:spPr>
          <a:xfrm>
            <a:off x="3238500" y="4667250"/>
            <a:ext cx="5715000" cy="571500"/>
          </a:xfrm>
          <a:custGeom>
            <a:avLst/>
            <a:gdLst/>
            <a:ahLst/>
            <a:cxnLst/>
            <a:rect l="l" t="t" r="r" b="b"/>
            <a:pathLst>
              <a:path w="5715000" h="571500">
                <a:moveTo>
                  <a:pt x="285750" y="0"/>
                </a:moveTo>
                <a:lnTo>
                  <a:pt x="5429250" y="0"/>
                </a:lnTo>
                <a:cubicBezTo>
                  <a:pt x="5587065" y="0"/>
                  <a:pt x="5715000" y="127935"/>
                  <a:pt x="5715000" y="285750"/>
                </a:cubicBezTo>
                <a:lnTo>
                  <a:pt x="5715000" y="285750"/>
                </a:lnTo>
                <a:cubicBezTo>
                  <a:pt x="5715000" y="443565"/>
                  <a:pt x="5587065" y="571500"/>
                  <a:pt x="5429250" y="571500"/>
                </a:cubicBezTo>
                <a:lnTo>
                  <a:pt x="285750" y="571500"/>
                </a:lnTo>
                <a:cubicBezTo>
                  <a:pt x="127935" y="571500"/>
                  <a:pt x="0" y="443565"/>
                  <a:pt x="0" y="285750"/>
                </a:cubicBezTo>
                <a:lnTo>
                  <a:pt x="0" y="285750"/>
                </a:lnTo>
                <a:cubicBezTo>
                  <a:pt x="0" y="127935"/>
                  <a:pt x="127935" y="0"/>
                  <a:pt x="28575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110829" y="4867275"/>
            <a:ext cx="197034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9F1C"/>
                </a:solidFill>
                <a:latin typeface="Microsoft YaHei"/>
                <a:ea typeface="Microsoft YaHei"/>
                <a:cs typeface="Microsoft YaHei"/>
              </a:rPr>
              <a:t>🏝️ 一起去冒险吧！</a:t>
            </a:r>
          </a:p>
        </p:txBody>
      </p:sp>
      <p:sp>
        <p:nvSpPr>
          <p:cNvPr id="13" name="Freeform 13"/>
          <p:cNvSpPr/>
          <p:nvPr/>
        </p:nvSpPr>
        <p:spPr>
          <a:xfrm>
            <a:off x="4191000" y="5524500"/>
            <a:ext cx="3810000" cy="571500"/>
          </a:xfrm>
          <a:custGeom>
            <a:avLst/>
            <a:gdLst/>
            <a:ahLst/>
            <a:cxnLst/>
            <a:rect l="l" t="t" r="r" b="b"/>
            <a:pathLst>
              <a:path w="3810000" h="571500">
                <a:moveTo>
                  <a:pt x="285750" y="0"/>
                </a:moveTo>
                <a:lnTo>
                  <a:pt x="3524250" y="0"/>
                </a:lnTo>
                <a:cubicBezTo>
                  <a:pt x="3682065" y="0"/>
                  <a:pt x="3810000" y="127935"/>
                  <a:pt x="3810000" y="285750"/>
                </a:cubicBezTo>
                <a:lnTo>
                  <a:pt x="3810000" y="285750"/>
                </a:lnTo>
                <a:cubicBezTo>
                  <a:pt x="3810000" y="443565"/>
                  <a:pt x="3682065" y="571500"/>
                  <a:pt x="3524250" y="571500"/>
                </a:cubicBezTo>
                <a:lnTo>
                  <a:pt x="285750" y="571500"/>
                </a:lnTo>
                <a:cubicBezTo>
                  <a:pt x="127935" y="571500"/>
                  <a:pt x="0" y="443565"/>
                  <a:pt x="0" y="285750"/>
                </a:cubicBezTo>
                <a:lnTo>
                  <a:pt x="0" y="285750"/>
                </a:lnTo>
                <a:cubicBezTo>
                  <a:pt x="0" y="127935"/>
                  <a:pt x="127935" y="0"/>
                  <a:pt x="28575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FFBF69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5216247" y="5712142"/>
            <a:ext cx="175950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六年级 12 班 梁峻睿</a:t>
            </a:r>
          </a:p>
        </p:txBody>
      </p:sp>
      <p:sp>
        <p:nvSpPr>
          <p:cNvPr id="15" name="Ellipse 15"/>
          <p:cNvSpPr/>
          <p:nvPr/>
        </p:nvSpPr>
        <p:spPr>
          <a:xfrm>
            <a:off x="1371600" y="1085850"/>
            <a:ext cx="114300" cy="114300"/>
          </a:xfrm>
          <a:prstGeom prst="ellipse">
            <a:avLst/>
          </a:prstGeom>
          <a:solidFill>
            <a:srgbClr val="FF9F1C">
              <a:alpha val="40000"/>
            </a:srgbClr>
          </a:solidFill>
          <a:ln>
            <a:noFill/>
          </a:ln>
        </p:spPr>
      </p:sp>
      <p:sp>
        <p:nvSpPr>
          <p:cNvPr id="16" name="Ellipse 16"/>
          <p:cNvSpPr/>
          <p:nvPr/>
        </p:nvSpPr>
        <p:spPr>
          <a:xfrm>
            <a:off x="10610850" y="1371600"/>
            <a:ext cx="114300" cy="114300"/>
          </a:xfrm>
          <a:prstGeom prst="ellipse">
            <a:avLst/>
          </a:prstGeom>
          <a:solidFill>
            <a:srgbClr val="2EC4B6">
              <a:alpha val="40000"/>
            </a:srgbClr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904875" y="5667375"/>
            <a:ext cx="95250" cy="95250"/>
          </a:xfrm>
          <a:prstGeom prst="ellipse">
            <a:avLst/>
          </a:prstGeom>
          <a:solidFill>
            <a:srgbClr val="FFBF69">
              <a:alpha val="40000"/>
            </a:srgbClr>
          </a:solidFill>
          <a:ln>
            <a:noFill/>
          </a:ln>
        </p:spPr>
      </p:sp>
      <p:sp>
        <p:nvSpPr>
          <p:cNvPr id="18" name="Freeform 18"/>
          <p:cNvSpPr/>
          <p:nvPr/>
        </p:nvSpPr>
        <p:spPr>
          <a:xfrm>
            <a:off x="11239500" y="6286500"/>
            <a:ext cx="342900" cy="266700"/>
          </a:xfrm>
          <a:custGeom>
            <a:avLst/>
            <a:gdLst/>
            <a:ahLst/>
            <a:cxnLst/>
            <a:rect l="l" t="t" r="r" b="b"/>
            <a:pathLst>
              <a:path w="342900" h="266700">
                <a:moveTo>
                  <a:pt x="57150" y="0"/>
                </a:moveTo>
                <a:lnTo>
                  <a:pt x="285750" y="0"/>
                </a:lnTo>
                <a:cubicBezTo>
                  <a:pt x="317313" y="0"/>
                  <a:pt x="342900" y="25587"/>
                  <a:pt x="342900" y="57150"/>
                </a:cubicBezTo>
                <a:lnTo>
                  <a:pt x="342900" y="209550"/>
                </a:lnTo>
                <a:cubicBezTo>
                  <a:pt x="342900" y="241113"/>
                  <a:pt x="317313" y="266700"/>
                  <a:pt x="285750" y="266700"/>
                </a:cubicBezTo>
                <a:lnTo>
                  <a:pt x="57150" y="266700"/>
                </a:lnTo>
                <a:cubicBezTo>
                  <a:pt x="25587" y="266700"/>
                  <a:pt x="0" y="241113"/>
                  <a:pt x="0" y="2095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2EC4B6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1353712" y="6362224"/>
            <a:ext cx="1144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
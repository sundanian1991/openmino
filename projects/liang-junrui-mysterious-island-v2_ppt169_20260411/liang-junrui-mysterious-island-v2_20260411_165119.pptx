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大家好！我是六年级12班的梁峻睿。今天我要给二年级的小朋友们推荐一本超级好看的书，叫《神秘岛》。这是一本冒险小说，保证你看完第一页就不想停下来！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本书的作者叫儒勒·凡尔纳，是法国人。他被称为"科幻小说之父"，写了好多好多有趣的冒险故事。《神秘岛》讲的是一句话——五个遇难的人，飘到了一座荒岛上，什么都没有，但他们用双手建起了家园！是不是听起来就很刺激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故事是怎么开始的呢？有一场大风暴，五个人乘坐的热气球被狂风吹到了海上。然后他们被冲上了一座荒岛。岛上什么都没有——没有食物、没有房子、也没有人来接他们。但是他们没有害怕，他们说："我们一起努力！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给你们介绍一下岛上的英雄们。第一位是史密斯工程师，他是聪明的大脑，什么都知道，是团队的领导者。第二位是小托普，他是一个勇敢的小男孩，和你们差不多大哦！第三位是记者史佩莱，他会讲好多故事。第四位是水手潘克洛夫，他是动手达人，什么都会做。第五位是黑人纳布，他是厨艺大师，最忠诚。最后还有艾尔通，他是后来加入的伙伴，迷途知返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他们在岛上做了什么呢？第一步，搭帐篷——用树枝和帆布搭了一个临时小家。第二步，找食物——打猎、种庄稼，还驯养了动物。第三步，造房子——用石头和泥土建了坚固的住所，不怕风雨了。第四步，造大船——他们有了砖窑、电报，还造了一艘船！是不是太厉害了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书里有很多让你尖叫的情节！岛上突然来了一个神秘人，他是谁？从哪里来？为什么一直不说话……好神秘！他们还有一只忠诚的狗叫托普，救了主人的命！更大的秘密是——尼摩船长出现了！原来这个荒岛上藏着更多的秘密。想知道发生了什么吗？快去读书吧！我不剧透太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读完这本书，我学到了三件事。第一，学会勇敢——遇到困难不放弃，害怕是正常的，但不能被害怕打败！第二，团结力量大——五个人一起才能成功，每个人都有不同的本领。第三，知识就是力量——工程师的知识救了所有人，所以学好本领，将来也能帮助自己和别人！现在我想问大家一个问题：如果你也到了荒岛上，你最想带什么？可以举手回答哦！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谢谢大家听我分享！你们也想登上神秘岛吗？快去读《神秘岛》吧！好书就是——看完还想再看一遍！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191500" y="571500"/>
            <a:ext cx="3048000" cy="3048000"/>
          </a:xfrm>
          <a:prstGeom prst="ellipse">
            <a:avLst/>
          </a:prstGeom>
          <a:solidFill>
            <a:srgbClr val="F0FAF9">
              <a:alpha val="50000"/>
            </a:srgbClr>
          </a:solidFill>
          <a:ln w="28575">
            <a:solidFill>
              <a:srgbClr val="2EC4B6"/>
            </a:solidFill>
          </a:ln>
        </p:spPr>
      </p:sp>
      <p:sp>
        <p:nvSpPr>
          <p:cNvPr id="5" name="Ellipse 5"/>
          <p:cNvSpPr/>
          <p:nvPr/>
        </p:nvSpPr>
        <p:spPr>
          <a:xfrm>
            <a:off x="1047750" y="4286250"/>
            <a:ext cx="952500" cy="952500"/>
          </a:xfrm>
          <a:prstGeom prst="ellipse">
            <a:avLst/>
          </a:prstGeom>
          <a:solidFill>
            <a:srgbClr val="FF9F1C">
              <a:alpha val="3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2552700" y="1028700"/>
            <a:ext cx="228600" cy="2286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638300" y="1828800"/>
            <a:ext cx="152400" cy="152400"/>
          </a:xfrm>
          <a:prstGeom prst="ellipse">
            <a:avLst/>
          </a:prstGeom>
          <a:solidFill>
            <a:srgbClr val="FFBF69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8953500" y="4857750"/>
            <a:ext cx="190500" cy="1905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10001250" y="447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95250" y="0"/>
                </a:lnTo>
                <a:lnTo>
                  <a:pt x="190500" y="95250"/>
                </a:lnTo>
                <a:lnTo>
                  <a:pt x="95250" y="190500"/>
                </a:ln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157335" y="1733550"/>
            <a:ext cx="111633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🏝️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6300" y="2019300"/>
            <a:ext cx="291274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神秘岛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7735" y="3027998"/>
            <a:ext cx="346710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一本让你不想放下的冒险书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52500" y="3476625"/>
            <a:ext cx="1143000" cy="28575"/>
          </a:xfrm>
          <a:prstGeom prst="rect">
            <a:avLst/>
          </a:prstGeom>
          <a:solidFill>
            <a:srgbClr val="FFBF6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5355" y="3759518"/>
            <a:ext cx="1721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六年级12班 梁峻睿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40776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给二年级小朋友的好书分享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376140" y="6362224"/>
            <a:ext cx="696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0090" y="405765"/>
            <a:ext cx="30442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关于这本书 📖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762000" y="1524000"/>
            <a:ext cx="10668000" cy="762000"/>
          </a:xfrm>
          <a:custGeom>
            <a:avLst/>
            <a:gdLst/>
            <a:ahLst/>
            <a:cxnLst/>
            <a:rect l="l" t="t" r="r" b="b"/>
            <a:pathLst>
              <a:path w="10668000" h="7620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609600"/>
                </a:lnTo>
                <a:cubicBezTo>
                  <a:pt x="10668000" y="693768"/>
                  <a:pt x="10599768" y="762000"/>
                  <a:pt x="10515600" y="762000"/>
                </a:cubicBezTo>
                <a:lnTo>
                  <a:pt x="152400" y="762000"/>
                </a:lnTo>
                <a:cubicBezTo>
                  <a:pt x="68232" y="762000"/>
                  <a:pt x="0" y="693768"/>
                  <a:pt x="0" y="609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23950" y="1695450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作者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85950" y="1695450"/>
            <a:ext cx="45291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儒勒·凡尔纳（法国）— 被称为"科幻小说之父"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9665" y="2029778"/>
            <a:ext cx="8011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1828 - 1905</a:t>
            </a:r>
          </a:p>
        </p:txBody>
      </p:sp>
      <p:sp>
        <p:nvSpPr>
          <p:cNvPr id="10" name="Freeform 10"/>
          <p:cNvSpPr/>
          <p:nvPr/>
        </p:nvSpPr>
        <p:spPr>
          <a:xfrm>
            <a:off x="762000" y="2571750"/>
            <a:ext cx="10668000" cy="762000"/>
          </a:xfrm>
          <a:custGeom>
            <a:avLst/>
            <a:gdLst/>
            <a:ahLst/>
            <a:cxnLst/>
            <a:rect l="l" t="t" r="r" b="b"/>
            <a:pathLst>
              <a:path w="10668000" h="7620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609600"/>
                </a:lnTo>
                <a:cubicBezTo>
                  <a:pt x="10668000" y="693768"/>
                  <a:pt x="10599768" y="762000"/>
                  <a:pt x="10515600" y="762000"/>
                </a:cubicBezTo>
                <a:lnTo>
                  <a:pt x="152400" y="762000"/>
                </a:lnTo>
                <a:cubicBezTo>
                  <a:pt x="68232" y="762000"/>
                  <a:pt x="0" y="693768"/>
                  <a:pt x="0" y="609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23950" y="2743200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85950" y="2743200"/>
            <a:ext cx="29517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冒险小说 · 适合 8 岁以上阅读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9665" y="3077528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🏝️ 🌊 ⛵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3714750"/>
            <a:ext cx="10668000" cy="1905000"/>
          </a:xfrm>
          <a:custGeom>
            <a:avLst/>
            <a:gdLst/>
            <a:ahLst/>
            <a:cxnLst/>
            <a:rect l="l" t="t" r="r" b="b"/>
            <a:pathLst>
              <a:path w="10668000" h="19050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1752600"/>
                </a:lnTo>
                <a:cubicBezTo>
                  <a:pt x="10668000" y="1836768"/>
                  <a:pt x="10599768" y="1905000"/>
                  <a:pt x="10515600" y="1905000"/>
                </a:cubicBezTo>
                <a:lnTo>
                  <a:pt x="152400" y="1905000"/>
                </a:lnTo>
                <a:cubicBezTo>
                  <a:pt x="68232" y="1905000"/>
                  <a:pt x="0" y="1836768"/>
                  <a:pt x="0" y="1752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C4B6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762000" y="3714750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28575" y="0"/>
                </a:moveTo>
                <a:lnTo>
                  <a:pt x="10639425" y="0"/>
                </a:lnTo>
                <a:cubicBezTo>
                  <a:pt x="10655207" y="0"/>
                  <a:pt x="10668000" y="12793"/>
                  <a:pt x="10668000" y="28575"/>
                </a:cubicBezTo>
                <a:lnTo>
                  <a:pt x="10668000" y="28575"/>
                </a:lnTo>
                <a:cubicBezTo>
                  <a:pt x="10668000" y="44357"/>
                  <a:pt x="10655207" y="57150"/>
                  <a:pt x="10639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76350" y="3895725"/>
            <a:ext cx="47577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59330" y="405955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一句话介绍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63140" y="456819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五个遇难的人，飘到了一座荒岛上。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63140" y="4949190"/>
            <a:ext cx="47777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什么都没有，但他们用双手建起了家园！</a:t>
            </a:r>
          </a:p>
        </p:txBody>
      </p:sp>
      <p:sp>
        <p:nvSpPr>
          <p:cNvPr id="20" name="Ellipse 20"/>
          <p:cNvSpPr/>
          <p:nvPr/>
        </p:nvSpPr>
        <p:spPr>
          <a:xfrm>
            <a:off x="10401300" y="876300"/>
            <a:ext cx="152400" cy="152400"/>
          </a:xfrm>
          <a:prstGeom prst="ellipse">
            <a:avLst/>
          </a:prstGeom>
          <a:solidFill>
            <a:srgbClr val="FFBF69">
              <a:alpha val="50000"/>
            </a:srgbClr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10906125" y="1285875"/>
            <a:ext cx="95250" cy="9525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0090" y="405765"/>
            <a:ext cx="463838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故事是怎么开始的？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9525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953625" y="452438"/>
            <a:ext cx="69770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⛈️</a:t>
            </a:r>
          </a:p>
        </p:txBody>
      </p:sp>
      <p:sp>
        <p:nvSpPr>
          <p:cNvPr id="7" name="Freeform 7"/>
          <p:cNvSpPr/>
          <p:nvPr/>
        </p:nvSpPr>
        <p:spPr>
          <a:xfrm>
            <a:off x="762000" y="1428750"/>
            <a:ext cx="10668000" cy="952500"/>
          </a:xfrm>
          <a:custGeom>
            <a:avLst/>
            <a:gdLst/>
            <a:ahLst/>
            <a:cxnLst/>
            <a:rect l="l" t="t" r="r" b="b"/>
            <a:pathLst>
              <a:path w="10668000" h="9525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800100"/>
                </a:lnTo>
                <a:cubicBezTo>
                  <a:pt x="10668000" y="884268"/>
                  <a:pt x="10599768" y="952500"/>
                  <a:pt x="10515600" y="952500"/>
                </a:cubicBezTo>
                <a:lnTo>
                  <a:pt x="152400" y="952500"/>
                </a:lnTo>
                <a:cubicBezTo>
                  <a:pt x="68232" y="952500"/>
                  <a:pt x="0" y="884268"/>
                  <a:pt x="0" y="800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047750" y="1619250"/>
            <a:ext cx="571500" cy="5715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38142" y="1773555"/>
            <a:ext cx="39071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⛈️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84985" y="1646872"/>
            <a:ext cx="154471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一场大风暴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92605" y="202596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五个人乘坐的热气球被狂风吹到了海上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69057" y="2503170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9F1C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952750"/>
            <a:ext cx="10668000" cy="952500"/>
          </a:xfrm>
          <a:custGeom>
            <a:avLst/>
            <a:gdLst/>
            <a:ahLst/>
            <a:cxnLst/>
            <a:rect l="l" t="t" r="r" b="b"/>
            <a:pathLst>
              <a:path w="10668000" h="9525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800100"/>
                </a:lnTo>
                <a:cubicBezTo>
                  <a:pt x="10668000" y="884268"/>
                  <a:pt x="10599768" y="952500"/>
                  <a:pt x="10515600" y="952500"/>
                </a:cubicBezTo>
                <a:lnTo>
                  <a:pt x="152400" y="952500"/>
                </a:lnTo>
                <a:cubicBezTo>
                  <a:pt x="68232" y="952500"/>
                  <a:pt x="0" y="884268"/>
                  <a:pt x="0" y="800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47750" y="3143250"/>
            <a:ext cx="571500" cy="5715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38142" y="3297555"/>
            <a:ext cx="39071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🏝️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84985" y="3170872"/>
            <a:ext cx="36379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五个遇难的人被冲上了荒岛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2605" y="354996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岛上什么都没有，只有大海和森林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69057" y="4027170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9F1C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4572000"/>
            <a:ext cx="10668000" cy="1143000"/>
          </a:xfrm>
          <a:custGeom>
            <a:avLst/>
            <a:gdLst/>
            <a:ahLst/>
            <a:cxnLst/>
            <a:rect l="l" t="t" r="r" b="b"/>
            <a:pathLst>
              <a:path w="10668000" h="11430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990600"/>
                </a:lnTo>
                <a:cubicBezTo>
                  <a:pt x="10668000" y="1074768"/>
                  <a:pt x="10599768" y="1143000"/>
                  <a:pt x="105156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FBF69"/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762000" y="4572000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28575" y="0"/>
                </a:moveTo>
                <a:lnTo>
                  <a:pt x="10639425" y="0"/>
                </a:lnTo>
                <a:cubicBezTo>
                  <a:pt x="10655207" y="0"/>
                  <a:pt x="10668000" y="12793"/>
                  <a:pt x="10668000" y="28575"/>
                </a:cubicBezTo>
                <a:lnTo>
                  <a:pt x="10668000" y="28575"/>
                </a:lnTo>
                <a:cubicBezTo>
                  <a:pt x="10668000" y="44357"/>
                  <a:pt x="10655207" y="57150"/>
                  <a:pt x="10639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BF69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1047750" y="4857750"/>
            <a:ext cx="571500" cy="571500"/>
          </a:xfrm>
          <a:prstGeom prst="ellipse">
            <a:avLst/>
          </a:prstGeom>
          <a:solidFill>
            <a:srgbClr val="FFBF69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222486" y="50120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💪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84985" y="4837748"/>
            <a:ext cx="396692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但他们说："我们一起努力！"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92605" y="528351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不害怕、不放弃，用团结战胜困难</a:t>
            </a:r>
          </a:p>
        </p:txBody>
      </p:sp>
      <p:sp>
        <p:nvSpPr>
          <p:cNvPr id="25" name="Ellipse 25"/>
          <p:cNvSpPr/>
          <p:nvPr/>
        </p:nvSpPr>
        <p:spPr>
          <a:xfrm>
            <a:off x="10401300" y="1066800"/>
            <a:ext cx="152400" cy="15240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0090" y="405765"/>
            <a:ext cx="456248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认识岛上的英雄们 ⭐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143000"/>
            <a:ext cx="3524250" cy="1333500"/>
          </a:xfrm>
          <a:custGeom>
            <a:avLst/>
            <a:gdLst/>
            <a:ahLst/>
            <a:cxnLst/>
            <a:rect l="l" t="t" r="r" b="b"/>
            <a:pathLst>
              <a:path w="3524250" h="1333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181100"/>
                </a:lnTo>
                <a:cubicBezTo>
                  <a:pt x="3524250" y="1265268"/>
                  <a:pt x="3456018" y="1333500"/>
                  <a:pt x="3371850" y="1333500"/>
                </a:cubicBezTo>
                <a:lnTo>
                  <a:pt x="152400" y="1333500"/>
                </a:lnTo>
                <a:cubicBezTo>
                  <a:pt x="68232" y="1333500"/>
                  <a:pt x="0" y="1265268"/>
                  <a:pt x="0" y="1181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14300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838200" y="1362075"/>
            <a:ext cx="609600" cy="609600"/>
          </a:xfrm>
          <a:prstGeom prst="ellipse">
            <a:avLst/>
          </a:prstGeom>
          <a:solidFill>
            <a:srgbClr val="2EC4B6">
              <a:alpha val="15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6127" y="15125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98295" y="1441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史密斯工程师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4010" y="1775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聪明的大脑，什么都知道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5915" y="20774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团队领导者</a:t>
            </a:r>
          </a:p>
        </p:txBody>
      </p:sp>
      <p:sp>
        <p:nvSpPr>
          <p:cNvPr id="12" name="Freeform 12"/>
          <p:cNvSpPr/>
          <p:nvPr/>
        </p:nvSpPr>
        <p:spPr>
          <a:xfrm>
            <a:off x="4333875" y="1143000"/>
            <a:ext cx="3524250" cy="1333500"/>
          </a:xfrm>
          <a:custGeom>
            <a:avLst/>
            <a:gdLst/>
            <a:ahLst/>
            <a:cxnLst/>
            <a:rect l="l" t="t" r="r" b="b"/>
            <a:pathLst>
              <a:path w="3524250" h="1333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181100"/>
                </a:lnTo>
                <a:cubicBezTo>
                  <a:pt x="3524250" y="1265268"/>
                  <a:pt x="3456018" y="1333500"/>
                  <a:pt x="3371850" y="1333500"/>
                </a:cubicBezTo>
                <a:lnTo>
                  <a:pt x="152400" y="1333500"/>
                </a:lnTo>
                <a:cubicBezTo>
                  <a:pt x="68232" y="1333500"/>
                  <a:pt x="0" y="1265268"/>
                  <a:pt x="0" y="1181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4333875" y="114300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4600575" y="1362075"/>
            <a:ext cx="609600" cy="609600"/>
          </a:xfrm>
          <a:prstGeom prst="ellipse">
            <a:avLst/>
          </a:prstGeom>
          <a:solidFill>
            <a:srgbClr val="FF9F1C">
              <a:alpha val="15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78502" y="15125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60670" y="1441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小托普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66385" y="17754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勇敢的小男孩，和你差不多大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68290" y="2077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勇敢担当</a:t>
            </a:r>
          </a:p>
        </p:txBody>
      </p:sp>
      <p:sp>
        <p:nvSpPr>
          <p:cNvPr id="19" name="Freeform 19"/>
          <p:cNvSpPr/>
          <p:nvPr/>
        </p:nvSpPr>
        <p:spPr>
          <a:xfrm>
            <a:off x="8096250" y="1143000"/>
            <a:ext cx="3524250" cy="1333500"/>
          </a:xfrm>
          <a:custGeom>
            <a:avLst/>
            <a:gdLst/>
            <a:ahLst/>
            <a:cxnLst/>
            <a:rect l="l" t="t" r="r" b="b"/>
            <a:pathLst>
              <a:path w="3524250" h="1333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181100"/>
                </a:lnTo>
                <a:cubicBezTo>
                  <a:pt x="3524250" y="1265268"/>
                  <a:pt x="3456018" y="1333500"/>
                  <a:pt x="3371850" y="1333500"/>
                </a:cubicBezTo>
                <a:lnTo>
                  <a:pt x="152400" y="1333500"/>
                </a:lnTo>
                <a:cubicBezTo>
                  <a:pt x="68232" y="1333500"/>
                  <a:pt x="0" y="1265268"/>
                  <a:pt x="0" y="1181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8096250" y="114300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BF69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8362950" y="1362075"/>
            <a:ext cx="609600" cy="609600"/>
          </a:xfrm>
          <a:prstGeom prst="ellipse">
            <a:avLst/>
          </a:prstGeom>
          <a:solidFill>
            <a:srgbClr val="FFBF69">
              <a:alpha val="15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540877" y="151257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23045" y="14411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记者史佩莱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28760" y="17754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会讲故事的人，观察力超强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30665" y="20774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记录者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2762250"/>
            <a:ext cx="3524250" cy="1333500"/>
          </a:xfrm>
          <a:custGeom>
            <a:avLst/>
            <a:gdLst/>
            <a:ahLst/>
            <a:cxnLst/>
            <a:rect l="l" t="t" r="r" b="b"/>
            <a:pathLst>
              <a:path w="3524250" h="1333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181100"/>
                </a:lnTo>
                <a:cubicBezTo>
                  <a:pt x="3524250" y="1265268"/>
                  <a:pt x="3456018" y="1333500"/>
                  <a:pt x="3371850" y="1333500"/>
                </a:cubicBezTo>
                <a:lnTo>
                  <a:pt x="152400" y="1333500"/>
                </a:lnTo>
                <a:cubicBezTo>
                  <a:pt x="68232" y="1333500"/>
                  <a:pt x="0" y="1265268"/>
                  <a:pt x="0" y="1181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571500" y="276225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38200" y="2981325"/>
            <a:ext cx="609600" cy="609600"/>
          </a:xfrm>
          <a:prstGeom prst="ellipse">
            <a:avLst/>
          </a:prstGeom>
          <a:solidFill>
            <a:srgbClr val="2EC4B6">
              <a:alpha val="15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16127" y="313182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98295" y="30603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水手潘克洛夫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04010" y="339471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航海高手，什么都会做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5915" y="3696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动手达人</a:t>
            </a:r>
          </a:p>
        </p:txBody>
      </p:sp>
      <p:sp>
        <p:nvSpPr>
          <p:cNvPr id="33" name="Freeform 33"/>
          <p:cNvSpPr/>
          <p:nvPr/>
        </p:nvSpPr>
        <p:spPr>
          <a:xfrm>
            <a:off x="4333875" y="2762250"/>
            <a:ext cx="3524250" cy="1333500"/>
          </a:xfrm>
          <a:custGeom>
            <a:avLst/>
            <a:gdLst/>
            <a:ahLst/>
            <a:cxnLst/>
            <a:rect l="l" t="t" r="r" b="b"/>
            <a:pathLst>
              <a:path w="3524250" h="1333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181100"/>
                </a:lnTo>
                <a:cubicBezTo>
                  <a:pt x="3524250" y="1265268"/>
                  <a:pt x="3456018" y="1333500"/>
                  <a:pt x="3371850" y="1333500"/>
                </a:cubicBezTo>
                <a:lnTo>
                  <a:pt x="152400" y="1333500"/>
                </a:lnTo>
                <a:cubicBezTo>
                  <a:pt x="68232" y="1333500"/>
                  <a:pt x="0" y="1265268"/>
                  <a:pt x="0" y="1181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4333875" y="276225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4600575" y="2981325"/>
            <a:ext cx="609600" cy="609600"/>
          </a:xfrm>
          <a:prstGeom prst="ellipse">
            <a:avLst/>
          </a:prstGeom>
          <a:solidFill>
            <a:srgbClr val="FF9F1C">
              <a:alpha val="15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78502" y="313182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🍳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60670" y="3060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黑人纳布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66385" y="33947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厨艺大师，最忠诚的伙伴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368290" y="3696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温暖守护</a:t>
            </a:r>
          </a:p>
        </p:txBody>
      </p:sp>
      <p:sp>
        <p:nvSpPr>
          <p:cNvPr id="40" name="Freeform 40"/>
          <p:cNvSpPr/>
          <p:nvPr/>
        </p:nvSpPr>
        <p:spPr>
          <a:xfrm>
            <a:off x="8096250" y="2762250"/>
            <a:ext cx="3524250" cy="1333500"/>
          </a:xfrm>
          <a:custGeom>
            <a:avLst/>
            <a:gdLst/>
            <a:ahLst/>
            <a:cxnLst/>
            <a:rect l="l" t="t" r="r" b="b"/>
            <a:pathLst>
              <a:path w="3524250" h="1333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181100"/>
                </a:lnTo>
                <a:cubicBezTo>
                  <a:pt x="3524250" y="1265268"/>
                  <a:pt x="3456018" y="1333500"/>
                  <a:pt x="3371850" y="1333500"/>
                </a:cubicBezTo>
                <a:lnTo>
                  <a:pt x="152400" y="1333500"/>
                </a:lnTo>
                <a:cubicBezTo>
                  <a:pt x="68232" y="1333500"/>
                  <a:pt x="0" y="1265268"/>
                  <a:pt x="0" y="1181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8096250" y="276225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BF69"/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8362950" y="2981325"/>
            <a:ext cx="609600" cy="609600"/>
          </a:xfrm>
          <a:prstGeom prst="ellipse">
            <a:avLst/>
          </a:prstGeom>
          <a:solidFill>
            <a:srgbClr val="FFBF69">
              <a:alpha val="15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540877" y="3131820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🤝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23045" y="30603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艾尔通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28760" y="339471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后来加入的伙伴，改过自新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30665" y="3696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迷途知返</a:t>
            </a:r>
          </a:p>
        </p:txBody>
      </p:sp>
      <p:sp>
        <p:nvSpPr>
          <p:cNvPr id="47" name="Freeform 47"/>
          <p:cNvSpPr/>
          <p:nvPr/>
        </p:nvSpPr>
        <p:spPr>
          <a:xfrm>
            <a:off x="762000" y="4572000"/>
            <a:ext cx="10668000" cy="666750"/>
          </a:xfrm>
          <a:custGeom>
            <a:avLst/>
            <a:gdLst/>
            <a:ahLst/>
            <a:cxnLst/>
            <a:rect l="l" t="t" r="r" b="b"/>
            <a:pathLst>
              <a:path w="10668000" h="66675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514350"/>
                </a:lnTo>
                <a:cubicBezTo>
                  <a:pt x="10668000" y="598518"/>
                  <a:pt x="10599768" y="666750"/>
                  <a:pt x="10515600" y="666750"/>
                </a:cubicBezTo>
                <a:lnTo>
                  <a:pt x="152400" y="666750"/>
                </a:lnTo>
                <a:cubicBezTo>
                  <a:pt x="68232" y="666750"/>
                  <a:pt x="0" y="598518"/>
                  <a:pt x="0" y="514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316355" y="4759642"/>
            <a:ext cx="4145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💡 小托普和二年级的你差不多大，他可勇敢了！</a:t>
            </a:r>
          </a:p>
        </p:txBody>
      </p:sp>
      <p:sp>
        <p:nvSpPr>
          <p:cNvPr id="49" name="Ellipse 49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FFBF69">
              <a:alpha val="50000"/>
            </a:srgbClr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0090" y="405765"/>
            <a:ext cx="557460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从一无所有到建起家园 🏠</a:t>
            </a:r>
          </a:p>
        </p:txBody>
      </p:sp>
      <p:sp>
        <p:nvSpPr>
          <p:cNvPr id="5" name="Line 5"/>
          <p:cNvSpPr/>
          <p:nvPr/>
        </p:nvSpPr>
        <p:spPr>
          <a:xfrm>
            <a:off x="1143000" y="209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38100" cap="rnd">
            <a:solidFill>
              <a:srgbClr val="FFBF69"/>
            </a:solidFill>
          </a:ln>
        </p:spPr>
      </p:sp>
      <p:sp>
        <p:nvSpPr>
          <p:cNvPr id="6" name="Ellipse 6"/>
          <p:cNvSpPr/>
          <p:nvPr/>
        </p:nvSpPr>
        <p:spPr>
          <a:xfrm>
            <a:off x="1257300" y="1828800"/>
            <a:ext cx="533400" cy="5334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428845" y="198691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🔨</a:t>
            </a:r>
          </a:p>
        </p:txBody>
      </p:sp>
      <p:sp>
        <p:nvSpPr>
          <p:cNvPr id="8" name="Freeform 8"/>
          <p:cNvSpPr/>
          <p:nvPr/>
        </p:nvSpPr>
        <p:spPr>
          <a:xfrm>
            <a:off x="666750" y="2667000"/>
            <a:ext cx="1905000" cy="2857500"/>
          </a:xfrm>
          <a:custGeom>
            <a:avLst/>
            <a:gdLst/>
            <a:ahLst/>
            <a:cxnLst/>
            <a:rect l="l" t="t" r="r" b="b"/>
            <a:pathLst>
              <a:path w="1905000" h="2857500">
                <a:moveTo>
                  <a:pt x="152400" y="0"/>
                </a:moveTo>
                <a:lnTo>
                  <a:pt x="1752600" y="0"/>
                </a:lnTo>
                <a:cubicBezTo>
                  <a:pt x="1836768" y="0"/>
                  <a:pt x="1905000" y="68232"/>
                  <a:pt x="1905000" y="152400"/>
                </a:cubicBezTo>
                <a:lnTo>
                  <a:pt x="1905000" y="2705100"/>
                </a:lnTo>
                <a:cubicBezTo>
                  <a:pt x="1905000" y="2789268"/>
                  <a:pt x="1836768" y="2857500"/>
                  <a:pt x="1752600" y="2857500"/>
                </a:cubicBezTo>
                <a:lnTo>
                  <a:pt x="152400" y="2857500"/>
                </a:lnTo>
                <a:cubicBezTo>
                  <a:pt x="68232" y="2857500"/>
                  <a:pt x="0" y="2789268"/>
                  <a:pt x="0" y="2705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45929" y="2932748"/>
            <a:ext cx="9466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第一步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8748" y="3346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搭帐篷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010" y="38709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用树枝和帆布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010" y="41567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搭了一个临时小家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9659" y="4438650"/>
            <a:ext cx="31718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4858" y="5125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先有个地方住</a:t>
            </a:r>
          </a:p>
        </p:txBody>
      </p:sp>
      <p:sp>
        <p:nvSpPr>
          <p:cNvPr id="15" name="Polygon 15"/>
          <p:cNvSpPr/>
          <p:nvPr/>
        </p:nvSpPr>
        <p:spPr>
          <a:xfrm>
            <a:off x="2762250" y="2047875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0"/>
                </a:moveTo>
                <a:lnTo>
                  <a:pt x="2857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3352800" y="1828800"/>
            <a:ext cx="533400" cy="5334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524345" y="198691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🌾</a:t>
            </a:r>
          </a:p>
        </p:txBody>
      </p:sp>
      <p:sp>
        <p:nvSpPr>
          <p:cNvPr id="18" name="Freeform 18"/>
          <p:cNvSpPr/>
          <p:nvPr/>
        </p:nvSpPr>
        <p:spPr>
          <a:xfrm>
            <a:off x="2762250" y="2667000"/>
            <a:ext cx="1905000" cy="2857500"/>
          </a:xfrm>
          <a:custGeom>
            <a:avLst/>
            <a:gdLst/>
            <a:ahLst/>
            <a:cxnLst/>
            <a:rect l="l" t="t" r="r" b="b"/>
            <a:pathLst>
              <a:path w="1905000" h="2857500">
                <a:moveTo>
                  <a:pt x="152400" y="0"/>
                </a:moveTo>
                <a:lnTo>
                  <a:pt x="1752600" y="0"/>
                </a:lnTo>
                <a:cubicBezTo>
                  <a:pt x="1836768" y="0"/>
                  <a:pt x="1905000" y="68232"/>
                  <a:pt x="1905000" y="152400"/>
                </a:cubicBezTo>
                <a:lnTo>
                  <a:pt x="1905000" y="2705100"/>
                </a:lnTo>
                <a:cubicBezTo>
                  <a:pt x="1905000" y="2789268"/>
                  <a:pt x="1836768" y="2857500"/>
                  <a:pt x="1752600" y="2857500"/>
                </a:cubicBezTo>
                <a:lnTo>
                  <a:pt x="152400" y="2857500"/>
                </a:lnTo>
                <a:cubicBezTo>
                  <a:pt x="68232" y="2857500"/>
                  <a:pt x="0" y="2789268"/>
                  <a:pt x="0" y="2705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241429" y="2932748"/>
            <a:ext cx="9466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第二步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14248" y="3346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找食物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37510" y="38709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打猎、种庄稼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37510" y="41567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还驯养了动物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75159" y="4438650"/>
            <a:ext cx="31718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37034" y="51254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不愁吃喝了</a:t>
            </a:r>
          </a:p>
        </p:txBody>
      </p:sp>
      <p:sp>
        <p:nvSpPr>
          <p:cNvPr id="25" name="Polygon 25"/>
          <p:cNvSpPr/>
          <p:nvPr/>
        </p:nvSpPr>
        <p:spPr>
          <a:xfrm>
            <a:off x="4857750" y="2047875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0"/>
                </a:moveTo>
                <a:lnTo>
                  <a:pt x="2857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5448300" y="1828800"/>
            <a:ext cx="533400" cy="533400"/>
          </a:xfrm>
          <a:prstGeom prst="ellipse">
            <a:avLst/>
          </a:prstGeom>
          <a:solidFill>
            <a:srgbClr val="FFBF6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619845" y="198691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🧱</a:t>
            </a:r>
          </a:p>
        </p:txBody>
      </p:sp>
      <p:sp>
        <p:nvSpPr>
          <p:cNvPr id="28" name="Freeform 28"/>
          <p:cNvSpPr/>
          <p:nvPr/>
        </p:nvSpPr>
        <p:spPr>
          <a:xfrm>
            <a:off x="4857750" y="2667000"/>
            <a:ext cx="1905000" cy="2857500"/>
          </a:xfrm>
          <a:custGeom>
            <a:avLst/>
            <a:gdLst/>
            <a:ahLst/>
            <a:cxnLst/>
            <a:rect l="l" t="t" r="r" b="b"/>
            <a:pathLst>
              <a:path w="1905000" h="2857500">
                <a:moveTo>
                  <a:pt x="152400" y="0"/>
                </a:moveTo>
                <a:lnTo>
                  <a:pt x="1752600" y="0"/>
                </a:lnTo>
                <a:cubicBezTo>
                  <a:pt x="1836768" y="0"/>
                  <a:pt x="1905000" y="68232"/>
                  <a:pt x="1905000" y="152400"/>
                </a:cubicBezTo>
                <a:lnTo>
                  <a:pt x="1905000" y="2705100"/>
                </a:lnTo>
                <a:cubicBezTo>
                  <a:pt x="1905000" y="2789268"/>
                  <a:pt x="1836768" y="2857500"/>
                  <a:pt x="1752600" y="2857500"/>
                </a:cubicBezTo>
                <a:lnTo>
                  <a:pt x="152400" y="2857500"/>
                </a:lnTo>
                <a:cubicBezTo>
                  <a:pt x="68232" y="2857500"/>
                  <a:pt x="0" y="2789268"/>
                  <a:pt x="0" y="2705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336929" y="2932748"/>
            <a:ext cx="9466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第三步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09748" y="3346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造房子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33010" y="38709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用石头和泥土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33010" y="41567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建了坚固的住所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70659" y="4438650"/>
            <a:ext cx="31718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🏠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032534" y="51254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不怕风雨了</a:t>
            </a:r>
          </a:p>
        </p:txBody>
      </p:sp>
      <p:sp>
        <p:nvSpPr>
          <p:cNvPr id="35" name="Polygon 35"/>
          <p:cNvSpPr/>
          <p:nvPr/>
        </p:nvSpPr>
        <p:spPr>
          <a:xfrm>
            <a:off x="6953250" y="2047875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0"/>
                </a:moveTo>
                <a:lnTo>
                  <a:pt x="2857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7543800" y="1828800"/>
            <a:ext cx="533400" cy="5334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715345" y="198691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🚢</a:t>
            </a:r>
          </a:p>
        </p:txBody>
      </p:sp>
      <p:sp>
        <p:nvSpPr>
          <p:cNvPr id="38" name="Freeform 38"/>
          <p:cNvSpPr/>
          <p:nvPr/>
        </p:nvSpPr>
        <p:spPr>
          <a:xfrm>
            <a:off x="6953250" y="2667000"/>
            <a:ext cx="1905000" cy="2857500"/>
          </a:xfrm>
          <a:custGeom>
            <a:avLst/>
            <a:gdLst/>
            <a:ahLst/>
            <a:cxnLst/>
            <a:rect l="l" t="t" r="r" b="b"/>
            <a:pathLst>
              <a:path w="1905000" h="2857500">
                <a:moveTo>
                  <a:pt x="152400" y="0"/>
                </a:moveTo>
                <a:lnTo>
                  <a:pt x="1752600" y="0"/>
                </a:lnTo>
                <a:cubicBezTo>
                  <a:pt x="1836768" y="0"/>
                  <a:pt x="1905000" y="68232"/>
                  <a:pt x="1905000" y="152400"/>
                </a:cubicBezTo>
                <a:lnTo>
                  <a:pt x="1905000" y="2705100"/>
                </a:lnTo>
                <a:cubicBezTo>
                  <a:pt x="1905000" y="2789268"/>
                  <a:pt x="1836768" y="2857500"/>
                  <a:pt x="1752600" y="2857500"/>
                </a:cubicBezTo>
                <a:lnTo>
                  <a:pt x="152400" y="2857500"/>
                </a:lnTo>
                <a:cubicBezTo>
                  <a:pt x="68232" y="2857500"/>
                  <a:pt x="0" y="2789268"/>
                  <a:pt x="0" y="2705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432429" y="2932748"/>
            <a:ext cx="9466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第四步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05248" y="3346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造大船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128510" y="38709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有了砖窑、电报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128510" y="41567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还造了一艘船！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66159" y="4438650"/>
            <a:ext cx="31718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128034" y="51254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太厉害了！</a:t>
            </a:r>
          </a:p>
        </p:txBody>
      </p:sp>
      <p:sp>
        <p:nvSpPr>
          <p:cNvPr id="45" name="Ellipse 45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10906125" y="1190625"/>
            <a:ext cx="95250" cy="95250"/>
          </a:xfrm>
          <a:prstGeom prst="ellipse">
            <a:avLst/>
          </a:prstGeom>
          <a:solidFill>
            <a:srgbClr val="FFBF69">
              <a:alpha val="50000"/>
            </a:srgbClr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0090" y="405765"/>
            <a:ext cx="49167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最让你尖叫的情节！😱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238250"/>
            <a:ext cx="5334000" cy="2381250"/>
          </a:xfrm>
          <a:custGeom>
            <a:avLst/>
            <a:gdLst/>
            <a:ahLst/>
            <a:cxnLst/>
            <a:rect l="l" t="t" r="r" b="b"/>
            <a:pathLst>
              <a:path w="5334000" h="2381250">
                <a:moveTo>
                  <a:pt x="152400" y="0"/>
                </a:moveTo>
                <a:lnTo>
                  <a:pt x="5181600" y="0"/>
                </a:lnTo>
                <a:cubicBezTo>
                  <a:pt x="5265768" y="0"/>
                  <a:pt x="5334000" y="68232"/>
                  <a:pt x="5334000" y="152400"/>
                </a:cubicBezTo>
                <a:lnTo>
                  <a:pt x="5334000" y="2228850"/>
                </a:lnTo>
                <a:cubicBezTo>
                  <a:pt x="5334000" y="2313018"/>
                  <a:pt x="5265768" y="2381250"/>
                  <a:pt x="5181600" y="2381250"/>
                </a:cubicBezTo>
                <a:lnTo>
                  <a:pt x="152400" y="2381250"/>
                </a:lnTo>
                <a:cubicBezTo>
                  <a:pt x="68232" y="2381250"/>
                  <a:pt x="0" y="2313018"/>
                  <a:pt x="0" y="22288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23825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81100" y="1704975"/>
            <a:ext cx="47577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0400" y="1581150"/>
            <a:ext cx="3292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EC4B6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81425" y="1471612"/>
            <a:ext cx="2469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9F1C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00438" y="2083594"/>
            <a:ext cx="2057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FFBF69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0140" y="2567940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岛上突然来了一个神秘人！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5855" y="299751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他是谁？从哪里来？为什么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5855" y="3264218"/>
            <a:ext cx="20256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一直不说话……好神秘！</a:t>
            </a:r>
          </a:p>
        </p:txBody>
      </p:sp>
      <p:sp>
        <p:nvSpPr>
          <p:cNvPr id="14" name="Freeform 14"/>
          <p:cNvSpPr/>
          <p:nvPr/>
        </p:nvSpPr>
        <p:spPr>
          <a:xfrm>
            <a:off x="6286500" y="1238250"/>
            <a:ext cx="5334000" cy="2381250"/>
          </a:xfrm>
          <a:custGeom>
            <a:avLst/>
            <a:gdLst/>
            <a:ahLst/>
            <a:cxnLst/>
            <a:rect l="l" t="t" r="r" b="b"/>
            <a:pathLst>
              <a:path w="5334000" h="2381250">
                <a:moveTo>
                  <a:pt x="152400" y="0"/>
                </a:moveTo>
                <a:lnTo>
                  <a:pt x="5181600" y="0"/>
                </a:lnTo>
                <a:cubicBezTo>
                  <a:pt x="5265768" y="0"/>
                  <a:pt x="5334000" y="68232"/>
                  <a:pt x="5334000" y="152400"/>
                </a:cubicBezTo>
                <a:lnTo>
                  <a:pt x="5334000" y="2228850"/>
                </a:lnTo>
                <a:cubicBezTo>
                  <a:pt x="5334000" y="2313018"/>
                  <a:pt x="5265768" y="2381250"/>
                  <a:pt x="5181600" y="2381250"/>
                </a:cubicBezTo>
                <a:lnTo>
                  <a:pt x="152400" y="2381250"/>
                </a:lnTo>
                <a:cubicBezTo>
                  <a:pt x="68232" y="2381250"/>
                  <a:pt x="0" y="2313018"/>
                  <a:pt x="0" y="22288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6286500" y="123825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896100" y="1609725"/>
            <a:ext cx="47577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35140" y="2567940"/>
            <a:ext cx="30821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他们还有一只忠诚的狗！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40855" y="299751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名字叫托普，和那个小男孩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40855" y="32642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同名。它救了主人的命！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390525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152400" y="0"/>
                </a:moveTo>
                <a:lnTo>
                  <a:pt x="10896600" y="0"/>
                </a:lnTo>
                <a:cubicBezTo>
                  <a:pt x="10980768" y="0"/>
                  <a:pt x="11049000" y="68232"/>
                  <a:pt x="11049000" y="152400"/>
                </a:cubicBezTo>
                <a:lnTo>
                  <a:pt x="11049000" y="1752600"/>
                </a:lnTo>
                <a:cubicBezTo>
                  <a:pt x="11049000" y="1836768"/>
                  <a:pt x="10980768" y="1905000"/>
                  <a:pt x="10896600" y="1905000"/>
                </a:cubicBezTo>
                <a:lnTo>
                  <a:pt x="152400" y="1905000"/>
                </a:lnTo>
                <a:cubicBezTo>
                  <a:pt x="68232" y="1905000"/>
                  <a:pt x="0" y="1836768"/>
                  <a:pt x="0" y="1752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571500" y="3905250"/>
            <a:ext cx="11049000" cy="57150"/>
          </a:xfrm>
          <a:custGeom>
            <a:avLst/>
            <a:gdLst/>
            <a:ahLst/>
            <a:cxnLst/>
            <a:rect l="l" t="t" r="r" b="b"/>
            <a:pathLst>
              <a:path w="11049000" h="57150">
                <a:moveTo>
                  <a:pt x="28575" y="0"/>
                </a:moveTo>
                <a:lnTo>
                  <a:pt x="11020425" y="0"/>
                </a:lnTo>
                <a:cubicBezTo>
                  <a:pt x="11036207" y="0"/>
                  <a:pt x="11049000" y="12793"/>
                  <a:pt x="11049000" y="28575"/>
                </a:cubicBezTo>
                <a:lnTo>
                  <a:pt x="11049000" y="28575"/>
                </a:lnTo>
                <a:cubicBezTo>
                  <a:pt x="11049000" y="44357"/>
                  <a:pt x="11036207" y="57150"/>
                  <a:pt x="1102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BF69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181100" y="4181475"/>
            <a:ext cx="47577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🌊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70735" y="4266248"/>
            <a:ext cx="18437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更大的秘密！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76450" y="4695825"/>
            <a:ext cx="50987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尼摩船长出现了！原来这个荒岛上藏着更多的秘密……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6450" y="5029200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想知道发生了什么吗？快去读书吧！</a:t>
            </a:r>
          </a:p>
        </p:txBody>
      </p:sp>
      <p:sp>
        <p:nvSpPr>
          <p:cNvPr id="26" name="Freeform 26"/>
          <p:cNvSpPr/>
          <p:nvPr/>
        </p:nvSpPr>
        <p:spPr>
          <a:xfrm>
            <a:off x="9144000" y="4191000"/>
            <a:ext cx="1333500" cy="342900"/>
          </a:xfrm>
          <a:custGeom>
            <a:avLst/>
            <a:gdLst/>
            <a:ahLst/>
            <a:cxnLst/>
            <a:rect l="l" t="t" r="r" b="b"/>
            <a:pathLst>
              <a:path w="1333500" h="342900">
                <a:moveTo>
                  <a:pt x="171450" y="0"/>
                </a:moveTo>
                <a:lnTo>
                  <a:pt x="1162050" y="0"/>
                </a:lnTo>
                <a:cubicBezTo>
                  <a:pt x="1256739" y="0"/>
                  <a:pt x="1333500" y="76761"/>
                  <a:pt x="1333500" y="171450"/>
                </a:cubicBezTo>
                <a:lnTo>
                  <a:pt x="1333500" y="171450"/>
                </a:lnTo>
                <a:cubicBezTo>
                  <a:pt x="1333500" y="266139"/>
                  <a:pt x="1256739" y="342900"/>
                  <a:pt x="116205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394865" y="43062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不剧透太多</a:t>
            </a:r>
          </a:p>
        </p:txBody>
      </p:sp>
      <p:sp>
        <p:nvSpPr>
          <p:cNvPr id="28" name="Ellipse 28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FFBF69">
              <a:alpha val="50000"/>
            </a:srgbClr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0090" y="405765"/>
            <a:ext cx="570112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读完这本书，我学到了……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238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238250"/>
            <a:ext cx="3524250" cy="57150"/>
          </a:xfrm>
          <a:custGeom>
            <a:avLst/>
            <a:gdLst/>
            <a:ahLst/>
            <a:cxnLst/>
            <a:rect l="l" t="t" r="r" b="b"/>
            <a:pathLst>
              <a:path w="3524250" h="57150">
                <a:moveTo>
                  <a:pt x="28575" y="0"/>
                </a:moveTo>
                <a:lnTo>
                  <a:pt x="3495675" y="0"/>
                </a:lnTo>
                <a:cubicBezTo>
                  <a:pt x="3511457" y="0"/>
                  <a:pt x="3524250" y="12793"/>
                  <a:pt x="3524250" y="28575"/>
                </a:cubicBezTo>
                <a:lnTo>
                  <a:pt x="3524250" y="28575"/>
                </a:lnTo>
                <a:cubicBezTo>
                  <a:pt x="3524250" y="44357"/>
                  <a:pt x="3511457" y="57150"/>
                  <a:pt x="349567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952500" y="1619250"/>
            <a:ext cx="762000" cy="762000"/>
          </a:xfrm>
          <a:prstGeom prst="ellipse">
            <a:avLst/>
          </a:prstGeom>
          <a:solidFill>
            <a:srgbClr val="2EC4B6">
              <a:alpha val="12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90768" y="182308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💪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77390" y="1663065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学会勇敢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5808" y="2148364"/>
            <a:ext cx="13358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遇到困难不放弃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5808" y="2415064"/>
            <a:ext cx="20807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害怕是正常的，但不能被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5808" y="2681764"/>
            <a:ext cx="9634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害怕打败！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30299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关键词：勇气</a:t>
            </a:r>
          </a:p>
        </p:txBody>
      </p:sp>
      <p:sp>
        <p:nvSpPr>
          <p:cNvPr id="14" name="Freeform 14"/>
          <p:cNvSpPr/>
          <p:nvPr/>
        </p:nvSpPr>
        <p:spPr>
          <a:xfrm>
            <a:off x="4333875" y="1238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333875" y="1238250"/>
            <a:ext cx="3524250" cy="57150"/>
          </a:xfrm>
          <a:custGeom>
            <a:avLst/>
            <a:gdLst/>
            <a:ahLst/>
            <a:cxnLst/>
            <a:rect l="l" t="t" r="r" b="b"/>
            <a:pathLst>
              <a:path w="3524250" h="57150">
                <a:moveTo>
                  <a:pt x="28575" y="0"/>
                </a:moveTo>
                <a:lnTo>
                  <a:pt x="3495675" y="0"/>
                </a:lnTo>
                <a:cubicBezTo>
                  <a:pt x="3511457" y="0"/>
                  <a:pt x="3524250" y="12793"/>
                  <a:pt x="3524250" y="28575"/>
                </a:cubicBezTo>
                <a:lnTo>
                  <a:pt x="3524250" y="28575"/>
                </a:lnTo>
                <a:cubicBezTo>
                  <a:pt x="3524250" y="44357"/>
                  <a:pt x="3511457" y="57150"/>
                  <a:pt x="349567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9F1C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714875" y="1619250"/>
            <a:ext cx="762000" cy="762000"/>
          </a:xfrm>
          <a:prstGeom prst="ellipse">
            <a:avLst/>
          </a:prstGeom>
          <a:solidFill>
            <a:srgbClr val="FF9F1C">
              <a:alpha val="12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953143" y="182308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39765" y="1663065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团结力量大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8182" y="214836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五个人一起才能成功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8182" y="2415064"/>
            <a:ext cx="18945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每个人都有不同的本领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08182" y="2681764"/>
            <a:ext cx="20807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团结起来就没有做不到的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11040" y="30299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关键词：合作</a:t>
            </a:r>
          </a:p>
        </p:txBody>
      </p:sp>
      <p:sp>
        <p:nvSpPr>
          <p:cNvPr id="23" name="Freeform 23"/>
          <p:cNvSpPr/>
          <p:nvPr/>
        </p:nvSpPr>
        <p:spPr>
          <a:xfrm>
            <a:off x="8096250" y="12382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152400" y="0"/>
                </a:moveTo>
                <a:lnTo>
                  <a:pt x="3371850" y="0"/>
                </a:lnTo>
                <a:cubicBezTo>
                  <a:pt x="3456018" y="0"/>
                  <a:pt x="3524250" y="68232"/>
                  <a:pt x="3524250" y="152400"/>
                </a:cubicBezTo>
                <a:lnTo>
                  <a:pt x="3524250" y="1943100"/>
                </a:lnTo>
                <a:cubicBezTo>
                  <a:pt x="3524250" y="2027268"/>
                  <a:pt x="3456018" y="2095500"/>
                  <a:pt x="3371850" y="2095500"/>
                </a:cubicBezTo>
                <a:lnTo>
                  <a:pt x="152400" y="2095500"/>
                </a:lnTo>
                <a:cubicBezTo>
                  <a:pt x="68232" y="2095500"/>
                  <a:pt x="0" y="2027268"/>
                  <a:pt x="0" y="1943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8E1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8096250" y="1238250"/>
            <a:ext cx="3524250" cy="57150"/>
          </a:xfrm>
          <a:custGeom>
            <a:avLst/>
            <a:gdLst/>
            <a:ahLst/>
            <a:cxnLst/>
            <a:rect l="l" t="t" r="r" b="b"/>
            <a:pathLst>
              <a:path w="3524250" h="57150">
                <a:moveTo>
                  <a:pt x="28575" y="0"/>
                </a:moveTo>
                <a:lnTo>
                  <a:pt x="3495675" y="0"/>
                </a:lnTo>
                <a:cubicBezTo>
                  <a:pt x="3511457" y="0"/>
                  <a:pt x="3524250" y="12793"/>
                  <a:pt x="3524250" y="28575"/>
                </a:cubicBezTo>
                <a:lnTo>
                  <a:pt x="3524250" y="28575"/>
                </a:lnTo>
                <a:cubicBezTo>
                  <a:pt x="3524250" y="44357"/>
                  <a:pt x="3511457" y="57150"/>
                  <a:pt x="349567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BF69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477250" y="1619250"/>
            <a:ext cx="762000" cy="762000"/>
          </a:xfrm>
          <a:prstGeom prst="ellipse">
            <a:avLst/>
          </a:prstGeom>
          <a:solidFill>
            <a:srgbClr val="FFBF69">
              <a:alpha val="12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715518" y="1823085"/>
            <a:ext cx="2854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02140" y="1663065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知识就是力量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70558" y="2148364"/>
            <a:ext cx="20807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工程师的知识救了所有人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70558" y="241506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学好本领，将来也能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70558" y="2681764"/>
            <a:ext cx="15220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帮助自己和别人！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73415" y="30299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BF69"/>
                </a:solidFill>
                <a:latin typeface="Microsoft YaHei"/>
                <a:ea typeface="Microsoft YaHei"/>
                <a:cs typeface="Microsoft YaHei"/>
              </a:rPr>
              <a:t>关键词：学习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3810000"/>
            <a:ext cx="10668000" cy="1905000"/>
          </a:xfrm>
          <a:custGeom>
            <a:avLst/>
            <a:gdLst/>
            <a:ahLst/>
            <a:cxnLst/>
            <a:rect l="l" t="t" r="r" b="b"/>
            <a:pathLst>
              <a:path w="10668000" h="1905000">
                <a:moveTo>
                  <a:pt x="152400" y="0"/>
                </a:moveTo>
                <a:lnTo>
                  <a:pt x="10515600" y="0"/>
                </a:lnTo>
                <a:cubicBezTo>
                  <a:pt x="10599768" y="0"/>
                  <a:pt x="10668000" y="68232"/>
                  <a:pt x="10668000" y="152400"/>
                </a:cubicBezTo>
                <a:lnTo>
                  <a:pt x="10668000" y="1752600"/>
                </a:lnTo>
                <a:cubicBezTo>
                  <a:pt x="10668000" y="1836768"/>
                  <a:pt x="10599768" y="1905000"/>
                  <a:pt x="10515600" y="1905000"/>
                </a:cubicBezTo>
                <a:lnTo>
                  <a:pt x="152400" y="1905000"/>
                </a:lnTo>
                <a:cubicBezTo>
                  <a:pt x="68232" y="1905000"/>
                  <a:pt x="0" y="1836768"/>
                  <a:pt x="0" y="1752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2EC4B6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762000" y="3810000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28575" y="0"/>
                </a:moveTo>
                <a:lnTo>
                  <a:pt x="10639425" y="0"/>
                </a:lnTo>
                <a:cubicBezTo>
                  <a:pt x="10655207" y="0"/>
                  <a:pt x="10668000" y="12793"/>
                  <a:pt x="10668000" y="28575"/>
                </a:cubicBezTo>
                <a:lnTo>
                  <a:pt x="10668000" y="28575"/>
                </a:lnTo>
                <a:cubicBezTo>
                  <a:pt x="10668000" y="44357"/>
                  <a:pt x="10655207" y="57150"/>
                  <a:pt x="10639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466850" y="4276725"/>
            <a:ext cx="47577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49830" y="425005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互动问题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53640" y="4758690"/>
            <a:ext cx="45148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如果你也到了荒岛上，你最想带什么？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459355" y="523589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（可以举手回答哦！）</a:t>
            </a:r>
          </a:p>
        </p:txBody>
      </p:sp>
      <p:sp>
        <p:nvSpPr>
          <p:cNvPr id="38" name="Ellipse 38"/>
          <p:cNvSpPr/>
          <p:nvPr/>
        </p:nvSpPr>
        <p:spPr>
          <a:xfrm>
            <a:off x="10401300" y="781050"/>
            <a:ext cx="152400" cy="15240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EC4B6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572500" y="571500"/>
            <a:ext cx="2286000" cy="2286000"/>
          </a:xfrm>
          <a:prstGeom prst="ellipse">
            <a:avLst/>
          </a:prstGeom>
          <a:solidFill>
            <a:srgbClr val="F0FAF9">
              <a:alpha val="5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43000" y="4381500"/>
            <a:ext cx="762000" cy="762000"/>
          </a:xfrm>
          <a:prstGeom prst="ellipse">
            <a:avLst/>
          </a:prstGeom>
          <a:solidFill>
            <a:srgbClr val="FFBF69">
              <a:alpha val="4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2762250" y="1047750"/>
            <a:ext cx="190500" cy="190500"/>
          </a:xfrm>
          <a:prstGeom prst="ellipse">
            <a:avLst/>
          </a:prstGeom>
          <a:solidFill>
            <a:srgbClr val="FF9F1C">
              <a:alpha val="5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8972550" y="4686300"/>
            <a:ext cx="152400" cy="152400"/>
          </a:xfrm>
          <a:prstGeom prst="ellipse">
            <a:avLst/>
          </a:prstGeom>
          <a:solidFill>
            <a:srgbClr val="2EC4B6">
              <a:alpha val="3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818465" y="1147762"/>
            <a:ext cx="555069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dirty="0">
                <a:solidFill>
                  <a:srgbClr val="000000"/>
                </a:solidFill>
                <a:latin typeface="Segoe UI Emoji"/>
                <a:ea typeface="Microsoft YaHei"/>
                <a:cs typeface="Segoe UI Emoji"/>
              </a:rPr>
              <a:t>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57161" y="1988820"/>
            <a:ext cx="427767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谢谢大家！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524500" y="2857500"/>
            <a:ext cx="1143000" cy="28575"/>
          </a:xfrm>
          <a:prstGeom prst="rect">
            <a:avLst/>
          </a:prstGeom>
          <a:solidFill>
            <a:srgbClr val="FFBF6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04849" y="3218498"/>
            <a:ext cx="318230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你们也想登上神秘岛吗？</a:t>
            </a:r>
          </a:p>
        </p:txBody>
      </p:sp>
      <p:sp>
        <p:nvSpPr>
          <p:cNvPr id="12" name="Freeform 12"/>
          <p:cNvSpPr/>
          <p:nvPr/>
        </p:nvSpPr>
        <p:spPr>
          <a:xfrm>
            <a:off x="4191000" y="3810000"/>
            <a:ext cx="3810000" cy="609600"/>
          </a:xfrm>
          <a:custGeom>
            <a:avLst/>
            <a:gdLst/>
            <a:ahLst/>
            <a:cxnLst/>
            <a:rect l="l" t="t" r="r" b="b"/>
            <a:pathLst>
              <a:path w="3810000" h="609600">
                <a:moveTo>
                  <a:pt x="152400" y="0"/>
                </a:moveTo>
                <a:lnTo>
                  <a:pt x="3657600" y="0"/>
                </a:lnTo>
                <a:cubicBezTo>
                  <a:pt x="3741768" y="0"/>
                  <a:pt x="3810000" y="68232"/>
                  <a:pt x="3810000" y="152400"/>
                </a:cubicBezTo>
                <a:lnTo>
                  <a:pt x="3810000" y="457200"/>
                </a:lnTo>
                <a:cubicBezTo>
                  <a:pt x="3810000" y="541368"/>
                  <a:pt x="3741768" y="609600"/>
                  <a:pt x="3657600" y="609600"/>
                </a:cubicBezTo>
                <a:lnTo>
                  <a:pt x="152400" y="609600"/>
                </a:lnTo>
                <a:cubicBezTo>
                  <a:pt x="68232" y="609600"/>
                  <a:pt x="0" y="541368"/>
                  <a:pt x="0" y="4572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92968" y="3996690"/>
            <a:ext cx="2806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快去读《神秘岛》吧！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51049" y="4934902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rPr>
              <a:t>分享人：六年级12班 梁峻睿</a:t>
            </a:r>
          </a:p>
        </p:txBody>
      </p:sp>
      <p:sp>
        <p:nvSpPr>
          <p:cNvPr id="15" name="Freeform 15"/>
          <p:cNvSpPr/>
          <p:nvPr/>
        </p:nvSpPr>
        <p:spPr>
          <a:xfrm>
            <a:off x="3238500" y="5429250"/>
            <a:ext cx="5715000" cy="476250"/>
          </a:xfrm>
          <a:custGeom>
            <a:avLst/>
            <a:gdLst/>
            <a:ahLst/>
            <a:cxnLst/>
            <a:rect l="l" t="t" r="r" b="b"/>
            <a:pathLst>
              <a:path w="5715000" h="476250">
                <a:moveTo>
                  <a:pt x="238125" y="0"/>
                </a:moveTo>
                <a:lnTo>
                  <a:pt x="5476875" y="0"/>
                </a:lnTo>
                <a:cubicBezTo>
                  <a:pt x="5608388" y="0"/>
                  <a:pt x="5715000" y="106612"/>
                  <a:pt x="5715000" y="238125"/>
                </a:cubicBezTo>
                <a:lnTo>
                  <a:pt x="5715000" y="238125"/>
                </a:lnTo>
                <a:cubicBezTo>
                  <a:pt x="5715000" y="369638"/>
                  <a:pt x="5608388" y="476250"/>
                  <a:pt x="5476875" y="476250"/>
                </a:cubicBezTo>
                <a:lnTo>
                  <a:pt x="238125" y="476250"/>
                </a:lnTo>
                <a:cubicBezTo>
                  <a:pt x="106612" y="476250"/>
                  <a:pt x="0" y="369638"/>
                  <a:pt x="0" y="23812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>
            <a:srgbClr val="F0FAF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722495" y="5585460"/>
            <a:ext cx="27470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🏝️ 好书就是——看完还想再看一遍！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239500" y="6286500"/>
            <a:ext cx="342900" cy="266700"/>
          </a:xfrm>
          <a:custGeom>
            <a:avLst/>
            <a:gdLst/>
            <a:ahLst/>
            <a:cxnLst/>
            <a:rect l="l" t="t" r="r" b="b"/>
            <a:pathLst>
              <a:path w="342900" h="2667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09550"/>
                </a:lnTo>
                <a:cubicBezTo>
                  <a:pt x="342900" y="241113"/>
                  <a:pt x="317313" y="266700"/>
                  <a:pt x="2857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4B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357450" y="63622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
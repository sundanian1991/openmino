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61" d="100"/>
          <a:sy n="161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556251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164592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</a:t>
            </a:r>
            <a:endParaRPr lang="en-US" sz="6400" dirty="0"/>
          </a:p>
        </p:txBody>
      </p:sp>
      <p:sp>
        <p:nvSpPr>
          <p:cNvPr id="4" name="Shape 2"/>
          <p:cNvSpPr/>
          <p:nvPr/>
        </p:nvSpPr>
        <p:spPr>
          <a:xfrm>
            <a:off x="1188720" y="3291840"/>
            <a:ext cx="137160" cy="7315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5" name="Text 3"/>
          <p:cNvSpPr/>
          <p:nvPr/>
        </p:nvSpPr>
        <p:spPr>
          <a:xfrm>
            <a:off x="1463040" y="3383280"/>
            <a:ext cx="5486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策略组与服务组结构性困境分析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4114800"/>
            <a:ext cx="27432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4297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2026-03-29 | 供应商管理岗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772400" y="4572000"/>
            <a:ext cx="914400" cy="91440"/>
          </a:xfrm>
          <a:prstGeom prst="rect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457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88720" y="1005840"/>
            <a:ext cx="411480" cy="41148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691640" y="1024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691640" y="120700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是什么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188720" y="1444752"/>
            <a:ext cx="32004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80160" y="15361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280160" y="1792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供应商困境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11480" cy="411480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0" y="1005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257800" y="102412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5257800" y="120700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4754880" y="1444752"/>
            <a:ext cx="32004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46320" y="15361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846320" y="179222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权责模型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46320" y="204825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行为模式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1188720" y="2743200"/>
            <a:ext cx="411480" cy="41148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118872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691640" y="27614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691640" y="2944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会怎样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1188720" y="3182112"/>
            <a:ext cx="32004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沟通无效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280160" y="3529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业务风险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754880" y="2743200"/>
            <a:ext cx="411480" cy="411480"/>
          </a:xfrm>
          <a:prstGeom prst="ellipse">
            <a:avLst/>
          </a:prstGeom>
          <a:solidFill>
            <a:srgbClr val="1A1A1A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0" y="27432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257800" y="2761488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5257800" y="294436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怎么办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54880" y="3182112"/>
            <a:ext cx="32004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27355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边界识别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846320" y="3529584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保护策略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46320" y="3785616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触发条件与行动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7772400" y="4572000"/>
            <a:ext cx="914400" cy="91440"/>
          </a:xfrm>
          <a:prstGeom prst="rect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· 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核心问题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8229600" cy="137160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9202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执行责任共担，但决策权仍偏策略组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这不是沟通问题，是权力结构问题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85876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374904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供应商夹在中间为难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" y="417880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406908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执行侧承担结果但缺少决策权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31520" y="4498848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438912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决策侧掌握定价权但不承担流失风险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 · 是什么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供应商夹层困境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2860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99999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服务组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质量提升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0" y="1554480"/>
            <a:ext cx="2286000" cy="2011680"/>
          </a:xfrm>
          <a:prstGeom prst="rect">
            <a:avLst/>
          </a:prstGeom>
          <a:solidFill>
            <a:srgbClr val="FFFFFF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0" y="15544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400800" y="2011680"/>
            <a:ext cx="22860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压降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价格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2608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394960" y="2377440"/>
            <a:ext cx="457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66666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←</a:t>
            </a:r>
            <a:endParaRPr lang="en-US" sz="2000" dirty="0"/>
          </a:p>
        </p:txBody>
      </p:sp>
      <p:sp>
        <p:nvSpPr>
          <p:cNvPr id="15" name="Shape 13"/>
          <p:cNvSpPr/>
          <p:nvPr/>
        </p:nvSpPr>
        <p:spPr>
          <a:xfrm>
            <a:off x="3474720" y="2103120"/>
            <a:ext cx="1828800" cy="1097280"/>
          </a:xfrm>
          <a:prstGeom prst="roundRect">
            <a:avLst>
              <a:gd name="adj" fmla="val 8333"/>
            </a:avLst>
          </a:prstGeom>
          <a:solidFill>
            <a:srgbClr val="FFF5F2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474720" y="21031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474720" y="2514600"/>
            <a:ext cx="1828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两头挤压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无处发力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3840480"/>
            <a:ext cx="82296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3931920"/>
            <a:ext cx="78638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恶性循环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640080" y="416052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增长的产能被抹杀 → 不愿投入 → 产能更低 → 更有理由压价（恶性循环）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2" name="Text 2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0" cy="51435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1188720" y="64008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 · 为什么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188720" y="91440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组织结构现状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1188720" y="155448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88720" y="1554480"/>
            <a:ext cx="3474720" cy="109728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137160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服务组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7160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01168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供应商管理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执行交付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71600" y="239572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01168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371600" y="277977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011680" y="27797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生态健康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交付质量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029200" y="1554480"/>
            <a:ext cx="34747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0" y="1554480"/>
            <a:ext cx="3474720" cy="109728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6" name="Text 14"/>
          <p:cNvSpPr/>
          <p:nvPr/>
        </p:nvSpPr>
        <p:spPr>
          <a:xfrm>
            <a:off x="5212080" y="1600200"/>
            <a:ext cx="3108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5212080" y="2011680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职责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852160" y="2011680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名单 + 定价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 + 数据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212080" y="2395728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852160" y="2395728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决策权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212080" y="2779776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852160" y="2779776"/>
            <a:ext cx="2468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预算目标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费效比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709160" y="2286000"/>
            <a:ext cx="274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↔</a:t>
            </a:r>
            <a:endParaRPr lang="en-US" sz="2400" dirty="0"/>
          </a:p>
        </p:txBody>
      </p:sp>
      <p:sp>
        <p:nvSpPr>
          <p:cNvPr id="24" name="Shape 22"/>
          <p:cNvSpPr/>
          <p:nvPr/>
        </p:nvSpPr>
        <p:spPr>
          <a:xfrm>
            <a:off x="1188720" y="3383280"/>
            <a:ext cx="7315200" cy="822960"/>
          </a:xfrm>
          <a:prstGeom prst="roundRect">
            <a:avLst>
              <a:gd name="adj" fmla="val 8889"/>
            </a:avLst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188720" y="3383280"/>
            <a:ext cx="109728" cy="82296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6" name="Text 24"/>
          <p:cNvSpPr/>
          <p:nvPr/>
        </p:nvSpPr>
        <p:spPr>
          <a:xfrm>
            <a:off x="1463040" y="3520440"/>
            <a:ext cx="6858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核心洞察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63040" y="374904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定价权在策略组，流失风险由服务组承担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772400" y="4572000"/>
            <a:ext cx="914400" cy="91440"/>
          </a:xfrm>
          <a:prstGeom prst="rect">
            <a:avLst/>
          </a:prstGeom>
          <a:solidFill>
            <a:srgbClr val="E2725B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 · 为什么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权责不对等模型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7315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554480"/>
            <a:ext cx="137160" cy="11887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64592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执行侧 · 服务组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88720" y="20116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承担供应商稳定结果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88720" y="22402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没有定价决策权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188720" y="246888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承担流失风险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97680" y="278892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2834640"/>
            <a:ext cx="40233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执行责任共担，但决策权不对等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914400" y="3108960"/>
            <a:ext cx="7315200" cy="1188720"/>
          </a:xfrm>
          <a:prstGeom prst="rect">
            <a:avLst/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3108960"/>
            <a:ext cx="137160" cy="11887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5" name="Text 13"/>
          <p:cNvSpPr/>
          <p:nvPr/>
        </p:nvSpPr>
        <p:spPr>
          <a:xfrm>
            <a:off x="1188720" y="3200400"/>
            <a:ext cx="6858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决策侧 · 策略组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1188720" y="35661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掌握定价权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188720" y="37947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是费效比优化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188720" y="4023360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压降价格 = 达成目标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0" name="Text 1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 · 为什么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刘伟佳行为模式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91440" cy="11430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责任边界管理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分析外化、模糊化处理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4008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问题我看到了，但责任不在我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846320" y="155448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554480"/>
            <a:ext cx="91440" cy="11430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2" name="Text 10"/>
          <p:cNvSpPr/>
          <p:nvPr/>
        </p:nvSpPr>
        <p:spPr>
          <a:xfrm>
            <a:off x="5029200" y="166420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战略型表达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0" y="19659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宏观把控，不陷细节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0" y="228600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我在战略层面有贡献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8346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834640"/>
            <a:ext cx="91440" cy="11430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944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服务型姿态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"支撑""帮助"，不强调权力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008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策略组是服务业务的角色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46320" y="2834640"/>
            <a:ext cx="384048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46320" y="2834640"/>
            <a:ext cx="91440" cy="114300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294436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节奏控制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029200" y="32461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不承诺结果，只说方向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029200" y="35661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有节奏但不贸然承诺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160520"/>
            <a:ext cx="8229600" cy="457200"/>
          </a:xfrm>
          <a:prstGeom prst="rect">
            <a:avLst/>
          </a:prstGeom>
          <a:solidFill>
            <a:srgbClr val="FFF5F2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31520" y="425196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核心判断：不是坏人，是在现有 KPI 下的理性自保逻辑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8" name="Text 26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 · 会怎样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重复沟通无效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691640"/>
            <a:ext cx="640080" cy="64008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03-11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41732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供应商结构性困境分析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41732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识别三层框架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06324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3200400" y="155448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383280" y="1691640"/>
            <a:ext cx="640080" cy="640080"/>
          </a:xfrm>
          <a:prstGeom prst="ellipse">
            <a:avLst/>
          </a:prstGeom>
          <a:solidFill>
            <a:srgbClr val="999999"/>
          </a:solidFill>
          <a:ln/>
        </p:spPr>
      </p:sp>
      <p:sp>
        <p:nvSpPr>
          <p:cNvPr id="13" name="Text 11"/>
          <p:cNvSpPr/>
          <p:nvPr/>
        </p:nvSpPr>
        <p:spPr>
          <a:xfrm>
            <a:off x="33832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03-22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6052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组织结构绑架洞察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16052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记录沟通僵局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806440" y="2194560"/>
            <a:ext cx="274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5943600" y="1554480"/>
            <a:ext cx="2560320" cy="1645920"/>
          </a:xfrm>
          <a:prstGeom prst="roundRect">
            <a:avLst>
              <a:gd name="adj" fmla="val 4444"/>
            </a:avLst>
          </a:prstGeom>
          <a:solidFill>
            <a:srgbClr val="FFF5F2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126480" y="1691640"/>
            <a:ext cx="640080" cy="64008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19" name="Text 17"/>
          <p:cNvSpPr/>
          <p:nvPr/>
        </p:nvSpPr>
        <p:spPr>
          <a:xfrm>
            <a:off x="6126480" y="1691640"/>
            <a:ext cx="640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03-29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903720" y="17373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头脑风暴梳理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903720" y="242316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再次讨论相同问题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3474720"/>
            <a:ext cx="822960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31520" y="3657600"/>
            <a:ext cx="7680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731520" y="388620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单靠反馈、协调、说服解决不了权力结构问题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26" name="Text 2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 · 会怎样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业务风险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737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737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28016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供应商流失风险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2148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头部供应商因 ROI 不匹配而流失，中腰部供应商不愿投入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926080"/>
            <a:ext cx="21945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64008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产能下降、交付不稳定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00400" y="15544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383280" y="1737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FEF3C7"/>
          </a:solidFill>
          <a:ln/>
        </p:spPr>
      </p:sp>
      <p:sp>
        <p:nvSpPr>
          <p:cNvPr id="15" name="Text 13"/>
          <p:cNvSpPr/>
          <p:nvPr/>
        </p:nvSpPr>
        <p:spPr>
          <a:xfrm>
            <a:off x="3383280" y="1737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02336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团队内耗风险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83280" y="2148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策略组 vs 服务组博弈，供应商夹在中间接收矛盾信号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383280" y="2926080"/>
            <a:ext cx="21945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8328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338328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协作效率下降、决策延迟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943600" y="1554480"/>
            <a:ext cx="2560320" cy="2286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126480" y="1737360"/>
            <a:ext cx="548640" cy="274320"/>
          </a:xfrm>
          <a:prstGeom prst="roundRect">
            <a:avLst>
              <a:gd name="adj" fmla="val 16667"/>
            </a:avLst>
          </a:prstGeom>
          <a:solidFill>
            <a:srgbClr val="FFE5E5"/>
          </a:solidFill>
          <a:ln/>
        </p:spPr>
      </p:sp>
      <p:sp>
        <p:nvSpPr>
          <p:cNvPr id="23" name="Text 21"/>
          <p:cNvSpPr/>
          <p:nvPr/>
        </p:nvSpPr>
        <p:spPr>
          <a:xfrm>
            <a:off x="6126480" y="173736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766560" y="1737360"/>
            <a:ext cx="1645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管理失效风险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126480" y="2148840"/>
            <a:ext cx="21945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表演型管理成为常态，问题被掩盖而非解决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126480" y="2926080"/>
            <a:ext cx="219456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26480" y="30175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影响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6126480" y="324612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组织信任受损、安全感缺失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0" name="Text 28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 · 怎么办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可控边界识别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554480"/>
            <a:ext cx="109728" cy="731520"/>
          </a:xfrm>
          <a:prstGeom prst="rect">
            <a:avLst/>
          </a:prstGeom>
          <a:solidFill>
            <a:srgbClr val="999999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不可控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接受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85800" y="251460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0" name="Text 8"/>
          <p:cNvSpPr/>
          <p:nvPr/>
        </p:nvSpPr>
        <p:spPr>
          <a:xfrm>
            <a:off x="82296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组织架构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85800" y="292608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权力分配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5800" y="333756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 设定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85800" y="374904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他人行为模式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46120" y="1554480"/>
            <a:ext cx="265176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246120" y="1554480"/>
            <a:ext cx="109728" cy="731520"/>
          </a:xfrm>
          <a:prstGeom prst="rect">
            <a:avLst/>
          </a:prstGeom>
          <a:solidFill>
            <a:srgbClr val="666666"/>
          </a:solidFill>
          <a:ln/>
        </p:spPr>
      </p:sp>
      <p:sp>
        <p:nvSpPr>
          <p:cNvPr id="19" name="Text 17"/>
          <p:cNvSpPr/>
          <p:nvPr/>
        </p:nvSpPr>
        <p:spPr>
          <a:xfrm>
            <a:off x="342900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可影响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42900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争取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474720" y="251460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2" name="Text 20"/>
          <p:cNvSpPr/>
          <p:nvPr/>
        </p:nvSpPr>
        <p:spPr>
          <a:xfrm>
            <a:off x="361188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供应商关系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474720" y="292608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4" name="Text 22"/>
          <p:cNvSpPr/>
          <p:nvPr/>
        </p:nvSpPr>
        <p:spPr>
          <a:xfrm>
            <a:off x="361188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数据呈现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474720" y="333756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6" name="Text 24"/>
          <p:cNvSpPr/>
          <p:nvPr/>
        </p:nvSpPr>
        <p:spPr>
          <a:xfrm>
            <a:off x="361188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向上汇报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474720" y="3749040"/>
            <a:ext cx="73152" cy="73152"/>
          </a:xfrm>
          <a:prstGeom prst="ellipse">
            <a:avLst/>
          </a:prstGeom>
          <a:solidFill>
            <a:srgbClr val="666666"/>
          </a:solidFill>
          <a:ln/>
        </p:spPr>
      </p:sp>
      <p:sp>
        <p:nvSpPr>
          <p:cNvPr id="28" name="Text 26"/>
          <p:cNvSpPr/>
          <p:nvPr/>
        </p:nvSpPr>
        <p:spPr>
          <a:xfrm>
            <a:off x="361188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跨组协作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035040" y="1554480"/>
            <a:ext cx="2651760" cy="731520"/>
          </a:xfrm>
          <a:prstGeom prst="rect">
            <a:avLst/>
          </a:prstGeom>
          <a:solidFill>
            <a:srgbClr val="FFF5F2"/>
          </a:solidFill>
          <a:ln w="25400">
            <a:solidFill>
              <a:srgbClr val="E2725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035040" y="1554480"/>
            <a:ext cx="109728" cy="73152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1" name="Text 29"/>
          <p:cNvSpPr/>
          <p:nvPr/>
        </p:nvSpPr>
        <p:spPr>
          <a:xfrm>
            <a:off x="6217920" y="160020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可控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217920" y="19659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聚焦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6263640" y="251460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4" name="Text 32"/>
          <p:cNvSpPr/>
          <p:nvPr/>
        </p:nvSpPr>
        <p:spPr>
          <a:xfrm>
            <a:off x="6400800" y="237744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自己的判断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92608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6" name="Text 34"/>
          <p:cNvSpPr/>
          <p:nvPr/>
        </p:nvSpPr>
        <p:spPr>
          <a:xfrm>
            <a:off x="6400800" y="278892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自己的表达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6263640" y="333756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8" name="Text 36"/>
          <p:cNvSpPr/>
          <p:nvPr/>
        </p:nvSpPr>
        <p:spPr>
          <a:xfrm>
            <a:off x="6400800" y="320040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数据记录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263640" y="3749040"/>
            <a:ext cx="73152" cy="73152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0" name="Text 38"/>
          <p:cNvSpPr/>
          <p:nvPr/>
        </p:nvSpPr>
        <p:spPr>
          <a:xfrm>
            <a:off x="6400800" y="3611880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响应策略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42" name="Text 40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 · 怎么办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自我保护策略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1645920"/>
            <a:ext cx="411480" cy="411480"/>
          </a:xfrm>
          <a:prstGeom prst="ellipse">
            <a:avLst/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6459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234440" y="164592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预防层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926080" y="173736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2608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明确责任边界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建立记录习惯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583680" y="173736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583680" y="173736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向供应商说明情况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57200" y="2697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85800" y="2834640"/>
            <a:ext cx="411480" cy="411480"/>
          </a:xfrm>
          <a:prstGeom prst="ellipse">
            <a:avLst/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5800" y="28346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234440" y="283464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应对层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26080" y="292608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2608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REACT 回应框架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92608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被指责时摆事实明边界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583680" y="292608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583680" y="292608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周报中管理责任归属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85800" y="4023360"/>
            <a:ext cx="411480" cy="411480"/>
          </a:xfrm>
          <a:prstGeom prst="ellipse">
            <a:avLst/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402336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1234440" y="402336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记录层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2926080" y="411480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4114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决策追溯文档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754880" y="4114800"/>
            <a:ext cx="1691640" cy="274320"/>
          </a:xfrm>
          <a:prstGeom prst="roundRect">
            <a:avLst>
              <a:gd name="adj" fmla="val 16667"/>
            </a:avLst>
          </a:prstGeom>
          <a:solidFill>
            <a:srgbClr val="FAFAFA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4114800"/>
            <a:ext cx="1691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重要邮件 CC 策略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200400" y="4681728"/>
            <a:ext cx="2743200" cy="347472"/>
          </a:xfrm>
          <a:prstGeom prst="roundRect">
            <a:avLst>
              <a:gd name="adj" fmla="val 21053"/>
            </a:avLst>
          </a:prstGeom>
          <a:solidFill>
            <a:srgbClr val="FFF5F2"/>
          </a:solidFill>
          <a:ln w="19050">
            <a:solidFill>
              <a:srgbClr val="E2725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200400" y="4681728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不揽责 · 留证据 · 明边界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6" name="Text 34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"/>
          </a:xfrm>
          <a:prstGeom prst="rect">
            <a:avLst/>
          </a:prstGeom>
          <a:solidFill>
            <a:srgbClr val="E2725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4572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对策 · 怎么办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触发条件与行动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64592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FE5E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64592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D6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234440" y="15544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重大业务事故 / VP 关注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669280" y="155448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提供数据、准备汇报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7200" y="2240280"/>
            <a:ext cx="8229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57200" y="237744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FEF3C7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37744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234440" y="228600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跨部门冲突 / 供应商反弹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669280" y="228600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记录冲突、推动试点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971800"/>
            <a:ext cx="8229600" cy="0"/>
          </a:xfrm>
          <a:prstGeom prst="line">
            <a:avLst/>
          </a:prstGeom>
          <a:noFill/>
          <a:ln w="12700">
            <a:solidFill>
              <a:srgbClr val="99999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57200" y="3108960"/>
            <a:ext cx="640080" cy="256032"/>
          </a:xfrm>
          <a:prstGeom prst="roundRect">
            <a:avLst>
              <a:gd name="adj" fmla="val 17857"/>
            </a:avLst>
          </a:prstGeom>
          <a:solidFill>
            <a:srgbClr val="DBEAFE"/>
          </a:solidFill>
          <a:ln/>
        </p:spPr>
      </p:sp>
      <p:sp>
        <p:nvSpPr>
          <p:cNvPr id="16" name="Text 14"/>
          <p:cNvSpPr/>
          <p:nvPr/>
        </p:nvSpPr>
        <p:spPr>
          <a:xfrm>
            <a:off x="457200" y="3108960"/>
            <a:ext cx="6400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563E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低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34440" y="301752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完美论证 / 策略组让权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0" y="3017520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不要期待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34747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99999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008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短期 1-2 周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" y="38862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边界识别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41148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保护机制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77240" y="4343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观察王易人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200400" y="34747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66666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38328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中期 1-2 月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520440" y="38862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信息同步联盟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520440" y="41148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收集反馈案例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520440" y="4343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推动 BPO 试点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943600" y="3474720"/>
            <a:ext cx="256032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12700">
            <a:solidFill>
              <a:srgbClr val="E2725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126480" y="3611880"/>
            <a:ext cx="2194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E2725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长期 3-6 月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263640" y="38862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等待触发条件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263640" y="41148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准备汇报材料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6263640" y="434340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1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抓住机会窗口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8503920" y="4663440"/>
            <a:ext cx="365760" cy="365760"/>
          </a:xfrm>
          <a:prstGeom prst="ellipse">
            <a:avLst/>
          </a:prstGeom>
          <a:solidFill>
            <a:srgbClr val="E2725B"/>
          </a:solidFill>
          <a:ln/>
        </p:spPr>
      </p:sp>
      <p:sp>
        <p:nvSpPr>
          <p:cNvPr id="35" name="Text 33"/>
          <p:cNvSpPr/>
          <p:nvPr/>
        </p:nvSpPr>
        <p:spPr>
          <a:xfrm>
            <a:off x="8503920" y="46634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457200" y="466344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9999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权责不对等分析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335</Words>
  <Application>Microsoft Macintosh PowerPoint</Application>
  <PresentationFormat>全屏显示(16:9)</PresentationFormat>
  <Paragraphs>219</Paragraphs>
  <Slides>12</Slides>
  <Notes>12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15" baseType="lpstr">
      <vt:lpstr>Microsoft YaHei</vt:lpstr>
      <vt:lpstr>Arial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sundanian</cp:lastModifiedBy>
  <cp:revision>2</cp:revision>
  <dcterms:created xsi:type="dcterms:W3CDTF">2026-03-29T14:40:57Z</dcterms:created>
  <dcterms:modified xsi:type="dcterms:W3CDTF">2026-03-29T14:42:10Z</dcterms:modified>
</cp:coreProperties>
</file>